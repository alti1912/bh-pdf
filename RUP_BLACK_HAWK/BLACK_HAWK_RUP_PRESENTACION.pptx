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B0D"/>
                </a:solidFill>
                <a:latin typeface="Arial"/>
              </a:defRPr>
            </a:pPr>
            <a:r>
              <a:rPr sz="1300" b="0" i="0" u="none" strike="noStrike">
                <a:solidFill>
                  <a:srgbClr val="0B0B0D"/>
                </a:solidFill>
                <a:latin typeface="Arial"/>
              </a:rPr>
              <a:t>Requisitos funcionales por estado de implementación</a:t>
            </a:r>
          </a:p>
        </c:rich>
      </c:tx>
      <c:layout/>
      <c:overlay val="0"/>
    </c:title>
    <c:autoTitleDeleted val="0"/>
    <c:plotArea>
      <c:layout/>
      <c:barChart>
        <c:barDir val="bar"/>
        <c:grouping val="clustered"/>
        <c:varyColors val="0"/>
        <c:ser>
          <c:idx val="0"/>
          <c:order val="0"/>
          <c:tx>
            <c:strRef>
              <c:f>Sheet1!$B$1</c:f>
              <c:strCache>
                <c:ptCount val="1"/>
                <c:pt idx="0">
                  <c:v>RF</c:v>
                </c:pt>
              </c:strCache>
            </c:strRef>
          </c:tx>
          <c:spPr>
            <a:solidFill>
              <a:srgbClr val="6D28D9"/>
            </a:solidFill>
            <a:effectLst/>
          </c:spPr>
          <c:invertIfNegative val="0"/>
          <c:dLbls>
            <c:numFmt formatCode="#,##0" sourceLinked="0"/>
            <c:txPr>
              <a:bodyPr/>
              <a:lstStyle/>
              <a:p>
                <a:pPr>
                  <a:defRPr b="0" i="0" strike="noStrike" sz="1300" u="none">
                    <a:solidFill>
                      <a:srgbClr val="0B0B0D"/>
                    </a:solidFill>
                    <a:latin typeface="Arial"/>
                  </a:defRPr>
                </a:pPr>
              </a:p>
            </c:txPr>
            <c:showLegendKey val="0"/>
            <c:showVal val="1"/>
            <c:showCatName val="0"/>
            <c:showSerName val="0"/>
            <c:showPercent val="0"/>
            <c:showBubbleSize val="0"/>
            <c:showLeaderLines val="0"/>
          </c:dLbls>
          <c:cat>
            <c:multiLvlStrRef>
              <c:f>Sheet1!$A$2:$A$6</c:f>
              <c:multiLvlStrCache>
                <c:ptCount val="5"/>
                <c:lvl>
                  <c:pt idx="0">
                    <c:v>Existente (verificado)</c:v>
                  </c:pt>
                  <c:pt idx="1">
                    <c:v>Nativo de la plataforma</c:v>
                  </c:pt>
                  <c:pt idx="2">
                    <c:v>Parcial</c:v>
                  </c:pt>
                  <c:pt idx="3">
                    <c:v>Pendiente de validación</c:v>
                  </c:pt>
                  <c:pt idx="4">
                    <c:v>Propuesto</c:v>
                  </c:pt>
                </c:lvl>
              </c:multiLvlStrCache>
            </c:multiLvlStrRef>
          </c:cat>
          <c:val>
            <c:numRef>
              <c:f>Sheet1!$B$2:$B$6</c:f>
              <c:numCache>
                <c:formatCode>General</c:formatCode>
                <c:ptCount val="5"/>
                <c:pt idx="0">
                  <c:v>8</c:v>
                </c:pt>
                <c:pt idx="1">
                  <c:v>5</c:v>
                </c:pt>
                <c:pt idx="2">
                  <c:v>3</c:v>
                </c:pt>
                <c:pt idx="3">
                  <c:v>2</c:v>
                </c:pt>
                <c:pt idx="4">
                  <c:v>9</c:v>
                </c:pt>
              </c:numCache>
            </c:numRef>
          </c:val>
        </c:ser>
        <c:dLbls>
          <c:numFmt formatCode="#,##0" sourceLinked="0"/>
          <c:txPr>
            <a:bodyPr/>
            <a:lstStyle/>
            <a:p>
              <a:pPr>
                <a:defRPr b="0" i="0" strike="noStrike" sz="1300" u="none">
                  <a:solidFill>
                    <a:srgbClr val="0B0B0D"/>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B0B0D"/>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Nuestro proyecto aplica la metodología RUP para analizar, diseñar y planificar un sistema de información web para Black Hawk Car Audio, una marca peruana de audio para autos. Lo llamamos SGCD-BH: Sistema de Gestión de Catálogo y Distribuidores Black Hawk. No vamos a explicar RUP en abstracto; vamos a mostrar cómo cada fase y cada diagrama se aplican a este caso concreto.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exposición tiene cinco bloques. Primero, el caso Black Hawk y el problema. Segundo, qué es RUP. Tercero, cómo aplicamos las cuatro fases al caso. Cuarto, los modelos UML que produjimos. Y quinto, la planificación, los riesgos, la trazabilidad y las conclusiones.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Hawk es una marca de audio automotriz orientada al mercado peruano: amplificadores, subwoofers, procesadores, componentes, cargadores. Algunos modelos de referencia de nuestro caso son el procesador BH-4.8DSP, el subwoofer BH-SW12XZP o los amplificadores de la línea FR. Un detalle clave: la web no vende. No hay precios ni carrito. Funciona como catálogo, y la compra se concreta después, con el equipo comercial o un distribuidor. Esa decisión de negocio condiciona todo el diseño.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plataforma ya existe: WordPress con WooCommerce, un tema hijo propio y el plugin YITH Catalog Mode, que oculta precio, carrito y pago. El flujo comercial tiene ocho pasos: el cliente entra al catálogo, busca, revisa la ficha técnica, compara si lo necesita, va a «Dónde comprar», llega a los distribuidores y termina en WhatsApp con un mensaje que incluye su intención, el modelo y, en nuestra propuesta, la URL del producto. Hay que notar dónde termina el sistema: en WhatsApp la conversación ya ocurre 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no es que falte una web: la web existe. El problema es que la información de productos y la derivación de compradores hacia los distribuidores no están estructuradas ni son trazables. Las causas: fichas con especificaciones incompletas, no hay directorio de puntos de venta y, sobre todo, WhatsApp se abre fuera del sitio sin dejar registro. Los efectos: el cliente no siempre encuentra datos fiables, la empresa no sabe qué productos generan interés y existe riesgo de publicar datos erróneos. Distinguimos lo observado en la evidencia de lo que es un supuesto académico.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importante para ser honestos con el alcance. En la columna A está lo que ya existe y se puede verificar: catálogo, búsqueda, comparador de hasta tres modelos, botón Cotizar con el modelo escrito. En B, los problemas del caso. En C, lo que proponemos nosotros. Y en D, el estado: usamos cinco etiquetas, desde «existente verificado» hasta «propuesto». Así nadie confunde el diseño con algo ya implementado.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general es aplicar RUP para analizar, diseñar y planificar el SGCD-BH: un sistema que centraliza el catálogo, facilita consultar y comparar, conecta con los distribuidores y permite dar seguimiento a las consultas. Los objetivos específicos siguen las disciplinas de RUP: modelar el negocio, especificar requisitos, modelar casos de uso, diseñar la arquitectura, producir los diagramas UML, planificar y asegurar la trazabilidad.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SGCD-BH tiene doce módulos. En blanco, los que ya existen en el rediseño o que WordPress y WooCommerce resuelven de forma nativa: catálogo, categorías, búsqueda, comparador, contenido. En morado, las ampliaciones que proponemos: gestión de distribuidores, registro y seguimiento de consultas, reportes y auditoría. Lo importante es lo que no incluimos: no es una tienda en línea, no es un ERP ni un sistema de inventario. Mantener ese límite fue una decisión consciente.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RUP, el Proceso Unificado de Rational, es un proceso de ingeniería de software que organiza quién hace qué, cómo y cuándo. Tiene tres características que hay que saber de memoria: está dirigido por casos de uso, porque los casos de uso guían desde los requisitos hasta las pruebas; está centrado en la arquitectura, porque la arquitectura se valida temprano; y es iterativo e incremental, porque el sistema crece en iteraciones que entregan algo ejecutable. Por eso las fases no son una cascada.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RUP se apoya en seis buenas prácticas. Desarrollar de forma iterativa, gestionar los requisitos, usar arquitecturas basadas en componentes, modelar visualmente con UML, verificar la calidad de forma continua y controlar los cambios. En nuestro proyecto cada práctica tiene algo concreto: por ejemplo, la arquitectura por componentes es el plugin bh-core separado del tema, y el control de cambios es Git más la matriz de trazabilidad.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gráfico clásico de RUP, construido con los datos de nuestro proyecto. Tiene dos dimensiones: en horizontal, el tiempo, con fases e iteraciones; en vertical, las disciplinas. El área de cada curva es el esfuerzo. Fíjense: requisitos es fuerte en Inicio y Elaboración pero no desaparece; implementación empieza ya en Elaboración con el prototipo; y despliegue se concentra al final. Esto demuestra que RUP no es una cascada: todas las disciplinas conviven, con distinta intensidad.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cuatro fases son Inicio, Elaboración, Construcción y Transición. Cada una termina con un hito, que es un punto de decisión: LCO, objetivos del ciclo de vida; LCA, arquitectura del ciclo de vida; IOC, capacidad operativa inicial; y PR, liberación del producto. En nuestro plan de 14 semanas: Inicio con una iteración, Elaboración con dos, Construcción con tres y Transición con una. Siete iteraciones en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RUP tiene nueve disciplinas: seis de ingeniería (modelado del negocio, requisitos, análisis y diseño, implementación, pruebas y despliegue) y tres de soporte (gestión de configuración y cambios, gestión del proyecto y entorno). La matriz muestra con qué intensidad trabajamos cada una en cada fase. Por ejemplo, análisis y diseño es máxima en Elaboración, e implementación en Construcción.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Inicio, semanas uno y dos, el objetivo es ponerse de acuerdo sobre qué problema se resuelve y si vale la pena. Produjimos la visión, el modelo de casos de uso del negocio, el glosario, la lista de riesgos y el caso de negocio. La fase termina en el hito LCO cuando los stakeholders aceptan la visión y el alcance, están identificados los casos de uso críticos, los riesgos principales tienen respuesta y la viabilidad está aprobada.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Identificamos ocho stakeholders y los ubicamos por influencia e interés. Con alta influencia y alto interés están la gerencia y el área comercial: hay que gestionarlos de cerca. El gestor de contenidos, los distribuidores y los clientes tienen mucho interés, pero menos poder de decisión: hay que mantenerlos informados. Aclaramos que son stakeholders identificados para el caso; no hicimos entrevistas formales con la empresa.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modela el negocio, no el software. Los actores del negocio son el cliente final y el distribuidor; los casos de uso del negocio son los procesos que les dan valor: difundir el catálogo, atender la consulta, derivar al punto de venta, incorporar distribuidores y dar soporte. La barra diagonal en los íconos es la notación de negocio. El área comercial no aparece como actor porque trabaja dentro del negocio: es un trabajador del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alcance incluye el catálogo, el comparador, las consultas por WhatsApp con registro, el directorio de distribuidores, la administración y la auditoría. Excluimos lo que supondría vender en línea: carrito, pagos, inventario, facturación y la API de WhatsApp Business. La viabilidad es técnica, porque WordPress ya ofrece roles, API REST y tipos de contenido; económica, porque reutilizamos la plataforma; y operativa, porque el área comercial sigue usando WhatsApp.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Elaboración es la fase más importante para un analista. En las iteraciones E1 y E2 detallamos los requisitos, especificamos los casos de uso, construimos los modelos de dominio y de análisis, y diseñamos la arquitectura. Lo que la distingue es el prototipo arquitectónico: no basta con dibujar, hay que probar que el flujo más riesgoso funciona. En nuestro caso, registrar la consulta sin retrasar la apertura de WhatsApp. El hito LCA exige al menos el 80 % de los casos de uso especificados y la arquitectura probada.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Especificamos 27 requisitos funcionales y 13 no funcionales. Cada uno tiene código, prioridad, actor, caso de uso, criterio de aceptación y estado. El gráfico muestra el estado de los funcionales: una parte ya existe en el rediseño o en la plataforma, y el resto es propuesta. Un ejemplo funcional: RF-014, registrar la consulta antes de abrir WhatsApp. Un ejemplo no funcional: RNF-003, que la página cargue en menos de 2,5 segundos según Core Web Vitals. Los no funcionales se clasifican con la norma ISO/IEC 25010.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Definimos seis actores y 22 casos de uso. Hay que diferenciar: visitante, cliente interesado y distribuidor son humanos externos; gestor del catálogo y administrador son roles internos; y WhatsApp es un sistema externo. La base de datos no es actor, porque es parte del sistema. De los 22 casos especificamos seis en detalle, los arquitectónicamente significativos: consultar ficha, comparar, enviar consulta por WhatsApp con su registro, gestionar productos, gestionar distribuidores y dar seguimiento a consultas.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tiene cuatro capas: presentación, aplicación, dominio y acceso a datos, e infraestructura. Las dependencias van siempre hacia abajo. Las tres decisiones más importantes: mantener WordPress y WooCommerce en lugar de reescribir; poner todo lo nuevo en un plugin propio llamado bh-core, para que las actualizaciones no borren nada; e integrar WhatsApp con enlaces wa.me, sin la API de pago, registrando antes la consulta. En morado está lo propuesto.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Construcción, semanas siete a doce, el sistema crece en tres incrementos. C1: catálogo, fichas, especificaciones y modo catálogo. C2: comparador, WhatsApp y registro de consultas. C3: distribuidores, reportes, roles, auditoría y seguridad. Ordenamos así por valor y riesgo: primero la base del catálogo, luego el flujo comercial y al final la administración. El hito IOC exige los casos de uso de prioridad alta implementados y ninguna incidencia crítica abierta.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separamos el desarrollo real de nuestra propuesta. Ya desarrollado en el rediseño: tema hijo, catálogo con filtros, búsqueda, comparador, botón Cotizar y las páginas de dónde comprar, soporte y mayoristas. Propuesto en este proyecto: el plugin bh-core con registro y seguimiento de consultas, directorio de distribuidores, verificación de especificaciones, reportes, auditoría y seguridad reforzada. Lo propuesto está especificado y diseñado, pero no decimos que ya funcione.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está la ficha real del rediseño, con el botón Cotizar. Hoy ese botón abre WhatsApp con el mensaje «quiero cotizar el modelo BH-SW12XXG». Nuestra propuesta agrega dos cosas: la URL de la ficha en el mensaje y un registro previo. El flujo: el sistema construye el mensaje, envía el registro de forma asíncrona con sendBeacon y abre wa.me. Si el registro falla, WhatsApp igual se abre: nunca bloqueamos al cliente. Y como no usamos la API de WhatsApp Business, el sistema no lee la conversación; el seguimiento lo hace el gestor.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Diseñamos 32 casos de prueba en cinco niveles: unitarias, de integración, funcionales, de sistema y de aceptación. Cada uno está asociado a un requisito. Por ejemplo, CP-007 prueba que el comparador rechace un cuarto producto, y CP-014 prueba que el registro se cree antes de abrir WhatsApp. Somos claros: están diseñados, no ejecutados. Ejecutarlos requiere implementar las ampliaciones en un entorno de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Transición pone el sistema en manos de los usuarios. Para no decidir «a ojo», definimos criterios objetivos de salida: el 100 % de las pruebas de prioridad alta aprobadas, cero incidencias críticas o altas, al menos cuatro de cinco usuarios completan la consulta sin ayuda, LCP de 2,5 segundos o menos, restauración de respaldo en menos de cuatro horas, sin noindex en producción y usuarios capacitados. Si todo se cumple, se firma el acta y se alcanza el hito 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despliegue sigue siete pasos, desde congelar la versión candidata hasta activar el monitoreo. Dos detalles importantes: no migramos productos, porque ya existen; solo cargamos los distribuidores validados y creamos las tablas nuevas. Y hay plan de reversión: si falla la prueba de humo, se restaura el respaldo y se desactiva el plugin, y el catálogo sigue funcionando. Después viene el mantenimiento, en cuatro tipos: correctivo, adaptativo, perfectivo y preventivo.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distinción que siempre preguntan: UML es un lenguaje de modelado, un estándar del OMG que define la notación. Rational Rose es una herramienta CASE que implementa UML. Rose organiza el modelo en cuatro vistas: casos de uso, lógica, componentes y despliegue, y a cada una le corresponden nuestros diagramas. No entregamos un archivo .mdl porque no podíamos verificar su compatibilidad; entregamos las fuentes PlantUML editables, SVG, PNG y una guía paso a paso para reconstruir el modelo en Rose.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diagrama general: 22 casos de uso en dos paquetes. A la izquierda están los actores externos y a la derecha los internos. Tiene dos generalizaciones: el cliente interesado hereda del visitante y el administrador hereda del gestor. Solo usamos dos relaciones entre casos de uso, y ambas se justifican: filtrar extiende a explorar, porque es opcional; y enviar consulta incluye registrar consulta, porque siempre ocurre. Autenticarse no se repite como include: es precondición. Los óvalos morados son propuestos.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la especificación del caso de uso más importante: CU-08, enviar consulta por WhatsApp. Tiene actores, precondiciones, flujo básico, flujos alternativos y postcondiciones. El flujo básico: el cliente pulsa Cotizar, el sistema identifica el origen, construye el mensaje, registra la consulta, abre WhatsApp y el cliente envía. Los alternativos cubren lo que puede salir mal; el más importante es el 4a: si el registro falla, WhatsApp se abre igual. A la derecha está el diagrama del módulo comercial.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de clases muestra la estructura estática del sistema. Este es el modelo de dominio, con doce clases. Fíjense en las multiplicidades: un producto pertenece a una o más categorías; las especificaciones y las imágenes son composiciones, porque no existen sin su producto; una comparación tiene entre 2 y 3 productos, que es la regla del comparador; y una consulta tiene cero o un producto, porque también hay consultas generales. Las versiones de diseño, con tipos y operaciones, están en los anexos.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secuencia muestra los mensajes entre objetos en el tiempo. En este caso, el contacto por WhatsApp. Arriba, en un fragmento opt, el directorio propuesto: filtrar por ciudad. Luego el cliente pulsa Cotizar, el servicio construye el mensaje y el enlace. El mensaje 12 tiene punta abierta: es asíncrono, y es la decisión de arquitectura llevada al diseño. Se crea la consulta en estado REGISTRADA y se abre WhatsApp. La nota final recuerda que la conversación ocurre fuera del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de actividades muestra el proceso comercial completo, con una calle por participante: cliente, sistema, área comercial y distribuidor. El cliente decide si busca o explora, si compara y si tiene intención de compra. El sistema solo interviene en dos momentos: al registrar y generar el mensaje, y al final, al cerrar la consulta. Ese cierre es lo que hace medible un proceso que ocurre mayormente fuera de la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Elegimos ConsultaComercial para el diagrama de estados porque su comportamiento depende del estado. Nace REGISTRADA con el clic; pasa a ATENDIDA cuando el gestor responde; puede DERIVARSE a un distribuidor; y termina CERRADA o DESCARTADA. Hay una regla importante: no se puede cerrar sin atender. Y un evento de tiempo: si pasan 30 días sin atención, se descarta sola.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de componentes muestra cómo se organiza el software. En el servidor: WordPress, WooCommerce, YITH Catalog Mode, el tema hijo y el plugin bh-core con sus tres componentes propuestos. Las interfaces son los endpoints REST: los nativos de WordPress y WooCommerce, y los nuestros, bh/v1. En el navegador está el comparador en JavaScript. Y WhatsApp está fuera, conectado por enlace.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despliegue muestra el hardware y dónde corre cada artefacto. El visitante y el gestor se conectan por HTTPS, a través de una CDN o WAF que proponemos. El servidor de producción ejecuta LiteSpeed y PHP, que es lo que observamos en el sitio oficial, con WordPress y los plugins, y la base de datos local. Hay un servidor de staging, un repositorio Git para el despliegue y un almacenamiento externo de respaldos.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entidad-relación tiene 15 tablas en tercera forma normal. Las relaciones de muchos a muchos se resuelven con tablas intermedias: producto_categoria, rol_permiso y comparacion_producto. Es coherente con el diagrama de clases: cada clase persistente es una tabla. En la implementación real, lo nativo vive en las tablas de WordPress y solo creamos tablas propias para consultas, comparaciones y auditoría.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cronograma dura 14 semanas y coincide con las iteraciones: el hito LCO en la semana 2, LCA en la 6, IOC en la 12 y PR en la 14. Fíjense en que las pruebas de integración empiezan en la semana 8 y se solapan con la construcción: en RUP las pruebas son continuas, no una etapa final. El esfuerzo estimado es de 560 horas-persona; el presupuesto referencial usa una tarifa hipotética, no es un costo real de la empresa.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Identificamos doce riesgos y los ubicamos por probabilidad e impacto. El más alto es R-01: especificaciones técnicas no verificadas, que es probable y tiene alto impacto; lo mitigamos con el estado de verificación y publicando «pendiente» en lugar de inventar. Otros relevantes: R-07, vulnerabilidades de WordPress; R-02, actualizaciones incompatibles de plugins; y R-11, que el alcance crezca hacia una tienda en línea. RUP ataca los riesgos temprano: por eso varios se tratan ya en Elaboración.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trazabilidad conecta cinco niveles: necesidad del negocio, requisito, caso de uso, componente y caso de prueba. Un ejemplo completo: la necesidad NB-06, dar trazabilidad a las consultas, se cubre con el requisito RF-014, registrar la consulta; que se modela en el caso de uso CU-09; se implementa en el componente de consultas de WhatsApp; y se verifica con el caso de prueba CP-014. Si mañana cambia RF-014, la matriz nos dice exactamente qué revisar. Las nueve necesidades tienen su cadena completa.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Separamos tres tipos de resultado. Documentados: lo que la evidencia muestra del rediseño, por ejemplo 118 productos y el comparador. De diseño: lo que produjimos nosotros, con 40 requisitos, 22 casos de uso, 22 diagramas UML, 15 tablas y 32 pruebas. Y beneficios esperados, que son hipótesis: para cada uno proponemos un indicador medible, como el porcentaje de consultas con producto identificado. No afirmamos mejoras de ventas ni de tráfico, porque no tenemos esos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conclusiones. Primera: RUP nos permitió pasar de «mejorar la web» a un sistema delimitado de 22 casos de uso, con un alcance protegido. Segunda: el valor está en el tramo entre la ficha y el distribuidor; por eso los casos de uso críticos son consultar, comparar y enviar la consulta. Tercera: la arquitectura extiende en lugar de reemplazar, lo que reduce costo y riesgo. Cuarta: la trazabilidad demuestra que todos los entregables describen el mismo sistema y que lo propuesto está claramente separado de lo existente.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Recomendamos, en orden: primero, obtener la documentación técnica oficial de cada modelo antes de publicar especificaciones. Segundo, implementar el registro de consultas, porque es barato y genera un dato que hoy no existe. Tercero, validar la lista de distribuidores con el área comercial. Cuarto, medir el rendimiento en producción y no en el entorno temporal. Y quinto, evaluar la API de WhatsApp Business solo si el volumen lo justifica.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fuentes principales: los textos de Kruchten y de Jacobson, Booch y Rumbaugh sobre RUP y UML, la especificación UML del OMG, Larman para el análisis orientado a objetos y Quatrani para Rational Rose. La lista completa, en formato APA 7, está en la monografía.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por su atención.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1.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slideLayout" Target="../slideLayouts/slideLayout1.xm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D"/>
        </a:solidFill>
      </p:bgPr>
    </p:bg>
    <p:spTree>
      <p:nvGrpSpPr>
        <p:cNvPr id="1" name=""/>
        <p:cNvGrpSpPr/>
        <p:nvPr/>
      </p:nvGrpSpPr>
      <p:grpSpPr>
        <a:xfrm>
          <a:off x="0" y="0"/>
          <a:ext cx="0" cy="0"/>
          <a:chOff x="0" y="0"/>
          <a:chExt cx="0" cy="0"/>
        </a:xfrm>
      </p:grpSpPr>
      <p:pic>
        <p:nvPicPr>
          <p:cNvPr id="3" name="Image 0" descr="../../assets/images/brand/subwoofer-960.jpg">    </p:cNvPr>
          <p:cNvPicPr>
            <a:picLocks noChangeAspect="1"/>
          </p:cNvPicPr>
          <p:nvPr/>
        </p:nvPicPr>
        <p:blipFill>
          <a:blip r:embed="rId1"/>
          <a:srcRect l="0" r="0" t="0" b="0"/>
          <a:stretch/>
        </p:blipFill>
        <p:spPr>
          <a:xfrm>
            <a:off x="5806440" y="0"/>
            <a:ext cx="6385255" cy="6858000"/>
          </a:xfrm>
          <a:prstGeom prst="rect">
            <a:avLst/>
          </a:prstGeom>
        </p:spPr>
      </p:pic>
      <p:sp>
        <p:nvSpPr>
          <p:cNvPr id="4" name="Shape 0"/>
          <p:cNvSpPr/>
          <p:nvPr/>
        </p:nvSpPr>
        <p:spPr>
          <a:xfrm>
            <a:off x="5806440" y="0"/>
            <a:ext cx="6385255" cy="6858000"/>
          </a:xfrm>
          <a:prstGeom prst="rect">
            <a:avLst/>
          </a:prstGeom>
          <a:solidFill>
            <a:srgbClr val="0B0B0D">
              <a:alpha val="65000"/>
            </a:srgbClr>
          </a:solidFill>
          <a:ln/>
        </p:spPr>
      </p:sp>
      <p:pic>
        <p:nvPicPr>
          <p:cNvPr id="5" name="Image 1" descr="research/logo-w-t.png">    </p:cNvPr>
          <p:cNvPicPr>
            <a:picLocks noChangeAspect="1"/>
          </p:cNvPicPr>
          <p:nvPr/>
        </p:nvPicPr>
        <p:blipFill>
          <a:blip r:embed="rId2"/>
          <a:stretch>
            <a:fillRect/>
          </a:stretch>
        </p:blipFill>
        <p:spPr>
          <a:xfrm>
            <a:off x="548640" y="548640"/>
            <a:ext cx="1371600" cy="731520"/>
          </a:xfrm>
          <a:prstGeom prst="rect">
            <a:avLst/>
          </a:prstGeom>
        </p:spPr>
      </p:pic>
      <p:sp>
        <p:nvSpPr>
          <p:cNvPr id="6" name="Text 1"/>
          <p:cNvSpPr txBox="1"/>
          <p:nvPr/>
        </p:nvSpPr>
        <p:spPr>
          <a:xfrm>
            <a:off x="548640" y="1691640"/>
            <a:ext cx="5120640" cy="274320"/>
          </a:xfrm>
          <a:prstGeom prst="rect">
            <a:avLst/>
          </a:prstGeom>
          <a:noFill/>
          <a:ln/>
        </p:spPr>
        <p:txBody>
          <a:bodyPr wrap="square" lIns="0" tIns="0" rIns="0" bIns="0" rtlCol="0" anchor="t"/>
          <a:lstStyle/>
          <a:p>
            <a:pPr indent="0" marL="0">
              <a:buNone/>
            </a:pPr>
            <a:r>
              <a:rPr lang="en-US" sz="1100" b="1" spc="300" kern="0" dirty="0">
                <a:solidFill>
                  <a:srgbClr val="A78BFA"/>
                </a:solidFill>
                <a:latin typeface="Arial" pitchFamily="34" charset="0"/>
                <a:ea typeface="Arial" pitchFamily="34" charset="-122"/>
                <a:cs typeface="Arial" pitchFamily="34" charset="-120"/>
              </a:rPr>
              <a:t>DISEÑO DE SISTEMAS DE INFORMACIÓN</a:t>
            </a:r>
            <a:endParaRPr lang="en-US" sz="1100" dirty="0"/>
          </a:p>
        </p:txBody>
      </p:sp>
      <p:sp>
        <p:nvSpPr>
          <p:cNvPr id="7" name="Text 2"/>
          <p:cNvSpPr txBox="1"/>
          <p:nvPr/>
        </p:nvSpPr>
        <p:spPr>
          <a:xfrm>
            <a:off x="548640" y="2057400"/>
            <a:ext cx="5120640" cy="201168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Aplicación de RUP a un sistema web para Black Hawk Car Audio</a:t>
            </a:r>
            <a:endParaRPr lang="en-US" sz="3200" dirty="0"/>
          </a:p>
        </p:txBody>
      </p:sp>
      <p:sp>
        <p:nvSpPr>
          <p:cNvPr id="8" name="Text 3"/>
          <p:cNvSpPr txBox="1"/>
          <p:nvPr/>
        </p:nvSpPr>
        <p:spPr>
          <a:xfrm>
            <a:off x="548640" y="4114800"/>
            <a:ext cx="5029200" cy="640080"/>
          </a:xfrm>
          <a:prstGeom prst="rect">
            <a:avLst/>
          </a:prstGeom>
          <a:noFill/>
          <a:ln/>
        </p:spPr>
        <p:txBody>
          <a:bodyPr wrap="square" lIns="0" tIns="0" rIns="0" bIns="0" rtlCol="0" anchor="t"/>
          <a:lstStyle/>
          <a:p>
            <a:pPr indent="0" marL="0">
              <a:buNone/>
            </a:pPr>
            <a:r>
              <a:rPr lang="en-US" sz="1500" dirty="0">
                <a:solidFill>
                  <a:srgbClr val="9CA3AF"/>
                </a:solidFill>
                <a:latin typeface="Arial" pitchFamily="34" charset="0"/>
                <a:ea typeface="Arial" pitchFamily="34" charset="-122"/>
                <a:cs typeface="Arial" pitchFamily="34" charset="-120"/>
              </a:rPr>
              <a:t>SGCD-BH · Sistema de Gestión de Catálogo y Distribuidores Black Hawk</a:t>
            </a:r>
            <a:endParaRPr lang="en-US" sz="1500" dirty="0"/>
          </a:p>
        </p:txBody>
      </p:sp>
      <p:sp>
        <p:nvSpPr>
          <p:cNvPr id="9" name="Text 4"/>
          <p:cNvSpPr txBox="1"/>
          <p:nvPr/>
        </p:nvSpPr>
        <p:spPr>
          <a:xfrm>
            <a:off x="548640" y="5212080"/>
            <a:ext cx="5029200" cy="914400"/>
          </a:xfrm>
          <a:prstGeom prst="rect">
            <a:avLst/>
          </a:prstGeom>
          <a:noFill/>
          <a:ln/>
        </p:spPr>
        <p:txBody>
          <a:bodyPr wrap="square" lIns="0" tIns="0" rIns="0" bIns="0" rtlCol="0" anchor="t"/>
          <a:lstStyle/>
          <a:p>
            <a:pPr indent="0" marL="0">
              <a:spcAft>
                <a:spcPts val="400"/>
              </a:spcAft>
              <a:buNone/>
            </a:pPr>
            <a:r>
              <a:rPr lang="en-US" sz="1200" dirty="0">
                <a:solidFill>
                  <a:srgbClr val="9CA3AF"/>
                </a:solidFill>
                <a:latin typeface="Arial" pitchFamily="34" charset="0"/>
                <a:ea typeface="Arial" pitchFamily="34" charset="-122"/>
                <a:cs typeface="Arial" pitchFamily="34" charset="-120"/>
              </a:rPr>
              <a:t>Integrantes: [nombres del equipo]</a:t>
            </a:r>
            <a:endParaRPr lang="en-US" sz="1200" dirty="0"/>
          </a:p>
          <a:p>
            <a:pPr indent="0" marL="0">
              <a:spcAft>
                <a:spcPts val="400"/>
              </a:spcAft>
              <a:buNone/>
            </a:pPr>
            <a:r>
              <a:rPr lang="en-US" sz="1200" dirty="0">
                <a:solidFill>
                  <a:srgbClr val="9CA3AF"/>
                </a:solidFill>
                <a:latin typeface="Arial" pitchFamily="34" charset="0"/>
                <a:ea typeface="Arial" pitchFamily="34" charset="-122"/>
                <a:cs typeface="Arial" pitchFamily="34" charset="-120"/>
              </a:rPr>
              <a:t>Docente: [nombre del docente]</a:t>
            </a:r>
            <a:endParaRPr lang="en-US" sz="1200" dirty="0"/>
          </a:p>
          <a:p>
            <a:pPr indent="0" marL="0">
              <a:spcAft>
                <a:spcPts val="400"/>
              </a:spcAft>
              <a:buNone/>
            </a:pPr>
            <a:r>
              <a:rPr lang="en-US" sz="1200" dirty="0">
                <a:solidFill>
                  <a:srgbClr val="9CA3AF"/>
                </a:solidFill>
                <a:latin typeface="Arial" pitchFamily="34" charset="0"/>
                <a:ea typeface="Arial" pitchFamily="34" charset="-122"/>
                <a:cs typeface="Arial" pitchFamily="34" charset="-120"/>
              </a:rPr>
              <a:t>[Institución] · [Ciudad],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AGENDA</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Cinco bloques, un mismo sistema</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2</a:t>
            </a:r>
            <a:endParaRPr lang="en-US" sz="900" dirty="0"/>
          </a:p>
        </p:txBody>
      </p:sp>
      <p:sp>
        <p:nvSpPr>
          <p:cNvPr id="6" name="Shape 3"/>
          <p:cNvSpPr/>
          <p:nvPr/>
        </p:nvSpPr>
        <p:spPr>
          <a:xfrm>
            <a:off x="548640" y="1828800"/>
            <a:ext cx="2057400" cy="3931920"/>
          </a:xfrm>
          <a:prstGeom prst="roundRect">
            <a:avLst>
              <a:gd name="adj" fmla="val 3556"/>
            </a:avLst>
          </a:prstGeom>
          <a:solidFill>
            <a:srgbClr val="F5F5F7"/>
          </a:solidFill>
          <a:ln/>
        </p:spPr>
      </p:sp>
      <p:sp>
        <p:nvSpPr>
          <p:cNvPr id="7" name="Text 4"/>
          <p:cNvSpPr txBox="1"/>
          <p:nvPr/>
        </p:nvSpPr>
        <p:spPr>
          <a:xfrm>
            <a:off x="777240" y="2057400"/>
            <a:ext cx="1463040" cy="731520"/>
          </a:xfrm>
          <a:prstGeom prst="rect">
            <a:avLst/>
          </a:prstGeom>
          <a:noFill/>
          <a:ln/>
        </p:spPr>
        <p:txBody>
          <a:bodyPr wrap="square" lIns="0" tIns="0" rIns="0" bIns="0" rtlCol="0" anchor="t"/>
          <a:lstStyle/>
          <a:p>
            <a:pPr indent="0" marL="0">
              <a:buNone/>
            </a:pPr>
            <a:r>
              <a:rPr lang="en-US" sz="3600" b="1" dirty="0">
                <a:solidFill>
                  <a:srgbClr val="6D28D9"/>
                </a:solidFill>
                <a:latin typeface="Arial" pitchFamily="34" charset="0"/>
                <a:ea typeface="Arial" pitchFamily="34" charset="-122"/>
                <a:cs typeface="Arial" pitchFamily="34" charset="-120"/>
              </a:rPr>
              <a:t>01</a:t>
            </a:r>
            <a:endParaRPr lang="en-US" sz="3600" dirty="0"/>
          </a:p>
        </p:txBody>
      </p:sp>
      <p:sp>
        <p:nvSpPr>
          <p:cNvPr id="8" name="Text 5"/>
          <p:cNvSpPr txBox="1"/>
          <p:nvPr/>
        </p:nvSpPr>
        <p:spPr>
          <a:xfrm>
            <a:off x="777240" y="3063240"/>
            <a:ext cx="1691640" cy="82296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El caso Black Hawk</a:t>
            </a:r>
            <a:endParaRPr lang="en-US" sz="1700" dirty="0"/>
          </a:p>
        </p:txBody>
      </p:sp>
      <p:sp>
        <p:nvSpPr>
          <p:cNvPr id="9" name="Text 6"/>
          <p:cNvSpPr txBox="1"/>
          <p:nvPr/>
        </p:nvSpPr>
        <p:spPr>
          <a:xfrm>
            <a:off x="777240" y="3977640"/>
            <a:ext cx="1691640" cy="146304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Empresa, plataforma, problema y propuesta</a:t>
            </a:r>
            <a:endParaRPr lang="en-US" sz="1250" dirty="0"/>
          </a:p>
        </p:txBody>
      </p:sp>
      <p:sp>
        <p:nvSpPr>
          <p:cNvPr id="10" name="Shape 7"/>
          <p:cNvSpPr/>
          <p:nvPr/>
        </p:nvSpPr>
        <p:spPr>
          <a:xfrm>
            <a:off x="2788920" y="1828800"/>
            <a:ext cx="2057400" cy="3931920"/>
          </a:xfrm>
          <a:prstGeom prst="roundRect">
            <a:avLst>
              <a:gd name="adj" fmla="val 3556"/>
            </a:avLst>
          </a:prstGeom>
          <a:solidFill>
            <a:srgbClr val="F5F5F7"/>
          </a:solidFill>
          <a:ln/>
        </p:spPr>
      </p:sp>
      <p:sp>
        <p:nvSpPr>
          <p:cNvPr id="11" name="Text 8"/>
          <p:cNvSpPr txBox="1"/>
          <p:nvPr/>
        </p:nvSpPr>
        <p:spPr>
          <a:xfrm>
            <a:off x="3017520" y="2057400"/>
            <a:ext cx="1463040" cy="731520"/>
          </a:xfrm>
          <a:prstGeom prst="rect">
            <a:avLst/>
          </a:prstGeom>
          <a:noFill/>
          <a:ln/>
        </p:spPr>
        <p:txBody>
          <a:bodyPr wrap="square" lIns="0" tIns="0" rIns="0" bIns="0" rtlCol="0" anchor="t"/>
          <a:lstStyle/>
          <a:p>
            <a:pPr indent="0" marL="0">
              <a:buNone/>
            </a:pPr>
            <a:r>
              <a:rPr lang="en-US" sz="3600" b="1" dirty="0">
                <a:solidFill>
                  <a:srgbClr val="6D28D9"/>
                </a:solidFill>
                <a:latin typeface="Arial" pitchFamily="34" charset="0"/>
                <a:ea typeface="Arial" pitchFamily="34" charset="-122"/>
                <a:cs typeface="Arial" pitchFamily="34" charset="-120"/>
              </a:rPr>
              <a:t>02</a:t>
            </a:r>
            <a:endParaRPr lang="en-US" sz="3600" dirty="0"/>
          </a:p>
        </p:txBody>
      </p:sp>
      <p:sp>
        <p:nvSpPr>
          <p:cNvPr id="12" name="Text 9"/>
          <p:cNvSpPr txBox="1"/>
          <p:nvPr/>
        </p:nvSpPr>
        <p:spPr>
          <a:xfrm>
            <a:off x="3017520" y="3063240"/>
            <a:ext cx="1691640" cy="82296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Metodología RUP</a:t>
            </a:r>
            <a:endParaRPr lang="en-US" sz="1700" dirty="0"/>
          </a:p>
        </p:txBody>
      </p:sp>
      <p:sp>
        <p:nvSpPr>
          <p:cNvPr id="13" name="Text 10"/>
          <p:cNvSpPr txBox="1"/>
          <p:nvPr/>
        </p:nvSpPr>
        <p:spPr>
          <a:xfrm>
            <a:off x="3017520" y="3977640"/>
            <a:ext cx="1691640" cy="146304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Características, fases y disciplinas</a:t>
            </a:r>
            <a:endParaRPr lang="en-US" sz="1250" dirty="0"/>
          </a:p>
        </p:txBody>
      </p:sp>
      <p:sp>
        <p:nvSpPr>
          <p:cNvPr id="14" name="Shape 11"/>
          <p:cNvSpPr/>
          <p:nvPr/>
        </p:nvSpPr>
        <p:spPr>
          <a:xfrm>
            <a:off x="5029200" y="1828800"/>
            <a:ext cx="2057400" cy="3931920"/>
          </a:xfrm>
          <a:prstGeom prst="roundRect">
            <a:avLst>
              <a:gd name="adj" fmla="val 3556"/>
            </a:avLst>
          </a:prstGeom>
          <a:solidFill>
            <a:srgbClr val="0B0B0D"/>
          </a:solidFill>
          <a:ln/>
        </p:spPr>
      </p:sp>
      <p:sp>
        <p:nvSpPr>
          <p:cNvPr id="15" name="Text 12"/>
          <p:cNvSpPr txBox="1"/>
          <p:nvPr/>
        </p:nvSpPr>
        <p:spPr>
          <a:xfrm>
            <a:off x="5257800" y="2057400"/>
            <a:ext cx="1463040" cy="731520"/>
          </a:xfrm>
          <a:prstGeom prst="rect">
            <a:avLst/>
          </a:prstGeom>
          <a:noFill/>
          <a:ln/>
        </p:spPr>
        <p:txBody>
          <a:bodyPr wrap="square" lIns="0" tIns="0" rIns="0" bIns="0" rtlCol="0" anchor="t"/>
          <a:lstStyle/>
          <a:p>
            <a:pPr indent="0" marL="0">
              <a:buNone/>
            </a:pPr>
            <a:r>
              <a:rPr lang="en-US" sz="3600" b="1" dirty="0">
                <a:solidFill>
                  <a:srgbClr val="A78BFA"/>
                </a:solidFill>
                <a:latin typeface="Arial" pitchFamily="34" charset="0"/>
                <a:ea typeface="Arial" pitchFamily="34" charset="-122"/>
                <a:cs typeface="Arial" pitchFamily="34" charset="-120"/>
              </a:rPr>
              <a:t>03</a:t>
            </a:r>
            <a:endParaRPr lang="en-US" sz="3600" dirty="0"/>
          </a:p>
        </p:txBody>
      </p:sp>
      <p:sp>
        <p:nvSpPr>
          <p:cNvPr id="16" name="Text 13"/>
          <p:cNvSpPr txBox="1"/>
          <p:nvPr/>
        </p:nvSpPr>
        <p:spPr>
          <a:xfrm>
            <a:off x="5257800" y="3063240"/>
            <a:ext cx="1691640" cy="8229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Aplicación a Black Hawk</a:t>
            </a:r>
            <a:endParaRPr lang="en-US" sz="1700" dirty="0"/>
          </a:p>
        </p:txBody>
      </p:sp>
      <p:sp>
        <p:nvSpPr>
          <p:cNvPr id="17" name="Text 14"/>
          <p:cNvSpPr txBox="1"/>
          <p:nvPr/>
        </p:nvSpPr>
        <p:spPr>
          <a:xfrm>
            <a:off x="5257800" y="3977640"/>
            <a:ext cx="1691640" cy="1463040"/>
          </a:xfrm>
          <a:prstGeom prst="rect">
            <a:avLst/>
          </a:prstGeom>
          <a:noFill/>
          <a:ln/>
        </p:spPr>
        <p:txBody>
          <a:bodyPr wrap="square" lIns="0" tIns="0" rIns="0" bIns="0" rtlCol="0" anchor="t"/>
          <a:lstStyle/>
          <a:p>
            <a:pPr indent="0" marL="0">
              <a:buNone/>
            </a:pPr>
            <a:r>
              <a:rPr lang="en-US" sz="1250" dirty="0">
                <a:solidFill>
                  <a:srgbClr val="9CA3AF"/>
                </a:solidFill>
                <a:latin typeface="Arial" pitchFamily="34" charset="0"/>
                <a:ea typeface="Arial" pitchFamily="34" charset="-122"/>
                <a:cs typeface="Arial" pitchFamily="34" charset="-120"/>
              </a:rPr>
              <a:t>Inicio, Elaboración, Construcción, Transición</a:t>
            </a:r>
            <a:endParaRPr lang="en-US" sz="1250" dirty="0"/>
          </a:p>
        </p:txBody>
      </p:sp>
      <p:sp>
        <p:nvSpPr>
          <p:cNvPr id="18" name="Shape 15"/>
          <p:cNvSpPr/>
          <p:nvPr/>
        </p:nvSpPr>
        <p:spPr>
          <a:xfrm>
            <a:off x="7269480" y="1828800"/>
            <a:ext cx="2057400" cy="3931920"/>
          </a:xfrm>
          <a:prstGeom prst="roundRect">
            <a:avLst>
              <a:gd name="adj" fmla="val 3556"/>
            </a:avLst>
          </a:prstGeom>
          <a:solidFill>
            <a:srgbClr val="F5F5F7"/>
          </a:solidFill>
          <a:ln/>
        </p:spPr>
      </p:sp>
      <p:sp>
        <p:nvSpPr>
          <p:cNvPr id="19" name="Text 16"/>
          <p:cNvSpPr txBox="1"/>
          <p:nvPr/>
        </p:nvSpPr>
        <p:spPr>
          <a:xfrm>
            <a:off x="7498080" y="2057400"/>
            <a:ext cx="1463040" cy="731520"/>
          </a:xfrm>
          <a:prstGeom prst="rect">
            <a:avLst/>
          </a:prstGeom>
          <a:noFill/>
          <a:ln/>
        </p:spPr>
        <p:txBody>
          <a:bodyPr wrap="square" lIns="0" tIns="0" rIns="0" bIns="0" rtlCol="0" anchor="t"/>
          <a:lstStyle/>
          <a:p>
            <a:pPr indent="0" marL="0">
              <a:buNone/>
            </a:pPr>
            <a:r>
              <a:rPr lang="en-US" sz="3600" b="1" dirty="0">
                <a:solidFill>
                  <a:srgbClr val="6D28D9"/>
                </a:solidFill>
                <a:latin typeface="Arial" pitchFamily="34" charset="0"/>
                <a:ea typeface="Arial" pitchFamily="34" charset="-122"/>
                <a:cs typeface="Arial" pitchFamily="34" charset="-120"/>
              </a:rPr>
              <a:t>04</a:t>
            </a:r>
            <a:endParaRPr lang="en-US" sz="3600" dirty="0"/>
          </a:p>
        </p:txBody>
      </p:sp>
      <p:sp>
        <p:nvSpPr>
          <p:cNvPr id="20" name="Text 17"/>
          <p:cNvSpPr txBox="1"/>
          <p:nvPr/>
        </p:nvSpPr>
        <p:spPr>
          <a:xfrm>
            <a:off x="7498080" y="3063240"/>
            <a:ext cx="1691640" cy="82296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Modelado UML</a:t>
            </a:r>
            <a:endParaRPr lang="en-US" sz="1700" dirty="0"/>
          </a:p>
        </p:txBody>
      </p:sp>
      <p:sp>
        <p:nvSpPr>
          <p:cNvPr id="21" name="Text 18"/>
          <p:cNvSpPr txBox="1"/>
          <p:nvPr/>
        </p:nvSpPr>
        <p:spPr>
          <a:xfrm>
            <a:off x="7498080" y="3977640"/>
            <a:ext cx="1691640" cy="146304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Casos de uso, clases, secuencia, actividades, arquitectura</a:t>
            </a:r>
            <a:endParaRPr lang="en-US" sz="1250" dirty="0"/>
          </a:p>
        </p:txBody>
      </p:sp>
      <p:sp>
        <p:nvSpPr>
          <p:cNvPr id="22" name="Shape 19"/>
          <p:cNvSpPr/>
          <p:nvPr/>
        </p:nvSpPr>
        <p:spPr>
          <a:xfrm>
            <a:off x="9509760" y="1828800"/>
            <a:ext cx="2057400" cy="3931920"/>
          </a:xfrm>
          <a:prstGeom prst="roundRect">
            <a:avLst>
              <a:gd name="adj" fmla="val 3556"/>
            </a:avLst>
          </a:prstGeom>
          <a:solidFill>
            <a:srgbClr val="F5F5F7"/>
          </a:solidFill>
          <a:ln/>
        </p:spPr>
      </p:sp>
      <p:sp>
        <p:nvSpPr>
          <p:cNvPr id="23" name="Text 20"/>
          <p:cNvSpPr txBox="1"/>
          <p:nvPr/>
        </p:nvSpPr>
        <p:spPr>
          <a:xfrm>
            <a:off x="9738360" y="2057400"/>
            <a:ext cx="1463040" cy="731520"/>
          </a:xfrm>
          <a:prstGeom prst="rect">
            <a:avLst/>
          </a:prstGeom>
          <a:noFill/>
          <a:ln/>
        </p:spPr>
        <p:txBody>
          <a:bodyPr wrap="square" lIns="0" tIns="0" rIns="0" bIns="0" rtlCol="0" anchor="t"/>
          <a:lstStyle/>
          <a:p>
            <a:pPr indent="0" marL="0">
              <a:buNone/>
            </a:pPr>
            <a:r>
              <a:rPr lang="en-US" sz="3600" b="1" dirty="0">
                <a:solidFill>
                  <a:srgbClr val="6D28D9"/>
                </a:solidFill>
                <a:latin typeface="Arial" pitchFamily="34" charset="0"/>
                <a:ea typeface="Arial" pitchFamily="34" charset="-122"/>
                <a:cs typeface="Arial" pitchFamily="34" charset="-120"/>
              </a:rPr>
              <a:t>05</a:t>
            </a:r>
            <a:endParaRPr lang="en-US" sz="3600" dirty="0"/>
          </a:p>
        </p:txBody>
      </p:sp>
      <p:sp>
        <p:nvSpPr>
          <p:cNvPr id="24" name="Text 21"/>
          <p:cNvSpPr txBox="1"/>
          <p:nvPr/>
        </p:nvSpPr>
        <p:spPr>
          <a:xfrm>
            <a:off x="9738360" y="3063240"/>
            <a:ext cx="1691640" cy="82296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Gestión y resultados</a:t>
            </a:r>
            <a:endParaRPr lang="en-US" sz="1700" dirty="0"/>
          </a:p>
        </p:txBody>
      </p:sp>
      <p:sp>
        <p:nvSpPr>
          <p:cNvPr id="25" name="Text 22"/>
          <p:cNvSpPr txBox="1"/>
          <p:nvPr/>
        </p:nvSpPr>
        <p:spPr>
          <a:xfrm>
            <a:off x="9738360" y="3977640"/>
            <a:ext cx="1691640" cy="146304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Cronograma, riesgos, trazabilidad y conclusiones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01 · EL CASO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Black Hawk Car Audio</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3</a:t>
            </a:r>
            <a:endParaRPr lang="en-US" sz="900" dirty="0"/>
          </a:p>
        </p:txBody>
      </p:sp>
      <p:pic>
        <p:nvPicPr>
          <p:cNvPr id="6" name="Image 0" descr="../../assets/images/brand/amplificadores-960.jpg">    </p:cNvPr>
          <p:cNvPicPr>
            <a:picLocks noChangeAspect="1"/>
          </p:cNvPicPr>
          <p:nvPr/>
        </p:nvPicPr>
        <p:blipFill>
          <a:blip r:embed="rId1"/>
          <a:stretch>
            <a:fillRect/>
          </a:stretch>
        </p:blipFill>
        <p:spPr>
          <a:xfrm>
            <a:off x="6309360" y="1417320"/>
            <a:ext cx="5330952" cy="2980944"/>
          </a:xfrm>
          <a:prstGeom prst="rect">
            <a:avLst/>
          </a:prstGeom>
        </p:spPr>
      </p:pic>
      <p:sp>
        <p:nvSpPr>
          <p:cNvPr id="7" name="Text 3"/>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Imagen: sitio oficial de Black Hawk. Cifras: evidencia archivada del rediseño (23-09-2026).</a:t>
            </a:r>
            <a:endParaRPr lang="en-US" sz="900" dirty="0"/>
          </a:p>
        </p:txBody>
      </p:sp>
      <p:sp>
        <p:nvSpPr>
          <p:cNvPr id="8" name="Text 4"/>
          <p:cNvSpPr txBox="1"/>
          <p:nvPr/>
        </p:nvSpPr>
        <p:spPr>
          <a:xfrm>
            <a:off x="548640" y="1463040"/>
            <a:ext cx="1645920" cy="822960"/>
          </a:xfrm>
          <a:prstGeom prst="rect">
            <a:avLst/>
          </a:prstGeom>
          <a:noFill/>
          <a:ln/>
        </p:spPr>
        <p:txBody>
          <a:bodyPr wrap="square" lIns="0" tIns="0" rIns="0" bIns="0" rtlCol="0" anchor="t"/>
          <a:lstStyle/>
          <a:p>
            <a:pPr indent="0" marL="0">
              <a:buNone/>
            </a:pPr>
            <a:r>
              <a:rPr lang="en-US" sz="4800" b="1" dirty="0">
                <a:solidFill>
                  <a:srgbClr val="0B0B0D"/>
                </a:solidFill>
                <a:latin typeface="Arial" pitchFamily="34" charset="0"/>
                <a:ea typeface="Arial" pitchFamily="34" charset="-122"/>
                <a:cs typeface="Arial" pitchFamily="34" charset="-120"/>
              </a:rPr>
              <a:t>12</a:t>
            </a:r>
            <a:endParaRPr lang="en-US" sz="4800" dirty="0"/>
          </a:p>
        </p:txBody>
      </p:sp>
      <p:sp>
        <p:nvSpPr>
          <p:cNvPr id="9" name="Text 5"/>
          <p:cNvSpPr txBox="1"/>
          <p:nvPr/>
        </p:nvSpPr>
        <p:spPr>
          <a:xfrm>
            <a:off x="2286000" y="1691640"/>
            <a:ext cx="3749040" cy="731520"/>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categorías de producto</a:t>
            </a:r>
            <a:endParaRPr lang="en-US" sz="1600" dirty="0"/>
          </a:p>
        </p:txBody>
      </p:sp>
      <p:sp>
        <p:nvSpPr>
          <p:cNvPr id="10" name="Text 6"/>
          <p:cNvSpPr txBox="1"/>
          <p:nvPr/>
        </p:nvSpPr>
        <p:spPr>
          <a:xfrm>
            <a:off x="548640" y="2788920"/>
            <a:ext cx="1645920" cy="822960"/>
          </a:xfrm>
          <a:prstGeom prst="rect">
            <a:avLst/>
          </a:prstGeom>
          <a:noFill/>
          <a:ln/>
        </p:spPr>
        <p:txBody>
          <a:bodyPr wrap="square" lIns="0" tIns="0" rIns="0" bIns="0" rtlCol="0" anchor="t"/>
          <a:lstStyle/>
          <a:p>
            <a:pPr indent="0" marL="0">
              <a:buNone/>
            </a:pPr>
            <a:r>
              <a:rPr lang="en-US" sz="4800" b="1" dirty="0">
                <a:solidFill>
                  <a:srgbClr val="0B0B0D"/>
                </a:solidFill>
                <a:latin typeface="Arial" pitchFamily="34" charset="0"/>
                <a:ea typeface="Arial" pitchFamily="34" charset="-122"/>
                <a:cs typeface="Arial" pitchFamily="34" charset="-120"/>
              </a:rPr>
              <a:t>118</a:t>
            </a:r>
            <a:endParaRPr lang="en-US" sz="4800" dirty="0"/>
          </a:p>
        </p:txBody>
      </p:sp>
      <p:sp>
        <p:nvSpPr>
          <p:cNvPr id="11" name="Text 7"/>
          <p:cNvSpPr txBox="1"/>
          <p:nvPr/>
        </p:nvSpPr>
        <p:spPr>
          <a:xfrm>
            <a:off x="2286000" y="3017520"/>
            <a:ext cx="3749040" cy="731520"/>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productos en el rediseño (110 en el sitio oficial)</a:t>
            </a:r>
            <a:endParaRPr lang="en-US" sz="1600" dirty="0"/>
          </a:p>
        </p:txBody>
      </p:sp>
      <p:sp>
        <p:nvSpPr>
          <p:cNvPr id="12" name="Text 8"/>
          <p:cNvSpPr txBox="1"/>
          <p:nvPr/>
        </p:nvSpPr>
        <p:spPr>
          <a:xfrm>
            <a:off x="548640" y="4114800"/>
            <a:ext cx="1645920" cy="822960"/>
          </a:xfrm>
          <a:prstGeom prst="rect">
            <a:avLst/>
          </a:prstGeom>
          <a:noFill/>
          <a:ln/>
        </p:spPr>
        <p:txBody>
          <a:bodyPr wrap="square" lIns="0" tIns="0" rIns="0" bIns="0" rtlCol="0" anchor="t"/>
          <a:lstStyle/>
          <a:p>
            <a:pPr indent="0" marL="0">
              <a:buNone/>
            </a:pPr>
            <a:r>
              <a:rPr lang="en-US" sz="4800" b="1" dirty="0">
                <a:solidFill>
                  <a:srgbClr val="6D28D9"/>
                </a:solidFill>
                <a:latin typeface="Arial" pitchFamily="34" charset="0"/>
                <a:ea typeface="Arial" pitchFamily="34" charset="-122"/>
                <a:cs typeface="Arial" pitchFamily="34" charset="-120"/>
              </a:rPr>
              <a:t>0</a:t>
            </a:r>
            <a:endParaRPr lang="en-US" sz="4800" dirty="0"/>
          </a:p>
        </p:txBody>
      </p:sp>
      <p:sp>
        <p:nvSpPr>
          <p:cNvPr id="13" name="Text 9"/>
          <p:cNvSpPr txBox="1"/>
          <p:nvPr/>
        </p:nvSpPr>
        <p:spPr>
          <a:xfrm>
            <a:off x="2286000" y="4343400"/>
            <a:ext cx="3749040" cy="731520"/>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pagos en línea: la web es un catálogo</a:t>
            </a:r>
            <a:endParaRPr lang="en-US" sz="1600" dirty="0"/>
          </a:p>
        </p:txBody>
      </p:sp>
      <p:sp>
        <p:nvSpPr>
          <p:cNvPr id="14" name="Text 10"/>
          <p:cNvSpPr txBox="1"/>
          <p:nvPr/>
        </p:nvSpPr>
        <p:spPr>
          <a:xfrm>
            <a:off x="6309360" y="4617720"/>
            <a:ext cx="5330952" cy="914400"/>
          </a:xfrm>
          <a:prstGeom prst="rect">
            <a:avLst/>
          </a:prstGeom>
          <a:noFill/>
          <a:ln/>
        </p:spPr>
        <p:txBody>
          <a:bodyPr wrap="square" lIns="0" tIns="0" rIns="0" bIns="0" rtlCol="0" anchor="t"/>
          <a:lstStyle/>
          <a:p>
            <a:pPr indent="0" marL="0">
              <a:buNone/>
            </a:pPr>
            <a:r>
              <a:rPr lang="en-US" sz="1250" dirty="0">
                <a:solidFill>
                  <a:srgbClr val="0B0B0D"/>
                </a:solidFill>
                <a:latin typeface="Arial" pitchFamily="34" charset="0"/>
                <a:ea typeface="Arial" pitchFamily="34" charset="-122"/>
                <a:cs typeface="Arial" pitchFamily="34" charset="-120"/>
              </a:rPr>
              <a:t>Modelos de referencia: BH-4.8DSP · BH-SW12XZP · FR 1500.1 · FR 2000.1 · FR 3000.1 · FR 15000.1 · FR 40000.1 · BH-70CHR · BH-200CHR · BH-605BN PRO</a:t>
            </a:r>
            <a:endParaRPr lang="en-US" sz="1250" dirty="0"/>
          </a:p>
        </p:txBody>
      </p:sp>
      <p:sp>
        <p:nvSpPr>
          <p:cNvPr id="15" name="Text 11"/>
          <p:cNvSpPr txBox="1"/>
          <p:nvPr/>
        </p:nvSpPr>
        <p:spPr>
          <a:xfrm>
            <a:off x="6309360" y="5486400"/>
            <a:ext cx="5330952" cy="548640"/>
          </a:xfrm>
          <a:prstGeom prst="rect">
            <a:avLst/>
          </a:prstGeom>
          <a:noFill/>
          <a:ln/>
        </p:spPr>
        <p:txBody>
          <a:bodyPr wrap="square" lIns="0" tIns="0" rIns="0" bIns="0" rtlCol="0" anchor="t"/>
          <a:lstStyle/>
          <a:p>
            <a:pPr indent="0" marL="0">
              <a:buNone/>
            </a:pPr>
            <a:r>
              <a:rPr lang="en-US" sz="1150" i="1" dirty="0">
                <a:solidFill>
                  <a:srgbClr val="6B7280"/>
                </a:solidFill>
                <a:latin typeface="Arial" pitchFamily="34" charset="0"/>
                <a:ea typeface="Arial" pitchFamily="34" charset="-122"/>
                <a:cs typeface="Arial" pitchFamily="34" charset="-120"/>
              </a:rPr>
              <a:t>No se transcriben especificaciones técnicas: un dato sin fuente se muestra como «Pendiente de verificación».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01 · EL CASO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Una plataforma de catálogo que termina en WhatsApp</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4</a:t>
            </a:r>
            <a:endParaRPr lang="en-US" sz="900" dirty="0"/>
          </a:p>
        </p:txBody>
      </p:sp>
      <p:sp>
        <p:nvSpPr>
          <p:cNvPr id="6" name="Shape 3"/>
          <p:cNvSpPr/>
          <p:nvPr/>
        </p:nvSpPr>
        <p:spPr>
          <a:xfrm>
            <a:off x="548640" y="1508760"/>
            <a:ext cx="2615184" cy="566928"/>
          </a:xfrm>
          <a:prstGeom prst="roundRect">
            <a:avLst>
              <a:gd name="adj" fmla="val 12903"/>
            </a:avLst>
          </a:prstGeom>
          <a:solidFill>
            <a:srgbClr val="F5F5F7"/>
          </a:solidFill>
          <a:ln/>
        </p:spPr>
      </p:sp>
      <p:sp>
        <p:nvSpPr>
          <p:cNvPr id="7" name="Text 4"/>
          <p:cNvSpPr txBox="1"/>
          <p:nvPr/>
        </p:nvSpPr>
        <p:spPr>
          <a:xfrm>
            <a:off x="548640" y="1508760"/>
            <a:ext cx="2615184" cy="566928"/>
          </a:xfrm>
          <a:prstGeom prst="rect">
            <a:avLst/>
          </a:prstGeom>
          <a:noFill/>
          <a:ln/>
        </p:spPr>
        <p:txBody>
          <a:bodyPr wrap="square" lIns="0" tIns="0" rIns="0" bIns="0" rtlCol="0" anchor="ctr"/>
          <a:lstStyle/>
          <a:p>
            <a:pPr algn="ctr" indent="0" marL="0">
              <a:buNone/>
            </a:pPr>
            <a:r>
              <a:rPr lang="en-US" sz="1500" b="1" dirty="0">
                <a:solidFill>
                  <a:srgbClr val="0B0B0D"/>
                </a:solidFill>
                <a:latin typeface="Arial" pitchFamily="34" charset="0"/>
                <a:ea typeface="Arial" pitchFamily="34" charset="-122"/>
                <a:cs typeface="Arial" pitchFamily="34" charset="-120"/>
              </a:rPr>
              <a:t>WordPress</a:t>
            </a:r>
            <a:endParaRPr lang="en-US" sz="1500" dirty="0"/>
          </a:p>
        </p:txBody>
      </p:sp>
      <p:sp>
        <p:nvSpPr>
          <p:cNvPr id="8" name="Shape 5"/>
          <p:cNvSpPr/>
          <p:nvPr/>
        </p:nvSpPr>
        <p:spPr>
          <a:xfrm>
            <a:off x="3346704" y="1508760"/>
            <a:ext cx="2615184" cy="566928"/>
          </a:xfrm>
          <a:prstGeom prst="roundRect">
            <a:avLst>
              <a:gd name="adj" fmla="val 12903"/>
            </a:avLst>
          </a:prstGeom>
          <a:solidFill>
            <a:srgbClr val="F5F5F7"/>
          </a:solidFill>
          <a:ln/>
        </p:spPr>
      </p:sp>
      <p:sp>
        <p:nvSpPr>
          <p:cNvPr id="9" name="Text 6"/>
          <p:cNvSpPr txBox="1"/>
          <p:nvPr/>
        </p:nvSpPr>
        <p:spPr>
          <a:xfrm>
            <a:off x="3346704" y="1508760"/>
            <a:ext cx="2615184" cy="566928"/>
          </a:xfrm>
          <a:prstGeom prst="rect">
            <a:avLst/>
          </a:prstGeom>
          <a:noFill/>
          <a:ln/>
        </p:spPr>
        <p:txBody>
          <a:bodyPr wrap="square" lIns="0" tIns="0" rIns="0" bIns="0" rtlCol="0" anchor="ctr"/>
          <a:lstStyle/>
          <a:p>
            <a:pPr algn="ctr" indent="0" marL="0">
              <a:buNone/>
            </a:pPr>
            <a:r>
              <a:rPr lang="en-US" sz="1500" b="1" dirty="0">
                <a:solidFill>
                  <a:srgbClr val="0B0B0D"/>
                </a:solidFill>
                <a:latin typeface="Arial" pitchFamily="34" charset="0"/>
                <a:ea typeface="Arial" pitchFamily="34" charset="-122"/>
                <a:cs typeface="Arial" pitchFamily="34" charset="-120"/>
              </a:rPr>
              <a:t>WooCommerce</a:t>
            </a:r>
            <a:endParaRPr lang="en-US" sz="1500" dirty="0"/>
          </a:p>
        </p:txBody>
      </p:sp>
      <p:sp>
        <p:nvSpPr>
          <p:cNvPr id="10" name="Shape 7"/>
          <p:cNvSpPr/>
          <p:nvPr/>
        </p:nvSpPr>
        <p:spPr>
          <a:xfrm>
            <a:off x="6144768" y="1508760"/>
            <a:ext cx="2615184" cy="566928"/>
          </a:xfrm>
          <a:prstGeom prst="roundRect">
            <a:avLst>
              <a:gd name="adj" fmla="val 12903"/>
            </a:avLst>
          </a:prstGeom>
          <a:solidFill>
            <a:srgbClr val="F5F5F7"/>
          </a:solidFill>
          <a:ln/>
        </p:spPr>
      </p:sp>
      <p:sp>
        <p:nvSpPr>
          <p:cNvPr id="11" name="Text 8"/>
          <p:cNvSpPr txBox="1"/>
          <p:nvPr/>
        </p:nvSpPr>
        <p:spPr>
          <a:xfrm>
            <a:off x="6144768" y="1508760"/>
            <a:ext cx="2615184" cy="566928"/>
          </a:xfrm>
          <a:prstGeom prst="rect">
            <a:avLst/>
          </a:prstGeom>
          <a:noFill/>
          <a:ln/>
        </p:spPr>
        <p:txBody>
          <a:bodyPr wrap="square" lIns="0" tIns="0" rIns="0" bIns="0" rtlCol="0" anchor="ctr"/>
          <a:lstStyle/>
          <a:p>
            <a:pPr algn="ctr" indent="0" marL="0">
              <a:buNone/>
            </a:pPr>
            <a:r>
              <a:rPr lang="en-US" sz="1500" b="1" dirty="0">
                <a:solidFill>
                  <a:srgbClr val="0B0B0D"/>
                </a:solidFill>
                <a:latin typeface="Arial" pitchFamily="34" charset="0"/>
                <a:ea typeface="Arial" pitchFamily="34" charset="-122"/>
                <a:cs typeface="Arial" pitchFamily="34" charset="-120"/>
              </a:rPr>
              <a:t>Tema hijo</a:t>
            </a:r>
            <a:endParaRPr lang="en-US" sz="1500" dirty="0"/>
          </a:p>
        </p:txBody>
      </p:sp>
      <p:sp>
        <p:nvSpPr>
          <p:cNvPr id="12" name="Shape 9"/>
          <p:cNvSpPr/>
          <p:nvPr/>
        </p:nvSpPr>
        <p:spPr>
          <a:xfrm>
            <a:off x="8942832" y="1508760"/>
            <a:ext cx="2615184" cy="566928"/>
          </a:xfrm>
          <a:prstGeom prst="roundRect">
            <a:avLst>
              <a:gd name="adj" fmla="val 12903"/>
            </a:avLst>
          </a:prstGeom>
          <a:solidFill>
            <a:srgbClr val="EDE4FB"/>
          </a:solidFill>
          <a:ln/>
        </p:spPr>
      </p:sp>
      <p:sp>
        <p:nvSpPr>
          <p:cNvPr id="13" name="Text 10"/>
          <p:cNvSpPr txBox="1"/>
          <p:nvPr/>
        </p:nvSpPr>
        <p:spPr>
          <a:xfrm>
            <a:off x="8942832" y="1508760"/>
            <a:ext cx="2615184" cy="566928"/>
          </a:xfrm>
          <a:prstGeom prst="rect">
            <a:avLst/>
          </a:prstGeom>
          <a:noFill/>
          <a:ln/>
        </p:spPr>
        <p:txBody>
          <a:bodyPr wrap="square" lIns="0" tIns="0" rIns="0" bIns="0" rtlCol="0" anchor="ctr"/>
          <a:lstStyle/>
          <a:p>
            <a:pPr algn="ctr" indent="0" marL="0">
              <a:buNone/>
            </a:pPr>
            <a:r>
              <a:rPr lang="en-US" sz="1500" b="1" dirty="0">
                <a:solidFill>
                  <a:srgbClr val="0B0B0D"/>
                </a:solidFill>
                <a:latin typeface="Arial" pitchFamily="34" charset="0"/>
                <a:ea typeface="Arial" pitchFamily="34" charset="-122"/>
                <a:cs typeface="Arial" pitchFamily="34" charset="-120"/>
              </a:rPr>
              <a:t>YITH Catalog Mode</a:t>
            </a:r>
            <a:endParaRPr lang="en-US" sz="1500" dirty="0"/>
          </a:p>
        </p:txBody>
      </p:sp>
      <p:sp>
        <p:nvSpPr>
          <p:cNvPr id="14" name="Shape 11"/>
          <p:cNvSpPr/>
          <p:nvPr/>
        </p:nvSpPr>
        <p:spPr>
          <a:xfrm>
            <a:off x="548640" y="2743200"/>
            <a:ext cx="1384516" cy="1143000"/>
          </a:xfrm>
          <a:prstGeom prst="chevron">
            <a:avLst/>
          </a:prstGeom>
          <a:solidFill>
            <a:srgbClr val="0B0B0D"/>
          </a:solidFill>
          <a:ln/>
        </p:spPr>
      </p:sp>
      <p:sp>
        <p:nvSpPr>
          <p:cNvPr id="15" name="Text 12"/>
          <p:cNvSpPr txBox="1"/>
          <p:nvPr/>
        </p:nvSpPr>
        <p:spPr>
          <a:xfrm>
            <a:off x="822960" y="2743200"/>
            <a:ext cx="909028" cy="11430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16" name="Text 13"/>
          <p:cNvSpPr txBox="1"/>
          <p:nvPr/>
        </p:nvSpPr>
        <p:spPr>
          <a:xfrm>
            <a:off x="548640" y="4069080"/>
            <a:ext cx="1320508" cy="822960"/>
          </a:xfrm>
          <a:prstGeom prst="rect">
            <a:avLst/>
          </a:prstGeom>
          <a:noFill/>
          <a:ln/>
        </p:spPr>
        <p:txBody>
          <a:bodyPr wrap="square" lIns="0" tIns="0" rIns="0" bIns="0" rtlCol="0" anchor="t"/>
          <a:lstStyle/>
          <a:p>
            <a:pPr algn="ctr" indent="0" marL="0">
              <a:buNone/>
            </a:pPr>
            <a:r>
              <a:rPr lang="en-US" sz="1200" dirty="0">
                <a:solidFill>
                  <a:srgbClr val="0B0B0D"/>
                </a:solidFill>
                <a:latin typeface="Arial" pitchFamily="34" charset="0"/>
                <a:ea typeface="Arial" pitchFamily="34" charset="-122"/>
                <a:cs typeface="Arial" pitchFamily="34" charset="-120"/>
              </a:rPr>
              <a:t>Ingresa al catálogo</a:t>
            </a:r>
            <a:endParaRPr lang="en-US" sz="1200" dirty="0"/>
          </a:p>
        </p:txBody>
      </p:sp>
      <p:sp>
        <p:nvSpPr>
          <p:cNvPr id="17" name="Shape 14"/>
          <p:cNvSpPr/>
          <p:nvPr/>
        </p:nvSpPr>
        <p:spPr>
          <a:xfrm>
            <a:off x="1951444" y="2743200"/>
            <a:ext cx="1384516" cy="1143000"/>
          </a:xfrm>
          <a:prstGeom prst="chevron">
            <a:avLst/>
          </a:prstGeom>
          <a:solidFill>
            <a:srgbClr val="0B0B0D"/>
          </a:solidFill>
          <a:ln/>
        </p:spPr>
      </p:sp>
      <p:sp>
        <p:nvSpPr>
          <p:cNvPr id="18" name="Text 15"/>
          <p:cNvSpPr txBox="1"/>
          <p:nvPr/>
        </p:nvSpPr>
        <p:spPr>
          <a:xfrm>
            <a:off x="2225764" y="2743200"/>
            <a:ext cx="909028" cy="11430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9" name="Text 16"/>
          <p:cNvSpPr txBox="1"/>
          <p:nvPr/>
        </p:nvSpPr>
        <p:spPr>
          <a:xfrm>
            <a:off x="1951444" y="4069080"/>
            <a:ext cx="1320508" cy="822960"/>
          </a:xfrm>
          <a:prstGeom prst="rect">
            <a:avLst/>
          </a:prstGeom>
          <a:noFill/>
          <a:ln/>
        </p:spPr>
        <p:txBody>
          <a:bodyPr wrap="square" lIns="0" tIns="0" rIns="0" bIns="0" rtlCol="0" anchor="t"/>
          <a:lstStyle/>
          <a:p>
            <a:pPr algn="ctr" indent="0" marL="0">
              <a:buNone/>
            </a:pPr>
            <a:r>
              <a:rPr lang="en-US" sz="1200" dirty="0">
                <a:solidFill>
                  <a:srgbClr val="0B0B0D"/>
                </a:solidFill>
                <a:latin typeface="Arial" pitchFamily="34" charset="0"/>
                <a:ea typeface="Arial" pitchFamily="34" charset="-122"/>
                <a:cs typeface="Arial" pitchFamily="34" charset="-120"/>
              </a:rPr>
              <a:t>Busca o selecciona</a:t>
            </a:r>
            <a:endParaRPr lang="en-US" sz="1200" dirty="0"/>
          </a:p>
        </p:txBody>
      </p:sp>
      <p:sp>
        <p:nvSpPr>
          <p:cNvPr id="20" name="Shape 17"/>
          <p:cNvSpPr/>
          <p:nvPr/>
        </p:nvSpPr>
        <p:spPr>
          <a:xfrm>
            <a:off x="3354248" y="2743200"/>
            <a:ext cx="1384516" cy="1143000"/>
          </a:xfrm>
          <a:prstGeom prst="chevron">
            <a:avLst/>
          </a:prstGeom>
          <a:solidFill>
            <a:srgbClr val="0B0B0D"/>
          </a:solidFill>
          <a:ln/>
        </p:spPr>
      </p:sp>
      <p:sp>
        <p:nvSpPr>
          <p:cNvPr id="21" name="Text 18"/>
          <p:cNvSpPr txBox="1"/>
          <p:nvPr/>
        </p:nvSpPr>
        <p:spPr>
          <a:xfrm>
            <a:off x="3628568" y="2743200"/>
            <a:ext cx="909028" cy="11430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22" name="Text 19"/>
          <p:cNvSpPr txBox="1"/>
          <p:nvPr/>
        </p:nvSpPr>
        <p:spPr>
          <a:xfrm>
            <a:off x="3354248" y="4069080"/>
            <a:ext cx="1320508" cy="822960"/>
          </a:xfrm>
          <a:prstGeom prst="rect">
            <a:avLst/>
          </a:prstGeom>
          <a:noFill/>
          <a:ln/>
        </p:spPr>
        <p:txBody>
          <a:bodyPr wrap="square" lIns="0" tIns="0" rIns="0" bIns="0" rtlCol="0" anchor="t"/>
          <a:lstStyle/>
          <a:p>
            <a:pPr algn="ctr" indent="0" marL="0">
              <a:buNone/>
            </a:pPr>
            <a:r>
              <a:rPr lang="en-US" sz="1200" dirty="0">
                <a:solidFill>
                  <a:srgbClr val="0B0B0D"/>
                </a:solidFill>
                <a:latin typeface="Arial" pitchFamily="34" charset="0"/>
                <a:ea typeface="Arial" pitchFamily="34" charset="-122"/>
                <a:cs typeface="Arial" pitchFamily="34" charset="-120"/>
              </a:rPr>
              <a:t>Consulta la ficha</a:t>
            </a:r>
            <a:endParaRPr lang="en-US" sz="1200" dirty="0"/>
          </a:p>
        </p:txBody>
      </p:sp>
      <p:sp>
        <p:nvSpPr>
          <p:cNvPr id="23" name="Shape 20"/>
          <p:cNvSpPr/>
          <p:nvPr/>
        </p:nvSpPr>
        <p:spPr>
          <a:xfrm>
            <a:off x="4757052" y="2743200"/>
            <a:ext cx="1384516" cy="1143000"/>
          </a:xfrm>
          <a:prstGeom prst="chevron">
            <a:avLst/>
          </a:prstGeom>
          <a:solidFill>
            <a:srgbClr val="0B0B0D"/>
          </a:solidFill>
          <a:ln/>
        </p:spPr>
      </p:sp>
      <p:sp>
        <p:nvSpPr>
          <p:cNvPr id="24" name="Text 21"/>
          <p:cNvSpPr txBox="1"/>
          <p:nvPr/>
        </p:nvSpPr>
        <p:spPr>
          <a:xfrm>
            <a:off x="5031372" y="2743200"/>
            <a:ext cx="909028" cy="11430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5" name="Text 22"/>
          <p:cNvSpPr txBox="1"/>
          <p:nvPr/>
        </p:nvSpPr>
        <p:spPr>
          <a:xfrm>
            <a:off x="4757052" y="4069080"/>
            <a:ext cx="1320508" cy="822960"/>
          </a:xfrm>
          <a:prstGeom prst="rect">
            <a:avLst/>
          </a:prstGeom>
          <a:noFill/>
          <a:ln/>
        </p:spPr>
        <p:txBody>
          <a:bodyPr wrap="square" lIns="0" tIns="0" rIns="0" bIns="0" rtlCol="0" anchor="t"/>
          <a:lstStyle/>
          <a:p>
            <a:pPr algn="ctr" indent="0" marL="0">
              <a:buNone/>
            </a:pPr>
            <a:r>
              <a:rPr lang="en-US" sz="1200" dirty="0">
                <a:solidFill>
                  <a:srgbClr val="0B0B0D"/>
                </a:solidFill>
                <a:latin typeface="Arial" pitchFamily="34" charset="0"/>
                <a:ea typeface="Arial" pitchFamily="34" charset="-122"/>
                <a:cs typeface="Arial" pitchFamily="34" charset="-120"/>
              </a:rPr>
              <a:t>Compara modelos</a:t>
            </a:r>
            <a:endParaRPr lang="en-US" sz="1200" dirty="0"/>
          </a:p>
        </p:txBody>
      </p:sp>
      <p:sp>
        <p:nvSpPr>
          <p:cNvPr id="26" name="Shape 23"/>
          <p:cNvSpPr/>
          <p:nvPr/>
        </p:nvSpPr>
        <p:spPr>
          <a:xfrm>
            <a:off x="6159856" y="2743200"/>
            <a:ext cx="1384516" cy="1143000"/>
          </a:xfrm>
          <a:prstGeom prst="chevron">
            <a:avLst/>
          </a:prstGeom>
          <a:solidFill>
            <a:srgbClr val="0B0B0D"/>
          </a:solidFill>
          <a:ln/>
        </p:spPr>
      </p:sp>
      <p:sp>
        <p:nvSpPr>
          <p:cNvPr id="27" name="Text 24"/>
          <p:cNvSpPr txBox="1"/>
          <p:nvPr/>
        </p:nvSpPr>
        <p:spPr>
          <a:xfrm>
            <a:off x="6434176" y="2743200"/>
            <a:ext cx="909028" cy="11430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28" name="Text 25"/>
          <p:cNvSpPr txBox="1"/>
          <p:nvPr/>
        </p:nvSpPr>
        <p:spPr>
          <a:xfrm>
            <a:off x="6159856" y="4069080"/>
            <a:ext cx="1320508" cy="822960"/>
          </a:xfrm>
          <a:prstGeom prst="rect">
            <a:avLst/>
          </a:prstGeom>
          <a:noFill/>
          <a:ln/>
        </p:spPr>
        <p:txBody>
          <a:bodyPr wrap="square" lIns="0" tIns="0" rIns="0" bIns="0" rtlCol="0" anchor="t"/>
          <a:lstStyle/>
          <a:p>
            <a:pPr algn="ctr" indent="0" marL="0">
              <a:buNone/>
            </a:pPr>
            <a:r>
              <a:rPr lang="en-US" sz="1200" dirty="0">
                <a:solidFill>
                  <a:srgbClr val="0B0B0D"/>
                </a:solidFill>
                <a:latin typeface="Arial" pitchFamily="34" charset="0"/>
                <a:ea typeface="Arial" pitchFamily="34" charset="-122"/>
                <a:cs typeface="Arial" pitchFamily="34" charset="-120"/>
              </a:rPr>
              <a:t>«Dónde comprar»</a:t>
            </a:r>
            <a:endParaRPr lang="en-US" sz="1200" dirty="0"/>
          </a:p>
        </p:txBody>
      </p:sp>
      <p:sp>
        <p:nvSpPr>
          <p:cNvPr id="29" name="Shape 26"/>
          <p:cNvSpPr/>
          <p:nvPr/>
        </p:nvSpPr>
        <p:spPr>
          <a:xfrm>
            <a:off x="7562659" y="2743200"/>
            <a:ext cx="1384516" cy="1143000"/>
          </a:xfrm>
          <a:prstGeom prst="chevron">
            <a:avLst/>
          </a:prstGeom>
          <a:solidFill>
            <a:srgbClr val="EDE4FB"/>
          </a:solidFill>
          <a:ln/>
        </p:spPr>
      </p:sp>
      <p:sp>
        <p:nvSpPr>
          <p:cNvPr id="30" name="Text 27"/>
          <p:cNvSpPr txBox="1"/>
          <p:nvPr/>
        </p:nvSpPr>
        <p:spPr>
          <a:xfrm>
            <a:off x="7836980" y="2743200"/>
            <a:ext cx="909028" cy="1143000"/>
          </a:xfrm>
          <a:prstGeom prst="rect">
            <a:avLst/>
          </a:prstGeom>
          <a:noFill/>
          <a:ln/>
        </p:spPr>
        <p:txBody>
          <a:bodyPr wrap="square" lIns="0" tIns="0" rIns="0" bIns="0" rtlCol="0" anchor="ctr"/>
          <a:lstStyle/>
          <a:p>
            <a:pPr algn="ctr" indent="0" marL="0">
              <a:buNone/>
            </a:pPr>
            <a:r>
              <a:rPr lang="en-US" sz="2200" b="1" dirty="0">
                <a:solidFill>
                  <a:srgbClr val="6D28D9"/>
                </a:solidFill>
                <a:latin typeface="Arial" pitchFamily="34" charset="0"/>
                <a:ea typeface="Arial" pitchFamily="34" charset="-122"/>
                <a:cs typeface="Arial" pitchFamily="34" charset="-120"/>
              </a:rPr>
              <a:t>6</a:t>
            </a:r>
            <a:endParaRPr lang="en-US" sz="2200" dirty="0"/>
          </a:p>
        </p:txBody>
      </p:sp>
      <p:sp>
        <p:nvSpPr>
          <p:cNvPr id="31" name="Text 28"/>
          <p:cNvSpPr txBox="1"/>
          <p:nvPr/>
        </p:nvSpPr>
        <p:spPr>
          <a:xfrm>
            <a:off x="7562659" y="4069080"/>
            <a:ext cx="1320508" cy="822960"/>
          </a:xfrm>
          <a:prstGeom prst="rect">
            <a:avLst/>
          </a:prstGeom>
          <a:noFill/>
          <a:ln/>
        </p:spPr>
        <p:txBody>
          <a:bodyPr wrap="square" lIns="0" tIns="0" rIns="0" bIns="0" rtlCol="0" anchor="t"/>
          <a:lstStyle/>
          <a:p>
            <a:pPr algn="ctr" indent="0" marL="0">
              <a:buNone/>
            </a:pPr>
            <a:r>
              <a:rPr lang="en-US" sz="1200" dirty="0">
                <a:solidFill>
                  <a:srgbClr val="0B0B0D"/>
                </a:solidFill>
                <a:latin typeface="Arial" pitchFamily="34" charset="0"/>
                <a:ea typeface="Arial" pitchFamily="34" charset="-122"/>
                <a:cs typeface="Arial" pitchFamily="34" charset="-120"/>
              </a:rPr>
              <a:t>Directorio de distribuidores</a:t>
            </a:r>
            <a:endParaRPr lang="en-US" sz="1200" dirty="0"/>
          </a:p>
        </p:txBody>
      </p:sp>
      <p:sp>
        <p:nvSpPr>
          <p:cNvPr id="32" name="Shape 29"/>
          <p:cNvSpPr/>
          <p:nvPr/>
        </p:nvSpPr>
        <p:spPr>
          <a:xfrm>
            <a:off x="8965463" y="2743200"/>
            <a:ext cx="1384516" cy="1143000"/>
          </a:xfrm>
          <a:prstGeom prst="chevron">
            <a:avLst/>
          </a:prstGeom>
          <a:solidFill>
            <a:srgbClr val="6D28D9"/>
          </a:solidFill>
          <a:ln/>
        </p:spPr>
      </p:sp>
      <p:sp>
        <p:nvSpPr>
          <p:cNvPr id="33" name="Text 30"/>
          <p:cNvSpPr txBox="1"/>
          <p:nvPr/>
        </p:nvSpPr>
        <p:spPr>
          <a:xfrm>
            <a:off x="9239783" y="2743200"/>
            <a:ext cx="909028" cy="11430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7</a:t>
            </a:r>
            <a:endParaRPr lang="en-US" sz="2200" dirty="0"/>
          </a:p>
        </p:txBody>
      </p:sp>
      <p:sp>
        <p:nvSpPr>
          <p:cNvPr id="34" name="Text 31"/>
          <p:cNvSpPr txBox="1"/>
          <p:nvPr/>
        </p:nvSpPr>
        <p:spPr>
          <a:xfrm>
            <a:off x="8965463" y="4069080"/>
            <a:ext cx="1320508" cy="822960"/>
          </a:xfrm>
          <a:prstGeom prst="rect">
            <a:avLst/>
          </a:prstGeom>
          <a:noFill/>
          <a:ln/>
        </p:spPr>
        <p:txBody>
          <a:bodyPr wrap="square" lIns="0" tIns="0" rIns="0" bIns="0" rtlCol="0" anchor="t"/>
          <a:lstStyle/>
          <a:p>
            <a:pPr algn="ctr" indent="0" marL="0">
              <a:buNone/>
            </a:pPr>
            <a:r>
              <a:rPr lang="en-US" sz="1200" dirty="0">
                <a:solidFill>
                  <a:srgbClr val="0B0B0D"/>
                </a:solidFill>
                <a:latin typeface="Arial" pitchFamily="34" charset="0"/>
                <a:ea typeface="Arial" pitchFamily="34" charset="-122"/>
                <a:cs typeface="Arial" pitchFamily="34" charset="-120"/>
              </a:rPr>
              <a:t>Contacto por WhatsApp</a:t>
            </a:r>
            <a:endParaRPr lang="en-US" sz="1200" dirty="0"/>
          </a:p>
        </p:txBody>
      </p:sp>
      <p:sp>
        <p:nvSpPr>
          <p:cNvPr id="35" name="Shape 32"/>
          <p:cNvSpPr/>
          <p:nvPr/>
        </p:nvSpPr>
        <p:spPr>
          <a:xfrm>
            <a:off x="10368267" y="2743200"/>
            <a:ext cx="1384516" cy="1143000"/>
          </a:xfrm>
          <a:prstGeom prst="chevron">
            <a:avLst/>
          </a:prstGeom>
          <a:solidFill>
            <a:srgbClr val="6D28D9"/>
          </a:solidFill>
          <a:ln/>
        </p:spPr>
      </p:sp>
      <p:sp>
        <p:nvSpPr>
          <p:cNvPr id="36" name="Text 33"/>
          <p:cNvSpPr txBox="1"/>
          <p:nvPr/>
        </p:nvSpPr>
        <p:spPr>
          <a:xfrm>
            <a:off x="10642587" y="2743200"/>
            <a:ext cx="909028" cy="11430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8</a:t>
            </a:r>
            <a:endParaRPr lang="en-US" sz="2200" dirty="0"/>
          </a:p>
        </p:txBody>
      </p:sp>
      <p:sp>
        <p:nvSpPr>
          <p:cNvPr id="37" name="Text 34"/>
          <p:cNvSpPr txBox="1"/>
          <p:nvPr/>
        </p:nvSpPr>
        <p:spPr>
          <a:xfrm>
            <a:off x="10368267" y="4069080"/>
            <a:ext cx="1320508" cy="822960"/>
          </a:xfrm>
          <a:prstGeom prst="rect">
            <a:avLst/>
          </a:prstGeom>
          <a:noFill/>
          <a:ln/>
        </p:spPr>
        <p:txBody>
          <a:bodyPr wrap="square" lIns="0" tIns="0" rIns="0" bIns="0" rtlCol="0" anchor="t"/>
          <a:lstStyle/>
          <a:p>
            <a:pPr algn="ctr" indent="0" marL="0">
              <a:buNone/>
            </a:pPr>
            <a:r>
              <a:rPr lang="en-US" sz="1200" dirty="0">
                <a:solidFill>
                  <a:srgbClr val="0B0B0D"/>
                </a:solidFill>
                <a:latin typeface="Arial" pitchFamily="34" charset="0"/>
                <a:ea typeface="Arial" pitchFamily="34" charset="-122"/>
                <a:cs typeface="Arial" pitchFamily="34" charset="-120"/>
              </a:rPr>
              <a:t>Mensaje: intención + modelo + URL</a:t>
            </a:r>
            <a:endParaRPr lang="en-US" sz="1200" dirty="0"/>
          </a:p>
        </p:txBody>
      </p:sp>
      <p:sp>
        <p:nvSpPr>
          <p:cNvPr id="38" name="Shape 35"/>
          <p:cNvSpPr/>
          <p:nvPr/>
        </p:nvSpPr>
        <p:spPr>
          <a:xfrm>
            <a:off x="548640" y="5120640"/>
            <a:ext cx="11094415" cy="868680"/>
          </a:xfrm>
          <a:prstGeom prst="roundRect">
            <a:avLst>
              <a:gd name="adj" fmla="val 8421"/>
            </a:avLst>
          </a:prstGeom>
          <a:solidFill>
            <a:srgbClr val="F5F5F7"/>
          </a:solidFill>
          <a:ln/>
        </p:spPr>
      </p:sp>
      <p:sp>
        <p:nvSpPr>
          <p:cNvPr id="39" name="Text 36"/>
          <p:cNvSpPr txBox="1"/>
          <p:nvPr/>
        </p:nvSpPr>
        <p:spPr>
          <a:xfrm>
            <a:off x="822960" y="5230368"/>
            <a:ext cx="10545775" cy="685800"/>
          </a:xfrm>
          <a:prstGeom prst="rect">
            <a:avLst/>
          </a:prstGeom>
          <a:noFill/>
          <a:ln/>
        </p:spPr>
        <p:txBody>
          <a:bodyPr wrap="square" lIns="0" tIns="0" rIns="0" bIns="0" rtlCol="0" anchor="ctr"/>
          <a:lstStyle/>
          <a:p>
            <a:pPr indent="0" marL="0">
              <a:buNone/>
            </a:pPr>
            <a:r>
              <a:rPr lang="en-US" sz="1350" b="1" dirty="0">
                <a:solidFill>
                  <a:srgbClr val="0B0B0D"/>
                </a:solidFill>
                <a:latin typeface="Arial" pitchFamily="34" charset="0"/>
                <a:ea typeface="Arial" pitchFamily="34" charset="-122"/>
                <a:cs typeface="Arial" pitchFamily="34" charset="-120"/>
              </a:rPr>
              <a:t>No hay checkout: </a:t>
            </a:r>
            <a:pPr indent="0" marL="0">
              <a:buNone/>
            </a:pPr>
            <a:r>
              <a:rPr lang="en-US" sz="1350" dirty="0">
                <a:solidFill>
                  <a:srgbClr val="0B0B0D"/>
                </a:solidFill>
                <a:latin typeface="Arial" pitchFamily="34" charset="0"/>
                <a:ea typeface="Arial" pitchFamily="34" charset="-122"/>
                <a:cs typeface="Arial" pitchFamily="34" charset="-120"/>
              </a:rPr>
              <a:t>carrito, pago y wishlist no forman parte del flujo principal. El paso 6 (directorio) y la URL del paso 8 son ampliaciones propuestas; hoy «Dónde comprar» deriva directamente a WhatsApp.</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01 · EL CASO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El problema no es la web: es el dato y la derivación</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5</a:t>
            </a:r>
            <a:endParaRPr lang="en-US" sz="900" dirty="0"/>
          </a:p>
        </p:txBody>
      </p:sp>
      <p:sp>
        <p:nvSpPr>
          <p:cNvPr id="6" name="Text 3"/>
          <p:cNvSpPr txBox="1"/>
          <p:nvPr/>
        </p:nvSpPr>
        <p:spPr>
          <a:xfrm>
            <a:off x="548640" y="1463040"/>
            <a:ext cx="182880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Arial" pitchFamily="34" charset="0"/>
                <a:ea typeface="Arial" pitchFamily="34" charset="-122"/>
                <a:cs typeface="Arial" pitchFamily="34" charset="-120"/>
              </a:rPr>
              <a:t>EFECTOS</a:t>
            </a:r>
            <a:endParaRPr lang="en-US" sz="1000" dirty="0"/>
          </a:p>
        </p:txBody>
      </p:sp>
      <p:sp>
        <p:nvSpPr>
          <p:cNvPr id="7" name="Shape 4"/>
          <p:cNvSpPr/>
          <p:nvPr/>
        </p:nvSpPr>
        <p:spPr>
          <a:xfrm>
            <a:off x="548640" y="1783080"/>
            <a:ext cx="3566160" cy="777240"/>
          </a:xfrm>
          <a:prstGeom prst="roundRect">
            <a:avLst>
              <a:gd name="adj" fmla="val 9412"/>
            </a:avLst>
          </a:prstGeom>
          <a:solidFill>
            <a:srgbClr val="F5F5F7"/>
          </a:solidFill>
          <a:ln/>
        </p:spPr>
      </p:sp>
      <p:sp>
        <p:nvSpPr>
          <p:cNvPr id="8" name="Text 5"/>
          <p:cNvSpPr txBox="1"/>
          <p:nvPr/>
        </p:nvSpPr>
        <p:spPr>
          <a:xfrm>
            <a:off x="731520" y="1783080"/>
            <a:ext cx="3200400" cy="777240"/>
          </a:xfrm>
          <a:prstGeom prst="rect">
            <a:avLst/>
          </a:prstGeom>
          <a:noFill/>
          <a:ln/>
        </p:spPr>
        <p:txBody>
          <a:bodyPr wrap="square" lIns="0" tIns="0" rIns="0" bIns="0" rtlCol="0" anchor="ctr"/>
          <a:lstStyle/>
          <a:p>
            <a:pPr indent="0" marL="0">
              <a:buNone/>
            </a:pPr>
            <a:r>
              <a:rPr lang="en-US" sz="1400" dirty="0">
                <a:solidFill>
                  <a:srgbClr val="0B0B0D"/>
                </a:solidFill>
                <a:latin typeface="Arial" pitchFamily="34" charset="0"/>
                <a:ea typeface="Arial" pitchFamily="34" charset="-122"/>
                <a:cs typeface="Arial" pitchFamily="34" charset="-120"/>
              </a:rPr>
              <a:t>El cliente no siempre encuentra datos fiables</a:t>
            </a:r>
            <a:endParaRPr lang="en-US" sz="1400" dirty="0"/>
          </a:p>
        </p:txBody>
      </p:sp>
      <p:sp>
        <p:nvSpPr>
          <p:cNvPr id="9" name="Shape 6"/>
          <p:cNvSpPr/>
          <p:nvPr/>
        </p:nvSpPr>
        <p:spPr>
          <a:xfrm>
            <a:off x="4297680" y="1783080"/>
            <a:ext cx="3566160" cy="777240"/>
          </a:xfrm>
          <a:prstGeom prst="roundRect">
            <a:avLst>
              <a:gd name="adj" fmla="val 9412"/>
            </a:avLst>
          </a:prstGeom>
          <a:solidFill>
            <a:srgbClr val="F5F5F7"/>
          </a:solidFill>
          <a:ln/>
        </p:spPr>
      </p:sp>
      <p:sp>
        <p:nvSpPr>
          <p:cNvPr id="10" name="Text 7"/>
          <p:cNvSpPr txBox="1"/>
          <p:nvPr/>
        </p:nvSpPr>
        <p:spPr>
          <a:xfrm>
            <a:off x="4480560" y="1783080"/>
            <a:ext cx="3200400" cy="777240"/>
          </a:xfrm>
          <a:prstGeom prst="rect">
            <a:avLst/>
          </a:prstGeom>
          <a:noFill/>
          <a:ln/>
        </p:spPr>
        <p:txBody>
          <a:bodyPr wrap="square" lIns="0" tIns="0" rIns="0" bIns="0" rtlCol="0" anchor="ctr"/>
          <a:lstStyle/>
          <a:p>
            <a:pPr indent="0" marL="0">
              <a:buNone/>
            </a:pPr>
            <a:r>
              <a:rPr lang="en-US" sz="1400" dirty="0">
                <a:solidFill>
                  <a:srgbClr val="0B0B0D"/>
                </a:solidFill>
                <a:latin typeface="Arial" pitchFamily="34" charset="0"/>
                <a:ea typeface="Arial" pitchFamily="34" charset="-122"/>
                <a:cs typeface="Arial" pitchFamily="34" charset="-120"/>
              </a:rPr>
              <a:t>Consultas sin el modelo correcto</a:t>
            </a:r>
            <a:endParaRPr lang="en-US" sz="1400" dirty="0"/>
          </a:p>
        </p:txBody>
      </p:sp>
      <p:sp>
        <p:nvSpPr>
          <p:cNvPr id="11" name="Shape 8"/>
          <p:cNvSpPr/>
          <p:nvPr/>
        </p:nvSpPr>
        <p:spPr>
          <a:xfrm>
            <a:off x="8046720" y="1783080"/>
            <a:ext cx="3566160" cy="777240"/>
          </a:xfrm>
          <a:prstGeom prst="roundRect">
            <a:avLst>
              <a:gd name="adj" fmla="val 9412"/>
            </a:avLst>
          </a:prstGeom>
          <a:solidFill>
            <a:srgbClr val="F5F5F7"/>
          </a:solidFill>
          <a:ln/>
        </p:spPr>
      </p:sp>
      <p:sp>
        <p:nvSpPr>
          <p:cNvPr id="12" name="Text 9"/>
          <p:cNvSpPr txBox="1"/>
          <p:nvPr/>
        </p:nvSpPr>
        <p:spPr>
          <a:xfrm>
            <a:off x="8229600" y="1783080"/>
            <a:ext cx="3200400" cy="777240"/>
          </a:xfrm>
          <a:prstGeom prst="rect">
            <a:avLst/>
          </a:prstGeom>
          <a:noFill/>
          <a:ln/>
        </p:spPr>
        <p:txBody>
          <a:bodyPr wrap="square" lIns="0" tIns="0" rIns="0" bIns="0" rtlCol="0" anchor="ctr"/>
          <a:lstStyle/>
          <a:p>
            <a:pPr indent="0" marL="0">
              <a:buNone/>
            </a:pPr>
            <a:r>
              <a:rPr lang="en-US" sz="1400" dirty="0">
                <a:solidFill>
                  <a:srgbClr val="0B0B0D"/>
                </a:solidFill>
                <a:latin typeface="Arial" pitchFamily="34" charset="0"/>
                <a:ea typeface="Arial" pitchFamily="34" charset="-122"/>
                <a:cs typeface="Arial" pitchFamily="34" charset="-120"/>
              </a:rPr>
              <a:t>No se sabe qué productos generan interés</a:t>
            </a:r>
            <a:endParaRPr lang="en-US" sz="1400" dirty="0"/>
          </a:p>
        </p:txBody>
      </p:sp>
      <p:sp>
        <p:nvSpPr>
          <p:cNvPr id="13" name="Shape 10"/>
          <p:cNvSpPr/>
          <p:nvPr/>
        </p:nvSpPr>
        <p:spPr>
          <a:xfrm>
            <a:off x="548640" y="2926080"/>
            <a:ext cx="11094415" cy="1005840"/>
          </a:xfrm>
          <a:prstGeom prst="roundRect">
            <a:avLst>
              <a:gd name="adj" fmla="val 7273"/>
            </a:avLst>
          </a:prstGeom>
          <a:solidFill>
            <a:srgbClr val="6D28D9"/>
          </a:solidFill>
          <a:ln/>
        </p:spPr>
      </p:sp>
      <p:sp>
        <p:nvSpPr>
          <p:cNvPr id="14" name="Text 11"/>
          <p:cNvSpPr txBox="1"/>
          <p:nvPr/>
        </p:nvSpPr>
        <p:spPr>
          <a:xfrm>
            <a:off x="822960" y="2926080"/>
            <a:ext cx="10545775" cy="10058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La información de productos y la derivación de compradores a distribuidores no están estructuradas ni son trazables</a:t>
            </a:r>
            <a:endParaRPr lang="en-US" sz="1900" dirty="0"/>
          </a:p>
        </p:txBody>
      </p:sp>
      <p:sp>
        <p:nvSpPr>
          <p:cNvPr id="15" name="Text 12"/>
          <p:cNvSpPr txBox="1"/>
          <p:nvPr/>
        </p:nvSpPr>
        <p:spPr>
          <a:xfrm>
            <a:off x="548640" y="4251960"/>
            <a:ext cx="182880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Arial" pitchFamily="34" charset="0"/>
                <a:ea typeface="Arial" pitchFamily="34" charset="-122"/>
                <a:cs typeface="Arial" pitchFamily="34" charset="-120"/>
              </a:rPr>
              <a:t>CAUSAS</a:t>
            </a:r>
            <a:endParaRPr lang="en-US" sz="1000" dirty="0"/>
          </a:p>
        </p:txBody>
      </p:sp>
      <p:sp>
        <p:nvSpPr>
          <p:cNvPr id="16" name="Shape 13"/>
          <p:cNvSpPr/>
          <p:nvPr/>
        </p:nvSpPr>
        <p:spPr>
          <a:xfrm>
            <a:off x="548640" y="4572000"/>
            <a:ext cx="3566160" cy="1143000"/>
          </a:xfrm>
          <a:prstGeom prst="roundRect">
            <a:avLst>
              <a:gd name="adj" fmla="val 6400"/>
            </a:avLst>
          </a:prstGeom>
          <a:solidFill>
            <a:srgbClr val="FFFFFF"/>
          </a:solidFill>
          <a:ln w="12700">
            <a:solidFill>
              <a:srgbClr val="E3E4E8"/>
            </a:solidFill>
            <a:prstDash val="solid"/>
          </a:ln>
        </p:spPr>
      </p:sp>
      <p:sp>
        <p:nvSpPr>
          <p:cNvPr id="17" name="Text 14"/>
          <p:cNvSpPr txBox="1"/>
          <p:nvPr/>
        </p:nvSpPr>
        <p:spPr>
          <a:xfrm>
            <a:off x="731520" y="4663440"/>
            <a:ext cx="3200400" cy="548640"/>
          </a:xfrm>
          <a:prstGeom prst="rect">
            <a:avLst/>
          </a:prstGeom>
          <a:noFill/>
          <a:ln/>
        </p:spPr>
        <p:txBody>
          <a:bodyPr wrap="square" lIns="0" tIns="0" rIns="0" bIns="0" rtlCol="0" anchor="t"/>
          <a:lstStyle/>
          <a:p>
            <a:pPr indent="0" marL="0">
              <a:buNone/>
            </a:pPr>
            <a:r>
              <a:rPr lang="en-US" sz="1400" b="1" dirty="0">
                <a:solidFill>
                  <a:srgbClr val="0B0B0D"/>
                </a:solidFill>
                <a:latin typeface="Arial" pitchFamily="34" charset="0"/>
                <a:ea typeface="Arial" pitchFamily="34" charset="-122"/>
                <a:cs typeface="Arial" pitchFamily="34" charset="-120"/>
              </a:rPr>
              <a:t>Especificaciones incompletas</a:t>
            </a:r>
            <a:endParaRPr lang="en-US" sz="1400" dirty="0"/>
          </a:p>
        </p:txBody>
      </p:sp>
      <p:sp>
        <p:nvSpPr>
          <p:cNvPr id="18" name="Shape 15"/>
          <p:cNvSpPr/>
          <p:nvPr/>
        </p:nvSpPr>
        <p:spPr>
          <a:xfrm>
            <a:off x="731520" y="5303520"/>
            <a:ext cx="882396" cy="256032"/>
          </a:xfrm>
          <a:prstGeom prst="roundRect">
            <a:avLst>
              <a:gd name="adj" fmla="val 50000"/>
            </a:avLst>
          </a:prstGeom>
          <a:solidFill>
            <a:srgbClr val="FFFFFF"/>
          </a:solidFill>
          <a:ln w="9525">
            <a:solidFill>
              <a:srgbClr val="0B0B0D"/>
            </a:solidFill>
            <a:prstDash val="solid"/>
          </a:ln>
        </p:spPr>
      </p:sp>
      <p:sp>
        <p:nvSpPr>
          <p:cNvPr id="19" name="Text 16"/>
          <p:cNvSpPr txBox="1"/>
          <p:nvPr/>
        </p:nvSpPr>
        <p:spPr>
          <a:xfrm>
            <a:off x="731520" y="5303520"/>
            <a:ext cx="882396"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Observado</a:t>
            </a:r>
            <a:endParaRPr lang="en-US" sz="950" dirty="0"/>
          </a:p>
        </p:txBody>
      </p:sp>
      <p:sp>
        <p:nvSpPr>
          <p:cNvPr id="20" name="Shape 17"/>
          <p:cNvSpPr/>
          <p:nvPr/>
        </p:nvSpPr>
        <p:spPr>
          <a:xfrm>
            <a:off x="4297680" y="4572000"/>
            <a:ext cx="3566160" cy="1143000"/>
          </a:xfrm>
          <a:prstGeom prst="roundRect">
            <a:avLst>
              <a:gd name="adj" fmla="val 6400"/>
            </a:avLst>
          </a:prstGeom>
          <a:solidFill>
            <a:srgbClr val="FFFFFF"/>
          </a:solidFill>
          <a:ln w="12700">
            <a:solidFill>
              <a:srgbClr val="E3E4E8"/>
            </a:solidFill>
            <a:prstDash val="solid"/>
          </a:ln>
        </p:spPr>
      </p:sp>
      <p:sp>
        <p:nvSpPr>
          <p:cNvPr id="21" name="Text 18"/>
          <p:cNvSpPr txBox="1"/>
          <p:nvPr/>
        </p:nvSpPr>
        <p:spPr>
          <a:xfrm>
            <a:off x="4480560" y="4663440"/>
            <a:ext cx="3200400" cy="548640"/>
          </a:xfrm>
          <a:prstGeom prst="rect">
            <a:avLst/>
          </a:prstGeom>
          <a:noFill/>
          <a:ln/>
        </p:spPr>
        <p:txBody>
          <a:bodyPr wrap="square" lIns="0" tIns="0" rIns="0" bIns="0" rtlCol="0" anchor="t"/>
          <a:lstStyle/>
          <a:p>
            <a:pPr indent="0" marL="0">
              <a:buNone/>
            </a:pPr>
            <a:r>
              <a:rPr lang="en-US" sz="1400" b="1" dirty="0">
                <a:solidFill>
                  <a:srgbClr val="0B0B0D"/>
                </a:solidFill>
                <a:latin typeface="Arial" pitchFamily="34" charset="0"/>
                <a:ea typeface="Arial" pitchFamily="34" charset="-122"/>
                <a:cs typeface="Arial" pitchFamily="34" charset="-120"/>
              </a:rPr>
              <a:t>Sin directorio de puntos de venta</a:t>
            </a:r>
            <a:endParaRPr lang="en-US" sz="1400" dirty="0"/>
          </a:p>
        </p:txBody>
      </p:sp>
      <p:sp>
        <p:nvSpPr>
          <p:cNvPr id="22" name="Shape 19"/>
          <p:cNvSpPr/>
          <p:nvPr/>
        </p:nvSpPr>
        <p:spPr>
          <a:xfrm>
            <a:off x="4480560" y="5303520"/>
            <a:ext cx="882396" cy="256032"/>
          </a:xfrm>
          <a:prstGeom prst="roundRect">
            <a:avLst>
              <a:gd name="adj" fmla="val 50000"/>
            </a:avLst>
          </a:prstGeom>
          <a:solidFill>
            <a:srgbClr val="FFFFFF"/>
          </a:solidFill>
          <a:ln w="9525">
            <a:solidFill>
              <a:srgbClr val="0B0B0D"/>
            </a:solidFill>
            <a:prstDash val="solid"/>
          </a:ln>
        </p:spPr>
      </p:sp>
      <p:sp>
        <p:nvSpPr>
          <p:cNvPr id="23" name="Text 20"/>
          <p:cNvSpPr txBox="1"/>
          <p:nvPr/>
        </p:nvSpPr>
        <p:spPr>
          <a:xfrm>
            <a:off x="4480560" y="5303520"/>
            <a:ext cx="882396"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Observado</a:t>
            </a:r>
            <a:endParaRPr lang="en-US" sz="950" dirty="0"/>
          </a:p>
        </p:txBody>
      </p:sp>
      <p:sp>
        <p:nvSpPr>
          <p:cNvPr id="24" name="Shape 21"/>
          <p:cNvSpPr/>
          <p:nvPr/>
        </p:nvSpPr>
        <p:spPr>
          <a:xfrm>
            <a:off x="8046720" y="4572000"/>
            <a:ext cx="3566160" cy="1143000"/>
          </a:xfrm>
          <a:prstGeom prst="roundRect">
            <a:avLst>
              <a:gd name="adj" fmla="val 6400"/>
            </a:avLst>
          </a:prstGeom>
          <a:solidFill>
            <a:srgbClr val="FFFFFF"/>
          </a:solidFill>
          <a:ln w="12700">
            <a:solidFill>
              <a:srgbClr val="E3E4E8"/>
            </a:solidFill>
            <a:prstDash val="solid"/>
          </a:ln>
        </p:spPr>
      </p:sp>
      <p:sp>
        <p:nvSpPr>
          <p:cNvPr id="25" name="Text 22"/>
          <p:cNvSpPr txBox="1"/>
          <p:nvPr/>
        </p:nvSpPr>
        <p:spPr>
          <a:xfrm>
            <a:off x="8229600" y="4663440"/>
            <a:ext cx="3200400" cy="548640"/>
          </a:xfrm>
          <a:prstGeom prst="rect">
            <a:avLst/>
          </a:prstGeom>
          <a:noFill/>
          <a:ln/>
        </p:spPr>
        <p:txBody>
          <a:bodyPr wrap="square" lIns="0" tIns="0" rIns="0" bIns="0" rtlCol="0" anchor="t"/>
          <a:lstStyle/>
          <a:p>
            <a:pPr indent="0" marL="0">
              <a:buNone/>
            </a:pPr>
            <a:r>
              <a:rPr lang="en-US" sz="1400" b="1" dirty="0">
                <a:solidFill>
                  <a:srgbClr val="0B0B0D"/>
                </a:solidFill>
                <a:latin typeface="Arial" pitchFamily="34" charset="0"/>
                <a:ea typeface="Arial" pitchFamily="34" charset="-122"/>
                <a:cs typeface="Arial" pitchFamily="34" charset="-120"/>
              </a:rPr>
              <a:t>WhatsApp abre fuera, sin registro</a:t>
            </a:r>
            <a:endParaRPr lang="en-US" sz="1400" dirty="0"/>
          </a:p>
        </p:txBody>
      </p:sp>
      <p:sp>
        <p:nvSpPr>
          <p:cNvPr id="26" name="Shape 23"/>
          <p:cNvSpPr/>
          <p:nvPr/>
        </p:nvSpPr>
        <p:spPr>
          <a:xfrm>
            <a:off x="8229600" y="5303520"/>
            <a:ext cx="1581912" cy="256032"/>
          </a:xfrm>
          <a:prstGeom prst="roundRect">
            <a:avLst>
              <a:gd name="adj" fmla="val 50000"/>
            </a:avLst>
          </a:prstGeom>
          <a:solidFill>
            <a:srgbClr val="EDE4FB"/>
          </a:solidFill>
          <a:ln w="9525">
            <a:solidFill>
              <a:srgbClr val="A78BFA"/>
            </a:solidFill>
            <a:prstDash val="solid"/>
          </a:ln>
        </p:spPr>
      </p:sp>
      <p:sp>
        <p:nvSpPr>
          <p:cNvPr id="27" name="Text 24"/>
          <p:cNvSpPr txBox="1"/>
          <p:nvPr/>
        </p:nvSpPr>
        <p:spPr>
          <a:xfrm>
            <a:off x="8229600" y="5303520"/>
            <a:ext cx="1581912"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Supuesto académico</a:t>
            </a:r>
            <a:endParaRPr lang="en-US" sz="950" dirty="0"/>
          </a:p>
        </p:txBody>
      </p:sp>
      <p:sp>
        <p:nvSpPr>
          <p:cNvPr id="28" name="Text 25"/>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Árbol completo: monografía, Figura 1. Evidencia: sitio oficial (29-09-2026) y rediseño archivado (23-09-2026).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01 · EL CASO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Cuatro columnas para no confundir diseño con realidad</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6</a:t>
            </a:r>
            <a:endParaRPr lang="en-US" sz="900" dirty="0"/>
          </a:p>
        </p:txBody>
      </p:sp>
      <p:sp>
        <p:nvSpPr>
          <p:cNvPr id="6" name="Shape 3"/>
          <p:cNvSpPr/>
          <p:nvPr/>
        </p:nvSpPr>
        <p:spPr>
          <a:xfrm>
            <a:off x="548640" y="1508760"/>
            <a:ext cx="2651760" cy="4526280"/>
          </a:xfrm>
          <a:prstGeom prst="roundRect">
            <a:avLst>
              <a:gd name="adj" fmla="val 2759"/>
            </a:avLst>
          </a:prstGeom>
          <a:solidFill>
            <a:srgbClr val="F5F5F7"/>
          </a:solidFill>
          <a:ln/>
        </p:spPr>
      </p:sp>
      <p:sp>
        <p:nvSpPr>
          <p:cNvPr id="7" name="Text 4"/>
          <p:cNvSpPr txBox="1"/>
          <p:nvPr/>
        </p:nvSpPr>
        <p:spPr>
          <a:xfrm>
            <a:off x="777240" y="1691640"/>
            <a:ext cx="2286000" cy="36576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A · Conocido</a:t>
            </a:r>
            <a:endParaRPr lang="en-US" sz="1600" dirty="0"/>
          </a:p>
        </p:txBody>
      </p:sp>
      <p:sp>
        <p:nvSpPr>
          <p:cNvPr id="8" name="Text 5"/>
          <p:cNvSpPr txBox="1"/>
          <p:nvPr/>
        </p:nvSpPr>
        <p:spPr>
          <a:xfrm>
            <a:off x="777240" y="2194560"/>
            <a:ext cx="2286000" cy="365760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0B0B0D"/>
                </a:solidFill>
                <a:latin typeface="Arial" pitchFamily="34" charset="0"/>
                <a:ea typeface="Arial" pitchFamily="34" charset="-122"/>
                <a:cs typeface="Arial" pitchFamily="34" charset="-120"/>
              </a:rPr>
              <a:t>Catálogo en 12 categorías</a:t>
            </a:r>
            <a:endParaRPr lang="en-US" sz="1350" dirty="0"/>
          </a:p>
          <a:p>
            <a:pPr marL="342900" indent="-342900">
              <a:spcAft>
                <a:spcPts val="1000"/>
              </a:spcAft>
              <a:buSzPct val="100000"/>
              <a:buChar char="■"/>
            </a:pPr>
            <a:r>
              <a:rPr lang="en-US" sz="1350" dirty="0">
                <a:solidFill>
                  <a:srgbClr val="0B0B0D"/>
                </a:solidFill>
                <a:latin typeface="Arial" pitchFamily="34" charset="0"/>
                <a:ea typeface="Arial" pitchFamily="34" charset="-122"/>
                <a:cs typeface="Arial" pitchFamily="34" charset="-120"/>
              </a:rPr>
              <a:t>Búsqueda con sugerencias</a:t>
            </a:r>
            <a:endParaRPr lang="en-US" sz="1350" dirty="0"/>
          </a:p>
          <a:p>
            <a:pPr marL="342900" indent="-342900">
              <a:spcAft>
                <a:spcPts val="1000"/>
              </a:spcAft>
              <a:buSzPct val="100000"/>
              <a:buChar char="■"/>
            </a:pPr>
            <a:r>
              <a:rPr lang="en-US" sz="1350" dirty="0">
                <a:solidFill>
                  <a:srgbClr val="0B0B0D"/>
                </a:solidFill>
                <a:latin typeface="Arial" pitchFamily="34" charset="0"/>
                <a:ea typeface="Arial" pitchFamily="34" charset="-122"/>
                <a:cs typeface="Arial" pitchFamily="34" charset="-120"/>
              </a:rPr>
              <a:t>Comparador de hasta 3 modelos</a:t>
            </a:r>
            <a:endParaRPr lang="en-US" sz="1350" dirty="0"/>
          </a:p>
          <a:p>
            <a:pPr marL="342900" indent="-342900">
              <a:spcAft>
                <a:spcPts val="1000"/>
              </a:spcAft>
              <a:buSzPct val="100000"/>
              <a:buChar char="■"/>
            </a:pPr>
            <a:r>
              <a:rPr lang="en-US" sz="1350" dirty="0">
                <a:solidFill>
                  <a:srgbClr val="0B0B0D"/>
                </a:solidFill>
                <a:latin typeface="Arial" pitchFamily="34" charset="0"/>
                <a:ea typeface="Arial" pitchFamily="34" charset="-122"/>
                <a:cs typeface="Arial" pitchFamily="34" charset="-120"/>
              </a:rPr>
              <a:t>Cotizar: WhatsApp con el modelo</a:t>
            </a:r>
            <a:endParaRPr lang="en-US" sz="1350" dirty="0"/>
          </a:p>
          <a:p>
            <a:pPr marL="342900" indent="-342900">
              <a:spcAft>
                <a:spcPts val="1000"/>
              </a:spcAft>
              <a:buSzPct val="100000"/>
              <a:buChar char="■"/>
            </a:pPr>
            <a:r>
              <a:rPr lang="en-US" sz="1350" dirty="0">
                <a:solidFill>
                  <a:srgbClr val="0B0B0D"/>
                </a:solidFill>
                <a:latin typeface="Arial" pitchFamily="34" charset="0"/>
                <a:ea typeface="Arial" pitchFamily="34" charset="-122"/>
                <a:cs typeface="Arial" pitchFamily="34" charset="-120"/>
              </a:rPr>
              <a:t>Formulario de mayoristas</a:t>
            </a:r>
            <a:endParaRPr lang="en-US" sz="1350" dirty="0"/>
          </a:p>
        </p:txBody>
      </p:sp>
      <p:sp>
        <p:nvSpPr>
          <p:cNvPr id="9" name="Shape 6"/>
          <p:cNvSpPr/>
          <p:nvPr/>
        </p:nvSpPr>
        <p:spPr>
          <a:xfrm>
            <a:off x="3383280" y="1508760"/>
            <a:ext cx="2651760" cy="4526280"/>
          </a:xfrm>
          <a:prstGeom prst="roundRect">
            <a:avLst>
              <a:gd name="adj" fmla="val 2759"/>
            </a:avLst>
          </a:prstGeom>
          <a:solidFill>
            <a:srgbClr val="F5F5F7"/>
          </a:solidFill>
          <a:ln/>
        </p:spPr>
      </p:sp>
      <p:sp>
        <p:nvSpPr>
          <p:cNvPr id="10" name="Text 7"/>
          <p:cNvSpPr txBox="1"/>
          <p:nvPr/>
        </p:nvSpPr>
        <p:spPr>
          <a:xfrm>
            <a:off x="3611880" y="1691640"/>
            <a:ext cx="2286000" cy="36576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B · Problema</a:t>
            </a:r>
            <a:endParaRPr lang="en-US" sz="1600" dirty="0"/>
          </a:p>
        </p:txBody>
      </p:sp>
      <p:sp>
        <p:nvSpPr>
          <p:cNvPr id="11" name="Text 8"/>
          <p:cNvSpPr txBox="1"/>
          <p:nvPr/>
        </p:nvSpPr>
        <p:spPr>
          <a:xfrm>
            <a:off x="3611880" y="2194560"/>
            <a:ext cx="2286000" cy="365760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0B0B0D"/>
                </a:solidFill>
                <a:latin typeface="Arial" pitchFamily="34" charset="0"/>
                <a:ea typeface="Arial" pitchFamily="34" charset="-122"/>
                <a:cs typeface="Arial" pitchFamily="34" charset="-120"/>
              </a:rPr>
              <a:t>Especificaciones heterogéneas</a:t>
            </a:r>
            <a:endParaRPr lang="en-US" sz="1350" dirty="0"/>
          </a:p>
          <a:p>
            <a:pPr marL="342900" indent="-342900">
              <a:spcAft>
                <a:spcPts val="1000"/>
              </a:spcAft>
              <a:buSzPct val="100000"/>
              <a:buChar char="■"/>
            </a:pPr>
            <a:r>
              <a:rPr lang="en-US" sz="1350" dirty="0">
                <a:solidFill>
                  <a:srgbClr val="0B0B0D"/>
                </a:solidFill>
                <a:latin typeface="Arial" pitchFamily="34" charset="0"/>
                <a:ea typeface="Arial" pitchFamily="34" charset="-122"/>
                <a:cs typeface="Arial" pitchFamily="34" charset="-120"/>
              </a:rPr>
              <a:t>Sin directorio de distribuidores</a:t>
            </a:r>
            <a:endParaRPr lang="en-US" sz="1350" dirty="0"/>
          </a:p>
          <a:p>
            <a:pPr marL="342900" indent="-342900">
              <a:spcAft>
                <a:spcPts val="1000"/>
              </a:spcAft>
              <a:buSzPct val="100000"/>
              <a:buChar char="■"/>
            </a:pPr>
            <a:r>
              <a:rPr lang="en-US" sz="1350" dirty="0">
                <a:solidFill>
                  <a:srgbClr val="0B0B0D"/>
                </a:solidFill>
                <a:latin typeface="Arial" pitchFamily="34" charset="0"/>
                <a:ea typeface="Arial" pitchFamily="34" charset="-122"/>
                <a:cs typeface="Arial" pitchFamily="34" charset="-120"/>
              </a:rPr>
              <a:t>Consultas sin registro</a:t>
            </a:r>
            <a:endParaRPr lang="en-US" sz="1350" dirty="0"/>
          </a:p>
          <a:p>
            <a:pPr marL="342900" indent="-342900">
              <a:spcAft>
                <a:spcPts val="1000"/>
              </a:spcAft>
              <a:buSzPct val="100000"/>
              <a:buChar char="■"/>
            </a:pPr>
            <a:r>
              <a:rPr lang="en-US" sz="1350" dirty="0">
                <a:solidFill>
                  <a:srgbClr val="0B0B0D"/>
                </a:solidFill>
                <a:latin typeface="Arial" pitchFamily="34" charset="0"/>
                <a:ea typeface="Arial" pitchFamily="34" charset="-122"/>
                <a:cs typeface="Arial" pitchFamily="34" charset="-120"/>
              </a:rPr>
              <a:t>Sin auditoría de cambios</a:t>
            </a:r>
            <a:endParaRPr lang="en-US" sz="1350" dirty="0"/>
          </a:p>
          <a:p>
            <a:pPr marL="342900" indent="-342900">
              <a:spcAft>
                <a:spcPts val="1000"/>
              </a:spcAft>
              <a:buSzPct val="100000"/>
              <a:buChar char="■"/>
            </a:pPr>
            <a:r>
              <a:rPr lang="en-US" sz="1350" dirty="0">
                <a:solidFill>
                  <a:srgbClr val="0B0B0D"/>
                </a:solidFill>
                <a:latin typeface="Arial" pitchFamily="34" charset="0"/>
                <a:ea typeface="Arial" pitchFamily="34" charset="-122"/>
                <a:cs typeface="Arial" pitchFamily="34" charset="-120"/>
              </a:rPr>
              <a:t>Staging temporal inestable</a:t>
            </a:r>
            <a:endParaRPr lang="en-US" sz="1350" dirty="0"/>
          </a:p>
        </p:txBody>
      </p:sp>
      <p:sp>
        <p:nvSpPr>
          <p:cNvPr id="12" name="Shape 9"/>
          <p:cNvSpPr/>
          <p:nvPr/>
        </p:nvSpPr>
        <p:spPr>
          <a:xfrm>
            <a:off x="6217920" y="1508760"/>
            <a:ext cx="2651760" cy="4526280"/>
          </a:xfrm>
          <a:prstGeom prst="roundRect">
            <a:avLst>
              <a:gd name="adj" fmla="val 2759"/>
            </a:avLst>
          </a:prstGeom>
          <a:solidFill>
            <a:srgbClr val="EDE4FB"/>
          </a:solidFill>
          <a:ln/>
        </p:spPr>
      </p:sp>
      <p:sp>
        <p:nvSpPr>
          <p:cNvPr id="13" name="Text 10"/>
          <p:cNvSpPr txBox="1"/>
          <p:nvPr/>
        </p:nvSpPr>
        <p:spPr>
          <a:xfrm>
            <a:off x="6446520" y="1691640"/>
            <a:ext cx="2286000" cy="365760"/>
          </a:xfrm>
          <a:prstGeom prst="rect">
            <a:avLst/>
          </a:prstGeom>
          <a:noFill/>
          <a:ln/>
        </p:spPr>
        <p:txBody>
          <a:bodyPr wrap="square" lIns="0" tIns="0" rIns="0" bIns="0" rtlCol="0" anchor="t"/>
          <a:lstStyle/>
          <a:p>
            <a:pPr indent="0" marL="0">
              <a:buNone/>
            </a:pPr>
            <a:r>
              <a:rPr lang="en-US" sz="1600" b="1" dirty="0">
                <a:solidFill>
                  <a:srgbClr val="6D28D9"/>
                </a:solidFill>
                <a:latin typeface="Arial" pitchFamily="34" charset="0"/>
                <a:ea typeface="Arial" pitchFamily="34" charset="-122"/>
                <a:cs typeface="Arial" pitchFamily="34" charset="-120"/>
              </a:rPr>
              <a:t>C · Propuesta</a:t>
            </a:r>
            <a:endParaRPr lang="en-US" sz="1600" dirty="0"/>
          </a:p>
        </p:txBody>
      </p:sp>
      <p:sp>
        <p:nvSpPr>
          <p:cNvPr id="14" name="Text 11"/>
          <p:cNvSpPr txBox="1"/>
          <p:nvPr/>
        </p:nvSpPr>
        <p:spPr>
          <a:xfrm>
            <a:off x="6446520" y="2194560"/>
            <a:ext cx="2286000" cy="365760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0B0B0D"/>
                </a:solidFill>
                <a:latin typeface="Arial" pitchFamily="34" charset="0"/>
                <a:ea typeface="Arial" pitchFamily="34" charset="-122"/>
                <a:cs typeface="Arial" pitchFamily="34" charset="-120"/>
              </a:rPr>
              <a:t>Estado de verificación por dato</a:t>
            </a:r>
            <a:endParaRPr lang="en-US" sz="1350" dirty="0"/>
          </a:p>
          <a:p>
            <a:pPr marL="342900" indent="-342900">
              <a:spcAft>
                <a:spcPts val="1000"/>
              </a:spcAft>
              <a:buSzPct val="100000"/>
              <a:buChar char="■"/>
            </a:pPr>
            <a:r>
              <a:rPr lang="en-US" sz="1350" dirty="0">
                <a:solidFill>
                  <a:srgbClr val="0B0B0D"/>
                </a:solidFill>
                <a:latin typeface="Arial" pitchFamily="34" charset="0"/>
                <a:ea typeface="Arial" pitchFamily="34" charset="-122"/>
                <a:cs typeface="Arial" pitchFamily="34" charset="-120"/>
              </a:rPr>
              <a:t>Directorio de distribuidores</a:t>
            </a:r>
            <a:endParaRPr lang="en-US" sz="1350" dirty="0"/>
          </a:p>
          <a:p>
            <a:pPr marL="342900" indent="-342900">
              <a:spcAft>
                <a:spcPts val="1000"/>
              </a:spcAft>
              <a:buSzPct val="100000"/>
              <a:buChar char="■"/>
            </a:pPr>
            <a:r>
              <a:rPr lang="en-US" sz="1350" dirty="0">
                <a:solidFill>
                  <a:srgbClr val="0B0B0D"/>
                </a:solidFill>
                <a:latin typeface="Arial" pitchFamily="34" charset="0"/>
                <a:ea typeface="Arial" pitchFamily="34" charset="-122"/>
                <a:cs typeface="Arial" pitchFamily="34" charset="-120"/>
              </a:rPr>
              <a:t>Registro y seguimiento de consultas</a:t>
            </a:r>
            <a:endParaRPr lang="en-US" sz="1350" dirty="0"/>
          </a:p>
          <a:p>
            <a:pPr marL="342900" indent="-342900">
              <a:spcAft>
                <a:spcPts val="1000"/>
              </a:spcAft>
              <a:buSzPct val="100000"/>
              <a:buChar char="■"/>
            </a:pPr>
            <a:r>
              <a:rPr lang="en-US" sz="1350" dirty="0">
                <a:solidFill>
                  <a:srgbClr val="0B0B0D"/>
                </a:solidFill>
                <a:latin typeface="Arial" pitchFamily="34" charset="0"/>
                <a:ea typeface="Arial" pitchFamily="34" charset="-122"/>
                <a:cs typeface="Arial" pitchFamily="34" charset="-120"/>
              </a:rPr>
              <a:t>Reportes y auditoría</a:t>
            </a:r>
            <a:endParaRPr lang="en-US" sz="1350" dirty="0"/>
          </a:p>
          <a:p>
            <a:pPr marL="342900" indent="-342900">
              <a:spcAft>
                <a:spcPts val="1000"/>
              </a:spcAft>
              <a:buSzPct val="100000"/>
              <a:buChar char="■"/>
            </a:pPr>
            <a:r>
              <a:rPr lang="en-US" sz="1350" dirty="0">
                <a:solidFill>
                  <a:srgbClr val="0B0B0D"/>
                </a:solidFill>
                <a:latin typeface="Arial" pitchFamily="34" charset="0"/>
                <a:ea typeface="Arial" pitchFamily="34" charset="-122"/>
                <a:cs typeface="Arial" pitchFamily="34" charset="-120"/>
              </a:rPr>
              <a:t>Roles, 2FA y respaldos</a:t>
            </a:r>
            <a:endParaRPr lang="en-US" sz="1350" dirty="0"/>
          </a:p>
        </p:txBody>
      </p:sp>
      <p:sp>
        <p:nvSpPr>
          <p:cNvPr id="15" name="Shape 12"/>
          <p:cNvSpPr/>
          <p:nvPr/>
        </p:nvSpPr>
        <p:spPr>
          <a:xfrm>
            <a:off x="9052560" y="1508760"/>
            <a:ext cx="2590495" cy="4526280"/>
          </a:xfrm>
          <a:prstGeom prst="roundRect">
            <a:avLst>
              <a:gd name="adj" fmla="val 2824"/>
            </a:avLst>
          </a:prstGeom>
          <a:solidFill>
            <a:srgbClr val="0B0B0D"/>
          </a:solidFill>
          <a:ln/>
        </p:spPr>
      </p:sp>
      <p:sp>
        <p:nvSpPr>
          <p:cNvPr id="16" name="Text 13"/>
          <p:cNvSpPr txBox="1"/>
          <p:nvPr/>
        </p:nvSpPr>
        <p:spPr>
          <a:xfrm>
            <a:off x="9281160" y="1691640"/>
            <a:ext cx="256032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D · Estado</a:t>
            </a:r>
            <a:endParaRPr lang="en-US" sz="1600" dirty="0"/>
          </a:p>
        </p:txBody>
      </p:sp>
      <p:sp>
        <p:nvSpPr>
          <p:cNvPr id="17" name="Shape 14"/>
          <p:cNvSpPr/>
          <p:nvPr/>
        </p:nvSpPr>
        <p:spPr>
          <a:xfrm>
            <a:off x="9281160" y="2286000"/>
            <a:ext cx="1892808" cy="256032"/>
          </a:xfrm>
          <a:prstGeom prst="roundRect">
            <a:avLst>
              <a:gd name="adj" fmla="val 50000"/>
            </a:avLst>
          </a:prstGeom>
          <a:solidFill>
            <a:srgbClr val="FFFFFF"/>
          </a:solidFill>
          <a:ln w="9525">
            <a:solidFill>
              <a:srgbClr val="0B0B0D"/>
            </a:solidFill>
            <a:prstDash val="solid"/>
          </a:ln>
        </p:spPr>
      </p:sp>
      <p:sp>
        <p:nvSpPr>
          <p:cNvPr id="18" name="Text 15"/>
          <p:cNvSpPr txBox="1"/>
          <p:nvPr/>
        </p:nvSpPr>
        <p:spPr>
          <a:xfrm>
            <a:off x="9281160" y="2286000"/>
            <a:ext cx="1892808"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Existente (verificado)</a:t>
            </a:r>
            <a:endParaRPr lang="en-US" sz="950" dirty="0"/>
          </a:p>
        </p:txBody>
      </p:sp>
      <p:sp>
        <p:nvSpPr>
          <p:cNvPr id="19" name="Shape 16"/>
          <p:cNvSpPr/>
          <p:nvPr/>
        </p:nvSpPr>
        <p:spPr>
          <a:xfrm>
            <a:off x="9281160" y="2944368"/>
            <a:ext cx="1970532" cy="256032"/>
          </a:xfrm>
          <a:prstGeom prst="roundRect">
            <a:avLst>
              <a:gd name="adj" fmla="val 50000"/>
            </a:avLst>
          </a:prstGeom>
          <a:solidFill>
            <a:srgbClr val="FFFFFF"/>
          </a:solidFill>
          <a:ln w="9525">
            <a:solidFill>
              <a:srgbClr val="0B0B0D"/>
            </a:solidFill>
            <a:prstDash val="solid"/>
          </a:ln>
        </p:spPr>
      </p:sp>
      <p:sp>
        <p:nvSpPr>
          <p:cNvPr id="20" name="Text 17"/>
          <p:cNvSpPr txBox="1"/>
          <p:nvPr/>
        </p:nvSpPr>
        <p:spPr>
          <a:xfrm>
            <a:off x="9281160" y="2944368"/>
            <a:ext cx="1970532"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Nativo de la plataforma</a:t>
            </a:r>
            <a:endParaRPr lang="en-US" sz="950" dirty="0"/>
          </a:p>
        </p:txBody>
      </p:sp>
      <p:sp>
        <p:nvSpPr>
          <p:cNvPr id="21" name="Shape 18"/>
          <p:cNvSpPr/>
          <p:nvPr/>
        </p:nvSpPr>
        <p:spPr>
          <a:xfrm>
            <a:off x="9281160" y="3602736"/>
            <a:ext cx="726948" cy="256032"/>
          </a:xfrm>
          <a:prstGeom prst="roundRect">
            <a:avLst>
              <a:gd name="adj" fmla="val 50000"/>
            </a:avLst>
          </a:prstGeom>
          <a:solidFill>
            <a:srgbClr val="EDE4FB"/>
          </a:solidFill>
          <a:ln w="9525">
            <a:solidFill>
              <a:srgbClr val="A78BFA"/>
            </a:solidFill>
            <a:prstDash val="solid"/>
          </a:ln>
        </p:spPr>
      </p:sp>
      <p:sp>
        <p:nvSpPr>
          <p:cNvPr id="22" name="Text 19"/>
          <p:cNvSpPr txBox="1"/>
          <p:nvPr/>
        </p:nvSpPr>
        <p:spPr>
          <a:xfrm>
            <a:off x="9281160" y="3602736"/>
            <a:ext cx="726948"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Parcial</a:t>
            </a:r>
            <a:endParaRPr lang="en-US" sz="950" dirty="0"/>
          </a:p>
        </p:txBody>
      </p:sp>
      <p:sp>
        <p:nvSpPr>
          <p:cNvPr id="23" name="Shape 20"/>
          <p:cNvSpPr/>
          <p:nvPr/>
        </p:nvSpPr>
        <p:spPr>
          <a:xfrm>
            <a:off x="9281160" y="4261104"/>
            <a:ext cx="1970532" cy="256032"/>
          </a:xfrm>
          <a:prstGeom prst="roundRect">
            <a:avLst>
              <a:gd name="adj" fmla="val 50000"/>
            </a:avLst>
          </a:prstGeom>
          <a:solidFill>
            <a:srgbClr val="EDE4FB"/>
          </a:solidFill>
          <a:ln w="9525">
            <a:solidFill>
              <a:srgbClr val="A78BFA"/>
            </a:solidFill>
            <a:prstDash val="solid"/>
          </a:ln>
        </p:spPr>
      </p:sp>
      <p:sp>
        <p:nvSpPr>
          <p:cNvPr id="24" name="Text 21"/>
          <p:cNvSpPr txBox="1"/>
          <p:nvPr/>
        </p:nvSpPr>
        <p:spPr>
          <a:xfrm>
            <a:off x="9281160" y="4261104"/>
            <a:ext cx="1970532"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Pendiente de validación</a:t>
            </a:r>
            <a:endParaRPr lang="en-US" sz="950" dirty="0"/>
          </a:p>
        </p:txBody>
      </p:sp>
      <p:sp>
        <p:nvSpPr>
          <p:cNvPr id="25" name="Shape 22"/>
          <p:cNvSpPr/>
          <p:nvPr/>
        </p:nvSpPr>
        <p:spPr>
          <a:xfrm>
            <a:off x="9281160" y="4919472"/>
            <a:ext cx="1815084" cy="256032"/>
          </a:xfrm>
          <a:prstGeom prst="roundRect">
            <a:avLst>
              <a:gd name="adj" fmla="val 50000"/>
            </a:avLst>
          </a:prstGeom>
          <a:solidFill>
            <a:srgbClr val="6D28D9"/>
          </a:solidFill>
          <a:ln w="9525">
            <a:solidFill>
              <a:srgbClr val="6D28D9"/>
            </a:solidFill>
            <a:prstDash val="solid"/>
          </a:ln>
        </p:spPr>
      </p:sp>
      <p:sp>
        <p:nvSpPr>
          <p:cNvPr id="26" name="Text 23"/>
          <p:cNvSpPr txBox="1"/>
          <p:nvPr/>
        </p:nvSpPr>
        <p:spPr>
          <a:xfrm>
            <a:off x="9281160" y="4919472"/>
            <a:ext cx="1815084"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Propuesto (académico)</a:t>
            </a:r>
            <a:endParaRPr lang="en-US" sz="950" dirty="0"/>
          </a:p>
        </p:txBody>
      </p:sp>
      <p:sp>
        <p:nvSpPr>
          <p:cNvPr id="27" name="Text 24"/>
          <p:cNvSpPr txBox="1"/>
          <p:nvPr/>
        </p:nvSpPr>
        <p:spPr>
          <a:xfrm>
            <a:off x="9281160" y="5486400"/>
            <a:ext cx="2179015" cy="457200"/>
          </a:xfrm>
          <a:prstGeom prst="rect">
            <a:avLst/>
          </a:prstGeom>
          <a:noFill/>
          <a:ln/>
        </p:spPr>
        <p:txBody>
          <a:bodyPr wrap="square" lIns="0" tIns="0" rIns="0" bIns="0" rtlCol="0" anchor="t"/>
          <a:lstStyle/>
          <a:p>
            <a:pPr indent="0" marL="0">
              <a:buNone/>
            </a:pPr>
            <a:r>
              <a:rPr lang="en-US" sz="1100" dirty="0">
                <a:solidFill>
                  <a:srgbClr val="9CA3AF"/>
                </a:solidFill>
                <a:latin typeface="Arial" pitchFamily="34" charset="0"/>
                <a:ea typeface="Arial" pitchFamily="34" charset="-122"/>
                <a:cs typeface="Arial" pitchFamily="34" charset="-120"/>
              </a:rPr>
              <a:t>De 27 RF: 8 existentes, 5 nativos, 3 parciales, 2 pendientes, 9 propuestos.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01 · EL CASO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Objetivos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7</a:t>
            </a:r>
            <a:endParaRPr lang="en-US" sz="900" dirty="0"/>
          </a:p>
        </p:txBody>
      </p:sp>
      <p:sp>
        <p:nvSpPr>
          <p:cNvPr id="6" name="Shape 3"/>
          <p:cNvSpPr/>
          <p:nvPr/>
        </p:nvSpPr>
        <p:spPr>
          <a:xfrm>
            <a:off x="548640" y="1463040"/>
            <a:ext cx="4206240" cy="4572000"/>
          </a:xfrm>
          <a:prstGeom prst="roundRect">
            <a:avLst>
              <a:gd name="adj" fmla="val 1739"/>
            </a:avLst>
          </a:prstGeom>
          <a:solidFill>
            <a:srgbClr val="0B0B0D"/>
          </a:solidFill>
          <a:ln/>
        </p:spPr>
      </p:sp>
      <p:sp>
        <p:nvSpPr>
          <p:cNvPr id="7" name="Text 4"/>
          <p:cNvSpPr txBox="1"/>
          <p:nvPr/>
        </p:nvSpPr>
        <p:spPr>
          <a:xfrm>
            <a:off x="868680" y="1737360"/>
            <a:ext cx="3657600" cy="274320"/>
          </a:xfrm>
          <a:prstGeom prst="rect">
            <a:avLst/>
          </a:prstGeom>
          <a:noFill/>
          <a:ln/>
        </p:spPr>
        <p:txBody>
          <a:bodyPr wrap="square" lIns="0" tIns="0" rIns="0" bIns="0" rtlCol="0" anchor="t"/>
          <a:lstStyle/>
          <a:p>
            <a:pPr indent="0" marL="0">
              <a:buNone/>
            </a:pPr>
            <a:r>
              <a:rPr lang="en-US" sz="1000" b="1" spc="200" kern="0" dirty="0">
                <a:solidFill>
                  <a:srgbClr val="A78BFA"/>
                </a:solidFill>
                <a:latin typeface="Arial" pitchFamily="34" charset="0"/>
                <a:ea typeface="Arial" pitchFamily="34" charset="-122"/>
                <a:cs typeface="Arial" pitchFamily="34" charset="-120"/>
              </a:rPr>
              <a:t>OBJETIVO GENERAL</a:t>
            </a:r>
            <a:endParaRPr lang="en-US" sz="1000" dirty="0"/>
          </a:p>
        </p:txBody>
      </p:sp>
      <p:sp>
        <p:nvSpPr>
          <p:cNvPr id="8" name="Text 5"/>
          <p:cNvSpPr txBox="1"/>
          <p:nvPr/>
        </p:nvSpPr>
        <p:spPr>
          <a:xfrm>
            <a:off x="868680" y="2148840"/>
            <a:ext cx="3566160" cy="3474720"/>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Aplicar RUP para analizar, diseñar y planificar el SGCD-BH: centralizar el catálogo, facilitar la consulta y la comparación, conectar con los distribuidores y dar seguimiento a las consultas.</a:t>
            </a:r>
            <a:endParaRPr lang="en-US" sz="1800" dirty="0"/>
          </a:p>
        </p:txBody>
      </p:sp>
      <p:sp>
        <p:nvSpPr>
          <p:cNvPr id="9" name="Shape 6"/>
          <p:cNvSpPr/>
          <p:nvPr/>
        </p:nvSpPr>
        <p:spPr>
          <a:xfrm>
            <a:off x="5074920" y="1508760"/>
            <a:ext cx="548640" cy="548640"/>
          </a:xfrm>
          <a:prstGeom prst="ellipse">
            <a:avLst/>
          </a:prstGeom>
          <a:solidFill>
            <a:srgbClr val="EDE4FB"/>
          </a:solidFill>
          <a:ln/>
        </p:spPr>
      </p:sp>
      <p:pic>
        <p:nvPicPr>
          <p:cNvPr id="10" name="Image 0" descr="preencoded.png">    </p:cNvPr>
          <p:cNvPicPr>
            <a:picLocks noChangeAspect="1"/>
          </p:cNvPicPr>
          <p:nvPr/>
        </p:nvPicPr>
        <p:blipFill>
          <a:blip r:embed="rId1"/>
          <a:stretch>
            <a:fillRect/>
          </a:stretch>
        </p:blipFill>
        <p:spPr>
          <a:xfrm>
            <a:off x="5206594" y="1640434"/>
            <a:ext cx="285293" cy="285293"/>
          </a:xfrm>
          <a:prstGeom prst="rect">
            <a:avLst/>
          </a:prstGeom>
        </p:spPr>
      </p:pic>
      <p:sp>
        <p:nvSpPr>
          <p:cNvPr id="11" name="Text 7"/>
          <p:cNvSpPr txBox="1"/>
          <p:nvPr/>
        </p:nvSpPr>
        <p:spPr>
          <a:xfrm>
            <a:off x="5806440" y="1463040"/>
            <a:ext cx="5852160" cy="640080"/>
          </a:xfrm>
          <a:prstGeom prst="rect">
            <a:avLst/>
          </a:prstGeom>
          <a:noFill/>
          <a:ln/>
        </p:spPr>
        <p:txBody>
          <a:bodyPr wrap="square" lIns="0" tIns="0" rIns="0" bIns="0" rtlCol="0" anchor="ctr"/>
          <a:lstStyle/>
          <a:p>
            <a:pPr indent="0" marL="0">
              <a:buNone/>
            </a:pPr>
            <a:r>
              <a:rPr lang="en-US" sz="1600" dirty="0">
                <a:solidFill>
                  <a:srgbClr val="0B0B0D"/>
                </a:solidFill>
                <a:latin typeface="Arial" pitchFamily="34" charset="0"/>
                <a:ea typeface="Arial" pitchFamily="34" charset="-122"/>
                <a:cs typeface="Arial" pitchFamily="34" charset="-120"/>
              </a:rPr>
              <a:t>Modelar el negocio y sus actores</a:t>
            </a:r>
            <a:endParaRPr lang="en-US" sz="1600" dirty="0"/>
          </a:p>
        </p:txBody>
      </p:sp>
      <p:sp>
        <p:nvSpPr>
          <p:cNvPr id="12" name="Shape 8"/>
          <p:cNvSpPr/>
          <p:nvPr/>
        </p:nvSpPr>
        <p:spPr>
          <a:xfrm>
            <a:off x="5074920" y="2276856"/>
            <a:ext cx="548640" cy="548640"/>
          </a:xfrm>
          <a:prstGeom prst="ellipse">
            <a:avLst/>
          </a:prstGeom>
          <a:solidFill>
            <a:srgbClr val="EDE4FB"/>
          </a:solidFill>
          <a:ln/>
        </p:spPr>
      </p:sp>
      <p:pic>
        <p:nvPicPr>
          <p:cNvPr id="13" name="Image 1" descr="preencoded.png">    </p:cNvPr>
          <p:cNvPicPr>
            <a:picLocks noChangeAspect="1"/>
          </p:cNvPicPr>
          <p:nvPr/>
        </p:nvPicPr>
        <p:blipFill>
          <a:blip r:embed="rId2"/>
          <a:stretch>
            <a:fillRect/>
          </a:stretch>
        </p:blipFill>
        <p:spPr>
          <a:xfrm>
            <a:off x="5206594" y="2408530"/>
            <a:ext cx="285293" cy="285293"/>
          </a:xfrm>
          <a:prstGeom prst="rect">
            <a:avLst/>
          </a:prstGeom>
        </p:spPr>
      </p:pic>
      <p:sp>
        <p:nvSpPr>
          <p:cNvPr id="14" name="Text 9"/>
          <p:cNvSpPr txBox="1"/>
          <p:nvPr/>
        </p:nvSpPr>
        <p:spPr>
          <a:xfrm>
            <a:off x="5806440" y="2231136"/>
            <a:ext cx="5852160" cy="640080"/>
          </a:xfrm>
          <a:prstGeom prst="rect">
            <a:avLst/>
          </a:prstGeom>
          <a:noFill/>
          <a:ln/>
        </p:spPr>
        <p:txBody>
          <a:bodyPr wrap="square" lIns="0" tIns="0" rIns="0" bIns="0" rtlCol="0" anchor="ctr"/>
          <a:lstStyle/>
          <a:p>
            <a:pPr indent="0" marL="0">
              <a:buNone/>
            </a:pPr>
            <a:r>
              <a:rPr lang="en-US" sz="1600" dirty="0">
                <a:solidFill>
                  <a:srgbClr val="0B0B0D"/>
                </a:solidFill>
                <a:latin typeface="Arial" pitchFamily="34" charset="0"/>
                <a:ea typeface="Arial" pitchFamily="34" charset="-122"/>
                <a:cs typeface="Arial" pitchFamily="34" charset="-120"/>
              </a:rPr>
              <a:t>Especificar RF y RNF con criterios de aceptación</a:t>
            </a:r>
            <a:endParaRPr lang="en-US" sz="1600" dirty="0"/>
          </a:p>
        </p:txBody>
      </p:sp>
      <p:sp>
        <p:nvSpPr>
          <p:cNvPr id="15" name="Shape 10"/>
          <p:cNvSpPr/>
          <p:nvPr/>
        </p:nvSpPr>
        <p:spPr>
          <a:xfrm>
            <a:off x="5074920" y="3044952"/>
            <a:ext cx="548640" cy="548640"/>
          </a:xfrm>
          <a:prstGeom prst="ellipse">
            <a:avLst/>
          </a:prstGeom>
          <a:solidFill>
            <a:srgbClr val="EDE4FB"/>
          </a:solidFill>
          <a:ln/>
        </p:spPr>
      </p:sp>
      <p:pic>
        <p:nvPicPr>
          <p:cNvPr id="16" name="Image 2" descr="preencoded.png">    </p:cNvPr>
          <p:cNvPicPr>
            <a:picLocks noChangeAspect="1"/>
          </p:cNvPicPr>
          <p:nvPr/>
        </p:nvPicPr>
        <p:blipFill>
          <a:blip r:embed="rId3"/>
          <a:stretch>
            <a:fillRect/>
          </a:stretch>
        </p:blipFill>
        <p:spPr>
          <a:xfrm>
            <a:off x="5206594" y="3176626"/>
            <a:ext cx="285293" cy="285293"/>
          </a:xfrm>
          <a:prstGeom prst="rect">
            <a:avLst/>
          </a:prstGeom>
        </p:spPr>
      </p:pic>
      <p:sp>
        <p:nvSpPr>
          <p:cNvPr id="17" name="Text 11"/>
          <p:cNvSpPr txBox="1"/>
          <p:nvPr/>
        </p:nvSpPr>
        <p:spPr>
          <a:xfrm>
            <a:off x="5806440" y="2999232"/>
            <a:ext cx="5852160" cy="640080"/>
          </a:xfrm>
          <a:prstGeom prst="rect">
            <a:avLst/>
          </a:prstGeom>
          <a:noFill/>
          <a:ln/>
        </p:spPr>
        <p:txBody>
          <a:bodyPr wrap="square" lIns="0" tIns="0" rIns="0" bIns="0" rtlCol="0" anchor="ctr"/>
          <a:lstStyle/>
          <a:p>
            <a:pPr indent="0" marL="0">
              <a:buNone/>
            </a:pPr>
            <a:r>
              <a:rPr lang="en-US" sz="1600" dirty="0">
                <a:solidFill>
                  <a:srgbClr val="0B0B0D"/>
                </a:solidFill>
                <a:latin typeface="Arial" pitchFamily="34" charset="0"/>
                <a:ea typeface="Arial" pitchFamily="34" charset="-122"/>
                <a:cs typeface="Arial" pitchFamily="34" charset="-120"/>
              </a:rPr>
              <a:t>Modelar y especificar los casos de uso</a:t>
            </a:r>
            <a:endParaRPr lang="en-US" sz="1600" dirty="0"/>
          </a:p>
        </p:txBody>
      </p:sp>
      <p:sp>
        <p:nvSpPr>
          <p:cNvPr id="18" name="Shape 12"/>
          <p:cNvSpPr/>
          <p:nvPr/>
        </p:nvSpPr>
        <p:spPr>
          <a:xfrm>
            <a:off x="5074920" y="3813048"/>
            <a:ext cx="548640" cy="548640"/>
          </a:xfrm>
          <a:prstGeom prst="ellipse">
            <a:avLst/>
          </a:prstGeom>
          <a:solidFill>
            <a:srgbClr val="EDE4FB"/>
          </a:solidFill>
          <a:ln/>
        </p:spPr>
      </p:sp>
      <p:pic>
        <p:nvPicPr>
          <p:cNvPr id="19" name="Image 3" descr="preencoded.png">    </p:cNvPr>
          <p:cNvPicPr>
            <a:picLocks noChangeAspect="1"/>
          </p:cNvPicPr>
          <p:nvPr/>
        </p:nvPicPr>
        <p:blipFill>
          <a:blip r:embed="rId4"/>
          <a:stretch>
            <a:fillRect/>
          </a:stretch>
        </p:blipFill>
        <p:spPr>
          <a:xfrm>
            <a:off x="5206594" y="3944722"/>
            <a:ext cx="285293" cy="285293"/>
          </a:xfrm>
          <a:prstGeom prst="rect">
            <a:avLst/>
          </a:prstGeom>
        </p:spPr>
      </p:pic>
      <p:sp>
        <p:nvSpPr>
          <p:cNvPr id="20" name="Text 13"/>
          <p:cNvSpPr txBox="1"/>
          <p:nvPr/>
        </p:nvSpPr>
        <p:spPr>
          <a:xfrm>
            <a:off x="5806440" y="3767328"/>
            <a:ext cx="5852160" cy="640080"/>
          </a:xfrm>
          <a:prstGeom prst="rect">
            <a:avLst/>
          </a:prstGeom>
          <a:noFill/>
          <a:ln/>
        </p:spPr>
        <p:txBody>
          <a:bodyPr wrap="square" lIns="0" tIns="0" rIns="0" bIns="0" rtlCol="0" anchor="ctr"/>
          <a:lstStyle/>
          <a:p>
            <a:pPr indent="0" marL="0">
              <a:buNone/>
            </a:pPr>
            <a:r>
              <a:rPr lang="en-US" sz="1600" dirty="0">
                <a:solidFill>
                  <a:srgbClr val="0B0B0D"/>
                </a:solidFill>
                <a:latin typeface="Arial" pitchFamily="34" charset="0"/>
                <a:ea typeface="Arial" pitchFamily="34" charset="-122"/>
                <a:cs typeface="Arial" pitchFamily="34" charset="-120"/>
              </a:rPr>
              <a:t>Diseñar la arquitectura lógica, física y de datos</a:t>
            </a:r>
            <a:endParaRPr lang="en-US" sz="1600" dirty="0"/>
          </a:p>
        </p:txBody>
      </p:sp>
      <p:sp>
        <p:nvSpPr>
          <p:cNvPr id="21" name="Shape 14"/>
          <p:cNvSpPr/>
          <p:nvPr/>
        </p:nvSpPr>
        <p:spPr>
          <a:xfrm>
            <a:off x="5074920" y="4581144"/>
            <a:ext cx="548640" cy="548640"/>
          </a:xfrm>
          <a:prstGeom prst="ellipse">
            <a:avLst/>
          </a:prstGeom>
          <a:solidFill>
            <a:srgbClr val="EDE4FB"/>
          </a:solidFill>
          <a:ln/>
        </p:spPr>
      </p:sp>
      <p:pic>
        <p:nvPicPr>
          <p:cNvPr id="22" name="Image 4" descr="preencoded.png">    </p:cNvPr>
          <p:cNvPicPr>
            <a:picLocks noChangeAspect="1"/>
          </p:cNvPicPr>
          <p:nvPr/>
        </p:nvPicPr>
        <p:blipFill>
          <a:blip r:embed="rId5"/>
          <a:stretch>
            <a:fillRect/>
          </a:stretch>
        </p:blipFill>
        <p:spPr>
          <a:xfrm>
            <a:off x="5206594" y="4712818"/>
            <a:ext cx="285293" cy="285293"/>
          </a:xfrm>
          <a:prstGeom prst="rect">
            <a:avLst/>
          </a:prstGeom>
        </p:spPr>
      </p:pic>
      <p:sp>
        <p:nvSpPr>
          <p:cNvPr id="23" name="Text 15"/>
          <p:cNvSpPr txBox="1"/>
          <p:nvPr/>
        </p:nvSpPr>
        <p:spPr>
          <a:xfrm>
            <a:off x="5806440" y="4535424"/>
            <a:ext cx="5852160" cy="640080"/>
          </a:xfrm>
          <a:prstGeom prst="rect">
            <a:avLst/>
          </a:prstGeom>
          <a:noFill/>
          <a:ln/>
        </p:spPr>
        <p:txBody>
          <a:bodyPr wrap="square" lIns="0" tIns="0" rIns="0" bIns="0" rtlCol="0" anchor="ctr"/>
          <a:lstStyle/>
          <a:p>
            <a:pPr indent="0" marL="0">
              <a:buNone/>
            </a:pPr>
            <a:r>
              <a:rPr lang="en-US" sz="1600" dirty="0">
                <a:solidFill>
                  <a:srgbClr val="0B0B0D"/>
                </a:solidFill>
                <a:latin typeface="Arial" pitchFamily="34" charset="0"/>
                <a:ea typeface="Arial" pitchFamily="34" charset="-122"/>
                <a:cs typeface="Arial" pitchFamily="34" charset="-120"/>
              </a:rPr>
              <a:t>Producir los diagramas UML para Rational Rose</a:t>
            </a:r>
            <a:endParaRPr lang="en-US" sz="1600" dirty="0"/>
          </a:p>
        </p:txBody>
      </p:sp>
      <p:sp>
        <p:nvSpPr>
          <p:cNvPr id="24" name="Shape 16"/>
          <p:cNvSpPr/>
          <p:nvPr/>
        </p:nvSpPr>
        <p:spPr>
          <a:xfrm>
            <a:off x="5074920" y="5349240"/>
            <a:ext cx="548640" cy="548640"/>
          </a:xfrm>
          <a:prstGeom prst="ellipse">
            <a:avLst/>
          </a:prstGeom>
          <a:solidFill>
            <a:srgbClr val="EDE4FB"/>
          </a:solidFill>
          <a:ln/>
        </p:spPr>
      </p:sp>
      <p:pic>
        <p:nvPicPr>
          <p:cNvPr id="25" name="Image 5" descr="preencoded.png">    </p:cNvPr>
          <p:cNvPicPr>
            <a:picLocks noChangeAspect="1"/>
          </p:cNvPicPr>
          <p:nvPr/>
        </p:nvPicPr>
        <p:blipFill>
          <a:blip r:embed="rId6"/>
          <a:stretch>
            <a:fillRect/>
          </a:stretch>
        </p:blipFill>
        <p:spPr>
          <a:xfrm>
            <a:off x="5206594" y="5480914"/>
            <a:ext cx="285293" cy="285293"/>
          </a:xfrm>
          <a:prstGeom prst="rect">
            <a:avLst/>
          </a:prstGeom>
        </p:spPr>
      </p:pic>
      <p:sp>
        <p:nvSpPr>
          <p:cNvPr id="26" name="Text 17"/>
          <p:cNvSpPr txBox="1"/>
          <p:nvPr/>
        </p:nvSpPr>
        <p:spPr>
          <a:xfrm>
            <a:off x="5806440" y="5303520"/>
            <a:ext cx="5852160" cy="640080"/>
          </a:xfrm>
          <a:prstGeom prst="rect">
            <a:avLst/>
          </a:prstGeom>
          <a:noFill/>
          <a:ln/>
        </p:spPr>
        <p:txBody>
          <a:bodyPr wrap="square" lIns="0" tIns="0" rIns="0" bIns="0" rtlCol="0" anchor="ctr"/>
          <a:lstStyle/>
          <a:p>
            <a:pPr indent="0" marL="0">
              <a:buNone/>
            </a:pPr>
            <a:r>
              <a:rPr lang="en-US" sz="1600" dirty="0">
                <a:solidFill>
                  <a:srgbClr val="0B0B0D"/>
                </a:solidFill>
                <a:latin typeface="Arial" pitchFamily="34" charset="0"/>
                <a:ea typeface="Arial" pitchFamily="34" charset="-122"/>
                <a:cs typeface="Arial" pitchFamily="34" charset="-120"/>
              </a:rPr>
              <a:t>Planificar iteraciones, riesgos y pruebas, con trazabilidad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01 · EL CASO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12 módulos sobre la plataforma existente</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8</a:t>
            </a:r>
            <a:endParaRPr lang="en-US" sz="900" dirty="0"/>
          </a:p>
        </p:txBody>
      </p:sp>
      <p:sp>
        <p:nvSpPr>
          <p:cNvPr id="6" name="Shape 3"/>
          <p:cNvSpPr/>
          <p:nvPr/>
        </p:nvSpPr>
        <p:spPr>
          <a:xfrm>
            <a:off x="548640" y="1463040"/>
            <a:ext cx="2636444" cy="1078992"/>
          </a:xfrm>
          <a:prstGeom prst="roundRect">
            <a:avLst>
              <a:gd name="adj" fmla="val 6780"/>
            </a:avLst>
          </a:prstGeom>
          <a:solidFill>
            <a:srgbClr val="F5F5F7"/>
          </a:solidFill>
          <a:ln/>
        </p:spPr>
      </p:sp>
      <p:sp>
        <p:nvSpPr>
          <p:cNvPr id="7" name="Shape 4"/>
          <p:cNvSpPr/>
          <p:nvPr/>
        </p:nvSpPr>
        <p:spPr>
          <a:xfrm>
            <a:off x="731520" y="1719072"/>
            <a:ext cx="548640" cy="54864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63194" y="1850746"/>
            <a:ext cx="285293" cy="285293"/>
          </a:xfrm>
          <a:prstGeom prst="rect">
            <a:avLst/>
          </a:prstGeom>
        </p:spPr>
      </p:pic>
      <p:sp>
        <p:nvSpPr>
          <p:cNvPr id="9" name="Text 5"/>
          <p:cNvSpPr txBox="1"/>
          <p:nvPr/>
        </p:nvSpPr>
        <p:spPr>
          <a:xfrm>
            <a:off x="1417320" y="1463040"/>
            <a:ext cx="1630604" cy="1078992"/>
          </a:xfrm>
          <a:prstGeom prst="rect">
            <a:avLst/>
          </a:prstGeom>
          <a:noFill/>
          <a:ln/>
        </p:spPr>
        <p:txBody>
          <a:bodyPr wrap="square" lIns="0" tIns="0" rIns="0" bIns="0" rtlCol="0" anchor="ctr"/>
          <a:lstStyle/>
          <a:p>
            <a:pPr indent="0" marL="0">
              <a:buNone/>
            </a:pPr>
            <a:r>
              <a:rPr lang="en-US" sz="1400" b="1" dirty="0">
                <a:solidFill>
                  <a:srgbClr val="0B0B0D"/>
                </a:solidFill>
                <a:latin typeface="Arial" pitchFamily="34" charset="0"/>
                <a:ea typeface="Arial" pitchFamily="34" charset="-122"/>
                <a:cs typeface="Arial" pitchFamily="34" charset="-120"/>
              </a:rPr>
              <a:t>Gestión de usuarios y roles</a:t>
            </a:r>
            <a:endParaRPr lang="en-US" sz="1400" dirty="0"/>
          </a:p>
        </p:txBody>
      </p:sp>
      <p:sp>
        <p:nvSpPr>
          <p:cNvPr id="10" name="Shape 6"/>
          <p:cNvSpPr/>
          <p:nvPr/>
        </p:nvSpPr>
        <p:spPr>
          <a:xfrm>
            <a:off x="3367964" y="1463040"/>
            <a:ext cx="2636444" cy="1078992"/>
          </a:xfrm>
          <a:prstGeom prst="roundRect">
            <a:avLst>
              <a:gd name="adj" fmla="val 6780"/>
            </a:avLst>
          </a:prstGeom>
          <a:solidFill>
            <a:srgbClr val="F5F5F7"/>
          </a:solidFill>
          <a:ln/>
        </p:spPr>
      </p:sp>
      <p:sp>
        <p:nvSpPr>
          <p:cNvPr id="11" name="Shape 7"/>
          <p:cNvSpPr/>
          <p:nvPr/>
        </p:nvSpPr>
        <p:spPr>
          <a:xfrm>
            <a:off x="3550844" y="1719072"/>
            <a:ext cx="548640" cy="548640"/>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3682517" y="1850746"/>
            <a:ext cx="285293" cy="285293"/>
          </a:xfrm>
          <a:prstGeom prst="rect">
            <a:avLst/>
          </a:prstGeom>
        </p:spPr>
      </p:pic>
      <p:sp>
        <p:nvSpPr>
          <p:cNvPr id="13" name="Text 8"/>
          <p:cNvSpPr txBox="1"/>
          <p:nvPr/>
        </p:nvSpPr>
        <p:spPr>
          <a:xfrm>
            <a:off x="4236644" y="1463040"/>
            <a:ext cx="1630604" cy="1078992"/>
          </a:xfrm>
          <a:prstGeom prst="rect">
            <a:avLst/>
          </a:prstGeom>
          <a:noFill/>
          <a:ln/>
        </p:spPr>
        <p:txBody>
          <a:bodyPr wrap="square" lIns="0" tIns="0" rIns="0" bIns="0" rtlCol="0" anchor="ctr"/>
          <a:lstStyle/>
          <a:p>
            <a:pPr indent="0" marL="0">
              <a:buNone/>
            </a:pPr>
            <a:r>
              <a:rPr lang="en-US" sz="1400" b="1" dirty="0">
                <a:solidFill>
                  <a:srgbClr val="0B0B0D"/>
                </a:solidFill>
                <a:latin typeface="Arial" pitchFamily="34" charset="0"/>
                <a:ea typeface="Arial" pitchFamily="34" charset="-122"/>
                <a:cs typeface="Arial" pitchFamily="34" charset="-120"/>
              </a:rPr>
              <a:t>Administración del catálogo</a:t>
            </a:r>
            <a:endParaRPr lang="en-US" sz="1400" dirty="0"/>
          </a:p>
        </p:txBody>
      </p:sp>
      <p:sp>
        <p:nvSpPr>
          <p:cNvPr id="14" name="Shape 9"/>
          <p:cNvSpPr/>
          <p:nvPr/>
        </p:nvSpPr>
        <p:spPr>
          <a:xfrm>
            <a:off x="6187288" y="1463040"/>
            <a:ext cx="2636444" cy="1078992"/>
          </a:xfrm>
          <a:prstGeom prst="roundRect">
            <a:avLst>
              <a:gd name="adj" fmla="val 6780"/>
            </a:avLst>
          </a:prstGeom>
          <a:solidFill>
            <a:srgbClr val="F5F5F7"/>
          </a:solidFill>
          <a:ln/>
        </p:spPr>
      </p:sp>
      <p:sp>
        <p:nvSpPr>
          <p:cNvPr id="15" name="Shape 10"/>
          <p:cNvSpPr/>
          <p:nvPr/>
        </p:nvSpPr>
        <p:spPr>
          <a:xfrm>
            <a:off x="6370168" y="1719072"/>
            <a:ext cx="548640" cy="54864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6501841" y="1850746"/>
            <a:ext cx="285293" cy="285293"/>
          </a:xfrm>
          <a:prstGeom prst="rect">
            <a:avLst/>
          </a:prstGeom>
        </p:spPr>
      </p:pic>
      <p:sp>
        <p:nvSpPr>
          <p:cNvPr id="17" name="Text 11"/>
          <p:cNvSpPr txBox="1"/>
          <p:nvPr/>
        </p:nvSpPr>
        <p:spPr>
          <a:xfrm>
            <a:off x="7055968" y="1463040"/>
            <a:ext cx="1630604" cy="1078992"/>
          </a:xfrm>
          <a:prstGeom prst="rect">
            <a:avLst/>
          </a:prstGeom>
          <a:noFill/>
          <a:ln/>
        </p:spPr>
        <p:txBody>
          <a:bodyPr wrap="square" lIns="0" tIns="0" rIns="0" bIns="0" rtlCol="0" anchor="ctr"/>
          <a:lstStyle/>
          <a:p>
            <a:pPr indent="0" marL="0">
              <a:buNone/>
            </a:pPr>
            <a:r>
              <a:rPr lang="en-US" sz="1400" b="1" dirty="0">
                <a:solidFill>
                  <a:srgbClr val="0B0B0D"/>
                </a:solidFill>
                <a:latin typeface="Arial" pitchFamily="34" charset="0"/>
                <a:ea typeface="Arial" pitchFamily="34" charset="-122"/>
                <a:cs typeface="Arial" pitchFamily="34" charset="-120"/>
              </a:rPr>
              <a:t>Administración de categorías</a:t>
            </a:r>
            <a:endParaRPr lang="en-US" sz="1400" dirty="0"/>
          </a:p>
        </p:txBody>
      </p:sp>
      <p:sp>
        <p:nvSpPr>
          <p:cNvPr id="18" name="Shape 12"/>
          <p:cNvSpPr/>
          <p:nvPr/>
        </p:nvSpPr>
        <p:spPr>
          <a:xfrm>
            <a:off x="9006611" y="1463040"/>
            <a:ext cx="2636444" cy="1078992"/>
          </a:xfrm>
          <a:prstGeom prst="roundRect">
            <a:avLst>
              <a:gd name="adj" fmla="val 6780"/>
            </a:avLst>
          </a:prstGeom>
          <a:solidFill>
            <a:srgbClr val="F5F5F7"/>
          </a:solidFill>
          <a:ln/>
        </p:spPr>
      </p:sp>
      <p:sp>
        <p:nvSpPr>
          <p:cNvPr id="19" name="Shape 13"/>
          <p:cNvSpPr/>
          <p:nvPr/>
        </p:nvSpPr>
        <p:spPr>
          <a:xfrm>
            <a:off x="9189491" y="1719072"/>
            <a:ext cx="548640" cy="548640"/>
          </a:xfrm>
          <a:prstGeom prst="ellipse">
            <a:avLst/>
          </a:prstGeom>
          <a:solidFill>
            <a:srgbClr val="FFFFFF"/>
          </a:solidFill>
          <a:ln/>
        </p:spPr>
      </p:sp>
      <p:pic>
        <p:nvPicPr>
          <p:cNvPr id="20" name="Image 3" descr="preencoded.png">    </p:cNvPr>
          <p:cNvPicPr>
            <a:picLocks noChangeAspect="1"/>
          </p:cNvPicPr>
          <p:nvPr/>
        </p:nvPicPr>
        <p:blipFill>
          <a:blip r:embed="rId4"/>
          <a:stretch>
            <a:fillRect/>
          </a:stretch>
        </p:blipFill>
        <p:spPr>
          <a:xfrm>
            <a:off x="9321165" y="1850746"/>
            <a:ext cx="285293" cy="285293"/>
          </a:xfrm>
          <a:prstGeom prst="rect">
            <a:avLst/>
          </a:prstGeom>
        </p:spPr>
      </p:pic>
      <p:sp>
        <p:nvSpPr>
          <p:cNvPr id="21" name="Text 14"/>
          <p:cNvSpPr txBox="1"/>
          <p:nvPr/>
        </p:nvSpPr>
        <p:spPr>
          <a:xfrm>
            <a:off x="9875291" y="1463040"/>
            <a:ext cx="1630604" cy="1078992"/>
          </a:xfrm>
          <a:prstGeom prst="rect">
            <a:avLst/>
          </a:prstGeom>
          <a:noFill/>
          <a:ln/>
        </p:spPr>
        <p:txBody>
          <a:bodyPr wrap="square" lIns="0" tIns="0" rIns="0" bIns="0" rtlCol="0" anchor="ctr"/>
          <a:lstStyle/>
          <a:p>
            <a:pPr indent="0" marL="0">
              <a:buNone/>
            </a:pPr>
            <a:r>
              <a:rPr lang="en-US" sz="1400" b="1" dirty="0">
                <a:solidFill>
                  <a:srgbClr val="0B0B0D"/>
                </a:solidFill>
                <a:latin typeface="Arial" pitchFamily="34" charset="0"/>
                <a:ea typeface="Arial" pitchFamily="34" charset="-122"/>
                <a:cs typeface="Arial" pitchFamily="34" charset="-120"/>
              </a:rPr>
              <a:t>Gestión de fichas técnicas</a:t>
            </a:r>
            <a:endParaRPr lang="en-US" sz="1400" dirty="0"/>
          </a:p>
        </p:txBody>
      </p:sp>
      <p:sp>
        <p:nvSpPr>
          <p:cNvPr id="22" name="Shape 15"/>
          <p:cNvSpPr/>
          <p:nvPr/>
        </p:nvSpPr>
        <p:spPr>
          <a:xfrm>
            <a:off x="548640" y="2706624"/>
            <a:ext cx="2636444" cy="1078992"/>
          </a:xfrm>
          <a:prstGeom prst="roundRect">
            <a:avLst>
              <a:gd name="adj" fmla="val 6780"/>
            </a:avLst>
          </a:prstGeom>
          <a:solidFill>
            <a:srgbClr val="F5F5F7"/>
          </a:solidFill>
          <a:ln/>
        </p:spPr>
      </p:sp>
      <p:sp>
        <p:nvSpPr>
          <p:cNvPr id="23" name="Shape 16"/>
          <p:cNvSpPr/>
          <p:nvPr/>
        </p:nvSpPr>
        <p:spPr>
          <a:xfrm>
            <a:off x="731520" y="2962656"/>
            <a:ext cx="548640" cy="548640"/>
          </a:xfrm>
          <a:prstGeom prst="ellipse">
            <a:avLst/>
          </a:prstGeom>
          <a:solidFill>
            <a:srgbClr val="FFFFFF"/>
          </a:solidFill>
          <a:ln/>
        </p:spPr>
      </p:sp>
      <p:pic>
        <p:nvPicPr>
          <p:cNvPr id="24" name="Image 4" descr="preencoded.png">    </p:cNvPr>
          <p:cNvPicPr>
            <a:picLocks noChangeAspect="1"/>
          </p:cNvPicPr>
          <p:nvPr/>
        </p:nvPicPr>
        <p:blipFill>
          <a:blip r:embed="rId5"/>
          <a:stretch>
            <a:fillRect/>
          </a:stretch>
        </p:blipFill>
        <p:spPr>
          <a:xfrm>
            <a:off x="863194" y="3094330"/>
            <a:ext cx="285293" cy="285293"/>
          </a:xfrm>
          <a:prstGeom prst="rect">
            <a:avLst/>
          </a:prstGeom>
        </p:spPr>
      </p:pic>
      <p:sp>
        <p:nvSpPr>
          <p:cNvPr id="25" name="Text 17"/>
          <p:cNvSpPr txBox="1"/>
          <p:nvPr/>
        </p:nvSpPr>
        <p:spPr>
          <a:xfrm>
            <a:off x="1417320" y="2706624"/>
            <a:ext cx="1630604" cy="1078992"/>
          </a:xfrm>
          <a:prstGeom prst="rect">
            <a:avLst/>
          </a:prstGeom>
          <a:noFill/>
          <a:ln/>
        </p:spPr>
        <p:txBody>
          <a:bodyPr wrap="square" lIns="0" tIns="0" rIns="0" bIns="0" rtlCol="0" anchor="ctr"/>
          <a:lstStyle/>
          <a:p>
            <a:pPr indent="0" marL="0">
              <a:buNone/>
            </a:pPr>
            <a:r>
              <a:rPr lang="en-US" sz="1400" b="1" dirty="0">
                <a:solidFill>
                  <a:srgbClr val="0B0B0D"/>
                </a:solidFill>
                <a:latin typeface="Arial" pitchFamily="34" charset="0"/>
                <a:ea typeface="Arial" pitchFamily="34" charset="-122"/>
                <a:cs typeface="Arial" pitchFamily="34" charset="-120"/>
              </a:rPr>
              <a:t>Búsqueda y filtrado</a:t>
            </a:r>
            <a:endParaRPr lang="en-US" sz="1400" dirty="0"/>
          </a:p>
        </p:txBody>
      </p:sp>
      <p:sp>
        <p:nvSpPr>
          <p:cNvPr id="26" name="Shape 18"/>
          <p:cNvSpPr/>
          <p:nvPr/>
        </p:nvSpPr>
        <p:spPr>
          <a:xfrm>
            <a:off x="3367964" y="2706624"/>
            <a:ext cx="2636444" cy="1078992"/>
          </a:xfrm>
          <a:prstGeom prst="roundRect">
            <a:avLst>
              <a:gd name="adj" fmla="val 6780"/>
            </a:avLst>
          </a:prstGeom>
          <a:solidFill>
            <a:srgbClr val="F5F5F7"/>
          </a:solidFill>
          <a:ln/>
        </p:spPr>
      </p:sp>
      <p:sp>
        <p:nvSpPr>
          <p:cNvPr id="27" name="Shape 19"/>
          <p:cNvSpPr/>
          <p:nvPr/>
        </p:nvSpPr>
        <p:spPr>
          <a:xfrm>
            <a:off x="3550844" y="2962656"/>
            <a:ext cx="548640" cy="548640"/>
          </a:xfrm>
          <a:prstGeom prst="ellipse">
            <a:avLst/>
          </a:prstGeom>
          <a:solidFill>
            <a:srgbClr val="FFFFFF"/>
          </a:solidFill>
          <a:ln/>
        </p:spPr>
      </p:sp>
      <p:pic>
        <p:nvPicPr>
          <p:cNvPr id="28" name="Image 5" descr="preencoded.png">    </p:cNvPr>
          <p:cNvPicPr>
            <a:picLocks noChangeAspect="1"/>
          </p:cNvPicPr>
          <p:nvPr/>
        </p:nvPicPr>
        <p:blipFill>
          <a:blip r:embed="rId6"/>
          <a:stretch>
            <a:fillRect/>
          </a:stretch>
        </p:blipFill>
        <p:spPr>
          <a:xfrm>
            <a:off x="3682517" y="3094330"/>
            <a:ext cx="285293" cy="285293"/>
          </a:xfrm>
          <a:prstGeom prst="rect">
            <a:avLst/>
          </a:prstGeom>
        </p:spPr>
      </p:pic>
      <p:sp>
        <p:nvSpPr>
          <p:cNvPr id="29" name="Text 20"/>
          <p:cNvSpPr txBox="1"/>
          <p:nvPr/>
        </p:nvSpPr>
        <p:spPr>
          <a:xfrm>
            <a:off x="4236644" y="2706624"/>
            <a:ext cx="1630604" cy="1078992"/>
          </a:xfrm>
          <a:prstGeom prst="rect">
            <a:avLst/>
          </a:prstGeom>
          <a:noFill/>
          <a:ln/>
        </p:spPr>
        <p:txBody>
          <a:bodyPr wrap="square" lIns="0" tIns="0" rIns="0" bIns="0" rtlCol="0" anchor="ctr"/>
          <a:lstStyle/>
          <a:p>
            <a:pPr indent="0" marL="0">
              <a:buNone/>
            </a:pPr>
            <a:r>
              <a:rPr lang="en-US" sz="1400" b="1" dirty="0">
                <a:solidFill>
                  <a:srgbClr val="0B0B0D"/>
                </a:solidFill>
                <a:latin typeface="Arial" pitchFamily="34" charset="0"/>
                <a:ea typeface="Arial" pitchFamily="34" charset="-122"/>
                <a:cs typeface="Arial" pitchFamily="34" charset="-120"/>
              </a:rPr>
              <a:t>Comparación de productos</a:t>
            </a:r>
            <a:endParaRPr lang="en-US" sz="1400" dirty="0"/>
          </a:p>
        </p:txBody>
      </p:sp>
      <p:sp>
        <p:nvSpPr>
          <p:cNvPr id="30" name="Shape 21"/>
          <p:cNvSpPr/>
          <p:nvPr/>
        </p:nvSpPr>
        <p:spPr>
          <a:xfrm>
            <a:off x="6187288" y="2706624"/>
            <a:ext cx="2636444" cy="1078992"/>
          </a:xfrm>
          <a:prstGeom prst="roundRect">
            <a:avLst>
              <a:gd name="adj" fmla="val 6780"/>
            </a:avLst>
          </a:prstGeom>
          <a:solidFill>
            <a:srgbClr val="6D28D9"/>
          </a:solidFill>
          <a:ln/>
        </p:spPr>
      </p:sp>
      <p:sp>
        <p:nvSpPr>
          <p:cNvPr id="31" name="Shape 22"/>
          <p:cNvSpPr/>
          <p:nvPr/>
        </p:nvSpPr>
        <p:spPr>
          <a:xfrm>
            <a:off x="6370168" y="2962656"/>
            <a:ext cx="548640" cy="548640"/>
          </a:xfrm>
          <a:prstGeom prst="ellipse">
            <a:avLst/>
          </a:prstGeom>
          <a:solidFill>
            <a:srgbClr val="FFFFFF"/>
          </a:solidFill>
          <a:ln/>
        </p:spPr>
      </p:sp>
      <p:pic>
        <p:nvPicPr>
          <p:cNvPr id="32" name="Image 6" descr="preencoded.png">    </p:cNvPr>
          <p:cNvPicPr>
            <a:picLocks noChangeAspect="1"/>
          </p:cNvPicPr>
          <p:nvPr/>
        </p:nvPicPr>
        <p:blipFill>
          <a:blip r:embed="rId7"/>
          <a:stretch>
            <a:fillRect/>
          </a:stretch>
        </p:blipFill>
        <p:spPr>
          <a:xfrm>
            <a:off x="6501841" y="3094330"/>
            <a:ext cx="285293" cy="285293"/>
          </a:xfrm>
          <a:prstGeom prst="rect">
            <a:avLst/>
          </a:prstGeom>
        </p:spPr>
      </p:pic>
      <p:sp>
        <p:nvSpPr>
          <p:cNvPr id="33" name="Text 23"/>
          <p:cNvSpPr txBox="1"/>
          <p:nvPr/>
        </p:nvSpPr>
        <p:spPr>
          <a:xfrm>
            <a:off x="7055968" y="2706624"/>
            <a:ext cx="1630604" cy="107899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Gestión de distribuidores</a:t>
            </a:r>
            <a:endParaRPr lang="en-US" sz="1400" dirty="0"/>
          </a:p>
        </p:txBody>
      </p:sp>
      <p:sp>
        <p:nvSpPr>
          <p:cNvPr id="34" name="Shape 24"/>
          <p:cNvSpPr/>
          <p:nvPr/>
        </p:nvSpPr>
        <p:spPr>
          <a:xfrm>
            <a:off x="9006611" y="2706624"/>
            <a:ext cx="2636444" cy="1078992"/>
          </a:xfrm>
          <a:prstGeom prst="roundRect">
            <a:avLst>
              <a:gd name="adj" fmla="val 6780"/>
            </a:avLst>
          </a:prstGeom>
          <a:solidFill>
            <a:srgbClr val="F5F5F7"/>
          </a:solidFill>
          <a:ln/>
        </p:spPr>
      </p:sp>
      <p:sp>
        <p:nvSpPr>
          <p:cNvPr id="35" name="Shape 25"/>
          <p:cNvSpPr/>
          <p:nvPr/>
        </p:nvSpPr>
        <p:spPr>
          <a:xfrm>
            <a:off x="9189491" y="2962656"/>
            <a:ext cx="548640" cy="548640"/>
          </a:xfrm>
          <a:prstGeom prst="ellipse">
            <a:avLst/>
          </a:prstGeom>
          <a:solidFill>
            <a:srgbClr val="FFFFFF"/>
          </a:solidFill>
          <a:ln/>
        </p:spPr>
      </p:sp>
      <p:pic>
        <p:nvPicPr>
          <p:cNvPr id="36" name="Image 7" descr="preencoded.png">    </p:cNvPr>
          <p:cNvPicPr>
            <a:picLocks noChangeAspect="1"/>
          </p:cNvPicPr>
          <p:nvPr/>
        </p:nvPicPr>
        <p:blipFill>
          <a:blip r:embed="rId8"/>
          <a:stretch>
            <a:fillRect/>
          </a:stretch>
        </p:blipFill>
        <p:spPr>
          <a:xfrm>
            <a:off x="9321165" y="3094330"/>
            <a:ext cx="285293" cy="285293"/>
          </a:xfrm>
          <a:prstGeom prst="rect">
            <a:avLst/>
          </a:prstGeom>
        </p:spPr>
      </p:pic>
      <p:sp>
        <p:nvSpPr>
          <p:cNvPr id="37" name="Text 26"/>
          <p:cNvSpPr txBox="1"/>
          <p:nvPr/>
        </p:nvSpPr>
        <p:spPr>
          <a:xfrm>
            <a:off x="9875291" y="2706624"/>
            <a:ext cx="1630604" cy="1078992"/>
          </a:xfrm>
          <a:prstGeom prst="rect">
            <a:avLst/>
          </a:prstGeom>
          <a:noFill/>
          <a:ln/>
        </p:spPr>
        <p:txBody>
          <a:bodyPr wrap="square" lIns="0" tIns="0" rIns="0" bIns="0" rtlCol="0" anchor="ctr"/>
          <a:lstStyle/>
          <a:p>
            <a:pPr indent="0" marL="0">
              <a:buNone/>
            </a:pPr>
            <a:r>
              <a:rPr lang="en-US" sz="1400" b="1" dirty="0">
                <a:solidFill>
                  <a:srgbClr val="0B0B0D"/>
                </a:solidFill>
                <a:latin typeface="Arial" pitchFamily="34" charset="0"/>
                <a:ea typeface="Arial" pitchFamily="34" charset="-122"/>
                <a:cs typeface="Arial" pitchFamily="34" charset="-120"/>
              </a:rPr>
              <a:t>Consultas comerciales por WhatsApp</a:t>
            </a:r>
            <a:endParaRPr lang="en-US" sz="1400" dirty="0"/>
          </a:p>
        </p:txBody>
      </p:sp>
      <p:sp>
        <p:nvSpPr>
          <p:cNvPr id="38" name="Shape 27"/>
          <p:cNvSpPr/>
          <p:nvPr/>
        </p:nvSpPr>
        <p:spPr>
          <a:xfrm>
            <a:off x="548640" y="3950208"/>
            <a:ext cx="2636444" cy="1078992"/>
          </a:xfrm>
          <a:prstGeom prst="roundRect">
            <a:avLst>
              <a:gd name="adj" fmla="val 6780"/>
            </a:avLst>
          </a:prstGeom>
          <a:solidFill>
            <a:srgbClr val="F5F5F7"/>
          </a:solidFill>
          <a:ln/>
        </p:spPr>
      </p:sp>
      <p:sp>
        <p:nvSpPr>
          <p:cNvPr id="39" name="Shape 28"/>
          <p:cNvSpPr/>
          <p:nvPr/>
        </p:nvSpPr>
        <p:spPr>
          <a:xfrm>
            <a:off x="731520" y="4206240"/>
            <a:ext cx="548640" cy="548640"/>
          </a:xfrm>
          <a:prstGeom prst="ellipse">
            <a:avLst/>
          </a:prstGeom>
          <a:solidFill>
            <a:srgbClr val="FFFFFF"/>
          </a:solidFill>
          <a:ln/>
        </p:spPr>
      </p:sp>
      <p:pic>
        <p:nvPicPr>
          <p:cNvPr id="40" name="Image 8" descr="preencoded.png">    </p:cNvPr>
          <p:cNvPicPr>
            <a:picLocks noChangeAspect="1"/>
          </p:cNvPicPr>
          <p:nvPr/>
        </p:nvPicPr>
        <p:blipFill>
          <a:blip r:embed="rId9"/>
          <a:stretch>
            <a:fillRect/>
          </a:stretch>
        </p:blipFill>
        <p:spPr>
          <a:xfrm>
            <a:off x="863194" y="4337914"/>
            <a:ext cx="285293" cy="285293"/>
          </a:xfrm>
          <a:prstGeom prst="rect">
            <a:avLst/>
          </a:prstGeom>
        </p:spPr>
      </p:pic>
      <p:sp>
        <p:nvSpPr>
          <p:cNvPr id="41" name="Text 29"/>
          <p:cNvSpPr txBox="1"/>
          <p:nvPr/>
        </p:nvSpPr>
        <p:spPr>
          <a:xfrm>
            <a:off x="1417320" y="3950208"/>
            <a:ext cx="1630604" cy="1078992"/>
          </a:xfrm>
          <a:prstGeom prst="rect">
            <a:avLst/>
          </a:prstGeom>
          <a:noFill/>
          <a:ln/>
        </p:spPr>
        <p:txBody>
          <a:bodyPr wrap="square" lIns="0" tIns="0" rIns="0" bIns="0" rtlCol="0" anchor="ctr"/>
          <a:lstStyle/>
          <a:p>
            <a:pPr indent="0" marL="0">
              <a:buNone/>
            </a:pPr>
            <a:r>
              <a:rPr lang="en-US" sz="1400" b="1" dirty="0">
                <a:solidFill>
                  <a:srgbClr val="0B0B0D"/>
                </a:solidFill>
                <a:latin typeface="Arial" pitchFamily="34" charset="0"/>
                <a:ea typeface="Arial" pitchFamily="34" charset="-122"/>
                <a:cs typeface="Arial" pitchFamily="34" charset="-120"/>
              </a:rPr>
              <a:t>Gestión de contenido y novedades</a:t>
            </a:r>
            <a:endParaRPr lang="en-US" sz="1400" dirty="0"/>
          </a:p>
        </p:txBody>
      </p:sp>
      <p:sp>
        <p:nvSpPr>
          <p:cNvPr id="42" name="Shape 30"/>
          <p:cNvSpPr/>
          <p:nvPr/>
        </p:nvSpPr>
        <p:spPr>
          <a:xfrm>
            <a:off x="3367964" y="3950208"/>
            <a:ext cx="2636444" cy="1078992"/>
          </a:xfrm>
          <a:prstGeom prst="roundRect">
            <a:avLst>
              <a:gd name="adj" fmla="val 6780"/>
            </a:avLst>
          </a:prstGeom>
          <a:solidFill>
            <a:srgbClr val="6D28D9"/>
          </a:solidFill>
          <a:ln/>
        </p:spPr>
      </p:sp>
      <p:sp>
        <p:nvSpPr>
          <p:cNvPr id="43" name="Shape 31"/>
          <p:cNvSpPr/>
          <p:nvPr/>
        </p:nvSpPr>
        <p:spPr>
          <a:xfrm>
            <a:off x="3550844" y="4206240"/>
            <a:ext cx="548640" cy="548640"/>
          </a:xfrm>
          <a:prstGeom prst="ellipse">
            <a:avLst/>
          </a:prstGeom>
          <a:solidFill>
            <a:srgbClr val="FFFFFF"/>
          </a:solidFill>
          <a:ln/>
        </p:spPr>
      </p:sp>
      <p:pic>
        <p:nvPicPr>
          <p:cNvPr id="44" name="Image 9" descr="preencoded.png">    </p:cNvPr>
          <p:cNvPicPr>
            <a:picLocks noChangeAspect="1"/>
          </p:cNvPicPr>
          <p:nvPr/>
        </p:nvPicPr>
        <p:blipFill>
          <a:blip r:embed="rId10"/>
          <a:stretch>
            <a:fillRect/>
          </a:stretch>
        </p:blipFill>
        <p:spPr>
          <a:xfrm>
            <a:off x="3682517" y="4337914"/>
            <a:ext cx="285293" cy="285293"/>
          </a:xfrm>
          <a:prstGeom prst="rect">
            <a:avLst/>
          </a:prstGeom>
        </p:spPr>
      </p:pic>
      <p:sp>
        <p:nvSpPr>
          <p:cNvPr id="45" name="Text 32"/>
          <p:cNvSpPr txBox="1"/>
          <p:nvPr/>
        </p:nvSpPr>
        <p:spPr>
          <a:xfrm>
            <a:off x="4236644" y="3950208"/>
            <a:ext cx="1630604" cy="107899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Registro y seguimiento de consultas</a:t>
            </a:r>
            <a:endParaRPr lang="en-US" sz="1400" dirty="0"/>
          </a:p>
        </p:txBody>
      </p:sp>
      <p:sp>
        <p:nvSpPr>
          <p:cNvPr id="46" name="Shape 33"/>
          <p:cNvSpPr/>
          <p:nvPr/>
        </p:nvSpPr>
        <p:spPr>
          <a:xfrm>
            <a:off x="6187288" y="3950208"/>
            <a:ext cx="2636444" cy="1078992"/>
          </a:xfrm>
          <a:prstGeom prst="roundRect">
            <a:avLst>
              <a:gd name="adj" fmla="val 6780"/>
            </a:avLst>
          </a:prstGeom>
          <a:solidFill>
            <a:srgbClr val="6D28D9"/>
          </a:solidFill>
          <a:ln/>
        </p:spPr>
      </p:sp>
      <p:sp>
        <p:nvSpPr>
          <p:cNvPr id="47" name="Shape 34"/>
          <p:cNvSpPr/>
          <p:nvPr/>
        </p:nvSpPr>
        <p:spPr>
          <a:xfrm>
            <a:off x="6370168" y="4206240"/>
            <a:ext cx="548640" cy="548640"/>
          </a:xfrm>
          <a:prstGeom prst="ellipse">
            <a:avLst/>
          </a:prstGeom>
          <a:solidFill>
            <a:srgbClr val="FFFFFF"/>
          </a:solidFill>
          <a:ln/>
        </p:spPr>
      </p:sp>
      <p:pic>
        <p:nvPicPr>
          <p:cNvPr id="48" name="Image 10" descr="preencoded.png">    </p:cNvPr>
          <p:cNvPicPr>
            <a:picLocks noChangeAspect="1"/>
          </p:cNvPicPr>
          <p:nvPr/>
        </p:nvPicPr>
        <p:blipFill>
          <a:blip r:embed="rId11"/>
          <a:stretch>
            <a:fillRect/>
          </a:stretch>
        </p:blipFill>
        <p:spPr>
          <a:xfrm>
            <a:off x="6501841" y="4337914"/>
            <a:ext cx="285293" cy="285293"/>
          </a:xfrm>
          <a:prstGeom prst="rect">
            <a:avLst/>
          </a:prstGeom>
        </p:spPr>
      </p:pic>
      <p:sp>
        <p:nvSpPr>
          <p:cNvPr id="49" name="Text 35"/>
          <p:cNvSpPr txBox="1"/>
          <p:nvPr/>
        </p:nvSpPr>
        <p:spPr>
          <a:xfrm>
            <a:off x="7055968" y="3950208"/>
            <a:ext cx="1630604" cy="107899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Reportes administrativos</a:t>
            </a:r>
            <a:endParaRPr lang="en-US" sz="1400" dirty="0"/>
          </a:p>
        </p:txBody>
      </p:sp>
      <p:sp>
        <p:nvSpPr>
          <p:cNvPr id="50" name="Shape 36"/>
          <p:cNvSpPr/>
          <p:nvPr/>
        </p:nvSpPr>
        <p:spPr>
          <a:xfrm>
            <a:off x="9006611" y="3950208"/>
            <a:ext cx="2636444" cy="1078992"/>
          </a:xfrm>
          <a:prstGeom prst="roundRect">
            <a:avLst>
              <a:gd name="adj" fmla="val 6780"/>
            </a:avLst>
          </a:prstGeom>
          <a:solidFill>
            <a:srgbClr val="6D28D9"/>
          </a:solidFill>
          <a:ln/>
        </p:spPr>
      </p:sp>
      <p:sp>
        <p:nvSpPr>
          <p:cNvPr id="51" name="Shape 37"/>
          <p:cNvSpPr/>
          <p:nvPr/>
        </p:nvSpPr>
        <p:spPr>
          <a:xfrm>
            <a:off x="9189491" y="4206240"/>
            <a:ext cx="548640" cy="548640"/>
          </a:xfrm>
          <a:prstGeom prst="ellipse">
            <a:avLst/>
          </a:prstGeom>
          <a:solidFill>
            <a:srgbClr val="FFFFFF"/>
          </a:solidFill>
          <a:ln/>
        </p:spPr>
      </p:sp>
      <p:pic>
        <p:nvPicPr>
          <p:cNvPr id="52" name="Image 11" descr="preencoded.png">    </p:cNvPr>
          <p:cNvPicPr>
            <a:picLocks noChangeAspect="1"/>
          </p:cNvPicPr>
          <p:nvPr/>
        </p:nvPicPr>
        <p:blipFill>
          <a:blip r:embed="rId12"/>
          <a:stretch>
            <a:fillRect/>
          </a:stretch>
        </p:blipFill>
        <p:spPr>
          <a:xfrm>
            <a:off x="9321165" y="4337914"/>
            <a:ext cx="285293" cy="285293"/>
          </a:xfrm>
          <a:prstGeom prst="rect">
            <a:avLst/>
          </a:prstGeom>
        </p:spPr>
      </p:pic>
      <p:sp>
        <p:nvSpPr>
          <p:cNvPr id="53" name="Text 38"/>
          <p:cNvSpPr txBox="1"/>
          <p:nvPr/>
        </p:nvSpPr>
        <p:spPr>
          <a:xfrm>
            <a:off x="9875291" y="3950208"/>
            <a:ext cx="1630604" cy="107899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Seguridad, mantenimiento y auditoría</a:t>
            </a:r>
            <a:endParaRPr lang="en-US" sz="1400" dirty="0"/>
          </a:p>
        </p:txBody>
      </p:sp>
      <p:sp>
        <p:nvSpPr>
          <p:cNvPr id="54" name="Text 39"/>
          <p:cNvSpPr txBox="1"/>
          <p:nvPr/>
        </p:nvSpPr>
        <p:spPr>
          <a:xfrm>
            <a:off x="548640" y="5349240"/>
            <a:ext cx="11094415" cy="502920"/>
          </a:xfrm>
          <a:prstGeom prst="rect">
            <a:avLst/>
          </a:prstGeom>
          <a:noFill/>
          <a:ln/>
        </p:spPr>
        <p:txBody>
          <a:bodyPr wrap="square" lIns="0" tIns="0" rIns="0" bIns="0" rtlCol="0" anchor="t"/>
          <a:lstStyle/>
          <a:p>
            <a:pPr indent="0" marL="0">
              <a:buNone/>
            </a:pPr>
            <a:r>
              <a:rPr lang="en-US" sz="1300" b="1" dirty="0">
                <a:solidFill>
                  <a:srgbClr val="6B7280"/>
                </a:solidFill>
                <a:latin typeface="Arial" pitchFamily="34" charset="0"/>
                <a:ea typeface="Arial" pitchFamily="34" charset="-122"/>
                <a:cs typeface="Arial" pitchFamily="34" charset="-120"/>
              </a:rPr>
              <a:t>Fuera del alcance: </a:t>
            </a:r>
            <a:pPr indent="0" marL="0">
              <a:buNone/>
            </a:pPr>
            <a:r>
              <a:rPr lang="en-US" sz="1300" dirty="0">
                <a:solidFill>
                  <a:srgbClr val="6B7280"/>
                </a:solidFill>
                <a:latin typeface="Arial" pitchFamily="34" charset="0"/>
                <a:ea typeface="Arial" pitchFamily="34" charset="-122"/>
                <a:cs typeface="Arial" pitchFamily="34" charset="-120"/>
              </a:rPr>
              <a:t>Venta en línea: carrito, checkout, pagos y wishlist. · Inventario, stock por distribuidor, precios y facturación (ERP). · CRM completo y chatbot sobre la API de WhatsApp Business.</a:t>
            </a:r>
            <a:endParaRPr lang="en-US" sz="1300" dirty="0"/>
          </a:p>
        </p:txBody>
      </p:sp>
      <p:sp>
        <p:nvSpPr>
          <p:cNvPr id="55" name="Shape 40"/>
          <p:cNvSpPr/>
          <p:nvPr/>
        </p:nvSpPr>
        <p:spPr>
          <a:xfrm>
            <a:off x="548640" y="5943600"/>
            <a:ext cx="201168" cy="201168"/>
          </a:xfrm>
          <a:prstGeom prst="rect">
            <a:avLst/>
          </a:prstGeom>
          <a:solidFill>
            <a:srgbClr val="6D28D9"/>
          </a:solidFill>
          <a:ln/>
        </p:spPr>
      </p:sp>
      <p:sp>
        <p:nvSpPr>
          <p:cNvPr id="56" name="Text 41"/>
          <p:cNvSpPr txBox="1"/>
          <p:nvPr/>
        </p:nvSpPr>
        <p:spPr>
          <a:xfrm>
            <a:off x="868680" y="5916168"/>
            <a:ext cx="9144000" cy="274320"/>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Ampliación propuesta en este proyecto (alcance académico). Gris: existente o nativo de la plataforma.</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RUP: un proceso, tres ideas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9</a:t>
            </a:r>
            <a:endParaRPr lang="en-US" sz="900" dirty="0"/>
          </a:p>
        </p:txBody>
      </p:sp>
      <p:sp>
        <p:nvSpPr>
          <p:cNvPr id="6" name="Text 3"/>
          <p:cNvSpPr txBox="1"/>
          <p:nvPr/>
        </p:nvSpPr>
        <p:spPr>
          <a:xfrm>
            <a:off x="548640" y="1417320"/>
            <a:ext cx="7772400" cy="822960"/>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Rational Unified Process: proceso de ingeniería de software que define quién hace qué, cómo y cuándo, para producir software de calidad dentro de un plazo y un presupuesto (Kruchten, 2004).</a:t>
            </a:r>
            <a:endParaRPr lang="en-US" sz="1600" dirty="0"/>
          </a:p>
        </p:txBody>
      </p:sp>
      <p:sp>
        <p:nvSpPr>
          <p:cNvPr id="7" name="Shape 4"/>
          <p:cNvSpPr/>
          <p:nvPr/>
        </p:nvSpPr>
        <p:spPr>
          <a:xfrm>
            <a:off x="548640" y="2514600"/>
            <a:ext cx="3566160" cy="3520440"/>
          </a:xfrm>
          <a:prstGeom prst="roundRect">
            <a:avLst>
              <a:gd name="adj" fmla="val 2078"/>
            </a:avLst>
          </a:prstGeom>
          <a:solidFill>
            <a:srgbClr val="EDE4FB"/>
          </a:solidFill>
          <a:ln/>
        </p:spPr>
      </p:sp>
      <p:sp>
        <p:nvSpPr>
          <p:cNvPr id="8" name="Shape 5"/>
          <p:cNvSpPr/>
          <p:nvPr/>
        </p:nvSpPr>
        <p:spPr>
          <a:xfrm>
            <a:off x="822960" y="2743200"/>
            <a:ext cx="658368" cy="658368"/>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980968" y="2901208"/>
            <a:ext cx="342351" cy="342351"/>
          </a:xfrm>
          <a:prstGeom prst="rect">
            <a:avLst/>
          </a:prstGeom>
        </p:spPr>
      </p:pic>
      <p:sp>
        <p:nvSpPr>
          <p:cNvPr id="10" name="Text 6"/>
          <p:cNvSpPr txBox="1"/>
          <p:nvPr/>
        </p:nvSpPr>
        <p:spPr>
          <a:xfrm>
            <a:off x="822960" y="3566160"/>
            <a:ext cx="3017520" cy="457200"/>
          </a:xfrm>
          <a:prstGeom prst="rect">
            <a:avLst/>
          </a:prstGeom>
          <a:noFill/>
          <a:ln/>
        </p:spPr>
        <p:txBody>
          <a:bodyPr wrap="square" lIns="0" tIns="0" rIns="0" bIns="0" rtlCol="0" anchor="t"/>
          <a:lstStyle/>
          <a:p>
            <a:pPr indent="0" marL="0">
              <a:buNone/>
            </a:pPr>
            <a:r>
              <a:rPr lang="en-US" sz="1800" b="1" dirty="0">
                <a:solidFill>
                  <a:srgbClr val="0B0B0D"/>
                </a:solidFill>
                <a:latin typeface="Arial" pitchFamily="34" charset="0"/>
                <a:ea typeface="Arial" pitchFamily="34" charset="-122"/>
                <a:cs typeface="Arial" pitchFamily="34" charset="-120"/>
              </a:rPr>
              <a:t>Dirigido por casos de uso</a:t>
            </a:r>
            <a:endParaRPr lang="en-US" sz="1800" dirty="0"/>
          </a:p>
        </p:txBody>
      </p:sp>
      <p:sp>
        <p:nvSpPr>
          <p:cNvPr id="11" name="Text 7"/>
          <p:cNvSpPr txBox="1"/>
          <p:nvPr/>
        </p:nvSpPr>
        <p:spPr>
          <a:xfrm>
            <a:off x="822960" y="4114800"/>
            <a:ext cx="3017520" cy="914400"/>
          </a:xfrm>
          <a:prstGeom prst="rect">
            <a:avLst/>
          </a:prstGeom>
          <a:noFill/>
          <a:ln/>
        </p:spPr>
        <p:txBody>
          <a:bodyPr wrap="square" lIns="0" tIns="0" rIns="0" bIns="0" rtlCol="0" anchor="t"/>
          <a:lstStyle/>
          <a:p>
            <a:pPr indent="0" marL="0">
              <a:buNone/>
            </a:pPr>
            <a:r>
              <a:rPr lang="en-US" sz="1400" dirty="0">
                <a:solidFill>
                  <a:srgbClr val="0B0B0D"/>
                </a:solidFill>
                <a:latin typeface="Arial" pitchFamily="34" charset="0"/>
                <a:ea typeface="Arial" pitchFamily="34" charset="-122"/>
                <a:cs typeface="Arial" pitchFamily="34" charset="-120"/>
              </a:rPr>
              <a:t>Los casos de uso guían los requisitos, el diseño, las pruebas y la planificación.</a:t>
            </a:r>
            <a:endParaRPr lang="en-US" sz="1400" dirty="0"/>
          </a:p>
        </p:txBody>
      </p:sp>
      <p:sp>
        <p:nvSpPr>
          <p:cNvPr id="12" name="Text 8"/>
          <p:cNvSpPr txBox="1"/>
          <p:nvPr/>
        </p:nvSpPr>
        <p:spPr>
          <a:xfrm>
            <a:off x="822960" y="5166360"/>
            <a:ext cx="3017520" cy="731520"/>
          </a:xfrm>
          <a:prstGeom prst="rect">
            <a:avLst/>
          </a:prstGeom>
          <a:noFill/>
          <a:ln/>
        </p:spPr>
        <p:txBody>
          <a:bodyPr wrap="square" lIns="0" tIns="0" rIns="0" bIns="0" rtlCol="0" anchor="t"/>
          <a:lstStyle/>
          <a:p>
            <a:pPr indent="0" marL="0">
              <a:buNone/>
            </a:pPr>
            <a:r>
              <a:rPr lang="en-US" sz="1250" i="1" dirty="0">
                <a:solidFill>
                  <a:srgbClr val="6D28D9"/>
                </a:solidFill>
                <a:latin typeface="Arial" pitchFamily="34" charset="0"/>
                <a:ea typeface="Arial" pitchFamily="34" charset="-122"/>
                <a:cs typeface="Arial" pitchFamily="34" charset="-120"/>
              </a:rPr>
              <a:t>En el SGCD-BH: CU-08 define la arquitectura de la consulta.</a:t>
            </a:r>
            <a:endParaRPr lang="en-US" sz="1250" dirty="0"/>
          </a:p>
        </p:txBody>
      </p:sp>
      <p:sp>
        <p:nvSpPr>
          <p:cNvPr id="13" name="Shape 9"/>
          <p:cNvSpPr/>
          <p:nvPr/>
        </p:nvSpPr>
        <p:spPr>
          <a:xfrm>
            <a:off x="4297680" y="2514600"/>
            <a:ext cx="3566160" cy="3520440"/>
          </a:xfrm>
          <a:prstGeom prst="roundRect">
            <a:avLst>
              <a:gd name="adj" fmla="val 2078"/>
            </a:avLst>
          </a:prstGeom>
          <a:solidFill>
            <a:srgbClr val="F5F5F7"/>
          </a:solidFill>
          <a:ln/>
        </p:spPr>
      </p:sp>
      <p:sp>
        <p:nvSpPr>
          <p:cNvPr id="14" name="Shape 10"/>
          <p:cNvSpPr/>
          <p:nvPr/>
        </p:nvSpPr>
        <p:spPr>
          <a:xfrm>
            <a:off x="4572000" y="2743200"/>
            <a:ext cx="658368" cy="658368"/>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4730008" y="2901208"/>
            <a:ext cx="342351" cy="342351"/>
          </a:xfrm>
          <a:prstGeom prst="rect">
            <a:avLst/>
          </a:prstGeom>
        </p:spPr>
      </p:pic>
      <p:sp>
        <p:nvSpPr>
          <p:cNvPr id="16" name="Text 11"/>
          <p:cNvSpPr txBox="1"/>
          <p:nvPr/>
        </p:nvSpPr>
        <p:spPr>
          <a:xfrm>
            <a:off x="4572000" y="3566160"/>
            <a:ext cx="3017520" cy="457200"/>
          </a:xfrm>
          <a:prstGeom prst="rect">
            <a:avLst/>
          </a:prstGeom>
          <a:noFill/>
          <a:ln/>
        </p:spPr>
        <p:txBody>
          <a:bodyPr wrap="square" lIns="0" tIns="0" rIns="0" bIns="0" rtlCol="0" anchor="t"/>
          <a:lstStyle/>
          <a:p>
            <a:pPr indent="0" marL="0">
              <a:buNone/>
            </a:pPr>
            <a:r>
              <a:rPr lang="en-US" sz="1800" b="1" dirty="0">
                <a:solidFill>
                  <a:srgbClr val="0B0B0D"/>
                </a:solidFill>
                <a:latin typeface="Arial" pitchFamily="34" charset="0"/>
                <a:ea typeface="Arial" pitchFamily="34" charset="-122"/>
                <a:cs typeface="Arial" pitchFamily="34" charset="-120"/>
              </a:rPr>
              <a:t>Centrado en la arquitectura</a:t>
            </a:r>
            <a:endParaRPr lang="en-US" sz="1800" dirty="0"/>
          </a:p>
        </p:txBody>
      </p:sp>
      <p:sp>
        <p:nvSpPr>
          <p:cNvPr id="17" name="Text 12"/>
          <p:cNvSpPr txBox="1"/>
          <p:nvPr/>
        </p:nvSpPr>
        <p:spPr>
          <a:xfrm>
            <a:off x="4572000" y="4114800"/>
            <a:ext cx="3017520" cy="914400"/>
          </a:xfrm>
          <a:prstGeom prst="rect">
            <a:avLst/>
          </a:prstGeom>
          <a:noFill/>
          <a:ln/>
        </p:spPr>
        <p:txBody>
          <a:bodyPr wrap="square" lIns="0" tIns="0" rIns="0" bIns="0" rtlCol="0" anchor="t"/>
          <a:lstStyle/>
          <a:p>
            <a:pPr indent="0" marL="0">
              <a:buNone/>
            </a:pPr>
            <a:r>
              <a:rPr lang="en-US" sz="1400" dirty="0">
                <a:solidFill>
                  <a:srgbClr val="0B0B0D"/>
                </a:solidFill>
                <a:latin typeface="Arial" pitchFamily="34" charset="0"/>
                <a:ea typeface="Arial" pitchFamily="34" charset="-122"/>
                <a:cs typeface="Arial" pitchFamily="34" charset="-120"/>
              </a:rPr>
              <a:t>Se valida una arquitectura ejecutable antes de construir.</a:t>
            </a:r>
            <a:endParaRPr lang="en-US" sz="1400" dirty="0"/>
          </a:p>
        </p:txBody>
      </p:sp>
      <p:sp>
        <p:nvSpPr>
          <p:cNvPr id="18" name="Text 13"/>
          <p:cNvSpPr txBox="1"/>
          <p:nvPr/>
        </p:nvSpPr>
        <p:spPr>
          <a:xfrm>
            <a:off x="4572000" y="5166360"/>
            <a:ext cx="3017520" cy="731520"/>
          </a:xfrm>
          <a:prstGeom prst="rect">
            <a:avLst/>
          </a:prstGeom>
          <a:noFill/>
          <a:ln/>
        </p:spPr>
        <p:txBody>
          <a:bodyPr wrap="square" lIns="0" tIns="0" rIns="0" bIns="0" rtlCol="0" anchor="t"/>
          <a:lstStyle/>
          <a:p>
            <a:pPr indent="0" marL="0">
              <a:buNone/>
            </a:pPr>
            <a:r>
              <a:rPr lang="en-US" sz="1250" i="1" dirty="0">
                <a:solidFill>
                  <a:srgbClr val="6D28D9"/>
                </a:solidFill>
                <a:latin typeface="Arial" pitchFamily="34" charset="0"/>
                <a:ea typeface="Arial" pitchFamily="34" charset="-122"/>
                <a:cs typeface="Arial" pitchFamily="34" charset="-120"/>
              </a:rPr>
              <a:t>En el SGCD-BH: prototipo de registro + WhatsApp en E2.</a:t>
            </a:r>
            <a:endParaRPr lang="en-US" sz="1250" dirty="0"/>
          </a:p>
        </p:txBody>
      </p:sp>
      <p:sp>
        <p:nvSpPr>
          <p:cNvPr id="19" name="Shape 14"/>
          <p:cNvSpPr/>
          <p:nvPr/>
        </p:nvSpPr>
        <p:spPr>
          <a:xfrm>
            <a:off x="8046720" y="2514600"/>
            <a:ext cx="3566160" cy="3520440"/>
          </a:xfrm>
          <a:prstGeom prst="roundRect">
            <a:avLst>
              <a:gd name="adj" fmla="val 2078"/>
            </a:avLst>
          </a:prstGeom>
          <a:solidFill>
            <a:srgbClr val="F5F5F7"/>
          </a:solidFill>
          <a:ln/>
        </p:spPr>
      </p:sp>
      <p:sp>
        <p:nvSpPr>
          <p:cNvPr id="20" name="Shape 15"/>
          <p:cNvSpPr/>
          <p:nvPr/>
        </p:nvSpPr>
        <p:spPr>
          <a:xfrm>
            <a:off x="8321040" y="2743200"/>
            <a:ext cx="658368" cy="658368"/>
          </a:xfrm>
          <a:prstGeom prst="ellipse">
            <a:avLst/>
          </a:prstGeom>
          <a:solidFill>
            <a:srgbClr val="FFFFFF"/>
          </a:solidFill>
          <a:ln/>
        </p:spPr>
      </p:sp>
      <p:pic>
        <p:nvPicPr>
          <p:cNvPr id="21" name="Image 2" descr="preencoded.png">    </p:cNvPr>
          <p:cNvPicPr>
            <a:picLocks noChangeAspect="1"/>
          </p:cNvPicPr>
          <p:nvPr/>
        </p:nvPicPr>
        <p:blipFill>
          <a:blip r:embed="rId3"/>
          <a:stretch>
            <a:fillRect/>
          </a:stretch>
        </p:blipFill>
        <p:spPr>
          <a:xfrm>
            <a:off x="8479048" y="2901208"/>
            <a:ext cx="342351" cy="342351"/>
          </a:xfrm>
          <a:prstGeom prst="rect">
            <a:avLst/>
          </a:prstGeom>
        </p:spPr>
      </p:pic>
      <p:sp>
        <p:nvSpPr>
          <p:cNvPr id="22" name="Text 16"/>
          <p:cNvSpPr txBox="1"/>
          <p:nvPr/>
        </p:nvSpPr>
        <p:spPr>
          <a:xfrm>
            <a:off x="8321040" y="3566160"/>
            <a:ext cx="3017520" cy="457200"/>
          </a:xfrm>
          <a:prstGeom prst="rect">
            <a:avLst/>
          </a:prstGeom>
          <a:noFill/>
          <a:ln/>
        </p:spPr>
        <p:txBody>
          <a:bodyPr wrap="square" lIns="0" tIns="0" rIns="0" bIns="0" rtlCol="0" anchor="t"/>
          <a:lstStyle/>
          <a:p>
            <a:pPr indent="0" marL="0">
              <a:buNone/>
            </a:pPr>
            <a:r>
              <a:rPr lang="en-US" sz="1800" b="1" dirty="0">
                <a:solidFill>
                  <a:srgbClr val="0B0B0D"/>
                </a:solidFill>
                <a:latin typeface="Arial" pitchFamily="34" charset="0"/>
                <a:ea typeface="Arial" pitchFamily="34" charset="-122"/>
                <a:cs typeface="Arial" pitchFamily="34" charset="-120"/>
              </a:rPr>
              <a:t>Iterativo e incremental</a:t>
            </a:r>
            <a:endParaRPr lang="en-US" sz="1800" dirty="0"/>
          </a:p>
        </p:txBody>
      </p:sp>
      <p:sp>
        <p:nvSpPr>
          <p:cNvPr id="23" name="Text 17"/>
          <p:cNvSpPr txBox="1"/>
          <p:nvPr/>
        </p:nvSpPr>
        <p:spPr>
          <a:xfrm>
            <a:off x="8321040" y="4114800"/>
            <a:ext cx="3017520" cy="914400"/>
          </a:xfrm>
          <a:prstGeom prst="rect">
            <a:avLst/>
          </a:prstGeom>
          <a:noFill/>
          <a:ln/>
        </p:spPr>
        <p:txBody>
          <a:bodyPr wrap="square" lIns="0" tIns="0" rIns="0" bIns="0" rtlCol="0" anchor="t"/>
          <a:lstStyle/>
          <a:p>
            <a:pPr indent="0" marL="0">
              <a:buNone/>
            </a:pPr>
            <a:r>
              <a:rPr lang="en-US" sz="1400" dirty="0">
                <a:solidFill>
                  <a:srgbClr val="0B0B0D"/>
                </a:solidFill>
                <a:latin typeface="Arial" pitchFamily="34" charset="0"/>
                <a:ea typeface="Arial" pitchFamily="34" charset="-122"/>
                <a:cs typeface="Arial" pitchFamily="34" charset="-120"/>
              </a:rPr>
              <a:t>Cada iteración recorre varias disciplinas y entrega un incremento.</a:t>
            </a:r>
            <a:endParaRPr lang="en-US" sz="1400" dirty="0"/>
          </a:p>
        </p:txBody>
      </p:sp>
      <p:sp>
        <p:nvSpPr>
          <p:cNvPr id="24" name="Text 18"/>
          <p:cNvSpPr txBox="1"/>
          <p:nvPr/>
        </p:nvSpPr>
        <p:spPr>
          <a:xfrm>
            <a:off x="8321040" y="5166360"/>
            <a:ext cx="3017520" cy="731520"/>
          </a:xfrm>
          <a:prstGeom prst="rect">
            <a:avLst/>
          </a:prstGeom>
          <a:noFill/>
          <a:ln/>
        </p:spPr>
        <p:txBody>
          <a:bodyPr wrap="square" lIns="0" tIns="0" rIns="0" bIns="0" rtlCol="0" anchor="t"/>
          <a:lstStyle/>
          <a:p>
            <a:pPr indent="0" marL="0">
              <a:buNone/>
            </a:pPr>
            <a:r>
              <a:rPr lang="en-US" sz="1250" i="1" dirty="0">
                <a:solidFill>
                  <a:srgbClr val="6D28D9"/>
                </a:solidFill>
                <a:latin typeface="Arial" pitchFamily="34" charset="0"/>
                <a:ea typeface="Arial" pitchFamily="34" charset="-122"/>
                <a:cs typeface="Arial" pitchFamily="34" charset="-120"/>
              </a:rPr>
              <a:t>En el SGCD-BH: 7 iteraciones en 14 semanas.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Seis buenas prácticas, aplicadas al caso</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10</a:t>
            </a:r>
            <a:endParaRPr lang="en-US" sz="900" dirty="0"/>
          </a:p>
        </p:txBody>
      </p:sp>
      <p:sp>
        <p:nvSpPr>
          <p:cNvPr id="6" name="Shape 3"/>
          <p:cNvSpPr/>
          <p:nvPr/>
        </p:nvSpPr>
        <p:spPr>
          <a:xfrm>
            <a:off x="548640" y="1508760"/>
            <a:ext cx="3566160" cy="2057400"/>
          </a:xfrm>
          <a:prstGeom prst="roundRect">
            <a:avLst>
              <a:gd name="adj" fmla="val 3556"/>
            </a:avLst>
          </a:prstGeom>
          <a:solidFill>
            <a:srgbClr val="F5F5F7"/>
          </a:solidFill>
          <a:ln/>
        </p:spPr>
      </p:sp>
      <p:sp>
        <p:nvSpPr>
          <p:cNvPr id="7" name="Shape 4"/>
          <p:cNvSpPr/>
          <p:nvPr/>
        </p:nvSpPr>
        <p:spPr>
          <a:xfrm>
            <a:off x="822960" y="1783080"/>
            <a:ext cx="566928" cy="566928"/>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959023" y="1919143"/>
            <a:ext cx="294803" cy="294803"/>
          </a:xfrm>
          <a:prstGeom prst="rect">
            <a:avLst/>
          </a:prstGeom>
        </p:spPr>
      </p:pic>
      <p:sp>
        <p:nvSpPr>
          <p:cNvPr id="9" name="Text 5"/>
          <p:cNvSpPr txBox="1"/>
          <p:nvPr/>
        </p:nvSpPr>
        <p:spPr>
          <a:xfrm>
            <a:off x="822960" y="2468880"/>
            <a:ext cx="3108960" cy="41148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Desarrollar iterativamente</a:t>
            </a:r>
            <a:endParaRPr lang="en-US" sz="1700" dirty="0"/>
          </a:p>
        </p:txBody>
      </p:sp>
      <p:sp>
        <p:nvSpPr>
          <p:cNvPr id="10" name="Text 6"/>
          <p:cNvSpPr txBox="1"/>
          <p:nvPr/>
        </p:nvSpPr>
        <p:spPr>
          <a:xfrm>
            <a:off x="822960" y="2880360"/>
            <a:ext cx="3108960" cy="548640"/>
          </a:xfrm>
          <a:prstGeom prst="rect">
            <a:avLst/>
          </a:prstGeom>
          <a:noFill/>
          <a:ln/>
        </p:spPr>
        <p:txBody>
          <a:bodyPr wrap="square" lIns="0" tIns="0" rIns="0" bIns="0" rtlCol="0" anchor="t"/>
          <a:lstStyle/>
          <a:p>
            <a:pPr indent="0" marL="0">
              <a:buNone/>
            </a:pPr>
            <a:r>
              <a:rPr lang="en-US" sz="1350" dirty="0">
                <a:solidFill>
                  <a:srgbClr val="6B7280"/>
                </a:solidFill>
                <a:latin typeface="Arial" pitchFamily="34" charset="0"/>
                <a:ea typeface="Arial" pitchFamily="34" charset="-122"/>
                <a:cs typeface="Arial" pitchFamily="34" charset="-120"/>
              </a:rPr>
              <a:t>7 iteraciones, cada una con un incremento</a:t>
            </a:r>
            <a:endParaRPr lang="en-US" sz="1350" dirty="0"/>
          </a:p>
        </p:txBody>
      </p:sp>
      <p:sp>
        <p:nvSpPr>
          <p:cNvPr id="11" name="Shape 7"/>
          <p:cNvSpPr/>
          <p:nvPr/>
        </p:nvSpPr>
        <p:spPr>
          <a:xfrm>
            <a:off x="4297680" y="1508760"/>
            <a:ext cx="3566160" cy="2057400"/>
          </a:xfrm>
          <a:prstGeom prst="roundRect">
            <a:avLst>
              <a:gd name="adj" fmla="val 3556"/>
            </a:avLst>
          </a:prstGeom>
          <a:solidFill>
            <a:srgbClr val="F5F5F7"/>
          </a:solidFill>
          <a:ln/>
        </p:spPr>
      </p:sp>
      <p:sp>
        <p:nvSpPr>
          <p:cNvPr id="12" name="Shape 8"/>
          <p:cNvSpPr/>
          <p:nvPr/>
        </p:nvSpPr>
        <p:spPr>
          <a:xfrm>
            <a:off x="4572000" y="1783080"/>
            <a:ext cx="566928" cy="566928"/>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4708063" y="1919143"/>
            <a:ext cx="294803" cy="294803"/>
          </a:xfrm>
          <a:prstGeom prst="rect">
            <a:avLst/>
          </a:prstGeom>
        </p:spPr>
      </p:pic>
      <p:sp>
        <p:nvSpPr>
          <p:cNvPr id="14" name="Text 9"/>
          <p:cNvSpPr txBox="1"/>
          <p:nvPr/>
        </p:nvSpPr>
        <p:spPr>
          <a:xfrm>
            <a:off x="4572000" y="2468880"/>
            <a:ext cx="3108960" cy="41148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Gestionar requisitos</a:t>
            </a:r>
            <a:endParaRPr lang="en-US" sz="1700" dirty="0"/>
          </a:p>
        </p:txBody>
      </p:sp>
      <p:sp>
        <p:nvSpPr>
          <p:cNvPr id="15" name="Text 10"/>
          <p:cNvSpPr txBox="1"/>
          <p:nvPr/>
        </p:nvSpPr>
        <p:spPr>
          <a:xfrm>
            <a:off x="4572000" y="2880360"/>
            <a:ext cx="3108960" cy="548640"/>
          </a:xfrm>
          <a:prstGeom prst="rect">
            <a:avLst/>
          </a:prstGeom>
          <a:noFill/>
          <a:ln/>
        </p:spPr>
        <p:txBody>
          <a:bodyPr wrap="square" lIns="0" tIns="0" rIns="0" bIns="0" rtlCol="0" anchor="t"/>
          <a:lstStyle/>
          <a:p>
            <a:pPr indent="0" marL="0">
              <a:buNone/>
            </a:pPr>
            <a:r>
              <a:rPr lang="en-US" sz="1350" dirty="0">
                <a:solidFill>
                  <a:srgbClr val="6B7280"/>
                </a:solidFill>
                <a:latin typeface="Arial" pitchFamily="34" charset="0"/>
                <a:ea typeface="Arial" pitchFamily="34" charset="-122"/>
                <a:cs typeface="Arial" pitchFamily="34" charset="-120"/>
              </a:rPr>
              <a:t>40 requisitos con criterio de aceptación</a:t>
            </a:r>
            <a:endParaRPr lang="en-US" sz="1350" dirty="0"/>
          </a:p>
        </p:txBody>
      </p:sp>
      <p:sp>
        <p:nvSpPr>
          <p:cNvPr id="16" name="Shape 11"/>
          <p:cNvSpPr/>
          <p:nvPr/>
        </p:nvSpPr>
        <p:spPr>
          <a:xfrm>
            <a:off x="8046720" y="1508760"/>
            <a:ext cx="3566160" cy="2057400"/>
          </a:xfrm>
          <a:prstGeom prst="roundRect">
            <a:avLst>
              <a:gd name="adj" fmla="val 3556"/>
            </a:avLst>
          </a:prstGeom>
          <a:solidFill>
            <a:srgbClr val="F5F5F7"/>
          </a:solidFill>
          <a:ln/>
        </p:spPr>
      </p:sp>
      <p:sp>
        <p:nvSpPr>
          <p:cNvPr id="17" name="Shape 12"/>
          <p:cNvSpPr/>
          <p:nvPr/>
        </p:nvSpPr>
        <p:spPr>
          <a:xfrm>
            <a:off x="8321040" y="1783080"/>
            <a:ext cx="566928" cy="566928"/>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8457103" y="1919143"/>
            <a:ext cx="294803" cy="294803"/>
          </a:xfrm>
          <a:prstGeom prst="rect">
            <a:avLst/>
          </a:prstGeom>
        </p:spPr>
      </p:pic>
      <p:sp>
        <p:nvSpPr>
          <p:cNvPr id="19" name="Text 13"/>
          <p:cNvSpPr txBox="1"/>
          <p:nvPr/>
        </p:nvSpPr>
        <p:spPr>
          <a:xfrm>
            <a:off x="8321040" y="2468880"/>
            <a:ext cx="3108960" cy="41148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Arquitectura de componentes</a:t>
            </a:r>
            <a:endParaRPr lang="en-US" sz="1700" dirty="0"/>
          </a:p>
        </p:txBody>
      </p:sp>
      <p:sp>
        <p:nvSpPr>
          <p:cNvPr id="20" name="Text 14"/>
          <p:cNvSpPr txBox="1"/>
          <p:nvPr/>
        </p:nvSpPr>
        <p:spPr>
          <a:xfrm>
            <a:off x="8321040" y="2880360"/>
            <a:ext cx="3108960" cy="548640"/>
          </a:xfrm>
          <a:prstGeom prst="rect">
            <a:avLst/>
          </a:prstGeom>
          <a:noFill/>
          <a:ln/>
        </p:spPr>
        <p:txBody>
          <a:bodyPr wrap="square" lIns="0" tIns="0" rIns="0" bIns="0" rtlCol="0" anchor="t"/>
          <a:lstStyle/>
          <a:p>
            <a:pPr indent="0" marL="0">
              <a:buNone/>
            </a:pPr>
            <a:r>
              <a:rPr lang="en-US" sz="1350" dirty="0">
                <a:solidFill>
                  <a:srgbClr val="6B7280"/>
                </a:solidFill>
                <a:latin typeface="Arial" pitchFamily="34" charset="0"/>
                <a:ea typeface="Arial" pitchFamily="34" charset="-122"/>
                <a:cs typeface="Arial" pitchFamily="34" charset="-120"/>
              </a:rPr>
              <a:t>Tema hijo + plugin bh-core desacoplado</a:t>
            </a:r>
            <a:endParaRPr lang="en-US" sz="1350" dirty="0"/>
          </a:p>
        </p:txBody>
      </p:sp>
      <p:sp>
        <p:nvSpPr>
          <p:cNvPr id="21" name="Shape 15"/>
          <p:cNvSpPr/>
          <p:nvPr/>
        </p:nvSpPr>
        <p:spPr>
          <a:xfrm>
            <a:off x="548640" y="3794760"/>
            <a:ext cx="3566160" cy="2057400"/>
          </a:xfrm>
          <a:prstGeom prst="roundRect">
            <a:avLst>
              <a:gd name="adj" fmla="val 3556"/>
            </a:avLst>
          </a:prstGeom>
          <a:solidFill>
            <a:srgbClr val="F5F5F7"/>
          </a:solidFill>
          <a:ln/>
        </p:spPr>
      </p:sp>
      <p:sp>
        <p:nvSpPr>
          <p:cNvPr id="22" name="Shape 16"/>
          <p:cNvSpPr/>
          <p:nvPr/>
        </p:nvSpPr>
        <p:spPr>
          <a:xfrm>
            <a:off x="822960" y="4069080"/>
            <a:ext cx="566928" cy="566928"/>
          </a:xfrm>
          <a:prstGeom prst="ellipse">
            <a:avLst/>
          </a:prstGeom>
          <a:solidFill>
            <a:srgbClr val="FFFFFF"/>
          </a:solidFill>
          <a:ln/>
        </p:spPr>
      </p:sp>
      <p:pic>
        <p:nvPicPr>
          <p:cNvPr id="23" name="Image 3" descr="preencoded.png">    </p:cNvPr>
          <p:cNvPicPr>
            <a:picLocks noChangeAspect="1"/>
          </p:cNvPicPr>
          <p:nvPr/>
        </p:nvPicPr>
        <p:blipFill>
          <a:blip r:embed="rId4"/>
          <a:stretch>
            <a:fillRect/>
          </a:stretch>
        </p:blipFill>
        <p:spPr>
          <a:xfrm>
            <a:off x="959023" y="4205143"/>
            <a:ext cx="294803" cy="294803"/>
          </a:xfrm>
          <a:prstGeom prst="rect">
            <a:avLst/>
          </a:prstGeom>
        </p:spPr>
      </p:pic>
      <p:sp>
        <p:nvSpPr>
          <p:cNvPr id="24" name="Text 17"/>
          <p:cNvSpPr txBox="1"/>
          <p:nvPr/>
        </p:nvSpPr>
        <p:spPr>
          <a:xfrm>
            <a:off x="822960" y="4754880"/>
            <a:ext cx="3108960" cy="41148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Modelar visualmente</a:t>
            </a:r>
            <a:endParaRPr lang="en-US" sz="1700" dirty="0"/>
          </a:p>
        </p:txBody>
      </p:sp>
      <p:sp>
        <p:nvSpPr>
          <p:cNvPr id="25" name="Text 18"/>
          <p:cNvSpPr txBox="1"/>
          <p:nvPr/>
        </p:nvSpPr>
        <p:spPr>
          <a:xfrm>
            <a:off x="822960" y="5166360"/>
            <a:ext cx="3108960" cy="548640"/>
          </a:xfrm>
          <a:prstGeom prst="rect">
            <a:avLst/>
          </a:prstGeom>
          <a:noFill/>
          <a:ln/>
        </p:spPr>
        <p:txBody>
          <a:bodyPr wrap="square" lIns="0" tIns="0" rIns="0" bIns="0" rtlCol="0" anchor="t"/>
          <a:lstStyle/>
          <a:p>
            <a:pPr indent="0" marL="0">
              <a:buNone/>
            </a:pPr>
            <a:r>
              <a:rPr lang="en-US" sz="1350" dirty="0">
                <a:solidFill>
                  <a:srgbClr val="6B7280"/>
                </a:solidFill>
                <a:latin typeface="Arial" pitchFamily="34" charset="0"/>
                <a:ea typeface="Arial" pitchFamily="34" charset="-122"/>
                <a:cs typeface="Arial" pitchFamily="34" charset="-120"/>
              </a:rPr>
              <a:t>22 diagramas UML</a:t>
            </a:r>
            <a:endParaRPr lang="en-US" sz="1350" dirty="0"/>
          </a:p>
        </p:txBody>
      </p:sp>
      <p:sp>
        <p:nvSpPr>
          <p:cNvPr id="26" name="Shape 19"/>
          <p:cNvSpPr/>
          <p:nvPr/>
        </p:nvSpPr>
        <p:spPr>
          <a:xfrm>
            <a:off x="4297680" y="3794760"/>
            <a:ext cx="3566160" cy="2057400"/>
          </a:xfrm>
          <a:prstGeom prst="roundRect">
            <a:avLst>
              <a:gd name="adj" fmla="val 3556"/>
            </a:avLst>
          </a:prstGeom>
          <a:solidFill>
            <a:srgbClr val="F5F5F7"/>
          </a:solidFill>
          <a:ln/>
        </p:spPr>
      </p:sp>
      <p:sp>
        <p:nvSpPr>
          <p:cNvPr id="27" name="Shape 20"/>
          <p:cNvSpPr/>
          <p:nvPr/>
        </p:nvSpPr>
        <p:spPr>
          <a:xfrm>
            <a:off x="4572000" y="4069080"/>
            <a:ext cx="566928" cy="566928"/>
          </a:xfrm>
          <a:prstGeom prst="ellipse">
            <a:avLst/>
          </a:prstGeom>
          <a:solidFill>
            <a:srgbClr val="FFFFFF"/>
          </a:solidFill>
          <a:ln/>
        </p:spPr>
      </p:sp>
      <p:pic>
        <p:nvPicPr>
          <p:cNvPr id="28" name="Image 4" descr="preencoded.png">    </p:cNvPr>
          <p:cNvPicPr>
            <a:picLocks noChangeAspect="1"/>
          </p:cNvPicPr>
          <p:nvPr/>
        </p:nvPicPr>
        <p:blipFill>
          <a:blip r:embed="rId5"/>
          <a:stretch>
            <a:fillRect/>
          </a:stretch>
        </p:blipFill>
        <p:spPr>
          <a:xfrm>
            <a:off x="4708063" y="4205143"/>
            <a:ext cx="294803" cy="294803"/>
          </a:xfrm>
          <a:prstGeom prst="rect">
            <a:avLst/>
          </a:prstGeom>
        </p:spPr>
      </p:pic>
      <p:sp>
        <p:nvSpPr>
          <p:cNvPr id="29" name="Text 21"/>
          <p:cNvSpPr txBox="1"/>
          <p:nvPr/>
        </p:nvSpPr>
        <p:spPr>
          <a:xfrm>
            <a:off x="4572000" y="4754880"/>
            <a:ext cx="3108960" cy="41148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Verificar la calidad</a:t>
            </a:r>
            <a:endParaRPr lang="en-US" sz="1700" dirty="0"/>
          </a:p>
        </p:txBody>
      </p:sp>
      <p:sp>
        <p:nvSpPr>
          <p:cNvPr id="30" name="Text 22"/>
          <p:cNvSpPr txBox="1"/>
          <p:nvPr/>
        </p:nvSpPr>
        <p:spPr>
          <a:xfrm>
            <a:off x="4572000" y="5166360"/>
            <a:ext cx="3108960" cy="548640"/>
          </a:xfrm>
          <a:prstGeom prst="rect">
            <a:avLst/>
          </a:prstGeom>
          <a:noFill/>
          <a:ln/>
        </p:spPr>
        <p:txBody>
          <a:bodyPr wrap="square" lIns="0" tIns="0" rIns="0" bIns="0" rtlCol="0" anchor="t"/>
          <a:lstStyle/>
          <a:p>
            <a:pPr indent="0" marL="0">
              <a:buNone/>
            </a:pPr>
            <a:r>
              <a:rPr lang="en-US" sz="1350" dirty="0">
                <a:solidFill>
                  <a:srgbClr val="6B7280"/>
                </a:solidFill>
                <a:latin typeface="Arial" pitchFamily="34" charset="0"/>
                <a:ea typeface="Arial" pitchFamily="34" charset="-122"/>
                <a:cs typeface="Arial" pitchFamily="34" charset="-120"/>
              </a:rPr>
              <a:t>32 casos de prueba diseñados</a:t>
            </a:r>
            <a:endParaRPr lang="en-US" sz="1350" dirty="0"/>
          </a:p>
        </p:txBody>
      </p:sp>
      <p:sp>
        <p:nvSpPr>
          <p:cNvPr id="31" name="Shape 23"/>
          <p:cNvSpPr/>
          <p:nvPr/>
        </p:nvSpPr>
        <p:spPr>
          <a:xfrm>
            <a:off x="8046720" y="3794760"/>
            <a:ext cx="3566160" cy="2057400"/>
          </a:xfrm>
          <a:prstGeom prst="roundRect">
            <a:avLst>
              <a:gd name="adj" fmla="val 3556"/>
            </a:avLst>
          </a:prstGeom>
          <a:solidFill>
            <a:srgbClr val="F5F5F7"/>
          </a:solidFill>
          <a:ln/>
        </p:spPr>
      </p:sp>
      <p:sp>
        <p:nvSpPr>
          <p:cNvPr id="32" name="Shape 24"/>
          <p:cNvSpPr/>
          <p:nvPr/>
        </p:nvSpPr>
        <p:spPr>
          <a:xfrm>
            <a:off x="8321040" y="4069080"/>
            <a:ext cx="566928" cy="566928"/>
          </a:xfrm>
          <a:prstGeom prst="ellipse">
            <a:avLst/>
          </a:prstGeom>
          <a:solidFill>
            <a:srgbClr val="FFFFFF"/>
          </a:solidFill>
          <a:ln/>
        </p:spPr>
      </p:sp>
      <p:pic>
        <p:nvPicPr>
          <p:cNvPr id="33" name="Image 5" descr="preencoded.png">    </p:cNvPr>
          <p:cNvPicPr>
            <a:picLocks noChangeAspect="1"/>
          </p:cNvPicPr>
          <p:nvPr/>
        </p:nvPicPr>
        <p:blipFill>
          <a:blip r:embed="rId6"/>
          <a:stretch>
            <a:fillRect/>
          </a:stretch>
        </p:blipFill>
        <p:spPr>
          <a:xfrm>
            <a:off x="8457103" y="4205143"/>
            <a:ext cx="294803" cy="294803"/>
          </a:xfrm>
          <a:prstGeom prst="rect">
            <a:avLst/>
          </a:prstGeom>
        </p:spPr>
      </p:pic>
      <p:sp>
        <p:nvSpPr>
          <p:cNvPr id="34" name="Text 25"/>
          <p:cNvSpPr txBox="1"/>
          <p:nvPr/>
        </p:nvSpPr>
        <p:spPr>
          <a:xfrm>
            <a:off x="8321040" y="4754880"/>
            <a:ext cx="3108960" cy="41148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Controlar los cambios</a:t>
            </a:r>
            <a:endParaRPr lang="en-US" sz="1700" dirty="0"/>
          </a:p>
        </p:txBody>
      </p:sp>
      <p:sp>
        <p:nvSpPr>
          <p:cNvPr id="35" name="Text 26"/>
          <p:cNvSpPr txBox="1"/>
          <p:nvPr/>
        </p:nvSpPr>
        <p:spPr>
          <a:xfrm>
            <a:off x="8321040" y="5166360"/>
            <a:ext cx="3108960" cy="548640"/>
          </a:xfrm>
          <a:prstGeom prst="rect">
            <a:avLst/>
          </a:prstGeom>
          <a:noFill/>
          <a:ln/>
        </p:spPr>
        <p:txBody>
          <a:bodyPr wrap="square" lIns="0" tIns="0" rIns="0" bIns="0" rtlCol="0" anchor="t"/>
          <a:lstStyle/>
          <a:p>
            <a:pPr indent="0" marL="0">
              <a:buNone/>
            </a:pPr>
            <a:r>
              <a:rPr lang="en-US" sz="1350" dirty="0">
                <a:solidFill>
                  <a:srgbClr val="6B7280"/>
                </a:solidFill>
                <a:latin typeface="Arial" pitchFamily="34" charset="0"/>
                <a:ea typeface="Arial" pitchFamily="34" charset="-122"/>
                <a:cs typeface="Arial" pitchFamily="34" charset="-120"/>
              </a:rPr>
              <a:t>Git + matriz de trazabilidad</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Arquitectura general de RUP</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11</a:t>
            </a:r>
            <a:endParaRPr lang="en-US" sz="900" dirty="0"/>
          </a:p>
        </p:txBody>
      </p:sp>
      <p:pic>
        <p:nvPicPr>
          <p:cNvPr id="6" name="Image 0" descr="../DIAGRAMAS_UML/png/G01_esfuerzo_rup.png">    </p:cNvPr>
          <p:cNvPicPr>
            <a:picLocks noChangeAspect="1"/>
          </p:cNvPicPr>
          <p:nvPr/>
        </p:nvPicPr>
        <p:blipFill>
          <a:blip r:embed="rId1"/>
          <a:stretch>
            <a:fillRect/>
          </a:stretch>
        </p:blipFill>
        <p:spPr>
          <a:xfrm>
            <a:off x="810895" y="1371600"/>
            <a:ext cx="7613650" cy="4983480"/>
          </a:xfrm>
          <a:prstGeom prst="rect">
            <a:avLst/>
          </a:prstGeom>
        </p:spPr>
      </p:pic>
      <p:sp>
        <p:nvSpPr>
          <p:cNvPr id="7" name="Shape 3"/>
          <p:cNvSpPr/>
          <p:nvPr/>
        </p:nvSpPr>
        <p:spPr>
          <a:xfrm>
            <a:off x="9006840" y="1371600"/>
            <a:ext cx="2636215" cy="4983480"/>
          </a:xfrm>
          <a:prstGeom prst="roundRect">
            <a:avLst>
              <a:gd name="adj" fmla="val 2775"/>
            </a:avLst>
          </a:prstGeom>
          <a:solidFill>
            <a:srgbClr val="F5F5F7"/>
          </a:solidFill>
          <a:ln/>
        </p:spPr>
      </p:sp>
      <p:sp>
        <p:nvSpPr>
          <p:cNvPr id="8" name="Text 4"/>
          <p:cNvSpPr txBox="1"/>
          <p:nvPr/>
        </p:nvSpPr>
        <p:spPr>
          <a:xfrm>
            <a:off x="9235440" y="1600200"/>
            <a:ext cx="2224735" cy="45262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Horizontal: tiempo (fases e iteraciones).</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Vertical: disciplinas.</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Área: esfuerzo relativo.</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Morado: ingeniería. Gris: soporte.</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Ninguna disciplina es una etapa aislada.</a:t>
            </a:r>
            <a:endParaRPr lang="en-US" sz="1350" dirty="0"/>
          </a:p>
        </p:txBody>
      </p:sp>
      <p:sp>
        <p:nvSpPr>
          <p:cNvPr id="9" name="Text 5"/>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Elaboración propia a partir de la matriz de intensidad del proyecto (Tabla 21 de la monografía).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4 fases · 7 iteraciones · 4 hitos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12</a:t>
            </a:r>
            <a:endParaRPr lang="en-US" sz="900" dirty="0"/>
          </a:p>
        </p:txBody>
      </p:sp>
      <p:sp>
        <p:nvSpPr>
          <p:cNvPr id="6" name="Shape 3"/>
          <p:cNvSpPr/>
          <p:nvPr/>
        </p:nvSpPr>
        <p:spPr>
          <a:xfrm>
            <a:off x="548640" y="1645920"/>
            <a:ext cx="1539196" cy="1005840"/>
          </a:xfrm>
          <a:prstGeom prst="rect">
            <a:avLst/>
          </a:prstGeom>
          <a:solidFill>
            <a:srgbClr val="9CA3AF"/>
          </a:solidFill>
          <a:ln/>
        </p:spPr>
      </p:sp>
      <p:sp>
        <p:nvSpPr>
          <p:cNvPr id="7" name="Text 4"/>
          <p:cNvSpPr txBox="1"/>
          <p:nvPr/>
        </p:nvSpPr>
        <p:spPr>
          <a:xfrm>
            <a:off x="685800" y="1645920"/>
            <a:ext cx="1402036"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Inicio</a:t>
            </a:r>
            <a:endParaRPr lang="en-US" sz="1700" dirty="0"/>
          </a:p>
        </p:txBody>
      </p:sp>
      <p:sp>
        <p:nvSpPr>
          <p:cNvPr id="8" name="Text 5"/>
          <p:cNvSpPr txBox="1"/>
          <p:nvPr/>
        </p:nvSpPr>
        <p:spPr>
          <a:xfrm>
            <a:off x="685800" y="2148840"/>
            <a:ext cx="1402036"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S1–S2</a:t>
            </a:r>
            <a:endParaRPr lang="en-US" sz="1200" dirty="0"/>
          </a:p>
        </p:txBody>
      </p:sp>
      <p:sp>
        <p:nvSpPr>
          <p:cNvPr id="9" name="Shape 6"/>
          <p:cNvSpPr/>
          <p:nvPr/>
        </p:nvSpPr>
        <p:spPr>
          <a:xfrm>
            <a:off x="576072" y="2788920"/>
            <a:ext cx="1484332" cy="502920"/>
          </a:xfrm>
          <a:prstGeom prst="roundRect">
            <a:avLst>
              <a:gd name="adj" fmla="val 14545"/>
            </a:avLst>
          </a:prstGeom>
          <a:solidFill>
            <a:srgbClr val="F5F5F7"/>
          </a:solidFill>
          <a:ln/>
        </p:spPr>
      </p:sp>
      <p:sp>
        <p:nvSpPr>
          <p:cNvPr id="10" name="Text 7"/>
          <p:cNvSpPr txBox="1"/>
          <p:nvPr/>
        </p:nvSpPr>
        <p:spPr>
          <a:xfrm>
            <a:off x="548640" y="2788920"/>
            <a:ext cx="1539196" cy="502920"/>
          </a:xfrm>
          <a:prstGeom prst="rect">
            <a:avLst/>
          </a:prstGeom>
          <a:noFill/>
          <a:ln/>
        </p:spPr>
        <p:txBody>
          <a:bodyPr wrap="square" lIns="0" tIns="0" rIns="0" bIns="0" rtlCol="0" anchor="ctr"/>
          <a:lstStyle/>
          <a:p>
            <a:pPr algn="ctr" indent="0" marL="0">
              <a:buNone/>
            </a:pPr>
            <a:r>
              <a:rPr lang="en-US" sz="1400" b="1" dirty="0">
                <a:solidFill>
                  <a:srgbClr val="0B0B0D"/>
                </a:solidFill>
                <a:latin typeface="Arial" pitchFamily="34" charset="0"/>
                <a:ea typeface="Arial" pitchFamily="34" charset="-122"/>
                <a:cs typeface="Arial" pitchFamily="34" charset="-120"/>
              </a:rPr>
              <a:t>I1</a:t>
            </a:r>
            <a:endParaRPr lang="en-US" sz="1400" dirty="0"/>
          </a:p>
        </p:txBody>
      </p:sp>
      <p:sp>
        <p:nvSpPr>
          <p:cNvPr id="11" name="Shape 8"/>
          <p:cNvSpPr/>
          <p:nvPr/>
        </p:nvSpPr>
        <p:spPr>
          <a:xfrm>
            <a:off x="2087836" y="3383280"/>
            <a:ext cx="0" cy="457200"/>
          </a:xfrm>
          <a:prstGeom prst="line">
            <a:avLst/>
          </a:prstGeom>
          <a:noFill/>
          <a:ln w="15875">
            <a:solidFill>
              <a:srgbClr val="0B0B0D"/>
            </a:solidFill>
            <a:prstDash val="dash"/>
          </a:ln>
        </p:spPr>
      </p:sp>
      <p:sp>
        <p:nvSpPr>
          <p:cNvPr id="12" name="Text 9"/>
          <p:cNvSpPr txBox="1"/>
          <p:nvPr/>
        </p:nvSpPr>
        <p:spPr>
          <a:xfrm>
            <a:off x="761956" y="3886200"/>
            <a:ext cx="2651760" cy="411480"/>
          </a:xfrm>
          <a:prstGeom prst="rect">
            <a:avLst/>
          </a:prstGeom>
          <a:noFill/>
          <a:ln/>
        </p:spPr>
        <p:txBody>
          <a:bodyPr wrap="square" lIns="0" tIns="0" rIns="0" bIns="0" rtlCol="0" anchor="t"/>
          <a:lstStyle/>
          <a:p>
            <a:pPr algn="ctr" indent="0" marL="0">
              <a:buNone/>
            </a:pPr>
            <a:r>
              <a:rPr lang="en-US" sz="2000" b="1" dirty="0">
                <a:solidFill>
                  <a:srgbClr val="6D28D9"/>
                </a:solidFill>
                <a:latin typeface="Arial" pitchFamily="34" charset="0"/>
                <a:ea typeface="Arial" pitchFamily="34" charset="-122"/>
                <a:cs typeface="Arial" pitchFamily="34" charset="-120"/>
              </a:rPr>
              <a:t>LCO</a:t>
            </a:r>
            <a:endParaRPr lang="en-US" sz="2000" dirty="0"/>
          </a:p>
        </p:txBody>
      </p:sp>
      <p:sp>
        <p:nvSpPr>
          <p:cNvPr id="13" name="Text 10"/>
          <p:cNvSpPr txBox="1"/>
          <p:nvPr/>
        </p:nvSpPr>
        <p:spPr>
          <a:xfrm>
            <a:off x="761956" y="4297680"/>
            <a:ext cx="2651760" cy="502920"/>
          </a:xfrm>
          <a:prstGeom prst="rect">
            <a:avLst/>
          </a:prstGeom>
          <a:noFill/>
          <a:ln/>
        </p:spPr>
        <p:txBody>
          <a:bodyPr wrap="square" lIns="0" tIns="0" rIns="0" bIns="0" rtlCol="0" anchor="t"/>
          <a:lstStyle/>
          <a:p>
            <a:pPr algn="ctr" indent="0" marL="0">
              <a:buNone/>
            </a:pPr>
            <a:r>
              <a:rPr lang="en-US" sz="1150" dirty="0">
                <a:solidFill>
                  <a:srgbClr val="6B7280"/>
                </a:solidFill>
                <a:latin typeface="Arial" pitchFamily="34" charset="0"/>
                <a:ea typeface="Arial" pitchFamily="34" charset="-122"/>
                <a:cs typeface="Arial" pitchFamily="34" charset="-120"/>
              </a:rPr>
              <a:t>Lifecycle Objectives</a:t>
            </a:r>
            <a:endParaRPr lang="en-US" sz="1150" dirty="0"/>
          </a:p>
        </p:txBody>
      </p:sp>
      <p:sp>
        <p:nvSpPr>
          <p:cNvPr id="14" name="Shape 11"/>
          <p:cNvSpPr/>
          <p:nvPr/>
        </p:nvSpPr>
        <p:spPr>
          <a:xfrm>
            <a:off x="2133556" y="1645920"/>
            <a:ext cx="3124113" cy="1005840"/>
          </a:xfrm>
          <a:prstGeom prst="rect">
            <a:avLst/>
          </a:prstGeom>
          <a:solidFill>
            <a:srgbClr val="A78BFA"/>
          </a:solidFill>
          <a:ln/>
        </p:spPr>
      </p:sp>
      <p:sp>
        <p:nvSpPr>
          <p:cNvPr id="15" name="Text 12"/>
          <p:cNvSpPr txBox="1"/>
          <p:nvPr/>
        </p:nvSpPr>
        <p:spPr>
          <a:xfrm>
            <a:off x="2270716" y="1645920"/>
            <a:ext cx="2986953"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Elaboración</a:t>
            </a:r>
            <a:endParaRPr lang="en-US" sz="1700" dirty="0"/>
          </a:p>
        </p:txBody>
      </p:sp>
      <p:sp>
        <p:nvSpPr>
          <p:cNvPr id="16" name="Text 13"/>
          <p:cNvSpPr txBox="1"/>
          <p:nvPr/>
        </p:nvSpPr>
        <p:spPr>
          <a:xfrm>
            <a:off x="2270716" y="2148840"/>
            <a:ext cx="2986953"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S3–S6</a:t>
            </a:r>
            <a:endParaRPr lang="en-US" sz="1200" dirty="0"/>
          </a:p>
        </p:txBody>
      </p:sp>
      <p:sp>
        <p:nvSpPr>
          <p:cNvPr id="17" name="Shape 14"/>
          <p:cNvSpPr/>
          <p:nvPr/>
        </p:nvSpPr>
        <p:spPr>
          <a:xfrm>
            <a:off x="2160988" y="2788920"/>
            <a:ext cx="1507192" cy="502920"/>
          </a:xfrm>
          <a:prstGeom prst="roundRect">
            <a:avLst>
              <a:gd name="adj" fmla="val 14545"/>
            </a:avLst>
          </a:prstGeom>
          <a:solidFill>
            <a:srgbClr val="F5F5F7"/>
          </a:solidFill>
          <a:ln/>
        </p:spPr>
      </p:sp>
      <p:sp>
        <p:nvSpPr>
          <p:cNvPr id="18" name="Text 15"/>
          <p:cNvSpPr txBox="1"/>
          <p:nvPr/>
        </p:nvSpPr>
        <p:spPr>
          <a:xfrm>
            <a:off x="2133556" y="2788920"/>
            <a:ext cx="1562056" cy="502920"/>
          </a:xfrm>
          <a:prstGeom prst="rect">
            <a:avLst/>
          </a:prstGeom>
          <a:noFill/>
          <a:ln/>
        </p:spPr>
        <p:txBody>
          <a:bodyPr wrap="square" lIns="0" tIns="0" rIns="0" bIns="0" rtlCol="0" anchor="ctr"/>
          <a:lstStyle/>
          <a:p>
            <a:pPr algn="ctr" indent="0" marL="0">
              <a:buNone/>
            </a:pPr>
            <a:r>
              <a:rPr lang="en-US" sz="1400" b="1" dirty="0">
                <a:solidFill>
                  <a:srgbClr val="0B0B0D"/>
                </a:solidFill>
                <a:latin typeface="Arial" pitchFamily="34" charset="0"/>
                <a:ea typeface="Arial" pitchFamily="34" charset="-122"/>
                <a:cs typeface="Arial" pitchFamily="34" charset="-120"/>
              </a:rPr>
              <a:t>E1</a:t>
            </a:r>
            <a:endParaRPr lang="en-US" sz="1400" dirty="0"/>
          </a:p>
        </p:txBody>
      </p:sp>
      <p:sp>
        <p:nvSpPr>
          <p:cNvPr id="19" name="Shape 16"/>
          <p:cNvSpPr/>
          <p:nvPr/>
        </p:nvSpPr>
        <p:spPr>
          <a:xfrm>
            <a:off x="3723045" y="2788920"/>
            <a:ext cx="1507192" cy="502920"/>
          </a:xfrm>
          <a:prstGeom prst="roundRect">
            <a:avLst>
              <a:gd name="adj" fmla="val 14545"/>
            </a:avLst>
          </a:prstGeom>
          <a:solidFill>
            <a:srgbClr val="F5F5F7"/>
          </a:solidFill>
          <a:ln/>
        </p:spPr>
      </p:sp>
      <p:sp>
        <p:nvSpPr>
          <p:cNvPr id="20" name="Text 17"/>
          <p:cNvSpPr txBox="1"/>
          <p:nvPr/>
        </p:nvSpPr>
        <p:spPr>
          <a:xfrm>
            <a:off x="3695613" y="2788920"/>
            <a:ext cx="1562056" cy="502920"/>
          </a:xfrm>
          <a:prstGeom prst="rect">
            <a:avLst/>
          </a:prstGeom>
          <a:noFill/>
          <a:ln/>
        </p:spPr>
        <p:txBody>
          <a:bodyPr wrap="square" lIns="0" tIns="0" rIns="0" bIns="0" rtlCol="0" anchor="ctr"/>
          <a:lstStyle/>
          <a:p>
            <a:pPr algn="ctr" indent="0" marL="0">
              <a:buNone/>
            </a:pPr>
            <a:r>
              <a:rPr lang="en-US" sz="1400" b="1" dirty="0">
                <a:solidFill>
                  <a:srgbClr val="0B0B0D"/>
                </a:solidFill>
                <a:latin typeface="Arial" pitchFamily="34" charset="0"/>
                <a:ea typeface="Arial" pitchFamily="34" charset="-122"/>
                <a:cs typeface="Arial" pitchFamily="34" charset="-120"/>
              </a:rPr>
              <a:t>E2</a:t>
            </a:r>
            <a:endParaRPr lang="en-US" sz="1400" dirty="0"/>
          </a:p>
        </p:txBody>
      </p:sp>
      <p:sp>
        <p:nvSpPr>
          <p:cNvPr id="21" name="Shape 18"/>
          <p:cNvSpPr/>
          <p:nvPr/>
        </p:nvSpPr>
        <p:spPr>
          <a:xfrm>
            <a:off x="5257669" y="3383280"/>
            <a:ext cx="0" cy="457200"/>
          </a:xfrm>
          <a:prstGeom prst="line">
            <a:avLst/>
          </a:prstGeom>
          <a:noFill/>
          <a:ln w="15875">
            <a:solidFill>
              <a:srgbClr val="0B0B0D"/>
            </a:solidFill>
            <a:prstDash val="dash"/>
          </a:ln>
        </p:spPr>
      </p:sp>
      <p:sp>
        <p:nvSpPr>
          <p:cNvPr id="22" name="Text 19"/>
          <p:cNvSpPr txBox="1"/>
          <p:nvPr/>
        </p:nvSpPr>
        <p:spPr>
          <a:xfrm>
            <a:off x="3931789" y="3886200"/>
            <a:ext cx="2651760" cy="411480"/>
          </a:xfrm>
          <a:prstGeom prst="rect">
            <a:avLst/>
          </a:prstGeom>
          <a:noFill/>
          <a:ln/>
        </p:spPr>
        <p:txBody>
          <a:bodyPr wrap="square" lIns="0" tIns="0" rIns="0" bIns="0" rtlCol="0" anchor="t"/>
          <a:lstStyle/>
          <a:p>
            <a:pPr algn="ctr" indent="0" marL="0">
              <a:buNone/>
            </a:pPr>
            <a:r>
              <a:rPr lang="en-US" sz="2000" b="1" dirty="0">
                <a:solidFill>
                  <a:srgbClr val="6D28D9"/>
                </a:solidFill>
                <a:latin typeface="Arial" pitchFamily="34" charset="0"/>
                <a:ea typeface="Arial" pitchFamily="34" charset="-122"/>
                <a:cs typeface="Arial" pitchFamily="34" charset="-120"/>
              </a:rPr>
              <a:t>LCA</a:t>
            </a:r>
            <a:endParaRPr lang="en-US" sz="2000" dirty="0"/>
          </a:p>
        </p:txBody>
      </p:sp>
      <p:sp>
        <p:nvSpPr>
          <p:cNvPr id="23" name="Text 20"/>
          <p:cNvSpPr txBox="1"/>
          <p:nvPr/>
        </p:nvSpPr>
        <p:spPr>
          <a:xfrm>
            <a:off x="3931789" y="4297680"/>
            <a:ext cx="2651760" cy="502920"/>
          </a:xfrm>
          <a:prstGeom prst="rect">
            <a:avLst/>
          </a:prstGeom>
          <a:noFill/>
          <a:ln/>
        </p:spPr>
        <p:txBody>
          <a:bodyPr wrap="square" lIns="0" tIns="0" rIns="0" bIns="0" rtlCol="0" anchor="t"/>
          <a:lstStyle/>
          <a:p>
            <a:pPr algn="ctr" indent="0" marL="0">
              <a:buNone/>
            </a:pPr>
            <a:r>
              <a:rPr lang="en-US" sz="1150" dirty="0">
                <a:solidFill>
                  <a:srgbClr val="6B7280"/>
                </a:solidFill>
                <a:latin typeface="Arial" pitchFamily="34" charset="0"/>
                <a:ea typeface="Arial" pitchFamily="34" charset="-122"/>
                <a:cs typeface="Arial" pitchFamily="34" charset="-120"/>
              </a:rPr>
              <a:t>Lifecycle Architecture</a:t>
            </a:r>
            <a:endParaRPr lang="en-US" sz="1150" dirty="0"/>
          </a:p>
        </p:txBody>
      </p:sp>
      <p:sp>
        <p:nvSpPr>
          <p:cNvPr id="24" name="Shape 21"/>
          <p:cNvSpPr/>
          <p:nvPr/>
        </p:nvSpPr>
        <p:spPr>
          <a:xfrm>
            <a:off x="5303389" y="1645920"/>
            <a:ext cx="4709029" cy="1005840"/>
          </a:xfrm>
          <a:prstGeom prst="rect">
            <a:avLst/>
          </a:prstGeom>
          <a:solidFill>
            <a:srgbClr val="6D28D9"/>
          </a:solidFill>
          <a:ln/>
        </p:spPr>
      </p:sp>
      <p:sp>
        <p:nvSpPr>
          <p:cNvPr id="25" name="Text 22"/>
          <p:cNvSpPr txBox="1"/>
          <p:nvPr/>
        </p:nvSpPr>
        <p:spPr>
          <a:xfrm>
            <a:off x="5440549" y="1645920"/>
            <a:ext cx="4571869"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Construcción</a:t>
            </a:r>
            <a:endParaRPr lang="en-US" sz="1700" dirty="0"/>
          </a:p>
        </p:txBody>
      </p:sp>
      <p:sp>
        <p:nvSpPr>
          <p:cNvPr id="26" name="Text 23"/>
          <p:cNvSpPr txBox="1"/>
          <p:nvPr/>
        </p:nvSpPr>
        <p:spPr>
          <a:xfrm>
            <a:off x="5440549" y="2148840"/>
            <a:ext cx="4571869"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S7–S12</a:t>
            </a:r>
            <a:endParaRPr lang="en-US" sz="1200" dirty="0"/>
          </a:p>
        </p:txBody>
      </p:sp>
      <p:sp>
        <p:nvSpPr>
          <p:cNvPr id="27" name="Shape 24"/>
          <p:cNvSpPr/>
          <p:nvPr/>
        </p:nvSpPr>
        <p:spPr>
          <a:xfrm>
            <a:off x="5330821" y="2788920"/>
            <a:ext cx="1514812" cy="502920"/>
          </a:xfrm>
          <a:prstGeom prst="roundRect">
            <a:avLst>
              <a:gd name="adj" fmla="val 14545"/>
            </a:avLst>
          </a:prstGeom>
          <a:solidFill>
            <a:srgbClr val="F5F5F7"/>
          </a:solidFill>
          <a:ln/>
        </p:spPr>
      </p:sp>
      <p:sp>
        <p:nvSpPr>
          <p:cNvPr id="28" name="Text 25"/>
          <p:cNvSpPr txBox="1"/>
          <p:nvPr/>
        </p:nvSpPr>
        <p:spPr>
          <a:xfrm>
            <a:off x="5303389" y="2788920"/>
            <a:ext cx="1569676" cy="502920"/>
          </a:xfrm>
          <a:prstGeom prst="rect">
            <a:avLst/>
          </a:prstGeom>
          <a:noFill/>
          <a:ln/>
        </p:spPr>
        <p:txBody>
          <a:bodyPr wrap="square" lIns="0" tIns="0" rIns="0" bIns="0" rtlCol="0" anchor="ctr"/>
          <a:lstStyle/>
          <a:p>
            <a:pPr algn="ctr" indent="0" marL="0">
              <a:buNone/>
            </a:pPr>
            <a:r>
              <a:rPr lang="en-US" sz="1400" b="1" dirty="0">
                <a:solidFill>
                  <a:srgbClr val="0B0B0D"/>
                </a:solidFill>
                <a:latin typeface="Arial" pitchFamily="34" charset="0"/>
                <a:ea typeface="Arial" pitchFamily="34" charset="-122"/>
                <a:cs typeface="Arial" pitchFamily="34" charset="-120"/>
              </a:rPr>
              <a:t>C1</a:t>
            </a:r>
            <a:endParaRPr lang="en-US" sz="1400" dirty="0"/>
          </a:p>
        </p:txBody>
      </p:sp>
      <p:sp>
        <p:nvSpPr>
          <p:cNvPr id="29" name="Shape 26"/>
          <p:cNvSpPr/>
          <p:nvPr/>
        </p:nvSpPr>
        <p:spPr>
          <a:xfrm>
            <a:off x="6900498" y="2788920"/>
            <a:ext cx="1514812" cy="502920"/>
          </a:xfrm>
          <a:prstGeom prst="roundRect">
            <a:avLst>
              <a:gd name="adj" fmla="val 14545"/>
            </a:avLst>
          </a:prstGeom>
          <a:solidFill>
            <a:srgbClr val="F5F5F7"/>
          </a:solidFill>
          <a:ln/>
        </p:spPr>
      </p:sp>
      <p:sp>
        <p:nvSpPr>
          <p:cNvPr id="30" name="Text 27"/>
          <p:cNvSpPr txBox="1"/>
          <p:nvPr/>
        </p:nvSpPr>
        <p:spPr>
          <a:xfrm>
            <a:off x="6873066" y="2788920"/>
            <a:ext cx="1569676" cy="502920"/>
          </a:xfrm>
          <a:prstGeom prst="rect">
            <a:avLst/>
          </a:prstGeom>
          <a:noFill/>
          <a:ln/>
        </p:spPr>
        <p:txBody>
          <a:bodyPr wrap="square" lIns="0" tIns="0" rIns="0" bIns="0" rtlCol="0" anchor="ctr"/>
          <a:lstStyle/>
          <a:p>
            <a:pPr algn="ctr" indent="0" marL="0">
              <a:buNone/>
            </a:pPr>
            <a:r>
              <a:rPr lang="en-US" sz="1400" b="1" dirty="0">
                <a:solidFill>
                  <a:srgbClr val="0B0B0D"/>
                </a:solidFill>
                <a:latin typeface="Arial" pitchFamily="34" charset="0"/>
                <a:ea typeface="Arial" pitchFamily="34" charset="-122"/>
                <a:cs typeface="Arial" pitchFamily="34" charset="-120"/>
              </a:rPr>
              <a:t>C2</a:t>
            </a:r>
            <a:endParaRPr lang="en-US" sz="1400" dirty="0"/>
          </a:p>
        </p:txBody>
      </p:sp>
      <p:sp>
        <p:nvSpPr>
          <p:cNvPr id="31" name="Shape 28"/>
          <p:cNvSpPr/>
          <p:nvPr/>
        </p:nvSpPr>
        <p:spPr>
          <a:xfrm>
            <a:off x="8470174" y="2788920"/>
            <a:ext cx="1514812" cy="502920"/>
          </a:xfrm>
          <a:prstGeom prst="roundRect">
            <a:avLst>
              <a:gd name="adj" fmla="val 14545"/>
            </a:avLst>
          </a:prstGeom>
          <a:solidFill>
            <a:srgbClr val="F5F5F7"/>
          </a:solidFill>
          <a:ln/>
        </p:spPr>
      </p:sp>
      <p:sp>
        <p:nvSpPr>
          <p:cNvPr id="32" name="Text 29"/>
          <p:cNvSpPr txBox="1"/>
          <p:nvPr/>
        </p:nvSpPr>
        <p:spPr>
          <a:xfrm>
            <a:off x="8442742" y="2788920"/>
            <a:ext cx="1569676" cy="502920"/>
          </a:xfrm>
          <a:prstGeom prst="rect">
            <a:avLst/>
          </a:prstGeom>
          <a:noFill/>
          <a:ln/>
        </p:spPr>
        <p:txBody>
          <a:bodyPr wrap="square" lIns="0" tIns="0" rIns="0" bIns="0" rtlCol="0" anchor="ctr"/>
          <a:lstStyle/>
          <a:p>
            <a:pPr algn="ctr" indent="0" marL="0">
              <a:buNone/>
            </a:pPr>
            <a:r>
              <a:rPr lang="en-US" sz="1400" b="1" dirty="0">
                <a:solidFill>
                  <a:srgbClr val="0B0B0D"/>
                </a:solidFill>
                <a:latin typeface="Arial" pitchFamily="34" charset="0"/>
                <a:ea typeface="Arial" pitchFamily="34" charset="-122"/>
                <a:cs typeface="Arial" pitchFamily="34" charset="-120"/>
              </a:rPr>
              <a:t>C3</a:t>
            </a:r>
            <a:endParaRPr lang="en-US" sz="1400" dirty="0"/>
          </a:p>
        </p:txBody>
      </p:sp>
      <p:sp>
        <p:nvSpPr>
          <p:cNvPr id="33" name="Shape 30"/>
          <p:cNvSpPr/>
          <p:nvPr/>
        </p:nvSpPr>
        <p:spPr>
          <a:xfrm>
            <a:off x="10012419" y="3383280"/>
            <a:ext cx="0" cy="457200"/>
          </a:xfrm>
          <a:prstGeom prst="line">
            <a:avLst/>
          </a:prstGeom>
          <a:noFill/>
          <a:ln w="15875">
            <a:solidFill>
              <a:srgbClr val="0B0B0D"/>
            </a:solidFill>
            <a:prstDash val="dash"/>
          </a:ln>
        </p:spPr>
      </p:sp>
      <p:sp>
        <p:nvSpPr>
          <p:cNvPr id="34" name="Text 31"/>
          <p:cNvSpPr txBox="1"/>
          <p:nvPr/>
        </p:nvSpPr>
        <p:spPr>
          <a:xfrm>
            <a:off x="8076895" y="3886200"/>
            <a:ext cx="1737360" cy="411480"/>
          </a:xfrm>
          <a:prstGeom prst="rect">
            <a:avLst/>
          </a:prstGeom>
          <a:noFill/>
          <a:ln/>
        </p:spPr>
        <p:txBody>
          <a:bodyPr wrap="square" lIns="0" tIns="0" rIns="0" bIns="0" rtlCol="0" anchor="t"/>
          <a:lstStyle/>
          <a:p>
            <a:pPr algn="ctr" indent="0" marL="0">
              <a:buNone/>
            </a:pPr>
            <a:r>
              <a:rPr lang="en-US" sz="2000" b="1" dirty="0">
                <a:solidFill>
                  <a:srgbClr val="6D28D9"/>
                </a:solidFill>
                <a:latin typeface="Arial" pitchFamily="34" charset="0"/>
                <a:ea typeface="Arial" pitchFamily="34" charset="-122"/>
                <a:cs typeface="Arial" pitchFamily="34" charset="-120"/>
              </a:rPr>
              <a:t>IOC</a:t>
            </a:r>
            <a:endParaRPr lang="en-US" sz="2000" dirty="0"/>
          </a:p>
        </p:txBody>
      </p:sp>
      <p:sp>
        <p:nvSpPr>
          <p:cNvPr id="35" name="Text 32"/>
          <p:cNvSpPr txBox="1"/>
          <p:nvPr/>
        </p:nvSpPr>
        <p:spPr>
          <a:xfrm>
            <a:off x="8076895" y="4297680"/>
            <a:ext cx="1737360" cy="502920"/>
          </a:xfrm>
          <a:prstGeom prst="rect">
            <a:avLst/>
          </a:prstGeom>
          <a:noFill/>
          <a:ln/>
        </p:spPr>
        <p:txBody>
          <a:bodyPr wrap="square" lIns="0" tIns="0" rIns="0" bIns="0" rtlCol="0" anchor="t"/>
          <a:lstStyle/>
          <a:p>
            <a:pPr algn="ctr" indent="0" marL="0">
              <a:buNone/>
            </a:pPr>
            <a:r>
              <a:rPr lang="en-US" sz="1150" dirty="0">
                <a:solidFill>
                  <a:srgbClr val="6B7280"/>
                </a:solidFill>
                <a:latin typeface="Arial" pitchFamily="34" charset="0"/>
                <a:ea typeface="Arial" pitchFamily="34" charset="-122"/>
                <a:cs typeface="Arial" pitchFamily="34" charset="-120"/>
              </a:rPr>
              <a:t>Initial Operational Capability</a:t>
            </a:r>
            <a:endParaRPr lang="en-US" sz="1150" dirty="0"/>
          </a:p>
        </p:txBody>
      </p:sp>
      <p:sp>
        <p:nvSpPr>
          <p:cNvPr id="36" name="Shape 33"/>
          <p:cNvSpPr/>
          <p:nvPr/>
        </p:nvSpPr>
        <p:spPr>
          <a:xfrm>
            <a:off x="10058139" y="1645920"/>
            <a:ext cx="1539196" cy="1005840"/>
          </a:xfrm>
          <a:prstGeom prst="rect">
            <a:avLst/>
          </a:prstGeom>
          <a:solidFill>
            <a:srgbClr val="0B0B0D"/>
          </a:solidFill>
          <a:ln/>
        </p:spPr>
      </p:sp>
      <p:sp>
        <p:nvSpPr>
          <p:cNvPr id="37" name="Text 34"/>
          <p:cNvSpPr txBox="1"/>
          <p:nvPr/>
        </p:nvSpPr>
        <p:spPr>
          <a:xfrm>
            <a:off x="10195299" y="1645920"/>
            <a:ext cx="1402036"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Transición</a:t>
            </a:r>
            <a:endParaRPr lang="en-US" sz="1700" dirty="0"/>
          </a:p>
        </p:txBody>
      </p:sp>
      <p:sp>
        <p:nvSpPr>
          <p:cNvPr id="38" name="Text 35"/>
          <p:cNvSpPr txBox="1"/>
          <p:nvPr/>
        </p:nvSpPr>
        <p:spPr>
          <a:xfrm>
            <a:off x="10195299" y="2148840"/>
            <a:ext cx="1402036"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S13–S14</a:t>
            </a:r>
            <a:endParaRPr lang="en-US" sz="1200" dirty="0"/>
          </a:p>
        </p:txBody>
      </p:sp>
      <p:sp>
        <p:nvSpPr>
          <p:cNvPr id="39" name="Shape 36"/>
          <p:cNvSpPr/>
          <p:nvPr/>
        </p:nvSpPr>
        <p:spPr>
          <a:xfrm>
            <a:off x="10085571" y="2788920"/>
            <a:ext cx="1484332" cy="502920"/>
          </a:xfrm>
          <a:prstGeom prst="roundRect">
            <a:avLst>
              <a:gd name="adj" fmla="val 14545"/>
            </a:avLst>
          </a:prstGeom>
          <a:solidFill>
            <a:srgbClr val="F5F5F7"/>
          </a:solidFill>
          <a:ln/>
        </p:spPr>
      </p:sp>
      <p:sp>
        <p:nvSpPr>
          <p:cNvPr id="40" name="Text 37"/>
          <p:cNvSpPr txBox="1"/>
          <p:nvPr/>
        </p:nvSpPr>
        <p:spPr>
          <a:xfrm>
            <a:off x="10058139" y="2788920"/>
            <a:ext cx="1539196" cy="502920"/>
          </a:xfrm>
          <a:prstGeom prst="rect">
            <a:avLst/>
          </a:prstGeom>
          <a:noFill/>
          <a:ln/>
        </p:spPr>
        <p:txBody>
          <a:bodyPr wrap="square" lIns="0" tIns="0" rIns="0" bIns="0" rtlCol="0" anchor="ctr"/>
          <a:lstStyle/>
          <a:p>
            <a:pPr algn="ctr" indent="0" marL="0">
              <a:buNone/>
            </a:pPr>
            <a:r>
              <a:rPr lang="en-US" sz="1400" b="1" dirty="0">
                <a:solidFill>
                  <a:srgbClr val="0B0B0D"/>
                </a:solidFill>
                <a:latin typeface="Arial" pitchFamily="34" charset="0"/>
                <a:ea typeface="Arial" pitchFamily="34" charset="-122"/>
                <a:cs typeface="Arial" pitchFamily="34" charset="-120"/>
              </a:rPr>
              <a:t>T1</a:t>
            </a:r>
            <a:endParaRPr lang="en-US" sz="1400" dirty="0"/>
          </a:p>
        </p:txBody>
      </p:sp>
      <p:sp>
        <p:nvSpPr>
          <p:cNvPr id="41" name="Shape 38"/>
          <p:cNvSpPr/>
          <p:nvPr/>
        </p:nvSpPr>
        <p:spPr>
          <a:xfrm>
            <a:off x="11597335" y="3383280"/>
            <a:ext cx="0" cy="457200"/>
          </a:xfrm>
          <a:prstGeom prst="line">
            <a:avLst/>
          </a:prstGeom>
          <a:noFill/>
          <a:ln w="15875">
            <a:solidFill>
              <a:srgbClr val="0B0B0D"/>
            </a:solidFill>
            <a:prstDash val="dash"/>
          </a:ln>
        </p:spPr>
      </p:sp>
      <p:sp>
        <p:nvSpPr>
          <p:cNvPr id="42" name="Text 39"/>
          <p:cNvSpPr txBox="1"/>
          <p:nvPr/>
        </p:nvSpPr>
        <p:spPr>
          <a:xfrm>
            <a:off x="9905695" y="3886200"/>
            <a:ext cx="1737360" cy="411480"/>
          </a:xfrm>
          <a:prstGeom prst="rect">
            <a:avLst/>
          </a:prstGeom>
          <a:noFill/>
          <a:ln/>
        </p:spPr>
        <p:txBody>
          <a:bodyPr wrap="square" lIns="0" tIns="0" rIns="0" bIns="0" rtlCol="0" anchor="t"/>
          <a:lstStyle/>
          <a:p>
            <a:pPr algn="r" indent="0" marL="0">
              <a:buNone/>
            </a:pPr>
            <a:r>
              <a:rPr lang="en-US" sz="2000" b="1" dirty="0">
                <a:solidFill>
                  <a:srgbClr val="6D28D9"/>
                </a:solidFill>
                <a:latin typeface="Arial" pitchFamily="34" charset="0"/>
                <a:ea typeface="Arial" pitchFamily="34" charset="-122"/>
                <a:cs typeface="Arial" pitchFamily="34" charset="-120"/>
              </a:rPr>
              <a:t>PR</a:t>
            </a:r>
            <a:endParaRPr lang="en-US" sz="2000" dirty="0"/>
          </a:p>
        </p:txBody>
      </p:sp>
      <p:sp>
        <p:nvSpPr>
          <p:cNvPr id="43" name="Text 40"/>
          <p:cNvSpPr txBox="1"/>
          <p:nvPr/>
        </p:nvSpPr>
        <p:spPr>
          <a:xfrm>
            <a:off x="9905695" y="4297680"/>
            <a:ext cx="1737360" cy="502920"/>
          </a:xfrm>
          <a:prstGeom prst="rect">
            <a:avLst/>
          </a:prstGeom>
          <a:noFill/>
          <a:ln/>
        </p:spPr>
        <p:txBody>
          <a:bodyPr wrap="square" lIns="0" tIns="0" rIns="0" bIns="0" rtlCol="0" anchor="t"/>
          <a:lstStyle/>
          <a:p>
            <a:pPr algn="r" indent="0" marL="0">
              <a:buNone/>
            </a:pPr>
            <a:r>
              <a:rPr lang="en-US" sz="1150" dirty="0">
                <a:solidFill>
                  <a:srgbClr val="6B7280"/>
                </a:solidFill>
                <a:latin typeface="Arial" pitchFamily="34" charset="0"/>
                <a:ea typeface="Arial" pitchFamily="34" charset="-122"/>
                <a:cs typeface="Arial" pitchFamily="34" charset="-120"/>
              </a:rPr>
              <a:t>Product Release</a:t>
            </a:r>
            <a:endParaRPr lang="en-US" sz="1150" dirty="0"/>
          </a:p>
        </p:txBody>
      </p:sp>
      <p:sp>
        <p:nvSpPr>
          <p:cNvPr id="44" name="Shape 41"/>
          <p:cNvSpPr/>
          <p:nvPr/>
        </p:nvSpPr>
        <p:spPr>
          <a:xfrm>
            <a:off x="548640" y="4983480"/>
            <a:ext cx="11094415" cy="960120"/>
          </a:xfrm>
          <a:prstGeom prst="roundRect">
            <a:avLst>
              <a:gd name="adj" fmla="val 7619"/>
            </a:avLst>
          </a:prstGeom>
          <a:solidFill>
            <a:srgbClr val="0B0B0D"/>
          </a:solidFill>
          <a:ln/>
        </p:spPr>
      </p:sp>
      <p:sp>
        <p:nvSpPr>
          <p:cNvPr id="45" name="Text 42"/>
          <p:cNvSpPr txBox="1"/>
          <p:nvPr/>
        </p:nvSpPr>
        <p:spPr>
          <a:xfrm>
            <a:off x="868680" y="4983480"/>
            <a:ext cx="10454335" cy="96012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Una fase no es una etapa de cascada: es un periodo con un objetivo y un hito de decisión. Dentro de cada iteración se trabajan varias disciplinas a la vez.</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9 disciplinas con distinta intensidad por fase</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4114800"/>
                <a:gridCol w="1856232"/>
                <a:gridCol w="1856232"/>
                <a:gridCol w="1856232"/>
                <a:gridCol w="1865376"/>
              </a:tblGrid>
              <a:tr h="429768">
                <a:tc>
                  <a:txBody>
                    <a:bodyPr/>
                    <a:lstStyle/>
                    <a:p>
                      <a:pPr indent="0" marL="0">
                        <a:buNone/>
                      </a:pPr>
                      <a:r>
                        <a:rPr lang="en-US" sz="1350" b="1" dirty="0">
                          <a:solidFill>
                            <a:srgbClr val="FFFFFF"/>
                          </a:solidFill>
                          <a:latin typeface="Arial" pitchFamily="34" charset="0"/>
                          <a:ea typeface="Arial" pitchFamily="34" charset="-122"/>
                          <a:cs typeface="Arial" pitchFamily="34" charset="-120"/>
                        </a:rPr>
                        <a:t>Disciplina</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Inicio</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Elaboración</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Construcción</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Transición</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r>
              <a:tr h="429768">
                <a:tc>
                  <a:txBody>
                    <a:bodyPr/>
                    <a:lstStyle/>
                    <a:p>
                      <a:pPr indent="0" marL="0">
                        <a:buNone/>
                      </a:pPr>
                      <a:r>
                        <a:rPr lang="en-US" sz="1350" dirty="0">
                          <a:solidFill>
                            <a:srgbClr val="0B0B0D"/>
                          </a:solidFill>
                          <a:latin typeface="Arial" pitchFamily="34" charset="0"/>
                          <a:ea typeface="Arial" pitchFamily="34" charset="-122"/>
                          <a:cs typeface="Arial" pitchFamily="34" charset="-120"/>
                        </a:rPr>
                        <a:t>Modelado del negocio</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6D28D9"/>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429768">
                <a:tc>
                  <a:txBody>
                    <a:bodyPr/>
                    <a:lstStyle/>
                    <a:p>
                      <a:pPr indent="0" marL="0">
                        <a:buNone/>
                      </a:pPr>
                      <a:r>
                        <a:rPr lang="en-US" sz="1350" dirty="0">
                          <a:solidFill>
                            <a:srgbClr val="0B0B0D"/>
                          </a:solidFill>
                          <a:latin typeface="Arial" pitchFamily="34" charset="0"/>
                          <a:ea typeface="Arial" pitchFamily="34" charset="-122"/>
                          <a:cs typeface="Arial" pitchFamily="34" charset="-120"/>
                        </a:rPr>
                        <a:t>Requisitos</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6D28D9"/>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6D28D9"/>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429768">
                <a:tc>
                  <a:txBody>
                    <a:bodyPr/>
                    <a:lstStyle/>
                    <a:p>
                      <a:pPr indent="0" marL="0">
                        <a:buNone/>
                      </a:pPr>
                      <a:r>
                        <a:rPr lang="en-US" sz="1350" dirty="0">
                          <a:solidFill>
                            <a:srgbClr val="0B0B0D"/>
                          </a:solidFill>
                          <a:latin typeface="Arial" pitchFamily="34" charset="0"/>
                          <a:ea typeface="Arial" pitchFamily="34" charset="-122"/>
                          <a:cs typeface="Arial" pitchFamily="34" charset="-120"/>
                        </a:rPr>
                        <a:t>Análisis y diseño</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6D28D9"/>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429768">
                <a:tc>
                  <a:txBody>
                    <a:bodyPr/>
                    <a:lstStyle/>
                    <a:p>
                      <a:pPr indent="0" marL="0">
                        <a:buNone/>
                      </a:pPr>
                      <a:r>
                        <a:rPr lang="en-US" sz="1350" dirty="0">
                          <a:solidFill>
                            <a:srgbClr val="0B0B0D"/>
                          </a:solidFill>
                          <a:latin typeface="Arial" pitchFamily="34" charset="0"/>
                          <a:ea typeface="Arial" pitchFamily="34" charset="-122"/>
                          <a:cs typeface="Arial" pitchFamily="34" charset="-120"/>
                        </a:rPr>
                        <a:t>Implementación</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6D28D9"/>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429768">
                <a:tc>
                  <a:txBody>
                    <a:bodyPr/>
                    <a:lstStyle/>
                    <a:p>
                      <a:pPr indent="0" marL="0">
                        <a:buNone/>
                      </a:pPr>
                      <a:r>
                        <a:rPr lang="en-US" sz="1350" dirty="0">
                          <a:solidFill>
                            <a:srgbClr val="0B0B0D"/>
                          </a:solidFill>
                          <a:latin typeface="Arial" pitchFamily="34" charset="0"/>
                          <a:ea typeface="Arial" pitchFamily="34" charset="-122"/>
                          <a:cs typeface="Arial" pitchFamily="34" charset="-120"/>
                        </a:rPr>
                        <a:t>Pruebas</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6D28D9"/>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c>
                  <a:txBody>
                    <a:bodyPr/>
                    <a:lstStyle/>
                    <a:p>
                      <a:pPr algn="ctr" indent="0" marL="0">
                        <a:buNone/>
                      </a:pPr>
                      <a:r>
                        <a:rPr lang="en-US" sz="1350" dirty="0">
                          <a:solidFill>
                            <a:srgbClr val="6D28D9"/>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429768">
                <a:tc>
                  <a:txBody>
                    <a:bodyPr/>
                    <a:lstStyle/>
                    <a:p>
                      <a:pPr indent="0" marL="0">
                        <a:buNone/>
                      </a:pPr>
                      <a:r>
                        <a:rPr lang="en-US" sz="1350" dirty="0">
                          <a:solidFill>
                            <a:srgbClr val="0B0B0D"/>
                          </a:solidFill>
                          <a:latin typeface="Arial" pitchFamily="34" charset="0"/>
                          <a:ea typeface="Arial" pitchFamily="34" charset="-122"/>
                          <a:cs typeface="Arial" pitchFamily="34" charset="-120"/>
                        </a:rPr>
                        <a:t>Despliegue</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6D28D9"/>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r>
              <a:tr h="429768">
                <a:tc>
                  <a:txBody>
                    <a:bodyPr/>
                    <a:lstStyle/>
                    <a:p>
                      <a:pPr indent="0" marL="0">
                        <a:buNone/>
                      </a:pPr>
                      <a:r>
                        <a:rPr lang="en-US" sz="1350" dirty="0">
                          <a:solidFill>
                            <a:srgbClr val="6B7280"/>
                          </a:solidFill>
                          <a:latin typeface="Arial" pitchFamily="34" charset="0"/>
                          <a:ea typeface="Arial" pitchFamily="34" charset="-122"/>
                          <a:cs typeface="Arial" pitchFamily="34" charset="-120"/>
                        </a:rPr>
                        <a:t>Gestión de configuración y cambios  (soporte)</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6D28D9"/>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6D28D9"/>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429768">
                <a:tc>
                  <a:txBody>
                    <a:bodyPr/>
                    <a:lstStyle/>
                    <a:p>
                      <a:pPr indent="0" marL="0">
                        <a:buNone/>
                      </a:pPr>
                      <a:r>
                        <a:rPr lang="en-US" sz="1350" dirty="0">
                          <a:solidFill>
                            <a:srgbClr val="6B7280"/>
                          </a:solidFill>
                          <a:latin typeface="Arial" pitchFamily="34" charset="0"/>
                          <a:ea typeface="Arial" pitchFamily="34" charset="-122"/>
                          <a:cs typeface="Arial" pitchFamily="34" charset="-120"/>
                        </a:rPr>
                        <a:t>Gestión del proyecto  (soporte)</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6D28D9"/>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6D28D9"/>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429768">
                <a:tc>
                  <a:txBody>
                    <a:bodyPr/>
                    <a:lstStyle/>
                    <a:p>
                      <a:pPr indent="0" marL="0">
                        <a:buNone/>
                      </a:pPr>
                      <a:r>
                        <a:rPr lang="en-US" sz="1350" dirty="0">
                          <a:solidFill>
                            <a:srgbClr val="6B7280"/>
                          </a:solidFill>
                          <a:latin typeface="Arial" pitchFamily="34" charset="0"/>
                          <a:ea typeface="Arial" pitchFamily="34" charset="-122"/>
                          <a:cs typeface="Arial" pitchFamily="34" charset="-120"/>
                        </a:rPr>
                        <a:t>Entorno  (soporte)</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350" dirty="0">
                          <a:solidFill>
                            <a:srgbClr val="9CA3AF"/>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bl>
          </a:graphicData>
        </a:graphic>
      </p:graphicFrame>
      <p:sp>
        <p:nvSpPr>
          <p:cNvPr id="7" name="Text 3"/>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Intensidad: ● baja · ●● media · ●●● alta · ●●●● máxima. Aplicación de cada disciplina: monografía, Tabla 21.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03 · APLICACIÓN · INICIO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Inicio: acordar qué se construye y por qué</a:t>
            </a:r>
            <a:endParaRPr lang="en-US" sz="3000" dirty="0"/>
          </a:p>
        </p:txBody>
      </p:sp>
      <p:sp>
        <p:nvSpPr>
          <p:cNvPr id="5" name="Text 2"/>
          <p:cNvSpPr txBox="1"/>
          <p:nvPr/>
        </p:nvSpPr>
        <p:spPr>
          <a:xfrm>
            <a:off x="548640" y="1280160"/>
            <a:ext cx="11094415" cy="411480"/>
          </a:xfrm>
          <a:prstGeom prst="rect">
            <a:avLst/>
          </a:prstGeom>
          <a:noFill/>
          <a:ln/>
        </p:spPr>
        <p:txBody>
          <a:bodyPr wrap="square" lIns="0" tIns="0" rIns="0" bIns="0" rtlCol="0" anchor="t"/>
          <a:lstStyle/>
          <a:p>
            <a:pPr indent="0" marL="0">
              <a:buNone/>
            </a:pPr>
            <a:r>
              <a:rPr lang="en-US" sz="1500" dirty="0">
                <a:solidFill>
                  <a:srgbClr val="6B7280"/>
                </a:solidFill>
                <a:latin typeface="Arial" pitchFamily="34" charset="0"/>
                <a:ea typeface="Arial" pitchFamily="34" charset="-122"/>
                <a:cs typeface="Arial" pitchFamily="34" charset="-120"/>
              </a:rPr>
              <a:t>Semanas 1–2 · Iteración I1 · Jefe de proyecto, Analista de negocio</a:t>
            </a:r>
            <a:endParaRPr lang="en-US" sz="1500" dirty="0"/>
          </a:p>
        </p:txBody>
      </p:sp>
      <p:sp>
        <p:nvSpPr>
          <p:cNvPr id="6" name="Text 3"/>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14</a:t>
            </a:r>
            <a:endParaRPr lang="en-US" sz="900" dirty="0"/>
          </a:p>
        </p:txBody>
      </p:sp>
      <p:sp>
        <p:nvSpPr>
          <p:cNvPr id="7" name="Shape 4"/>
          <p:cNvSpPr/>
          <p:nvPr/>
        </p:nvSpPr>
        <p:spPr>
          <a:xfrm>
            <a:off x="548640" y="1920240"/>
            <a:ext cx="5394960" cy="4069080"/>
          </a:xfrm>
          <a:prstGeom prst="roundRect">
            <a:avLst>
              <a:gd name="adj" fmla="val 1798"/>
            </a:avLst>
          </a:prstGeom>
          <a:solidFill>
            <a:srgbClr val="F5F5F7"/>
          </a:solidFill>
          <a:ln/>
        </p:spPr>
      </p:sp>
      <p:sp>
        <p:nvSpPr>
          <p:cNvPr id="8" name="Text 5"/>
          <p:cNvSpPr txBox="1"/>
          <p:nvPr/>
        </p:nvSpPr>
        <p:spPr>
          <a:xfrm>
            <a:off x="822960" y="2103120"/>
            <a:ext cx="2743200" cy="274320"/>
          </a:xfrm>
          <a:prstGeom prst="rect">
            <a:avLst/>
          </a:prstGeom>
          <a:noFill/>
          <a:ln/>
        </p:spPr>
        <p:txBody>
          <a:bodyPr wrap="square" lIns="0" tIns="0" rIns="0" bIns="0" rtlCol="0" anchor="t"/>
          <a:lstStyle/>
          <a:p>
            <a:pPr indent="0" marL="0">
              <a:buNone/>
            </a:pPr>
            <a:r>
              <a:rPr lang="en-US" sz="1000" b="1" spc="200" kern="0" dirty="0">
                <a:solidFill>
                  <a:srgbClr val="6D28D9"/>
                </a:solidFill>
                <a:latin typeface="Arial" pitchFamily="34" charset="0"/>
                <a:ea typeface="Arial" pitchFamily="34" charset="-122"/>
                <a:cs typeface="Arial" pitchFamily="34" charset="-120"/>
              </a:rPr>
              <a:t>ARTEFACTOS</a:t>
            </a:r>
            <a:endParaRPr lang="en-US" sz="1000" dirty="0"/>
          </a:p>
        </p:txBody>
      </p:sp>
      <p:sp>
        <p:nvSpPr>
          <p:cNvPr id="9" name="Text 6"/>
          <p:cNvSpPr txBox="1"/>
          <p:nvPr/>
        </p:nvSpPr>
        <p:spPr>
          <a:xfrm>
            <a:off x="822960" y="2514600"/>
            <a:ext cx="4846320" cy="3291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B0B0D"/>
                </a:solidFill>
                <a:latin typeface="Arial" pitchFamily="34" charset="0"/>
                <a:ea typeface="Arial" pitchFamily="34" charset="-122"/>
                <a:cs typeface="Arial" pitchFamily="34" charset="-120"/>
              </a:rPr>
              <a:t>Documento de visión</a:t>
            </a:r>
            <a:endParaRPr lang="en-US" sz="1500" dirty="0"/>
          </a:p>
          <a:p>
            <a:pPr marL="342900" indent="-342900">
              <a:spcAft>
                <a:spcPts val="800"/>
              </a:spcAft>
              <a:buSzPct val="100000"/>
              <a:buChar char="■"/>
            </a:pPr>
            <a:r>
              <a:rPr lang="en-US" sz="1500" dirty="0">
                <a:solidFill>
                  <a:srgbClr val="0B0B0D"/>
                </a:solidFill>
                <a:latin typeface="Arial" pitchFamily="34" charset="0"/>
                <a:ea typeface="Arial" pitchFamily="34" charset="-122"/>
                <a:cs typeface="Arial" pitchFamily="34" charset="-120"/>
              </a:rPr>
              <a:t>Modelo de casos de uso del negocio</a:t>
            </a:r>
            <a:endParaRPr lang="en-US" sz="1500" dirty="0"/>
          </a:p>
          <a:p>
            <a:pPr marL="342900" indent="-342900">
              <a:spcAft>
                <a:spcPts val="800"/>
              </a:spcAft>
              <a:buSzPct val="100000"/>
              <a:buChar char="■"/>
            </a:pPr>
            <a:r>
              <a:rPr lang="en-US" sz="1500" dirty="0">
                <a:solidFill>
                  <a:srgbClr val="0B0B0D"/>
                </a:solidFill>
                <a:latin typeface="Arial" pitchFamily="34" charset="0"/>
                <a:ea typeface="Arial" pitchFamily="34" charset="-122"/>
                <a:cs typeface="Arial" pitchFamily="34" charset="-120"/>
              </a:rPr>
              <a:t>Glosario</a:t>
            </a:r>
            <a:endParaRPr lang="en-US" sz="1500" dirty="0"/>
          </a:p>
          <a:p>
            <a:pPr marL="342900" indent="-342900">
              <a:spcAft>
                <a:spcPts val="800"/>
              </a:spcAft>
              <a:buSzPct val="100000"/>
              <a:buChar char="■"/>
            </a:pPr>
            <a:r>
              <a:rPr lang="en-US" sz="1500" dirty="0">
                <a:solidFill>
                  <a:srgbClr val="0B0B0D"/>
                </a:solidFill>
                <a:latin typeface="Arial" pitchFamily="34" charset="0"/>
                <a:ea typeface="Arial" pitchFamily="34" charset="-122"/>
                <a:cs typeface="Arial" pitchFamily="34" charset="-120"/>
              </a:rPr>
              <a:t>Lista de riesgos</a:t>
            </a:r>
            <a:endParaRPr lang="en-US" sz="1500" dirty="0"/>
          </a:p>
          <a:p>
            <a:pPr marL="342900" indent="-342900">
              <a:spcAft>
                <a:spcPts val="800"/>
              </a:spcAft>
              <a:buSzPct val="100000"/>
              <a:buChar char="■"/>
            </a:pPr>
            <a:r>
              <a:rPr lang="en-US" sz="1500" dirty="0">
                <a:solidFill>
                  <a:srgbClr val="0B0B0D"/>
                </a:solidFill>
                <a:latin typeface="Arial" pitchFamily="34" charset="0"/>
                <a:ea typeface="Arial" pitchFamily="34" charset="-122"/>
                <a:cs typeface="Arial" pitchFamily="34" charset="-120"/>
              </a:rPr>
              <a:t>Caso de negocio</a:t>
            </a:r>
            <a:endParaRPr lang="en-US" sz="1500" dirty="0"/>
          </a:p>
          <a:p>
            <a:pPr marL="342900" indent="-342900">
              <a:spcAft>
                <a:spcPts val="800"/>
              </a:spcAft>
              <a:buSzPct val="100000"/>
              <a:buChar char="■"/>
            </a:pPr>
            <a:r>
              <a:rPr lang="en-US" sz="1500" dirty="0">
                <a:solidFill>
                  <a:srgbClr val="0B0B0D"/>
                </a:solidFill>
                <a:latin typeface="Arial" pitchFamily="34" charset="0"/>
                <a:ea typeface="Arial" pitchFamily="34" charset="-122"/>
                <a:cs typeface="Arial" pitchFamily="34" charset="-120"/>
              </a:rPr>
              <a:t>Plan de desarrollo de software</a:t>
            </a:r>
            <a:endParaRPr lang="en-US" sz="1500" dirty="0"/>
          </a:p>
        </p:txBody>
      </p:sp>
      <p:sp>
        <p:nvSpPr>
          <p:cNvPr id="10" name="Shape 7"/>
          <p:cNvSpPr/>
          <p:nvPr/>
        </p:nvSpPr>
        <p:spPr>
          <a:xfrm>
            <a:off x="6172200" y="1920240"/>
            <a:ext cx="5470855" cy="4069080"/>
          </a:xfrm>
          <a:prstGeom prst="roundRect">
            <a:avLst>
              <a:gd name="adj" fmla="val 1798"/>
            </a:avLst>
          </a:prstGeom>
          <a:solidFill>
            <a:srgbClr val="0B0B0D"/>
          </a:solidFill>
          <a:ln/>
        </p:spPr>
      </p:sp>
      <p:sp>
        <p:nvSpPr>
          <p:cNvPr id="11" name="Text 8"/>
          <p:cNvSpPr txBox="1"/>
          <p:nvPr/>
        </p:nvSpPr>
        <p:spPr>
          <a:xfrm>
            <a:off x="6446520" y="2103120"/>
            <a:ext cx="4572000" cy="274320"/>
          </a:xfrm>
          <a:prstGeom prst="rect">
            <a:avLst/>
          </a:prstGeom>
          <a:noFill/>
          <a:ln/>
        </p:spPr>
        <p:txBody>
          <a:bodyPr wrap="square" lIns="0" tIns="0" rIns="0" bIns="0" rtlCol="0" anchor="t"/>
          <a:lstStyle/>
          <a:p>
            <a:pPr indent="0" marL="0">
              <a:buNone/>
            </a:pPr>
            <a:r>
              <a:rPr lang="en-US" sz="1000" b="1" spc="200" kern="0" dirty="0">
                <a:solidFill>
                  <a:srgbClr val="A78BFA"/>
                </a:solidFill>
                <a:latin typeface="Arial" pitchFamily="34" charset="0"/>
                <a:ea typeface="Arial" pitchFamily="34" charset="-122"/>
                <a:cs typeface="Arial" pitchFamily="34" charset="-120"/>
              </a:rPr>
              <a:t>HITO LCO · CRITERIOS</a:t>
            </a:r>
            <a:endParaRPr lang="en-US" sz="1000" dirty="0"/>
          </a:p>
        </p:txBody>
      </p:sp>
      <p:sp>
        <p:nvSpPr>
          <p:cNvPr id="12" name="Text 9"/>
          <p:cNvSpPr txBox="1"/>
          <p:nvPr/>
        </p:nvSpPr>
        <p:spPr>
          <a:xfrm>
            <a:off x="6446520" y="2514600"/>
            <a:ext cx="4922215"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FFFFFF"/>
                </a:solidFill>
                <a:latin typeface="Arial" pitchFamily="34" charset="0"/>
                <a:ea typeface="Arial" pitchFamily="34" charset="-122"/>
                <a:cs typeface="Arial" pitchFamily="34" charset="-120"/>
              </a:rPr>
              <a:t>Los stakeholders aceptan la visión y el alcance</a:t>
            </a:r>
            <a:endParaRPr lang="en-US" sz="1500" dirty="0"/>
          </a:p>
          <a:p>
            <a:pPr marL="342900" indent="-342900">
              <a:spcAft>
                <a:spcPts val="1000"/>
              </a:spcAft>
              <a:buSzPct val="100000"/>
              <a:buChar char="✓"/>
            </a:pPr>
            <a:r>
              <a:rPr lang="en-US" sz="1500" dirty="0">
                <a:solidFill>
                  <a:srgbClr val="FFFFFF"/>
                </a:solidFill>
                <a:latin typeface="Arial" pitchFamily="34" charset="0"/>
                <a:ea typeface="Arial" pitchFamily="34" charset="-122"/>
                <a:cs typeface="Arial" pitchFamily="34" charset="-120"/>
              </a:rPr>
              <a:t>Casos de uso críticos identificados (≈ 20 %)</a:t>
            </a:r>
            <a:endParaRPr lang="en-US" sz="1500" dirty="0"/>
          </a:p>
          <a:p>
            <a:pPr marL="342900" indent="-342900">
              <a:spcAft>
                <a:spcPts val="1000"/>
              </a:spcAft>
              <a:buSzPct val="100000"/>
              <a:buChar char="✓"/>
            </a:pPr>
            <a:r>
              <a:rPr lang="en-US" sz="1500" dirty="0">
                <a:solidFill>
                  <a:srgbClr val="FFFFFF"/>
                </a:solidFill>
                <a:latin typeface="Arial" pitchFamily="34" charset="0"/>
                <a:ea typeface="Arial" pitchFamily="34" charset="-122"/>
                <a:cs typeface="Arial" pitchFamily="34" charset="-120"/>
              </a:rPr>
              <a:t>Riesgos principales con plan de respuesta</a:t>
            </a:r>
            <a:endParaRPr lang="en-US" sz="1500" dirty="0"/>
          </a:p>
          <a:p>
            <a:pPr marL="342900" indent="-342900">
              <a:spcAft>
                <a:spcPts val="1000"/>
              </a:spcAft>
              <a:buSzPct val="100000"/>
              <a:buChar char="✓"/>
            </a:pPr>
            <a:r>
              <a:rPr lang="en-US" sz="1500" dirty="0">
                <a:solidFill>
                  <a:srgbClr val="FFFFFF"/>
                </a:solidFill>
                <a:latin typeface="Arial" pitchFamily="34" charset="0"/>
                <a:ea typeface="Arial" pitchFamily="34" charset="-122"/>
                <a:cs typeface="Arial" pitchFamily="34" charset="-120"/>
              </a:rPr>
              <a:t>Viabilidad técnica, económica y operativa aprobada</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03 · APLICACIÓN · INICIO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Ocho stakeholders, cuatro estrategias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15</a:t>
            </a:r>
            <a:endParaRPr lang="en-US" sz="900" dirty="0"/>
          </a:p>
        </p:txBody>
      </p:sp>
      <p:sp>
        <p:nvSpPr>
          <p:cNvPr id="6" name="Shape 3"/>
          <p:cNvSpPr/>
          <p:nvPr/>
        </p:nvSpPr>
        <p:spPr>
          <a:xfrm>
            <a:off x="1463040" y="1463040"/>
            <a:ext cx="5074920" cy="2103120"/>
          </a:xfrm>
          <a:prstGeom prst="roundRect">
            <a:avLst>
              <a:gd name="adj" fmla="val 3478"/>
            </a:avLst>
          </a:prstGeom>
          <a:solidFill>
            <a:srgbClr val="F5F5F7"/>
          </a:solidFill>
          <a:ln/>
        </p:spPr>
      </p:sp>
      <p:sp>
        <p:nvSpPr>
          <p:cNvPr id="7" name="Text 4"/>
          <p:cNvSpPr txBox="1"/>
          <p:nvPr/>
        </p:nvSpPr>
        <p:spPr>
          <a:xfrm>
            <a:off x="1737360" y="1645920"/>
            <a:ext cx="4572000" cy="36576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Mantener satisfechos</a:t>
            </a:r>
            <a:endParaRPr lang="en-US" sz="1700" dirty="0"/>
          </a:p>
        </p:txBody>
      </p:sp>
      <p:sp>
        <p:nvSpPr>
          <p:cNvPr id="8" name="Text 5"/>
          <p:cNvSpPr txBox="1"/>
          <p:nvPr/>
        </p:nvSpPr>
        <p:spPr>
          <a:xfrm>
            <a:off x="1737360" y="2011680"/>
            <a:ext cx="4572000" cy="274320"/>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Alta influencia · interés medio</a:t>
            </a:r>
            <a:endParaRPr lang="en-US" sz="1150" dirty="0"/>
          </a:p>
        </p:txBody>
      </p:sp>
      <p:sp>
        <p:nvSpPr>
          <p:cNvPr id="9" name="Text 6"/>
          <p:cNvSpPr txBox="1"/>
          <p:nvPr/>
        </p:nvSpPr>
        <p:spPr>
          <a:xfrm>
            <a:off x="1737360" y="2423160"/>
            <a:ext cx="4572000" cy="1005840"/>
          </a:xfrm>
          <a:prstGeom prst="rect">
            <a:avLst/>
          </a:prstGeom>
          <a:noFill/>
          <a:ln/>
        </p:spPr>
        <p:txBody>
          <a:bodyPr wrap="square" lIns="0" tIns="0" rIns="0" bIns="0" rtlCol="0" anchor="t"/>
          <a:lstStyle/>
          <a:p>
            <a:pPr indent="0" marL="0">
              <a:buNone/>
            </a:pPr>
            <a:r>
              <a:rPr lang="en-US" sz="1450" dirty="0">
                <a:solidFill>
                  <a:srgbClr val="0B0B0D"/>
                </a:solidFill>
                <a:latin typeface="Arial" pitchFamily="34" charset="0"/>
                <a:ea typeface="Arial" pitchFamily="34" charset="-122"/>
                <a:cs typeface="Arial" pitchFamily="34" charset="-120"/>
              </a:rPr>
              <a:t>Docente del curso</a:t>
            </a:r>
            <a:endParaRPr lang="en-US" sz="1450" dirty="0"/>
          </a:p>
        </p:txBody>
      </p:sp>
      <p:sp>
        <p:nvSpPr>
          <p:cNvPr id="10" name="Shape 7"/>
          <p:cNvSpPr/>
          <p:nvPr/>
        </p:nvSpPr>
        <p:spPr>
          <a:xfrm>
            <a:off x="6720840" y="1463040"/>
            <a:ext cx="5074920" cy="2103120"/>
          </a:xfrm>
          <a:prstGeom prst="roundRect">
            <a:avLst>
              <a:gd name="adj" fmla="val 3478"/>
            </a:avLst>
          </a:prstGeom>
          <a:solidFill>
            <a:srgbClr val="6D28D9"/>
          </a:solidFill>
          <a:ln/>
        </p:spPr>
      </p:sp>
      <p:sp>
        <p:nvSpPr>
          <p:cNvPr id="11" name="Text 8"/>
          <p:cNvSpPr txBox="1"/>
          <p:nvPr/>
        </p:nvSpPr>
        <p:spPr>
          <a:xfrm>
            <a:off x="6995160" y="1645920"/>
            <a:ext cx="457200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Gestionar de cerca</a:t>
            </a:r>
            <a:endParaRPr lang="en-US" sz="1700" dirty="0"/>
          </a:p>
        </p:txBody>
      </p:sp>
      <p:sp>
        <p:nvSpPr>
          <p:cNvPr id="12" name="Text 9"/>
          <p:cNvSpPr txBox="1"/>
          <p:nvPr/>
        </p:nvSpPr>
        <p:spPr>
          <a:xfrm>
            <a:off x="6995160" y="2011680"/>
            <a:ext cx="4572000" cy="274320"/>
          </a:xfrm>
          <a:prstGeom prst="rect">
            <a:avLst/>
          </a:prstGeom>
          <a:noFill/>
          <a:ln/>
        </p:spPr>
        <p:txBody>
          <a:bodyPr wrap="square" lIns="0" tIns="0" rIns="0" bIns="0" rtlCol="0" anchor="t"/>
          <a:lstStyle/>
          <a:p>
            <a:pPr indent="0" marL="0">
              <a:buNone/>
            </a:pPr>
            <a:r>
              <a:rPr lang="en-US" sz="1150" dirty="0">
                <a:solidFill>
                  <a:srgbClr val="EDE4FB"/>
                </a:solidFill>
                <a:latin typeface="Arial" pitchFamily="34" charset="0"/>
                <a:ea typeface="Arial" pitchFamily="34" charset="-122"/>
                <a:cs typeface="Arial" pitchFamily="34" charset="-120"/>
              </a:rPr>
              <a:t>Alta influencia · alto interés</a:t>
            </a:r>
            <a:endParaRPr lang="en-US" sz="1150" dirty="0"/>
          </a:p>
        </p:txBody>
      </p:sp>
      <p:sp>
        <p:nvSpPr>
          <p:cNvPr id="13" name="Text 10"/>
          <p:cNvSpPr txBox="1"/>
          <p:nvPr/>
        </p:nvSpPr>
        <p:spPr>
          <a:xfrm>
            <a:off x="6995160" y="2423160"/>
            <a:ext cx="4572000" cy="1005840"/>
          </a:xfrm>
          <a:prstGeom prst="rect">
            <a:avLst/>
          </a:prstGeom>
          <a:noFill/>
          <a:ln/>
        </p:spPr>
        <p:txBody>
          <a:bodyPr wrap="square" lIns="0" tIns="0" rIns="0" bIns="0" rtlCol="0" anchor="t"/>
          <a:lstStyle/>
          <a:p>
            <a:pPr indent="0" marL="0">
              <a:buNone/>
            </a:pPr>
            <a:r>
              <a:rPr lang="en-US" sz="1450" dirty="0">
                <a:solidFill>
                  <a:srgbClr val="FFFFFF"/>
                </a:solidFill>
                <a:latin typeface="Arial" pitchFamily="34" charset="0"/>
                <a:ea typeface="Arial" pitchFamily="34" charset="-122"/>
                <a:cs typeface="Arial" pitchFamily="34" charset="-120"/>
              </a:rPr>
              <a:t>Gerencia de Black Hawk · Área comercial</a:t>
            </a:r>
            <a:endParaRPr lang="en-US" sz="1450" dirty="0"/>
          </a:p>
        </p:txBody>
      </p:sp>
      <p:sp>
        <p:nvSpPr>
          <p:cNvPr id="14" name="Shape 11"/>
          <p:cNvSpPr/>
          <p:nvPr/>
        </p:nvSpPr>
        <p:spPr>
          <a:xfrm>
            <a:off x="1463040" y="3749040"/>
            <a:ext cx="5074920" cy="2103120"/>
          </a:xfrm>
          <a:prstGeom prst="roundRect">
            <a:avLst>
              <a:gd name="adj" fmla="val 3478"/>
            </a:avLst>
          </a:prstGeom>
          <a:solidFill>
            <a:srgbClr val="F5F5F7"/>
          </a:solidFill>
          <a:ln/>
        </p:spPr>
      </p:sp>
      <p:sp>
        <p:nvSpPr>
          <p:cNvPr id="15" name="Text 12"/>
          <p:cNvSpPr txBox="1"/>
          <p:nvPr/>
        </p:nvSpPr>
        <p:spPr>
          <a:xfrm>
            <a:off x="1737360" y="3931920"/>
            <a:ext cx="4572000" cy="36576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Monitorear</a:t>
            </a:r>
            <a:endParaRPr lang="en-US" sz="1700" dirty="0"/>
          </a:p>
        </p:txBody>
      </p:sp>
      <p:sp>
        <p:nvSpPr>
          <p:cNvPr id="16" name="Text 13"/>
          <p:cNvSpPr txBox="1"/>
          <p:nvPr/>
        </p:nvSpPr>
        <p:spPr>
          <a:xfrm>
            <a:off x="1737360" y="4297680"/>
            <a:ext cx="4572000" cy="274320"/>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Baja influencia · bajo interés</a:t>
            </a:r>
            <a:endParaRPr lang="en-US" sz="1150" dirty="0"/>
          </a:p>
        </p:txBody>
      </p:sp>
      <p:sp>
        <p:nvSpPr>
          <p:cNvPr id="17" name="Text 14"/>
          <p:cNvSpPr txBox="1"/>
          <p:nvPr/>
        </p:nvSpPr>
        <p:spPr>
          <a:xfrm>
            <a:off x="1737360" y="4709160"/>
            <a:ext cx="4572000" cy="1005840"/>
          </a:xfrm>
          <a:prstGeom prst="rect">
            <a:avLst/>
          </a:prstGeom>
          <a:noFill/>
          <a:ln/>
        </p:spPr>
        <p:txBody>
          <a:bodyPr wrap="square" lIns="0" tIns="0" rIns="0" bIns="0" rtlCol="0" anchor="t"/>
          <a:lstStyle/>
          <a:p>
            <a:pPr indent="0" marL="0">
              <a:buNone/>
            </a:pPr>
            <a:r>
              <a:rPr lang="en-US" sz="1450" dirty="0">
                <a:solidFill>
                  <a:srgbClr val="0B0B0D"/>
                </a:solidFill>
                <a:latin typeface="Arial" pitchFamily="34" charset="0"/>
                <a:ea typeface="Arial" pitchFamily="34" charset="-122"/>
                <a:cs typeface="Arial" pitchFamily="34" charset="-120"/>
              </a:rPr>
              <a:t>Proveedor de hosting</a:t>
            </a:r>
            <a:endParaRPr lang="en-US" sz="1450" dirty="0"/>
          </a:p>
        </p:txBody>
      </p:sp>
      <p:sp>
        <p:nvSpPr>
          <p:cNvPr id="18" name="Shape 15"/>
          <p:cNvSpPr/>
          <p:nvPr/>
        </p:nvSpPr>
        <p:spPr>
          <a:xfrm>
            <a:off x="6720840" y="3749040"/>
            <a:ext cx="5074920" cy="2103120"/>
          </a:xfrm>
          <a:prstGeom prst="roundRect">
            <a:avLst>
              <a:gd name="adj" fmla="val 3478"/>
            </a:avLst>
          </a:prstGeom>
          <a:solidFill>
            <a:srgbClr val="F5F5F7"/>
          </a:solidFill>
          <a:ln/>
        </p:spPr>
      </p:sp>
      <p:sp>
        <p:nvSpPr>
          <p:cNvPr id="19" name="Text 16"/>
          <p:cNvSpPr txBox="1"/>
          <p:nvPr/>
        </p:nvSpPr>
        <p:spPr>
          <a:xfrm>
            <a:off x="6995160" y="3931920"/>
            <a:ext cx="4572000" cy="36576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Mantener informados</a:t>
            </a:r>
            <a:endParaRPr lang="en-US" sz="1700" dirty="0"/>
          </a:p>
        </p:txBody>
      </p:sp>
      <p:sp>
        <p:nvSpPr>
          <p:cNvPr id="20" name="Text 17"/>
          <p:cNvSpPr txBox="1"/>
          <p:nvPr/>
        </p:nvSpPr>
        <p:spPr>
          <a:xfrm>
            <a:off x="6995160" y="4297680"/>
            <a:ext cx="4572000" cy="274320"/>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Influencia media o baja · alto interés</a:t>
            </a:r>
            <a:endParaRPr lang="en-US" sz="1150" dirty="0"/>
          </a:p>
        </p:txBody>
      </p:sp>
      <p:sp>
        <p:nvSpPr>
          <p:cNvPr id="21" name="Text 18"/>
          <p:cNvSpPr txBox="1"/>
          <p:nvPr/>
        </p:nvSpPr>
        <p:spPr>
          <a:xfrm>
            <a:off x="6995160" y="4709160"/>
            <a:ext cx="4572000" cy="1005840"/>
          </a:xfrm>
          <a:prstGeom prst="rect">
            <a:avLst/>
          </a:prstGeom>
          <a:noFill/>
          <a:ln/>
        </p:spPr>
        <p:txBody>
          <a:bodyPr wrap="square" lIns="0" tIns="0" rIns="0" bIns="0" rtlCol="0" anchor="t"/>
          <a:lstStyle/>
          <a:p>
            <a:pPr indent="0" marL="0">
              <a:buNone/>
            </a:pPr>
            <a:r>
              <a:rPr lang="en-US" sz="1450" dirty="0">
                <a:solidFill>
                  <a:srgbClr val="0B0B0D"/>
                </a:solidFill>
                <a:latin typeface="Arial" pitchFamily="34" charset="0"/>
                <a:ea typeface="Arial" pitchFamily="34" charset="-122"/>
                <a:cs typeface="Arial" pitchFamily="34" charset="-120"/>
              </a:rPr>
              <a:t>Gestor de contenidos · Distribuidores y tiendas · Clientes finales · Equipo de desarrollo</a:t>
            </a:r>
            <a:endParaRPr lang="en-US" sz="1450" dirty="0"/>
          </a:p>
        </p:txBody>
      </p:sp>
      <p:sp>
        <p:nvSpPr>
          <p:cNvPr id="22" name="Text 19"/>
          <p:cNvSpPr txBox="1"/>
          <p:nvPr/>
        </p:nvSpPr>
        <p:spPr>
          <a:xfrm rot="16200000">
            <a:off x="457200" y="3108960"/>
            <a:ext cx="914400" cy="457200"/>
          </a:xfrm>
          <a:prstGeom prst="rect">
            <a:avLst/>
          </a:prstGeom>
          <a:noFill/>
          <a:ln/>
        </p:spPr>
        <p:txBody>
          <a:bodyPr wrap="square" lIns="0" tIns="0" rIns="0" bIns="0" rtlCol="0" anchor="t"/>
          <a:lstStyle/>
          <a:p>
            <a:pPr indent="0" marL="0">
              <a:buNone/>
            </a:pPr>
            <a:r>
              <a:rPr lang="en-US" sz="1000" b="1" dirty="0">
                <a:solidFill>
                  <a:srgbClr val="6B7280"/>
                </a:solidFill>
                <a:latin typeface="Arial" pitchFamily="34" charset="0"/>
                <a:ea typeface="Arial" pitchFamily="34" charset="-122"/>
                <a:cs typeface="Arial" pitchFamily="34" charset="-120"/>
              </a:rPr>
              <a:t>INFLUENCIA ↑</a:t>
            </a:r>
            <a:endParaRPr lang="en-US" sz="1000" dirty="0"/>
          </a:p>
        </p:txBody>
      </p:sp>
      <p:sp>
        <p:nvSpPr>
          <p:cNvPr id="23" name="Text 20"/>
          <p:cNvSpPr txBox="1"/>
          <p:nvPr/>
        </p:nvSpPr>
        <p:spPr>
          <a:xfrm>
            <a:off x="5669280" y="6080760"/>
            <a:ext cx="1828800" cy="274320"/>
          </a:xfrm>
          <a:prstGeom prst="rect">
            <a:avLst/>
          </a:prstGeom>
          <a:noFill/>
          <a:ln/>
        </p:spPr>
        <p:txBody>
          <a:bodyPr wrap="square" lIns="0" tIns="0" rIns="0" bIns="0" rtlCol="0" anchor="t"/>
          <a:lstStyle/>
          <a:p>
            <a:pPr indent="0" marL="0">
              <a:buNone/>
            </a:pPr>
            <a:r>
              <a:rPr lang="en-US" sz="1000" b="1" dirty="0">
                <a:solidFill>
                  <a:srgbClr val="6B7280"/>
                </a:solidFill>
                <a:latin typeface="Arial" pitchFamily="34" charset="0"/>
                <a:ea typeface="Arial" pitchFamily="34" charset="-122"/>
                <a:cs typeface="Arial" pitchFamily="34" charset="-120"/>
              </a:rPr>
              <a:t>INTERÉS →</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03 · APLICACIÓN · INICIO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Modelo del negocio</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16</a:t>
            </a:r>
            <a:endParaRPr lang="en-US" sz="900" dirty="0"/>
          </a:p>
        </p:txBody>
      </p:sp>
      <p:pic>
        <p:nvPicPr>
          <p:cNvPr id="6" name="Image 0" descr="../DIAGRAMAS_UML/png/D01_cu_negocio.png">    </p:cNvPr>
          <p:cNvPicPr>
            <a:picLocks noChangeAspect="1"/>
          </p:cNvPicPr>
          <p:nvPr/>
        </p:nvPicPr>
        <p:blipFill>
          <a:blip r:embed="rId1"/>
          <a:stretch>
            <a:fillRect/>
          </a:stretch>
        </p:blipFill>
        <p:spPr>
          <a:xfrm>
            <a:off x="618104" y="1371600"/>
            <a:ext cx="6627632" cy="4983480"/>
          </a:xfrm>
          <a:prstGeom prst="rect">
            <a:avLst/>
          </a:prstGeom>
        </p:spPr>
      </p:pic>
      <p:sp>
        <p:nvSpPr>
          <p:cNvPr id="7" name="Shape 3"/>
          <p:cNvSpPr/>
          <p:nvPr/>
        </p:nvSpPr>
        <p:spPr>
          <a:xfrm>
            <a:off x="7635240" y="1371600"/>
            <a:ext cx="4007815" cy="4983480"/>
          </a:xfrm>
          <a:prstGeom prst="roundRect">
            <a:avLst>
              <a:gd name="adj" fmla="val 1825"/>
            </a:avLst>
          </a:prstGeom>
          <a:solidFill>
            <a:srgbClr val="F5F5F7"/>
          </a:solidFill>
          <a:ln/>
        </p:spPr>
      </p:sp>
      <p:sp>
        <p:nvSpPr>
          <p:cNvPr id="8" name="Text 4"/>
          <p:cNvSpPr txBox="1"/>
          <p:nvPr/>
        </p:nvSpPr>
        <p:spPr>
          <a:xfrm>
            <a:off x="7863840" y="1600200"/>
            <a:ext cx="3596335" cy="45262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Modela procesos de la organización, no pantallas.</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Actores del negocio: cliente final y distribuidor.</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«Derivar al punto de venta» extiende «Atender consulta» cuando el cliente prefiere comprar en tienda.</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La venta ocurre fuera de la web.</a:t>
            </a:r>
            <a:endParaRPr lang="en-US" sz="1350" dirty="0"/>
          </a:p>
        </p:txBody>
      </p:sp>
      <p:sp>
        <p:nvSpPr>
          <p:cNvPr id="9" name="Text 5"/>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D-01 · Elaboración propia. Fuente editable: DIAGRAMAS_UML/fuente_plantuml.</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03 · APLICACIÓN · INICIO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Qué entra, qué no y por qué es viable</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17</a:t>
            </a:r>
            <a:endParaRPr lang="en-US" sz="900" dirty="0"/>
          </a:p>
        </p:txBody>
      </p:sp>
      <p:sp>
        <p:nvSpPr>
          <p:cNvPr id="6" name="Shape 3"/>
          <p:cNvSpPr/>
          <p:nvPr/>
        </p:nvSpPr>
        <p:spPr>
          <a:xfrm>
            <a:off x="548640" y="1463040"/>
            <a:ext cx="3657600" cy="4526280"/>
          </a:xfrm>
          <a:prstGeom prst="roundRect">
            <a:avLst>
              <a:gd name="adj" fmla="val 2000"/>
            </a:avLst>
          </a:prstGeom>
          <a:solidFill>
            <a:srgbClr val="F5F5F7"/>
          </a:solidFill>
          <a:ln/>
        </p:spPr>
      </p:sp>
      <p:sp>
        <p:nvSpPr>
          <p:cNvPr id="7" name="Text 4"/>
          <p:cNvSpPr txBox="1"/>
          <p:nvPr/>
        </p:nvSpPr>
        <p:spPr>
          <a:xfrm>
            <a:off x="822960" y="1645920"/>
            <a:ext cx="2743200" cy="274320"/>
          </a:xfrm>
          <a:prstGeom prst="rect">
            <a:avLst/>
          </a:prstGeom>
          <a:noFill/>
          <a:ln/>
        </p:spPr>
        <p:txBody>
          <a:bodyPr wrap="square" lIns="0" tIns="0" rIns="0" bIns="0" rtlCol="0" anchor="t"/>
          <a:lstStyle/>
          <a:p>
            <a:pPr indent="0" marL="0">
              <a:buNone/>
            </a:pPr>
            <a:r>
              <a:rPr lang="en-US" sz="1000" b="1" spc="200" kern="0" dirty="0">
                <a:solidFill>
                  <a:srgbClr val="6D28D9"/>
                </a:solidFill>
                <a:latin typeface="Arial" pitchFamily="34" charset="0"/>
                <a:ea typeface="Arial" pitchFamily="34" charset="-122"/>
                <a:cs typeface="Arial" pitchFamily="34" charset="-120"/>
              </a:rPr>
              <a:t>INCLUIDO</a:t>
            </a:r>
            <a:endParaRPr lang="en-US" sz="1000" dirty="0"/>
          </a:p>
        </p:txBody>
      </p:sp>
      <p:sp>
        <p:nvSpPr>
          <p:cNvPr id="8" name="Text 5"/>
          <p:cNvSpPr txBox="1"/>
          <p:nvPr/>
        </p:nvSpPr>
        <p:spPr>
          <a:xfrm>
            <a:off x="822960" y="2011680"/>
            <a:ext cx="3154680" cy="384048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0B0B0D"/>
                </a:solidFill>
                <a:latin typeface="Arial" pitchFamily="34" charset="0"/>
                <a:ea typeface="Arial" pitchFamily="34" charset="-122"/>
                <a:cs typeface="Arial" pitchFamily="34" charset="-120"/>
              </a:rPr>
              <a:t>Catálogo público: categorías, búsqueda, filtros, fichas técnicas y modo catálogo.</a:t>
            </a:r>
            <a:endParaRPr lang="en-US" sz="1250" dirty="0"/>
          </a:p>
          <a:p>
            <a:pPr marL="342900" indent="-342900">
              <a:spcAft>
                <a:spcPts val="700"/>
              </a:spcAft>
              <a:buSzPct val="100000"/>
              <a:buChar char="✓"/>
            </a:pPr>
            <a:r>
              <a:rPr lang="en-US" sz="1250" dirty="0">
                <a:solidFill>
                  <a:srgbClr val="0B0B0D"/>
                </a:solidFill>
                <a:latin typeface="Arial" pitchFamily="34" charset="0"/>
                <a:ea typeface="Arial" pitchFamily="34" charset="-122"/>
                <a:cs typeface="Arial" pitchFamily="34" charset="-120"/>
              </a:rPr>
              <a:t>Comparador de hasta 3 productos.</a:t>
            </a:r>
            <a:endParaRPr lang="en-US" sz="1250" dirty="0"/>
          </a:p>
          <a:p>
            <a:pPr marL="342900" indent="-342900">
              <a:spcAft>
                <a:spcPts val="700"/>
              </a:spcAft>
              <a:buSzPct val="100000"/>
              <a:buChar char="✓"/>
            </a:pPr>
            <a:r>
              <a:rPr lang="en-US" sz="1250" dirty="0">
                <a:solidFill>
                  <a:srgbClr val="0B0B0D"/>
                </a:solidFill>
                <a:latin typeface="Arial" pitchFamily="34" charset="0"/>
                <a:ea typeface="Arial" pitchFamily="34" charset="-122"/>
                <a:cs typeface="Arial" pitchFamily="34" charset="-120"/>
              </a:rPr>
              <a:t>Consultas por WhatsApp con mensaje prellenado y registro previo (ampliación).</a:t>
            </a:r>
            <a:endParaRPr lang="en-US" sz="1250" dirty="0"/>
          </a:p>
          <a:p>
            <a:pPr marL="342900" indent="-342900">
              <a:spcAft>
                <a:spcPts val="700"/>
              </a:spcAft>
              <a:buSzPct val="100000"/>
              <a:buChar char="✓"/>
            </a:pPr>
            <a:r>
              <a:rPr lang="en-US" sz="1250" dirty="0">
                <a:solidFill>
                  <a:srgbClr val="0B0B0D"/>
                </a:solidFill>
                <a:latin typeface="Arial" pitchFamily="34" charset="0"/>
                <a:ea typeface="Arial" pitchFamily="34" charset="-122"/>
                <a:cs typeface="Arial" pitchFamily="34" charset="-120"/>
              </a:rPr>
              <a:t>Directorio de distribuidores y solicitudes de incorporación (ampliación).</a:t>
            </a:r>
            <a:endParaRPr lang="en-US" sz="1250" dirty="0"/>
          </a:p>
          <a:p>
            <a:pPr marL="342900" indent="-342900">
              <a:spcAft>
                <a:spcPts val="700"/>
              </a:spcAft>
              <a:buSzPct val="100000"/>
              <a:buChar char="✓"/>
            </a:pPr>
            <a:r>
              <a:rPr lang="en-US" sz="1250" dirty="0">
                <a:solidFill>
                  <a:srgbClr val="0B0B0D"/>
                </a:solidFill>
                <a:latin typeface="Arial" pitchFamily="34" charset="0"/>
                <a:ea typeface="Arial" pitchFamily="34" charset="-122"/>
                <a:cs typeface="Arial" pitchFamily="34" charset="-120"/>
              </a:rPr>
              <a:t>Administración de catálogo, categorías, especificaciones, imágenes y novedades.</a:t>
            </a:r>
            <a:endParaRPr lang="en-US" sz="1250" dirty="0"/>
          </a:p>
          <a:p>
            <a:pPr marL="342900" indent="-342900">
              <a:spcAft>
                <a:spcPts val="700"/>
              </a:spcAft>
              <a:buSzPct val="100000"/>
              <a:buChar char="✓"/>
            </a:pPr>
            <a:r>
              <a:rPr lang="en-US" sz="1250" dirty="0">
                <a:solidFill>
                  <a:srgbClr val="0B0B0D"/>
                </a:solidFill>
                <a:latin typeface="Arial" pitchFamily="34" charset="0"/>
                <a:ea typeface="Arial" pitchFamily="34" charset="-122"/>
                <a:cs typeface="Arial" pitchFamily="34" charset="-120"/>
              </a:rPr>
              <a:t>Seguimiento de consultas, reportes, roles, auditoría y respaldos (ampliación).</a:t>
            </a:r>
            <a:endParaRPr lang="en-US" sz="1250" dirty="0"/>
          </a:p>
        </p:txBody>
      </p:sp>
      <p:sp>
        <p:nvSpPr>
          <p:cNvPr id="9" name="Shape 6"/>
          <p:cNvSpPr/>
          <p:nvPr/>
        </p:nvSpPr>
        <p:spPr>
          <a:xfrm>
            <a:off x="4389120" y="1463040"/>
            <a:ext cx="3657600" cy="4526280"/>
          </a:xfrm>
          <a:prstGeom prst="roundRect">
            <a:avLst>
              <a:gd name="adj" fmla="val 2000"/>
            </a:avLst>
          </a:prstGeom>
          <a:solidFill>
            <a:srgbClr val="FFFFFF"/>
          </a:solidFill>
          <a:ln w="12700">
            <a:solidFill>
              <a:srgbClr val="E3E4E8"/>
            </a:solidFill>
            <a:prstDash val="solid"/>
          </a:ln>
        </p:spPr>
      </p:sp>
      <p:sp>
        <p:nvSpPr>
          <p:cNvPr id="10" name="Text 7"/>
          <p:cNvSpPr txBox="1"/>
          <p:nvPr/>
        </p:nvSpPr>
        <p:spPr>
          <a:xfrm>
            <a:off x="4663440" y="1645920"/>
            <a:ext cx="274320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Arial" pitchFamily="34" charset="0"/>
                <a:ea typeface="Arial" pitchFamily="34" charset="-122"/>
                <a:cs typeface="Arial" pitchFamily="34" charset="-120"/>
              </a:rPr>
              <a:t>EXCLUIDO</a:t>
            </a:r>
            <a:endParaRPr lang="en-US" sz="1000" dirty="0"/>
          </a:p>
        </p:txBody>
      </p:sp>
      <p:sp>
        <p:nvSpPr>
          <p:cNvPr id="11" name="Text 8"/>
          <p:cNvSpPr txBox="1"/>
          <p:nvPr/>
        </p:nvSpPr>
        <p:spPr>
          <a:xfrm>
            <a:off x="4663440" y="2011680"/>
            <a:ext cx="3154680" cy="384048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6B7280"/>
                </a:solidFill>
                <a:latin typeface="Arial" pitchFamily="34" charset="0"/>
                <a:ea typeface="Arial" pitchFamily="34" charset="-122"/>
                <a:cs typeface="Arial" pitchFamily="34" charset="-120"/>
              </a:rPr>
              <a:t>Venta en línea: carrito, checkout, pagos y wishlist.</a:t>
            </a:r>
            <a:endParaRPr lang="en-US" sz="1250" dirty="0"/>
          </a:p>
          <a:p>
            <a:pPr marL="342900" indent="-342900">
              <a:spcAft>
                <a:spcPts val="700"/>
              </a:spcAft>
              <a:buSzPct val="100000"/>
              <a:buChar char="✕"/>
            </a:pPr>
            <a:r>
              <a:rPr lang="en-US" sz="1250" dirty="0">
                <a:solidFill>
                  <a:srgbClr val="6B7280"/>
                </a:solidFill>
                <a:latin typeface="Arial" pitchFamily="34" charset="0"/>
                <a:ea typeface="Arial" pitchFamily="34" charset="-122"/>
                <a:cs typeface="Arial" pitchFamily="34" charset="-120"/>
              </a:rPr>
              <a:t>Inventario, stock por distribuidor, precios y facturación (ERP).</a:t>
            </a:r>
            <a:endParaRPr lang="en-US" sz="1250" dirty="0"/>
          </a:p>
          <a:p>
            <a:pPr marL="342900" indent="-342900">
              <a:spcAft>
                <a:spcPts val="700"/>
              </a:spcAft>
              <a:buSzPct val="100000"/>
              <a:buChar char="✕"/>
            </a:pPr>
            <a:r>
              <a:rPr lang="en-US" sz="1250" dirty="0">
                <a:solidFill>
                  <a:srgbClr val="6B7280"/>
                </a:solidFill>
                <a:latin typeface="Arial" pitchFamily="34" charset="0"/>
                <a:ea typeface="Arial" pitchFamily="34" charset="-122"/>
                <a:cs typeface="Arial" pitchFamily="34" charset="-120"/>
              </a:rPr>
              <a:t>CRM completo y chatbot sobre la API de WhatsApp Business.</a:t>
            </a:r>
            <a:endParaRPr lang="en-US" sz="1250" dirty="0"/>
          </a:p>
          <a:p>
            <a:pPr marL="342900" indent="-342900">
              <a:spcAft>
                <a:spcPts val="700"/>
              </a:spcAft>
              <a:buSzPct val="100000"/>
              <a:buChar char="✕"/>
            </a:pPr>
            <a:r>
              <a:rPr lang="en-US" sz="1250" dirty="0">
                <a:solidFill>
                  <a:srgbClr val="6B7280"/>
                </a:solidFill>
                <a:latin typeface="Arial" pitchFamily="34" charset="0"/>
                <a:ea typeface="Arial" pitchFamily="34" charset="-122"/>
                <a:cs typeface="Arial" pitchFamily="34" charset="-120"/>
              </a:rPr>
              <a:t>Aplicación móvil nativa.</a:t>
            </a:r>
            <a:endParaRPr lang="en-US" sz="1250" dirty="0"/>
          </a:p>
          <a:p>
            <a:pPr marL="342900" indent="-342900">
              <a:spcAft>
                <a:spcPts val="700"/>
              </a:spcAft>
              <a:buSzPct val="100000"/>
              <a:buChar char="✕"/>
            </a:pPr>
            <a:r>
              <a:rPr lang="en-US" sz="1250" dirty="0">
                <a:solidFill>
                  <a:srgbClr val="6B7280"/>
                </a:solidFill>
                <a:latin typeface="Arial" pitchFamily="34" charset="0"/>
                <a:ea typeface="Arial" pitchFamily="34" charset="-122"/>
                <a:cs typeface="Arial" pitchFamily="34" charset="-120"/>
              </a:rPr>
              <a:t>Migración de hosting o cambio de CMS.</a:t>
            </a:r>
            <a:endParaRPr lang="en-US" sz="1250" dirty="0"/>
          </a:p>
        </p:txBody>
      </p:sp>
      <p:sp>
        <p:nvSpPr>
          <p:cNvPr id="12" name="Shape 9"/>
          <p:cNvSpPr/>
          <p:nvPr/>
        </p:nvSpPr>
        <p:spPr>
          <a:xfrm>
            <a:off x="8229600" y="1463040"/>
            <a:ext cx="3413455" cy="1417320"/>
          </a:xfrm>
          <a:prstGeom prst="roundRect">
            <a:avLst>
              <a:gd name="adj" fmla="val 5161"/>
            </a:avLst>
          </a:prstGeom>
          <a:solidFill>
            <a:srgbClr val="0B0B0D"/>
          </a:solidFill>
          <a:ln/>
        </p:spPr>
      </p:sp>
      <p:sp>
        <p:nvSpPr>
          <p:cNvPr id="13" name="Text 10"/>
          <p:cNvSpPr txBox="1"/>
          <p:nvPr/>
        </p:nvSpPr>
        <p:spPr>
          <a:xfrm>
            <a:off x="8458200" y="1600200"/>
            <a:ext cx="301752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Viabilidad técnica</a:t>
            </a:r>
            <a:endParaRPr lang="en-US" sz="1500" dirty="0"/>
          </a:p>
        </p:txBody>
      </p:sp>
      <p:sp>
        <p:nvSpPr>
          <p:cNvPr id="14" name="Text 11"/>
          <p:cNvSpPr txBox="1"/>
          <p:nvPr/>
        </p:nvSpPr>
        <p:spPr>
          <a:xfrm>
            <a:off x="8458200" y="2011680"/>
            <a:ext cx="3017520" cy="777240"/>
          </a:xfrm>
          <a:prstGeom prst="rect">
            <a:avLst/>
          </a:prstGeom>
          <a:noFill/>
          <a:ln/>
        </p:spPr>
        <p:txBody>
          <a:bodyPr wrap="square" lIns="0" tIns="0" rIns="0" bIns="0" rtlCol="0" anchor="t"/>
          <a:lstStyle/>
          <a:p>
            <a:pPr indent="0" marL="0">
              <a:buNone/>
            </a:pPr>
            <a:r>
              <a:rPr lang="en-US" sz="1200" dirty="0">
                <a:solidFill>
                  <a:srgbClr val="9CA3AF"/>
                </a:solidFill>
                <a:latin typeface="Arial" pitchFamily="34" charset="0"/>
                <a:ea typeface="Arial" pitchFamily="34" charset="-122"/>
                <a:cs typeface="Arial" pitchFamily="34" charset="-120"/>
              </a:rPr>
              <a:t>Roles, REST, tipos de contenido y tablas propias en WordPress</a:t>
            </a:r>
            <a:endParaRPr lang="en-US" sz="1200" dirty="0"/>
          </a:p>
        </p:txBody>
      </p:sp>
      <p:sp>
        <p:nvSpPr>
          <p:cNvPr id="15" name="Shape 12"/>
          <p:cNvSpPr/>
          <p:nvPr/>
        </p:nvSpPr>
        <p:spPr>
          <a:xfrm>
            <a:off x="8229600" y="3017520"/>
            <a:ext cx="3413455" cy="1417320"/>
          </a:xfrm>
          <a:prstGeom prst="roundRect">
            <a:avLst>
              <a:gd name="adj" fmla="val 5161"/>
            </a:avLst>
          </a:prstGeom>
          <a:solidFill>
            <a:srgbClr val="0B0B0D"/>
          </a:solidFill>
          <a:ln/>
        </p:spPr>
      </p:sp>
      <p:sp>
        <p:nvSpPr>
          <p:cNvPr id="16" name="Text 13"/>
          <p:cNvSpPr txBox="1"/>
          <p:nvPr/>
        </p:nvSpPr>
        <p:spPr>
          <a:xfrm>
            <a:off x="8458200" y="3154680"/>
            <a:ext cx="301752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Viabilidad económica</a:t>
            </a:r>
            <a:endParaRPr lang="en-US" sz="1500" dirty="0"/>
          </a:p>
        </p:txBody>
      </p:sp>
      <p:sp>
        <p:nvSpPr>
          <p:cNvPr id="17" name="Text 14"/>
          <p:cNvSpPr txBox="1"/>
          <p:nvPr/>
        </p:nvSpPr>
        <p:spPr>
          <a:xfrm>
            <a:off x="8458200" y="3566160"/>
            <a:ext cx="3017520" cy="777240"/>
          </a:xfrm>
          <a:prstGeom prst="rect">
            <a:avLst/>
          </a:prstGeom>
          <a:noFill/>
          <a:ln/>
        </p:spPr>
        <p:txBody>
          <a:bodyPr wrap="square" lIns="0" tIns="0" rIns="0" bIns="0" rtlCol="0" anchor="t"/>
          <a:lstStyle/>
          <a:p>
            <a:pPr indent="0" marL="0">
              <a:buNone/>
            </a:pPr>
            <a:r>
              <a:rPr lang="en-US" sz="1200" dirty="0">
                <a:solidFill>
                  <a:srgbClr val="9CA3AF"/>
                </a:solidFill>
                <a:latin typeface="Arial" pitchFamily="34" charset="0"/>
                <a:ea typeface="Arial" pitchFamily="34" charset="-122"/>
                <a:cs typeface="Arial" pitchFamily="34" charset="-120"/>
              </a:rPr>
              <a:t>Reutiliza plataforma y contenido; sin licencias nuevas obligatorias</a:t>
            </a:r>
            <a:endParaRPr lang="en-US" sz="1200" dirty="0"/>
          </a:p>
        </p:txBody>
      </p:sp>
      <p:sp>
        <p:nvSpPr>
          <p:cNvPr id="18" name="Shape 15"/>
          <p:cNvSpPr/>
          <p:nvPr/>
        </p:nvSpPr>
        <p:spPr>
          <a:xfrm>
            <a:off x="8229600" y="4572000"/>
            <a:ext cx="3413455" cy="1417320"/>
          </a:xfrm>
          <a:prstGeom prst="roundRect">
            <a:avLst>
              <a:gd name="adj" fmla="val 5161"/>
            </a:avLst>
          </a:prstGeom>
          <a:solidFill>
            <a:srgbClr val="0B0B0D"/>
          </a:solidFill>
          <a:ln/>
        </p:spPr>
      </p:sp>
      <p:sp>
        <p:nvSpPr>
          <p:cNvPr id="19" name="Text 16"/>
          <p:cNvSpPr txBox="1"/>
          <p:nvPr/>
        </p:nvSpPr>
        <p:spPr>
          <a:xfrm>
            <a:off x="8458200" y="4709160"/>
            <a:ext cx="301752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Viabilidad operativa</a:t>
            </a:r>
            <a:endParaRPr lang="en-US" sz="1500" dirty="0"/>
          </a:p>
        </p:txBody>
      </p:sp>
      <p:sp>
        <p:nvSpPr>
          <p:cNvPr id="20" name="Text 17"/>
          <p:cNvSpPr txBox="1"/>
          <p:nvPr/>
        </p:nvSpPr>
        <p:spPr>
          <a:xfrm>
            <a:off x="8458200" y="5120640"/>
            <a:ext cx="3017520" cy="777240"/>
          </a:xfrm>
          <a:prstGeom prst="rect">
            <a:avLst/>
          </a:prstGeom>
          <a:noFill/>
          <a:ln/>
        </p:spPr>
        <p:txBody>
          <a:bodyPr wrap="square" lIns="0" tIns="0" rIns="0" bIns="0" rtlCol="0" anchor="t"/>
          <a:lstStyle/>
          <a:p>
            <a:pPr indent="0" marL="0">
              <a:buNone/>
            </a:pPr>
            <a:r>
              <a:rPr lang="en-US" sz="1200" dirty="0">
                <a:solidFill>
                  <a:srgbClr val="9CA3AF"/>
                </a:solidFill>
                <a:latin typeface="Arial" pitchFamily="34" charset="0"/>
                <a:ea typeface="Arial" pitchFamily="34" charset="-122"/>
                <a:cs typeface="Arial" pitchFamily="34" charset="-120"/>
              </a:rPr>
              <a:t>WhatsApp sigue siendo el canal; capacitación breve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03 · APLICACIÓN · ELABORACIÓN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Elaboración: estabilizar requisitos y probar la arquitectura</a:t>
            </a:r>
            <a:endParaRPr lang="en-US" sz="3000" dirty="0"/>
          </a:p>
        </p:txBody>
      </p:sp>
      <p:sp>
        <p:nvSpPr>
          <p:cNvPr id="5" name="Text 2"/>
          <p:cNvSpPr txBox="1"/>
          <p:nvPr/>
        </p:nvSpPr>
        <p:spPr>
          <a:xfrm>
            <a:off x="548640" y="1280160"/>
            <a:ext cx="11094415" cy="411480"/>
          </a:xfrm>
          <a:prstGeom prst="rect">
            <a:avLst/>
          </a:prstGeom>
          <a:noFill/>
          <a:ln/>
        </p:spPr>
        <p:txBody>
          <a:bodyPr wrap="square" lIns="0" tIns="0" rIns="0" bIns="0" rtlCol="0" anchor="t"/>
          <a:lstStyle/>
          <a:p>
            <a:pPr indent="0" marL="0">
              <a:buNone/>
            </a:pPr>
            <a:r>
              <a:rPr lang="en-US" sz="1500" dirty="0">
                <a:solidFill>
                  <a:srgbClr val="6B7280"/>
                </a:solidFill>
                <a:latin typeface="Arial" pitchFamily="34" charset="0"/>
                <a:ea typeface="Arial" pitchFamily="34" charset="-122"/>
                <a:cs typeface="Arial" pitchFamily="34" charset="-120"/>
              </a:rPr>
              <a:t>Semanas 3–6 · Iteraciones E1 y E2 · Arquitecto, Analista de negocio</a:t>
            </a:r>
            <a:endParaRPr lang="en-US" sz="1500" dirty="0"/>
          </a:p>
        </p:txBody>
      </p:sp>
      <p:sp>
        <p:nvSpPr>
          <p:cNvPr id="6" name="Text 3"/>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18</a:t>
            </a:r>
            <a:endParaRPr lang="en-US" sz="900" dirty="0"/>
          </a:p>
        </p:txBody>
      </p:sp>
      <p:sp>
        <p:nvSpPr>
          <p:cNvPr id="7" name="Shape 4"/>
          <p:cNvSpPr/>
          <p:nvPr/>
        </p:nvSpPr>
        <p:spPr>
          <a:xfrm>
            <a:off x="548640" y="2011680"/>
            <a:ext cx="2377440" cy="1188720"/>
          </a:xfrm>
          <a:prstGeom prst="roundRect">
            <a:avLst>
              <a:gd name="adj" fmla="val 6154"/>
            </a:avLst>
          </a:prstGeom>
          <a:solidFill>
            <a:srgbClr val="F5F5F7"/>
          </a:solidFill>
          <a:ln/>
        </p:spPr>
      </p:sp>
      <p:sp>
        <p:nvSpPr>
          <p:cNvPr id="8" name="Text 5"/>
          <p:cNvSpPr txBox="1"/>
          <p:nvPr/>
        </p:nvSpPr>
        <p:spPr>
          <a:xfrm>
            <a:off x="731520" y="2011680"/>
            <a:ext cx="2011680" cy="1188720"/>
          </a:xfrm>
          <a:prstGeom prst="rect">
            <a:avLst/>
          </a:prstGeom>
          <a:noFill/>
          <a:ln/>
        </p:spPr>
        <p:txBody>
          <a:bodyPr wrap="square" lIns="0" tIns="0" rIns="0" bIns="0" rtlCol="0" anchor="ctr"/>
          <a:lstStyle/>
          <a:p>
            <a:pPr indent="0" marL="0">
              <a:buNone/>
            </a:pPr>
            <a:r>
              <a:rPr lang="en-US" sz="1400" b="1" dirty="0">
                <a:solidFill>
                  <a:srgbClr val="0B0B0D"/>
                </a:solidFill>
                <a:latin typeface="Arial" pitchFamily="34" charset="0"/>
                <a:ea typeface="Arial" pitchFamily="34" charset="-122"/>
                <a:cs typeface="Arial" pitchFamily="34" charset="-120"/>
              </a:rPr>
              <a:t>Especificación de requisitos (SRS)</a:t>
            </a:r>
            <a:endParaRPr lang="en-US" sz="1400" dirty="0"/>
          </a:p>
        </p:txBody>
      </p:sp>
      <p:sp>
        <p:nvSpPr>
          <p:cNvPr id="9" name="Shape 6"/>
          <p:cNvSpPr/>
          <p:nvPr/>
        </p:nvSpPr>
        <p:spPr>
          <a:xfrm>
            <a:off x="3063240" y="2011680"/>
            <a:ext cx="2377440" cy="1188720"/>
          </a:xfrm>
          <a:prstGeom prst="roundRect">
            <a:avLst>
              <a:gd name="adj" fmla="val 6154"/>
            </a:avLst>
          </a:prstGeom>
          <a:solidFill>
            <a:srgbClr val="F5F5F7"/>
          </a:solidFill>
          <a:ln/>
        </p:spPr>
      </p:sp>
      <p:sp>
        <p:nvSpPr>
          <p:cNvPr id="10" name="Text 7"/>
          <p:cNvSpPr txBox="1"/>
          <p:nvPr/>
        </p:nvSpPr>
        <p:spPr>
          <a:xfrm>
            <a:off x="3246120" y="2011680"/>
            <a:ext cx="2011680" cy="1188720"/>
          </a:xfrm>
          <a:prstGeom prst="rect">
            <a:avLst/>
          </a:prstGeom>
          <a:noFill/>
          <a:ln/>
        </p:spPr>
        <p:txBody>
          <a:bodyPr wrap="square" lIns="0" tIns="0" rIns="0" bIns="0" rtlCol="0" anchor="ctr"/>
          <a:lstStyle/>
          <a:p>
            <a:pPr indent="0" marL="0">
              <a:buNone/>
            </a:pPr>
            <a:r>
              <a:rPr lang="en-US" sz="1400" b="1" dirty="0">
                <a:solidFill>
                  <a:srgbClr val="0B0B0D"/>
                </a:solidFill>
                <a:latin typeface="Arial" pitchFamily="34" charset="0"/>
                <a:ea typeface="Arial" pitchFamily="34" charset="-122"/>
                <a:cs typeface="Arial" pitchFamily="34" charset="-120"/>
              </a:rPr>
              <a:t>Especificaciones de casos de uso</a:t>
            </a:r>
            <a:endParaRPr lang="en-US" sz="1400" dirty="0"/>
          </a:p>
        </p:txBody>
      </p:sp>
      <p:sp>
        <p:nvSpPr>
          <p:cNvPr id="11" name="Shape 8"/>
          <p:cNvSpPr/>
          <p:nvPr/>
        </p:nvSpPr>
        <p:spPr>
          <a:xfrm>
            <a:off x="5577840" y="2011680"/>
            <a:ext cx="2377440" cy="1188720"/>
          </a:xfrm>
          <a:prstGeom prst="roundRect">
            <a:avLst>
              <a:gd name="adj" fmla="val 6154"/>
            </a:avLst>
          </a:prstGeom>
          <a:solidFill>
            <a:srgbClr val="F5F5F7"/>
          </a:solidFill>
          <a:ln/>
        </p:spPr>
      </p:sp>
      <p:sp>
        <p:nvSpPr>
          <p:cNvPr id="12" name="Text 9"/>
          <p:cNvSpPr txBox="1"/>
          <p:nvPr/>
        </p:nvSpPr>
        <p:spPr>
          <a:xfrm>
            <a:off x="5760720" y="2011680"/>
            <a:ext cx="2011680" cy="1188720"/>
          </a:xfrm>
          <a:prstGeom prst="rect">
            <a:avLst/>
          </a:prstGeom>
          <a:noFill/>
          <a:ln/>
        </p:spPr>
        <p:txBody>
          <a:bodyPr wrap="square" lIns="0" tIns="0" rIns="0" bIns="0" rtlCol="0" anchor="ctr"/>
          <a:lstStyle/>
          <a:p>
            <a:pPr indent="0" marL="0">
              <a:buNone/>
            </a:pPr>
            <a:r>
              <a:rPr lang="en-US" sz="1400" b="1" dirty="0">
                <a:solidFill>
                  <a:srgbClr val="0B0B0D"/>
                </a:solidFill>
                <a:latin typeface="Arial" pitchFamily="34" charset="0"/>
                <a:ea typeface="Arial" pitchFamily="34" charset="-122"/>
                <a:cs typeface="Arial" pitchFamily="34" charset="-120"/>
              </a:rPr>
              <a:t>Documento de arquitectura de software (SAD)</a:t>
            </a:r>
            <a:endParaRPr lang="en-US" sz="1400" dirty="0"/>
          </a:p>
        </p:txBody>
      </p:sp>
      <p:sp>
        <p:nvSpPr>
          <p:cNvPr id="13" name="Shape 10"/>
          <p:cNvSpPr/>
          <p:nvPr/>
        </p:nvSpPr>
        <p:spPr>
          <a:xfrm>
            <a:off x="548640" y="3337560"/>
            <a:ext cx="2377440" cy="1188720"/>
          </a:xfrm>
          <a:prstGeom prst="roundRect">
            <a:avLst>
              <a:gd name="adj" fmla="val 6154"/>
            </a:avLst>
          </a:prstGeom>
          <a:solidFill>
            <a:srgbClr val="F5F5F7"/>
          </a:solidFill>
          <a:ln/>
        </p:spPr>
      </p:sp>
      <p:sp>
        <p:nvSpPr>
          <p:cNvPr id="14" name="Text 11"/>
          <p:cNvSpPr txBox="1"/>
          <p:nvPr/>
        </p:nvSpPr>
        <p:spPr>
          <a:xfrm>
            <a:off x="731520" y="3337560"/>
            <a:ext cx="2011680" cy="1188720"/>
          </a:xfrm>
          <a:prstGeom prst="rect">
            <a:avLst/>
          </a:prstGeom>
          <a:noFill/>
          <a:ln/>
        </p:spPr>
        <p:txBody>
          <a:bodyPr wrap="square" lIns="0" tIns="0" rIns="0" bIns="0" rtlCol="0" anchor="ctr"/>
          <a:lstStyle/>
          <a:p>
            <a:pPr indent="0" marL="0">
              <a:buNone/>
            </a:pPr>
            <a:r>
              <a:rPr lang="en-US" sz="1400" b="1" dirty="0">
                <a:solidFill>
                  <a:srgbClr val="0B0B0D"/>
                </a:solidFill>
                <a:latin typeface="Arial" pitchFamily="34" charset="0"/>
                <a:ea typeface="Arial" pitchFamily="34" charset="-122"/>
                <a:cs typeface="Arial" pitchFamily="34" charset="-120"/>
              </a:rPr>
              <a:t>Modelo de diseño y de datos</a:t>
            </a:r>
            <a:endParaRPr lang="en-US" sz="1400" dirty="0"/>
          </a:p>
        </p:txBody>
      </p:sp>
      <p:sp>
        <p:nvSpPr>
          <p:cNvPr id="15" name="Shape 12"/>
          <p:cNvSpPr/>
          <p:nvPr/>
        </p:nvSpPr>
        <p:spPr>
          <a:xfrm>
            <a:off x="3063240" y="3337560"/>
            <a:ext cx="2377440" cy="1188720"/>
          </a:xfrm>
          <a:prstGeom prst="roundRect">
            <a:avLst>
              <a:gd name="adj" fmla="val 6154"/>
            </a:avLst>
          </a:prstGeom>
          <a:solidFill>
            <a:srgbClr val="EDE4FB"/>
          </a:solidFill>
          <a:ln/>
        </p:spPr>
      </p:sp>
      <p:sp>
        <p:nvSpPr>
          <p:cNvPr id="16" name="Text 13"/>
          <p:cNvSpPr txBox="1"/>
          <p:nvPr/>
        </p:nvSpPr>
        <p:spPr>
          <a:xfrm>
            <a:off x="3246120" y="3337560"/>
            <a:ext cx="2011680" cy="1188720"/>
          </a:xfrm>
          <a:prstGeom prst="rect">
            <a:avLst/>
          </a:prstGeom>
          <a:noFill/>
          <a:ln/>
        </p:spPr>
        <p:txBody>
          <a:bodyPr wrap="square" lIns="0" tIns="0" rIns="0" bIns="0" rtlCol="0" anchor="ctr"/>
          <a:lstStyle/>
          <a:p>
            <a:pPr indent="0" marL="0">
              <a:buNone/>
            </a:pPr>
            <a:r>
              <a:rPr lang="en-US" sz="1400" b="1" dirty="0">
                <a:solidFill>
                  <a:srgbClr val="6D28D9"/>
                </a:solidFill>
                <a:latin typeface="Arial" pitchFamily="34" charset="0"/>
                <a:ea typeface="Arial" pitchFamily="34" charset="-122"/>
                <a:cs typeface="Arial" pitchFamily="34" charset="-120"/>
              </a:rPr>
              <a:t>Prototipo arquitectónico</a:t>
            </a:r>
            <a:endParaRPr lang="en-US" sz="1400" dirty="0"/>
          </a:p>
        </p:txBody>
      </p:sp>
      <p:sp>
        <p:nvSpPr>
          <p:cNvPr id="17" name="Shape 14"/>
          <p:cNvSpPr/>
          <p:nvPr/>
        </p:nvSpPr>
        <p:spPr>
          <a:xfrm>
            <a:off x="5577840" y="3337560"/>
            <a:ext cx="2377440" cy="1188720"/>
          </a:xfrm>
          <a:prstGeom prst="roundRect">
            <a:avLst>
              <a:gd name="adj" fmla="val 6154"/>
            </a:avLst>
          </a:prstGeom>
          <a:solidFill>
            <a:srgbClr val="F5F5F7"/>
          </a:solidFill>
          <a:ln/>
        </p:spPr>
      </p:sp>
      <p:sp>
        <p:nvSpPr>
          <p:cNvPr id="18" name="Text 15"/>
          <p:cNvSpPr txBox="1"/>
          <p:nvPr/>
        </p:nvSpPr>
        <p:spPr>
          <a:xfrm>
            <a:off x="5760720" y="3337560"/>
            <a:ext cx="2011680" cy="1188720"/>
          </a:xfrm>
          <a:prstGeom prst="rect">
            <a:avLst/>
          </a:prstGeom>
          <a:noFill/>
          <a:ln/>
        </p:spPr>
        <p:txBody>
          <a:bodyPr wrap="square" lIns="0" tIns="0" rIns="0" bIns="0" rtlCol="0" anchor="ctr"/>
          <a:lstStyle/>
          <a:p>
            <a:pPr indent="0" marL="0">
              <a:buNone/>
            </a:pPr>
            <a:r>
              <a:rPr lang="en-US" sz="1400" b="1" dirty="0">
                <a:solidFill>
                  <a:srgbClr val="0B0B0D"/>
                </a:solidFill>
                <a:latin typeface="Arial" pitchFamily="34" charset="0"/>
                <a:ea typeface="Arial" pitchFamily="34" charset="-122"/>
                <a:cs typeface="Arial" pitchFamily="34" charset="-120"/>
              </a:rPr>
              <a:t>Plan de pruebas</a:t>
            </a:r>
            <a:endParaRPr lang="en-US" sz="1400" dirty="0"/>
          </a:p>
        </p:txBody>
      </p:sp>
      <p:sp>
        <p:nvSpPr>
          <p:cNvPr id="19" name="Shape 16"/>
          <p:cNvSpPr/>
          <p:nvPr/>
        </p:nvSpPr>
        <p:spPr>
          <a:xfrm>
            <a:off x="8275320" y="2011680"/>
            <a:ext cx="3367735" cy="2514600"/>
          </a:xfrm>
          <a:prstGeom prst="roundRect">
            <a:avLst>
              <a:gd name="adj" fmla="val 2909"/>
            </a:avLst>
          </a:prstGeom>
          <a:solidFill>
            <a:srgbClr val="0B0B0D"/>
          </a:solidFill>
          <a:ln/>
        </p:spPr>
      </p:sp>
      <p:sp>
        <p:nvSpPr>
          <p:cNvPr id="20" name="Text 17"/>
          <p:cNvSpPr txBox="1"/>
          <p:nvPr/>
        </p:nvSpPr>
        <p:spPr>
          <a:xfrm>
            <a:off x="8503920" y="2148840"/>
            <a:ext cx="3108960" cy="274320"/>
          </a:xfrm>
          <a:prstGeom prst="rect">
            <a:avLst/>
          </a:prstGeom>
          <a:noFill/>
          <a:ln/>
        </p:spPr>
        <p:txBody>
          <a:bodyPr wrap="square" lIns="0" tIns="0" rIns="0" bIns="0" rtlCol="0" anchor="t"/>
          <a:lstStyle/>
          <a:p>
            <a:pPr indent="0" marL="0">
              <a:buNone/>
            </a:pPr>
            <a:r>
              <a:rPr lang="en-US" sz="1000" b="1" spc="100" kern="0" dirty="0">
                <a:solidFill>
                  <a:srgbClr val="A78BFA"/>
                </a:solidFill>
                <a:latin typeface="Arial" pitchFamily="34" charset="0"/>
                <a:ea typeface="Arial" pitchFamily="34" charset="-122"/>
                <a:cs typeface="Arial" pitchFamily="34" charset="-120"/>
              </a:rPr>
              <a:t>PROTOTIPO ARQUITECTÓNICO (E2)</a:t>
            </a:r>
            <a:endParaRPr lang="en-US" sz="1000" dirty="0"/>
          </a:p>
        </p:txBody>
      </p:sp>
      <p:sp>
        <p:nvSpPr>
          <p:cNvPr id="21" name="Text 18"/>
          <p:cNvSpPr txBox="1"/>
          <p:nvPr/>
        </p:nvSpPr>
        <p:spPr>
          <a:xfrm>
            <a:off x="8503920" y="2514600"/>
            <a:ext cx="3108960" cy="18288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Registrar la consulta con una llamada asíncrona (sendBeacon) y abrir WhatsApp sin esperar. Mitiga el riesgo R-05.</a:t>
            </a:r>
            <a:endParaRPr lang="en-US" sz="1400" dirty="0"/>
          </a:p>
        </p:txBody>
      </p:sp>
      <p:sp>
        <p:nvSpPr>
          <p:cNvPr id="22" name="Shape 19"/>
          <p:cNvSpPr/>
          <p:nvPr/>
        </p:nvSpPr>
        <p:spPr>
          <a:xfrm>
            <a:off x="548640" y="4754880"/>
            <a:ext cx="11094415" cy="1188720"/>
          </a:xfrm>
          <a:prstGeom prst="roundRect">
            <a:avLst>
              <a:gd name="adj" fmla="val 6154"/>
            </a:avLst>
          </a:prstGeom>
          <a:solidFill>
            <a:srgbClr val="F5F5F7"/>
          </a:solidFill>
          <a:ln/>
        </p:spPr>
      </p:sp>
      <p:sp>
        <p:nvSpPr>
          <p:cNvPr id="23" name="Text 20"/>
          <p:cNvSpPr txBox="1"/>
          <p:nvPr/>
        </p:nvSpPr>
        <p:spPr>
          <a:xfrm>
            <a:off x="822960" y="4754880"/>
            <a:ext cx="10545775" cy="1188720"/>
          </a:xfrm>
          <a:prstGeom prst="rect">
            <a:avLst/>
          </a:prstGeom>
          <a:noFill/>
          <a:ln/>
        </p:spPr>
        <p:txBody>
          <a:bodyPr wrap="square" lIns="0" tIns="0" rIns="0" bIns="0" rtlCol="0" anchor="ctr"/>
          <a:lstStyle/>
          <a:p>
            <a:pPr indent="0" marL="0">
              <a:buNone/>
            </a:pPr>
            <a:r>
              <a:rPr lang="en-US" sz="1400" b="1" dirty="0">
                <a:solidFill>
                  <a:srgbClr val="6D28D9"/>
                </a:solidFill>
                <a:latin typeface="Arial" pitchFamily="34" charset="0"/>
                <a:ea typeface="Arial" pitchFamily="34" charset="-122"/>
                <a:cs typeface="Arial" pitchFamily="34" charset="-120"/>
              </a:rPr>
              <a:t>Hito LCA: </a:t>
            </a:r>
            <a:pPr indent="0" marL="0">
              <a:buNone/>
            </a:pPr>
            <a:r>
              <a:rPr lang="en-US" sz="1400" dirty="0">
                <a:solidFill>
                  <a:srgbClr val="0B0B0D"/>
                </a:solidFill>
                <a:latin typeface="Arial" pitchFamily="34" charset="0"/>
                <a:ea typeface="Arial" pitchFamily="34" charset="-122"/>
                <a:cs typeface="Arial" pitchFamily="34" charset="-120"/>
              </a:rPr>
              <a:t>≥ 80 % de los casos de uso especificados · Arquitectura probada con el prototipo del flujo de consulta · Riesgos técnicos altos mitigados · Plan de construcción por iteraciones aprobado</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03 · APLICACIÓN · ELABORACIÓN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27 RF + 13 RNF, cada uno verificable</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19</a:t>
            </a:r>
            <a:endParaRPr lang="en-US" sz="900" dirty="0"/>
          </a:p>
        </p:txBody>
      </p:sp>
      <p:graphicFrame>
        <p:nvGraphicFramePr>
          <p:cNvPr id="6" name="Chart 0" descr=""/>
          <p:cNvGraphicFramePr/>
          <p:nvPr/>
        </p:nvGraphicFramePr>
        <p:xfrm>
          <a:off x="548640" y="1463040"/>
          <a:ext cx="5760720" cy="448056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583680" y="1463040"/>
            <a:ext cx="5059375" cy="1371600"/>
          </a:xfrm>
          <a:prstGeom prst="roundRect">
            <a:avLst>
              <a:gd name="adj" fmla="val 5333"/>
            </a:avLst>
          </a:prstGeom>
          <a:solidFill>
            <a:srgbClr val="F5F5F7"/>
          </a:solidFill>
          <a:ln/>
        </p:spPr>
      </p:sp>
      <p:sp>
        <p:nvSpPr>
          <p:cNvPr id="8" name="Shape 4"/>
          <p:cNvSpPr/>
          <p:nvPr/>
        </p:nvSpPr>
        <p:spPr>
          <a:xfrm>
            <a:off x="6812280" y="1572768"/>
            <a:ext cx="882396" cy="256032"/>
          </a:xfrm>
          <a:prstGeom prst="roundRect">
            <a:avLst>
              <a:gd name="adj" fmla="val 50000"/>
            </a:avLst>
          </a:prstGeom>
          <a:solidFill>
            <a:srgbClr val="6D28D9"/>
          </a:solidFill>
          <a:ln w="9525">
            <a:solidFill>
              <a:srgbClr val="6D28D9"/>
            </a:solidFill>
            <a:prstDash val="solid"/>
          </a:ln>
        </p:spPr>
      </p:sp>
      <p:sp>
        <p:nvSpPr>
          <p:cNvPr id="9" name="Text 5"/>
          <p:cNvSpPr txBox="1"/>
          <p:nvPr/>
        </p:nvSpPr>
        <p:spPr>
          <a:xfrm>
            <a:off x="6812280" y="1572768"/>
            <a:ext cx="8823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Propuesto</a:t>
            </a:r>
            <a:endParaRPr lang="en-US" sz="950" dirty="0"/>
          </a:p>
        </p:txBody>
      </p:sp>
      <p:sp>
        <p:nvSpPr>
          <p:cNvPr id="10" name="Text 6"/>
          <p:cNvSpPr txBox="1"/>
          <p:nvPr/>
        </p:nvSpPr>
        <p:spPr>
          <a:xfrm>
            <a:off x="6812280" y="1892808"/>
            <a:ext cx="4602175" cy="320040"/>
          </a:xfrm>
          <a:prstGeom prst="rect">
            <a:avLst/>
          </a:prstGeom>
          <a:noFill/>
          <a:ln/>
        </p:spPr>
        <p:txBody>
          <a:bodyPr wrap="square" lIns="0" tIns="0" rIns="0" bIns="0" rtlCol="0" anchor="t"/>
          <a:lstStyle/>
          <a:p>
            <a:pPr indent="0" marL="0">
              <a:buNone/>
            </a:pPr>
            <a:r>
              <a:rPr lang="en-US" sz="1450" b="1" dirty="0">
                <a:solidFill>
                  <a:srgbClr val="0B0B0D"/>
                </a:solidFill>
                <a:latin typeface="Arial" pitchFamily="34" charset="0"/>
                <a:ea typeface="Arial" pitchFamily="34" charset="-122"/>
                <a:cs typeface="Arial" pitchFamily="34" charset="-120"/>
              </a:rPr>
              <a:t>RF-014 · Registrar consulta comercial</a:t>
            </a:r>
            <a:endParaRPr lang="en-US" sz="1450" dirty="0"/>
          </a:p>
        </p:txBody>
      </p:sp>
      <p:sp>
        <p:nvSpPr>
          <p:cNvPr id="11" name="Text 7"/>
          <p:cNvSpPr txBox="1"/>
          <p:nvPr/>
        </p:nvSpPr>
        <p:spPr>
          <a:xfrm>
            <a:off x="6812280" y="2231136"/>
            <a:ext cx="4602175" cy="566928"/>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Antes de abrir WhatsApp se registran fecha, producto, origen e intención. Aceptación: se crea el registro y WhatsApp abre sin demora perceptible.</a:t>
            </a:r>
            <a:endParaRPr lang="en-US" sz="1150" dirty="0"/>
          </a:p>
        </p:txBody>
      </p:sp>
      <p:sp>
        <p:nvSpPr>
          <p:cNvPr id="12" name="Shape 8"/>
          <p:cNvSpPr/>
          <p:nvPr/>
        </p:nvSpPr>
        <p:spPr>
          <a:xfrm>
            <a:off x="6583680" y="2980944"/>
            <a:ext cx="5059375" cy="1371600"/>
          </a:xfrm>
          <a:prstGeom prst="roundRect">
            <a:avLst>
              <a:gd name="adj" fmla="val 5333"/>
            </a:avLst>
          </a:prstGeom>
          <a:solidFill>
            <a:srgbClr val="F5F5F7"/>
          </a:solidFill>
          <a:ln/>
        </p:spPr>
      </p:sp>
      <p:sp>
        <p:nvSpPr>
          <p:cNvPr id="13" name="Shape 9"/>
          <p:cNvSpPr/>
          <p:nvPr/>
        </p:nvSpPr>
        <p:spPr>
          <a:xfrm>
            <a:off x="6812280" y="3090672"/>
            <a:ext cx="882396" cy="256032"/>
          </a:xfrm>
          <a:prstGeom prst="roundRect">
            <a:avLst>
              <a:gd name="adj" fmla="val 50000"/>
            </a:avLst>
          </a:prstGeom>
          <a:solidFill>
            <a:srgbClr val="FFFFFF"/>
          </a:solidFill>
          <a:ln w="9525">
            <a:solidFill>
              <a:srgbClr val="0B0B0D"/>
            </a:solidFill>
            <a:prstDash val="solid"/>
          </a:ln>
        </p:spPr>
      </p:sp>
      <p:sp>
        <p:nvSpPr>
          <p:cNvPr id="14" name="Text 10"/>
          <p:cNvSpPr txBox="1"/>
          <p:nvPr/>
        </p:nvSpPr>
        <p:spPr>
          <a:xfrm>
            <a:off x="6812280" y="3090672"/>
            <a:ext cx="882396"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Existente</a:t>
            </a:r>
            <a:endParaRPr lang="en-US" sz="950" dirty="0"/>
          </a:p>
        </p:txBody>
      </p:sp>
      <p:sp>
        <p:nvSpPr>
          <p:cNvPr id="15" name="Text 11"/>
          <p:cNvSpPr txBox="1"/>
          <p:nvPr/>
        </p:nvSpPr>
        <p:spPr>
          <a:xfrm>
            <a:off x="6812280" y="3410712"/>
            <a:ext cx="4602175" cy="320040"/>
          </a:xfrm>
          <a:prstGeom prst="rect">
            <a:avLst/>
          </a:prstGeom>
          <a:noFill/>
          <a:ln/>
        </p:spPr>
        <p:txBody>
          <a:bodyPr wrap="square" lIns="0" tIns="0" rIns="0" bIns="0" rtlCol="0" anchor="t"/>
          <a:lstStyle/>
          <a:p>
            <a:pPr indent="0" marL="0">
              <a:buNone/>
            </a:pPr>
            <a:r>
              <a:rPr lang="en-US" sz="1450" b="1" dirty="0">
                <a:solidFill>
                  <a:srgbClr val="0B0B0D"/>
                </a:solidFill>
                <a:latin typeface="Arial" pitchFamily="34" charset="0"/>
                <a:ea typeface="Arial" pitchFamily="34" charset="-122"/>
                <a:cs typeface="Arial" pitchFamily="34" charset="-120"/>
              </a:rPr>
              <a:t>RF-007 · Agregar y quitar del comparador</a:t>
            </a:r>
            <a:endParaRPr lang="en-US" sz="1450" dirty="0"/>
          </a:p>
        </p:txBody>
      </p:sp>
      <p:sp>
        <p:nvSpPr>
          <p:cNvPr id="16" name="Text 12"/>
          <p:cNvSpPr txBox="1"/>
          <p:nvPr/>
        </p:nvSpPr>
        <p:spPr>
          <a:xfrm>
            <a:off x="6812280" y="3749040"/>
            <a:ext cx="4602175" cy="566928"/>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Máximo 3 productos. Aceptación: el cuarto producto se rechaza con un aviso.</a:t>
            </a:r>
            <a:endParaRPr lang="en-US" sz="1150" dirty="0"/>
          </a:p>
        </p:txBody>
      </p:sp>
      <p:sp>
        <p:nvSpPr>
          <p:cNvPr id="17" name="Shape 13"/>
          <p:cNvSpPr/>
          <p:nvPr/>
        </p:nvSpPr>
        <p:spPr>
          <a:xfrm>
            <a:off x="6583680" y="4498848"/>
            <a:ext cx="5059375" cy="1371600"/>
          </a:xfrm>
          <a:prstGeom prst="roundRect">
            <a:avLst>
              <a:gd name="adj" fmla="val 5333"/>
            </a:avLst>
          </a:prstGeom>
          <a:solidFill>
            <a:srgbClr val="F5F5F7"/>
          </a:solidFill>
          <a:ln/>
        </p:spPr>
      </p:sp>
      <p:sp>
        <p:nvSpPr>
          <p:cNvPr id="18" name="Shape 14"/>
          <p:cNvSpPr/>
          <p:nvPr/>
        </p:nvSpPr>
        <p:spPr>
          <a:xfrm>
            <a:off x="6812280" y="4608576"/>
            <a:ext cx="882396" cy="256032"/>
          </a:xfrm>
          <a:prstGeom prst="roundRect">
            <a:avLst>
              <a:gd name="adj" fmla="val 50000"/>
            </a:avLst>
          </a:prstGeom>
          <a:solidFill>
            <a:srgbClr val="EDE4FB"/>
          </a:solidFill>
          <a:ln w="9525">
            <a:solidFill>
              <a:srgbClr val="A78BFA"/>
            </a:solidFill>
            <a:prstDash val="solid"/>
          </a:ln>
        </p:spPr>
      </p:sp>
      <p:sp>
        <p:nvSpPr>
          <p:cNvPr id="19" name="Text 15"/>
          <p:cNvSpPr txBox="1"/>
          <p:nvPr/>
        </p:nvSpPr>
        <p:spPr>
          <a:xfrm>
            <a:off x="6812280" y="4608576"/>
            <a:ext cx="882396"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Pendiente</a:t>
            </a:r>
            <a:endParaRPr lang="en-US" sz="950" dirty="0"/>
          </a:p>
        </p:txBody>
      </p:sp>
      <p:sp>
        <p:nvSpPr>
          <p:cNvPr id="20" name="Text 16"/>
          <p:cNvSpPr txBox="1"/>
          <p:nvPr/>
        </p:nvSpPr>
        <p:spPr>
          <a:xfrm>
            <a:off x="6812280" y="4928616"/>
            <a:ext cx="4602175" cy="320040"/>
          </a:xfrm>
          <a:prstGeom prst="rect">
            <a:avLst/>
          </a:prstGeom>
          <a:noFill/>
          <a:ln/>
        </p:spPr>
        <p:txBody>
          <a:bodyPr wrap="square" lIns="0" tIns="0" rIns="0" bIns="0" rtlCol="0" anchor="t"/>
          <a:lstStyle/>
          <a:p>
            <a:pPr indent="0" marL="0">
              <a:buNone/>
            </a:pPr>
            <a:r>
              <a:rPr lang="en-US" sz="1450" b="1" dirty="0">
                <a:solidFill>
                  <a:srgbClr val="0B0B0D"/>
                </a:solidFill>
                <a:latin typeface="Arial" pitchFamily="34" charset="0"/>
                <a:ea typeface="Arial" pitchFamily="34" charset="-122"/>
                <a:cs typeface="Arial" pitchFamily="34" charset="-120"/>
              </a:rPr>
              <a:t>RNF-003 · Rendimiento de carga</a:t>
            </a:r>
            <a:endParaRPr lang="en-US" sz="1450" dirty="0"/>
          </a:p>
        </p:txBody>
      </p:sp>
      <p:sp>
        <p:nvSpPr>
          <p:cNvPr id="21" name="Text 17"/>
          <p:cNvSpPr txBox="1"/>
          <p:nvPr/>
        </p:nvSpPr>
        <p:spPr>
          <a:xfrm>
            <a:off x="6812280" y="5266944"/>
            <a:ext cx="4602175" cy="566928"/>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LCP ≤ 2,5 s, INP ≤ 200 ms y CLS ≤ 0,1 en el percentil 75.</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03 · APLICACIÓN · ELABORACIÓN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6 actores · 22 casos de uso · 6 especificados en detalle</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20</a:t>
            </a:r>
            <a:endParaRPr lang="en-US" sz="900" dirty="0"/>
          </a:p>
        </p:txBody>
      </p:sp>
      <p:sp>
        <p:nvSpPr>
          <p:cNvPr id="6" name="Shape 3"/>
          <p:cNvSpPr/>
          <p:nvPr/>
        </p:nvSpPr>
        <p:spPr>
          <a:xfrm>
            <a:off x="548640" y="1463040"/>
            <a:ext cx="4480560" cy="1325880"/>
          </a:xfrm>
          <a:prstGeom prst="roundRect">
            <a:avLst>
              <a:gd name="adj" fmla="val 5517"/>
            </a:avLst>
          </a:prstGeom>
          <a:solidFill>
            <a:srgbClr val="F5F5F7"/>
          </a:solidFill>
          <a:ln/>
        </p:spPr>
      </p:sp>
      <p:sp>
        <p:nvSpPr>
          <p:cNvPr id="7" name="Shape 4"/>
          <p:cNvSpPr/>
          <p:nvPr/>
        </p:nvSpPr>
        <p:spPr>
          <a:xfrm>
            <a:off x="777240" y="1828800"/>
            <a:ext cx="566928" cy="566928"/>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913303" y="1964863"/>
            <a:ext cx="294803" cy="294803"/>
          </a:xfrm>
          <a:prstGeom prst="rect">
            <a:avLst/>
          </a:prstGeom>
        </p:spPr>
      </p:pic>
      <p:sp>
        <p:nvSpPr>
          <p:cNvPr id="9" name="Text 5"/>
          <p:cNvSpPr txBox="1"/>
          <p:nvPr/>
        </p:nvSpPr>
        <p:spPr>
          <a:xfrm>
            <a:off x="1554480" y="1627632"/>
            <a:ext cx="3291840" cy="365760"/>
          </a:xfrm>
          <a:prstGeom prst="rect">
            <a:avLst/>
          </a:prstGeom>
          <a:noFill/>
          <a:ln/>
        </p:spPr>
        <p:txBody>
          <a:bodyPr wrap="square" lIns="0" tIns="0" rIns="0" bIns="0" rtlCol="0" anchor="t"/>
          <a:lstStyle/>
          <a:p>
            <a:pPr indent="0" marL="0">
              <a:buNone/>
            </a:pPr>
            <a:r>
              <a:rPr lang="en-US" sz="1500" b="1" dirty="0">
                <a:solidFill>
                  <a:srgbClr val="0B0B0D"/>
                </a:solidFill>
                <a:latin typeface="Arial" pitchFamily="34" charset="0"/>
                <a:ea typeface="Arial" pitchFamily="34" charset="-122"/>
                <a:cs typeface="Arial" pitchFamily="34" charset="-120"/>
              </a:rPr>
              <a:t>Humanos externos</a:t>
            </a:r>
            <a:endParaRPr lang="en-US" sz="1500" dirty="0"/>
          </a:p>
        </p:txBody>
      </p:sp>
      <p:sp>
        <p:nvSpPr>
          <p:cNvPr id="10" name="Text 6"/>
          <p:cNvSpPr txBox="1"/>
          <p:nvPr/>
        </p:nvSpPr>
        <p:spPr>
          <a:xfrm>
            <a:off x="1554480" y="2011680"/>
            <a:ext cx="3383280" cy="685800"/>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Visitante · Cliente interesado · Distribuidor</a:t>
            </a:r>
            <a:endParaRPr lang="en-US" sz="1300" dirty="0"/>
          </a:p>
        </p:txBody>
      </p:sp>
      <p:sp>
        <p:nvSpPr>
          <p:cNvPr id="11" name="Shape 7"/>
          <p:cNvSpPr/>
          <p:nvPr/>
        </p:nvSpPr>
        <p:spPr>
          <a:xfrm>
            <a:off x="548640" y="2944368"/>
            <a:ext cx="4480560" cy="1325880"/>
          </a:xfrm>
          <a:prstGeom prst="roundRect">
            <a:avLst>
              <a:gd name="adj" fmla="val 5517"/>
            </a:avLst>
          </a:prstGeom>
          <a:solidFill>
            <a:srgbClr val="F5F5F7"/>
          </a:solidFill>
          <a:ln/>
        </p:spPr>
      </p:sp>
      <p:sp>
        <p:nvSpPr>
          <p:cNvPr id="12" name="Shape 8"/>
          <p:cNvSpPr/>
          <p:nvPr/>
        </p:nvSpPr>
        <p:spPr>
          <a:xfrm>
            <a:off x="777240" y="3310128"/>
            <a:ext cx="566928" cy="566928"/>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913303" y="3446191"/>
            <a:ext cx="294803" cy="294803"/>
          </a:xfrm>
          <a:prstGeom prst="rect">
            <a:avLst/>
          </a:prstGeom>
        </p:spPr>
      </p:pic>
      <p:sp>
        <p:nvSpPr>
          <p:cNvPr id="14" name="Text 9"/>
          <p:cNvSpPr txBox="1"/>
          <p:nvPr/>
        </p:nvSpPr>
        <p:spPr>
          <a:xfrm>
            <a:off x="1554480" y="3108960"/>
            <a:ext cx="3291840" cy="365760"/>
          </a:xfrm>
          <a:prstGeom prst="rect">
            <a:avLst/>
          </a:prstGeom>
          <a:noFill/>
          <a:ln/>
        </p:spPr>
        <p:txBody>
          <a:bodyPr wrap="square" lIns="0" tIns="0" rIns="0" bIns="0" rtlCol="0" anchor="t"/>
          <a:lstStyle/>
          <a:p>
            <a:pPr indent="0" marL="0">
              <a:buNone/>
            </a:pPr>
            <a:r>
              <a:rPr lang="en-US" sz="1500" b="1" dirty="0">
                <a:solidFill>
                  <a:srgbClr val="0B0B0D"/>
                </a:solidFill>
                <a:latin typeface="Arial" pitchFamily="34" charset="0"/>
                <a:ea typeface="Arial" pitchFamily="34" charset="-122"/>
                <a:cs typeface="Arial" pitchFamily="34" charset="-120"/>
              </a:rPr>
              <a:t>Roles internos</a:t>
            </a:r>
            <a:endParaRPr lang="en-US" sz="1500" dirty="0"/>
          </a:p>
        </p:txBody>
      </p:sp>
      <p:sp>
        <p:nvSpPr>
          <p:cNvPr id="15" name="Text 10"/>
          <p:cNvSpPr txBox="1"/>
          <p:nvPr/>
        </p:nvSpPr>
        <p:spPr>
          <a:xfrm>
            <a:off x="1554480" y="3493008"/>
            <a:ext cx="3383280" cy="685800"/>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Gestor del catálogo · Administrador del sistema</a:t>
            </a:r>
            <a:endParaRPr lang="en-US" sz="1300" dirty="0"/>
          </a:p>
        </p:txBody>
      </p:sp>
      <p:sp>
        <p:nvSpPr>
          <p:cNvPr id="16" name="Shape 11"/>
          <p:cNvSpPr/>
          <p:nvPr/>
        </p:nvSpPr>
        <p:spPr>
          <a:xfrm>
            <a:off x="548640" y="4425696"/>
            <a:ext cx="4480560" cy="1325880"/>
          </a:xfrm>
          <a:prstGeom prst="roundRect">
            <a:avLst>
              <a:gd name="adj" fmla="val 5517"/>
            </a:avLst>
          </a:prstGeom>
          <a:solidFill>
            <a:srgbClr val="F5F5F7"/>
          </a:solidFill>
          <a:ln/>
        </p:spPr>
      </p:sp>
      <p:sp>
        <p:nvSpPr>
          <p:cNvPr id="17" name="Shape 12"/>
          <p:cNvSpPr/>
          <p:nvPr/>
        </p:nvSpPr>
        <p:spPr>
          <a:xfrm>
            <a:off x="777240" y="4791456"/>
            <a:ext cx="566928" cy="566928"/>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913303" y="4927519"/>
            <a:ext cx="294803" cy="294803"/>
          </a:xfrm>
          <a:prstGeom prst="rect">
            <a:avLst/>
          </a:prstGeom>
        </p:spPr>
      </p:pic>
      <p:sp>
        <p:nvSpPr>
          <p:cNvPr id="19" name="Text 13"/>
          <p:cNvSpPr txBox="1"/>
          <p:nvPr/>
        </p:nvSpPr>
        <p:spPr>
          <a:xfrm>
            <a:off x="1554480" y="4590288"/>
            <a:ext cx="3291840" cy="365760"/>
          </a:xfrm>
          <a:prstGeom prst="rect">
            <a:avLst/>
          </a:prstGeom>
          <a:noFill/>
          <a:ln/>
        </p:spPr>
        <p:txBody>
          <a:bodyPr wrap="square" lIns="0" tIns="0" rIns="0" bIns="0" rtlCol="0" anchor="t"/>
          <a:lstStyle/>
          <a:p>
            <a:pPr indent="0" marL="0">
              <a:buNone/>
            </a:pPr>
            <a:r>
              <a:rPr lang="en-US" sz="1500" b="1" dirty="0">
                <a:solidFill>
                  <a:srgbClr val="0B0B0D"/>
                </a:solidFill>
                <a:latin typeface="Arial" pitchFamily="34" charset="0"/>
                <a:ea typeface="Arial" pitchFamily="34" charset="-122"/>
                <a:cs typeface="Arial" pitchFamily="34" charset="-120"/>
              </a:rPr>
              <a:t>Sistema externo</a:t>
            </a:r>
            <a:endParaRPr lang="en-US" sz="1500" dirty="0"/>
          </a:p>
        </p:txBody>
      </p:sp>
      <p:sp>
        <p:nvSpPr>
          <p:cNvPr id="20" name="Text 14"/>
          <p:cNvSpPr txBox="1"/>
          <p:nvPr/>
        </p:nvSpPr>
        <p:spPr>
          <a:xfrm>
            <a:off x="1554480" y="4974336"/>
            <a:ext cx="3383280" cy="685800"/>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Servicio de WhatsApp</a:t>
            </a:r>
            <a:endParaRPr lang="en-US" sz="1300" dirty="0"/>
          </a:p>
        </p:txBody>
      </p:sp>
      <p:sp>
        <p:nvSpPr>
          <p:cNvPr id="21" name="Text 15"/>
          <p:cNvSpPr txBox="1"/>
          <p:nvPr/>
        </p:nvSpPr>
        <p:spPr>
          <a:xfrm>
            <a:off x="548640" y="5943600"/>
            <a:ext cx="4572000" cy="320040"/>
          </a:xfrm>
          <a:prstGeom prst="rect">
            <a:avLst/>
          </a:prstGeom>
          <a:noFill/>
          <a:ln/>
        </p:spPr>
        <p:txBody>
          <a:bodyPr wrap="square" lIns="0" tIns="0" rIns="0" bIns="0" rtlCol="0" anchor="t"/>
          <a:lstStyle/>
          <a:p>
            <a:pPr indent="0" marL="0">
              <a:buNone/>
            </a:pPr>
            <a:r>
              <a:rPr lang="en-US" sz="1150" i="1" dirty="0">
                <a:solidFill>
                  <a:srgbClr val="6B7280"/>
                </a:solidFill>
                <a:latin typeface="Arial" pitchFamily="34" charset="0"/>
                <a:ea typeface="Arial" pitchFamily="34" charset="-122"/>
                <a:cs typeface="Arial" pitchFamily="34" charset="-120"/>
              </a:rPr>
              <a:t>La base de datos no es un actor: es parte del sistema.</a:t>
            </a:r>
            <a:endParaRPr lang="en-US" sz="1150" dirty="0"/>
          </a:p>
        </p:txBody>
      </p:sp>
      <p:sp>
        <p:nvSpPr>
          <p:cNvPr id="22" name="Text 16"/>
          <p:cNvSpPr txBox="1"/>
          <p:nvPr/>
        </p:nvSpPr>
        <p:spPr>
          <a:xfrm>
            <a:off x="5394960" y="1463040"/>
            <a:ext cx="6217920" cy="274320"/>
          </a:xfrm>
          <a:prstGeom prst="rect">
            <a:avLst/>
          </a:prstGeom>
          <a:noFill/>
          <a:ln/>
        </p:spPr>
        <p:txBody>
          <a:bodyPr wrap="square" lIns="0" tIns="0" rIns="0" bIns="0" rtlCol="0" anchor="t"/>
          <a:lstStyle/>
          <a:p>
            <a:pPr indent="0" marL="0">
              <a:buNone/>
            </a:pPr>
            <a:r>
              <a:rPr lang="en-US" sz="1000" b="1" spc="150" kern="0" dirty="0">
                <a:solidFill>
                  <a:srgbClr val="6D28D9"/>
                </a:solidFill>
                <a:latin typeface="Arial" pitchFamily="34" charset="0"/>
                <a:ea typeface="Arial" pitchFamily="34" charset="-122"/>
                <a:cs typeface="Arial" pitchFamily="34" charset="-120"/>
              </a:rPr>
              <a:t>CASOS DE USO ARQUITECTÓNICAMENTE SIGNIFICATIVOS</a:t>
            </a:r>
            <a:endParaRPr lang="en-US" sz="1000" dirty="0"/>
          </a:p>
        </p:txBody>
      </p:sp>
      <p:sp>
        <p:nvSpPr>
          <p:cNvPr id="23" name="Shape 17"/>
          <p:cNvSpPr/>
          <p:nvPr/>
        </p:nvSpPr>
        <p:spPr>
          <a:xfrm>
            <a:off x="5394960" y="2478024"/>
            <a:ext cx="6248095" cy="0"/>
          </a:xfrm>
          <a:prstGeom prst="line">
            <a:avLst/>
          </a:prstGeom>
          <a:noFill/>
          <a:ln w="9525">
            <a:solidFill>
              <a:srgbClr val="E3E4E8"/>
            </a:solidFill>
            <a:prstDash val="solid"/>
          </a:ln>
        </p:spPr>
      </p:sp>
      <p:sp>
        <p:nvSpPr>
          <p:cNvPr id="24" name="Text 18"/>
          <p:cNvSpPr txBox="1"/>
          <p:nvPr/>
        </p:nvSpPr>
        <p:spPr>
          <a:xfrm>
            <a:off x="5394960" y="1874520"/>
            <a:ext cx="914400" cy="548640"/>
          </a:xfrm>
          <a:prstGeom prst="rect">
            <a:avLst/>
          </a:prstGeom>
          <a:noFill/>
          <a:ln/>
        </p:spPr>
        <p:txBody>
          <a:bodyPr wrap="square" lIns="0" tIns="0" rIns="0" bIns="0" rtlCol="0" anchor="ctr"/>
          <a:lstStyle/>
          <a:p>
            <a:pPr indent="0" marL="0">
              <a:buNone/>
            </a:pPr>
            <a:r>
              <a:rPr lang="en-US" sz="1500" b="1" dirty="0">
                <a:solidFill>
                  <a:srgbClr val="6D28D9"/>
                </a:solidFill>
                <a:latin typeface="Arial" pitchFamily="34" charset="0"/>
                <a:ea typeface="Arial" pitchFamily="34" charset="-122"/>
                <a:cs typeface="Arial" pitchFamily="34" charset="-120"/>
              </a:rPr>
              <a:t>CU-04</a:t>
            </a:r>
            <a:endParaRPr lang="en-US" sz="1500" dirty="0"/>
          </a:p>
        </p:txBody>
      </p:sp>
      <p:sp>
        <p:nvSpPr>
          <p:cNvPr id="25" name="Text 19"/>
          <p:cNvSpPr txBox="1"/>
          <p:nvPr/>
        </p:nvSpPr>
        <p:spPr>
          <a:xfrm>
            <a:off x="6355080" y="1874520"/>
            <a:ext cx="3840480" cy="548640"/>
          </a:xfrm>
          <a:prstGeom prst="rect">
            <a:avLst/>
          </a:prstGeom>
          <a:noFill/>
          <a:ln/>
        </p:spPr>
        <p:txBody>
          <a:bodyPr wrap="square" lIns="0" tIns="0" rIns="0" bIns="0" rtlCol="0" anchor="ctr"/>
          <a:lstStyle/>
          <a:p>
            <a:pPr indent="0" marL="0">
              <a:buNone/>
            </a:pPr>
            <a:r>
              <a:rPr lang="en-US" sz="1400" dirty="0">
                <a:solidFill>
                  <a:srgbClr val="0B0B0D"/>
                </a:solidFill>
                <a:latin typeface="Arial" pitchFamily="34" charset="0"/>
                <a:ea typeface="Arial" pitchFamily="34" charset="-122"/>
                <a:cs typeface="Arial" pitchFamily="34" charset="-120"/>
              </a:rPr>
              <a:t>Consultar ficha técnica</a:t>
            </a:r>
            <a:endParaRPr lang="en-US" sz="1400" dirty="0"/>
          </a:p>
        </p:txBody>
      </p:sp>
      <p:sp>
        <p:nvSpPr>
          <p:cNvPr id="26" name="Shape 20"/>
          <p:cNvSpPr/>
          <p:nvPr/>
        </p:nvSpPr>
        <p:spPr>
          <a:xfrm>
            <a:off x="10545775" y="2020824"/>
            <a:ext cx="726948" cy="256032"/>
          </a:xfrm>
          <a:prstGeom prst="roundRect">
            <a:avLst>
              <a:gd name="adj" fmla="val 50000"/>
            </a:avLst>
          </a:prstGeom>
          <a:solidFill>
            <a:srgbClr val="EDE4FB"/>
          </a:solidFill>
          <a:ln w="9525">
            <a:solidFill>
              <a:srgbClr val="A78BFA"/>
            </a:solidFill>
            <a:prstDash val="solid"/>
          </a:ln>
        </p:spPr>
      </p:sp>
      <p:sp>
        <p:nvSpPr>
          <p:cNvPr id="27" name="Text 21"/>
          <p:cNvSpPr txBox="1"/>
          <p:nvPr/>
        </p:nvSpPr>
        <p:spPr>
          <a:xfrm>
            <a:off x="10545775" y="2020824"/>
            <a:ext cx="726948"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Parcial</a:t>
            </a:r>
            <a:endParaRPr lang="en-US" sz="950" dirty="0"/>
          </a:p>
        </p:txBody>
      </p:sp>
      <p:sp>
        <p:nvSpPr>
          <p:cNvPr id="28" name="Shape 22"/>
          <p:cNvSpPr/>
          <p:nvPr/>
        </p:nvSpPr>
        <p:spPr>
          <a:xfrm>
            <a:off x="5394960" y="3145536"/>
            <a:ext cx="6248095" cy="0"/>
          </a:xfrm>
          <a:prstGeom prst="line">
            <a:avLst/>
          </a:prstGeom>
          <a:noFill/>
          <a:ln w="9525">
            <a:solidFill>
              <a:srgbClr val="E3E4E8"/>
            </a:solidFill>
            <a:prstDash val="solid"/>
          </a:ln>
        </p:spPr>
      </p:sp>
      <p:sp>
        <p:nvSpPr>
          <p:cNvPr id="29" name="Text 23"/>
          <p:cNvSpPr txBox="1"/>
          <p:nvPr/>
        </p:nvSpPr>
        <p:spPr>
          <a:xfrm>
            <a:off x="5394960" y="2542032"/>
            <a:ext cx="914400" cy="548640"/>
          </a:xfrm>
          <a:prstGeom prst="rect">
            <a:avLst/>
          </a:prstGeom>
          <a:noFill/>
          <a:ln/>
        </p:spPr>
        <p:txBody>
          <a:bodyPr wrap="square" lIns="0" tIns="0" rIns="0" bIns="0" rtlCol="0" anchor="ctr"/>
          <a:lstStyle/>
          <a:p>
            <a:pPr indent="0" marL="0">
              <a:buNone/>
            </a:pPr>
            <a:r>
              <a:rPr lang="en-US" sz="1500" b="1" dirty="0">
                <a:solidFill>
                  <a:srgbClr val="6D28D9"/>
                </a:solidFill>
                <a:latin typeface="Arial" pitchFamily="34" charset="0"/>
                <a:ea typeface="Arial" pitchFamily="34" charset="-122"/>
                <a:cs typeface="Arial" pitchFamily="34" charset="-120"/>
              </a:rPr>
              <a:t>CU-05</a:t>
            </a:r>
            <a:endParaRPr lang="en-US" sz="1500" dirty="0"/>
          </a:p>
        </p:txBody>
      </p:sp>
      <p:sp>
        <p:nvSpPr>
          <p:cNvPr id="30" name="Text 24"/>
          <p:cNvSpPr txBox="1"/>
          <p:nvPr/>
        </p:nvSpPr>
        <p:spPr>
          <a:xfrm>
            <a:off x="6355080" y="2542032"/>
            <a:ext cx="3840480" cy="548640"/>
          </a:xfrm>
          <a:prstGeom prst="rect">
            <a:avLst/>
          </a:prstGeom>
          <a:noFill/>
          <a:ln/>
        </p:spPr>
        <p:txBody>
          <a:bodyPr wrap="square" lIns="0" tIns="0" rIns="0" bIns="0" rtlCol="0" anchor="ctr"/>
          <a:lstStyle/>
          <a:p>
            <a:pPr indent="0" marL="0">
              <a:buNone/>
            </a:pPr>
            <a:r>
              <a:rPr lang="en-US" sz="1400" dirty="0">
                <a:solidFill>
                  <a:srgbClr val="0B0B0D"/>
                </a:solidFill>
                <a:latin typeface="Arial" pitchFamily="34" charset="0"/>
                <a:ea typeface="Arial" pitchFamily="34" charset="-122"/>
                <a:cs typeface="Arial" pitchFamily="34" charset="-120"/>
              </a:rPr>
              <a:t>Comparar productos</a:t>
            </a:r>
            <a:endParaRPr lang="en-US" sz="1400" dirty="0"/>
          </a:p>
        </p:txBody>
      </p:sp>
      <p:sp>
        <p:nvSpPr>
          <p:cNvPr id="31" name="Shape 25"/>
          <p:cNvSpPr/>
          <p:nvPr/>
        </p:nvSpPr>
        <p:spPr>
          <a:xfrm>
            <a:off x="10545775" y="2688336"/>
            <a:ext cx="882396" cy="256032"/>
          </a:xfrm>
          <a:prstGeom prst="roundRect">
            <a:avLst>
              <a:gd name="adj" fmla="val 50000"/>
            </a:avLst>
          </a:prstGeom>
          <a:solidFill>
            <a:srgbClr val="FFFFFF"/>
          </a:solidFill>
          <a:ln w="9525">
            <a:solidFill>
              <a:srgbClr val="0B0B0D"/>
            </a:solidFill>
            <a:prstDash val="solid"/>
          </a:ln>
        </p:spPr>
      </p:sp>
      <p:sp>
        <p:nvSpPr>
          <p:cNvPr id="32" name="Text 26"/>
          <p:cNvSpPr txBox="1"/>
          <p:nvPr/>
        </p:nvSpPr>
        <p:spPr>
          <a:xfrm>
            <a:off x="10545775" y="2688336"/>
            <a:ext cx="882396"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Existente</a:t>
            </a:r>
            <a:endParaRPr lang="en-US" sz="950" dirty="0"/>
          </a:p>
        </p:txBody>
      </p:sp>
      <p:sp>
        <p:nvSpPr>
          <p:cNvPr id="33" name="Shape 27"/>
          <p:cNvSpPr/>
          <p:nvPr/>
        </p:nvSpPr>
        <p:spPr>
          <a:xfrm>
            <a:off x="5394960" y="3813048"/>
            <a:ext cx="6248095" cy="0"/>
          </a:xfrm>
          <a:prstGeom prst="line">
            <a:avLst/>
          </a:prstGeom>
          <a:noFill/>
          <a:ln w="9525">
            <a:solidFill>
              <a:srgbClr val="E3E4E8"/>
            </a:solidFill>
            <a:prstDash val="solid"/>
          </a:ln>
        </p:spPr>
      </p:sp>
      <p:sp>
        <p:nvSpPr>
          <p:cNvPr id="34" name="Text 28"/>
          <p:cNvSpPr txBox="1"/>
          <p:nvPr/>
        </p:nvSpPr>
        <p:spPr>
          <a:xfrm>
            <a:off x="5394960" y="3209544"/>
            <a:ext cx="914400" cy="548640"/>
          </a:xfrm>
          <a:prstGeom prst="rect">
            <a:avLst/>
          </a:prstGeom>
          <a:noFill/>
          <a:ln/>
        </p:spPr>
        <p:txBody>
          <a:bodyPr wrap="square" lIns="0" tIns="0" rIns="0" bIns="0" rtlCol="0" anchor="ctr"/>
          <a:lstStyle/>
          <a:p>
            <a:pPr indent="0" marL="0">
              <a:buNone/>
            </a:pPr>
            <a:r>
              <a:rPr lang="en-US" sz="1500" b="1" dirty="0">
                <a:solidFill>
                  <a:srgbClr val="6D28D9"/>
                </a:solidFill>
                <a:latin typeface="Arial" pitchFamily="34" charset="0"/>
                <a:ea typeface="Arial" pitchFamily="34" charset="-122"/>
                <a:cs typeface="Arial" pitchFamily="34" charset="-120"/>
              </a:rPr>
              <a:t>CU-08</a:t>
            </a:r>
            <a:endParaRPr lang="en-US" sz="1500" dirty="0"/>
          </a:p>
        </p:txBody>
      </p:sp>
      <p:sp>
        <p:nvSpPr>
          <p:cNvPr id="35" name="Text 29"/>
          <p:cNvSpPr txBox="1"/>
          <p:nvPr/>
        </p:nvSpPr>
        <p:spPr>
          <a:xfrm>
            <a:off x="6355080" y="3209544"/>
            <a:ext cx="3840480" cy="548640"/>
          </a:xfrm>
          <a:prstGeom prst="rect">
            <a:avLst/>
          </a:prstGeom>
          <a:noFill/>
          <a:ln/>
        </p:spPr>
        <p:txBody>
          <a:bodyPr wrap="square" lIns="0" tIns="0" rIns="0" bIns="0" rtlCol="0" anchor="ctr"/>
          <a:lstStyle/>
          <a:p>
            <a:pPr indent="0" marL="0">
              <a:buNone/>
            </a:pPr>
            <a:r>
              <a:rPr lang="en-US" sz="1400" dirty="0">
                <a:solidFill>
                  <a:srgbClr val="0B0B0D"/>
                </a:solidFill>
                <a:latin typeface="Arial" pitchFamily="34" charset="0"/>
                <a:ea typeface="Arial" pitchFamily="34" charset="-122"/>
                <a:cs typeface="Arial" pitchFamily="34" charset="-120"/>
              </a:rPr>
              <a:t>Enviar consulta por WhatsApp «include» CU-09</a:t>
            </a:r>
            <a:endParaRPr lang="en-US" sz="1400" dirty="0"/>
          </a:p>
        </p:txBody>
      </p:sp>
      <p:sp>
        <p:nvSpPr>
          <p:cNvPr id="36" name="Shape 30"/>
          <p:cNvSpPr/>
          <p:nvPr/>
        </p:nvSpPr>
        <p:spPr>
          <a:xfrm>
            <a:off x="10545775" y="3355848"/>
            <a:ext cx="726948" cy="256032"/>
          </a:xfrm>
          <a:prstGeom prst="roundRect">
            <a:avLst>
              <a:gd name="adj" fmla="val 50000"/>
            </a:avLst>
          </a:prstGeom>
          <a:solidFill>
            <a:srgbClr val="EDE4FB"/>
          </a:solidFill>
          <a:ln w="9525">
            <a:solidFill>
              <a:srgbClr val="A78BFA"/>
            </a:solidFill>
            <a:prstDash val="solid"/>
          </a:ln>
        </p:spPr>
      </p:sp>
      <p:sp>
        <p:nvSpPr>
          <p:cNvPr id="37" name="Text 31"/>
          <p:cNvSpPr txBox="1"/>
          <p:nvPr/>
        </p:nvSpPr>
        <p:spPr>
          <a:xfrm>
            <a:off x="10545775" y="3355848"/>
            <a:ext cx="726948"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Parcial</a:t>
            </a:r>
            <a:endParaRPr lang="en-US" sz="950" dirty="0"/>
          </a:p>
        </p:txBody>
      </p:sp>
      <p:sp>
        <p:nvSpPr>
          <p:cNvPr id="38" name="Shape 32"/>
          <p:cNvSpPr/>
          <p:nvPr/>
        </p:nvSpPr>
        <p:spPr>
          <a:xfrm>
            <a:off x="5394960" y="4480560"/>
            <a:ext cx="6248095" cy="0"/>
          </a:xfrm>
          <a:prstGeom prst="line">
            <a:avLst/>
          </a:prstGeom>
          <a:noFill/>
          <a:ln w="9525">
            <a:solidFill>
              <a:srgbClr val="E3E4E8"/>
            </a:solidFill>
            <a:prstDash val="solid"/>
          </a:ln>
        </p:spPr>
      </p:sp>
      <p:sp>
        <p:nvSpPr>
          <p:cNvPr id="39" name="Text 33"/>
          <p:cNvSpPr txBox="1"/>
          <p:nvPr/>
        </p:nvSpPr>
        <p:spPr>
          <a:xfrm>
            <a:off x="5394960" y="3877056"/>
            <a:ext cx="914400" cy="548640"/>
          </a:xfrm>
          <a:prstGeom prst="rect">
            <a:avLst/>
          </a:prstGeom>
          <a:noFill/>
          <a:ln/>
        </p:spPr>
        <p:txBody>
          <a:bodyPr wrap="square" lIns="0" tIns="0" rIns="0" bIns="0" rtlCol="0" anchor="ctr"/>
          <a:lstStyle/>
          <a:p>
            <a:pPr indent="0" marL="0">
              <a:buNone/>
            </a:pPr>
            <a:r>
              <a:rPr lang="en-US" sz="1500" b="1" dirty="0">
                <a:solidFill>
                  <a:srgbClr val="6D28D9"/>
                </a:solidFill>
                <a:latin typeface="Arial" pitchFamily="34" charset="0"/>
                <a:ea typeface="Arial" pitchFamily="34" charset="-122"/>
                <a:cs typeface="Arial" pitchFamily="34" charset="-120"/>
              </a:rPr>
              <a:t>CU-12</a:t>
            </a:r>
            <a:endParaRPr lang="en-US" sz="1500" dirty="0"/>
          </a:p>
        </p:txBody>
      </p:sp>
      <p:sp>
        <p:nvSpPr>
          <p:cNvPr id="40" name="Text 34"/>
          <p:cNvSpPr txBox="1"/>
          <p:nvPr/>
        </p:nvSpPr>
        <p:spPr>
          <a:xfrm>
            <a:off x="6355080" y="3877056"/>
            <a:ext cx="3840480" cy="548640"/>
          </a:xfrm>
          <a:prstGeom prst="rect">
            <a:avLst/>
          </a:prstGeom>
          <a:noFill/>
          <a:ln/>
        </p:spPr>
        <p:txBody>
          <a:bodyPr wrap="square" lIns="0" tIns="0" rIns="0" bIns="0" rtlCol="0" anchor="ctr"/>
          <a:lstStyle/>
          <a:p>
            <a:pPr indent="0" marL="0">
              <a:buNone/>
            </a:pPr>
            <a:r>
              <a:rPr lang="en-US" sz="1400" dirty="0">
                <a:solidFill>
                  <a:srgbClr val="0B0B0D"/>
                </a:solidFill>
                <a:latin typeface="Arial" pitchFamily="34" charset="0"/>
                <a:ea typeface="Arial" pitchFamily="34" charset="-122"/>
                <a:cs typeface="Arial" pitchFamily="34" charset="-120"/>
              </a:rPr>
              <a:t>Gestionar productos</a:t>
            </a:r>
            <a:endParaRPr lang="en-US" sz="1400" dirty="0"/>
          </a:p>
        </p:txBody>
      </p:sp>
      <p:sp>
        <p:nvSpPr>
          <p:cNvPr id="41" name="Shape 35"/>
          <p:cNvSpPr/>
          <p:nvPr/>
        </p:nvSpPr>
        <p:spPr>
          <a:xfrm>
            <a:off x="10545775" y="4023360"/>
            <a:ext cx="649224" cy="256032"/>
          </a:xfrm>
          <a:prstGeom prst="roundRect">
            <a:avLst>
              <a:gd name="adj" fmla="val 50000"/>
            </a:avLst>
          </a:prstGeom>
          <a:solidFill>
            <a:srgbClr val="FFFFFF"/>
          </a:solidFill>
          <a:ln w="9525">
            <a:solidFill>
              <a:srgbClr val="0B0B0D"/>
            </a:solidFill>
            <a:prstDash val="solid"/>
          </a:ln>
        </p:spPr>
      </p:sp>
      <p:sp>
        <p:nvSpPr>
          <p:cNvPr id="42" name="Text 36"/>
          <p:cNvSpPr txBox="1"/>
          <p:nvPr/>
        </p:nvSpPr>
        <p:spPr>
          <a:xfrm>
            <a:off x="10545775" y="4023360"/>
            <a:ext cx="649224"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Nativo</a:t>
            </a:r>
            <a:endParaRPr lang="en-US" sz="950" dirty="0"/>
          </a:p>
        </p:txBody>
      </p:sp>
      <p:sp>
        <p:nvSpPr>
          <p:cNvPr id="43" name="Shape 37"/>
          <p:cNvSpPr/>
          <p:nvPr/>
        </p:nvSpPr>
        <p:spPr>
          <a:xfrm>
            <a:off x="5394960" y="5148072"/>
            <a:ext cx="6248095" cy="0"/>
          </a:xfrm>
          <a:prstGeom prst="line">
            <a:avLst/>
          </a:prstGeom>
          <a:noFill/>
          <a:ln w="9525">
            <a:solidFill>
              <a:srgbClr val="E3E4E8"/>
            </a:solidFill>
            <a:prstDash val="solid"/>
          </a:ln>
        </p:spPr>
      </p:sp>
      <p:sp>
        <p:nvSpPr>
          <p:cNvPr id="44" name="Text 38"/>
          <p:cNvSpPr txBox="1"/>
          <p:nvPr/>
        </p:nvSpPr>
        <p:spPr>
          <a:xfrm>
            <a:off x="5394960" y="4544568"/>
            <a:ext cx="914400" cy="548640"/>
          </a:xfrm>
          <a:prstGeom prst="rect">
            <a:avLst/>
          </a:prstGeom>
          <a:noFill/>
          <a:ln/>
        </p:spPr>
        <p:txBody>
          <a:bodyPr wrap="square" lIns="0" tIns="0" rIns="0" bIns="0" rtlCol="0" anchor="ctr"/>
          <a:lstStyle/>
          <a:p>
            <a:pPr indent="0" marL="0">
              <a:buNone/>
            </a:pPr>
            <a:r>
              <a:rPr lang="en-US" sz="1500" b="1" dirty="0">
                <a:solidFill>
                  <a:srgbClr val="6D28D9"/>
                </a:solidFill>
                <a:latin typeface="Arial" pitchFamily="34" charset="0"/>
                <a:ea typeface="Arial" pitchFamily="34" charset="-122"/>
                <a:cs typeface="Arial" pitchFamily="34" charset="-120"/>
              </a:rPr>
              <a:t>CU-16</a:t>
            </a:r>
            <a:endParaRPr lang="en-US" sz="1500" dirty="0"/>
          </a:p>
        </p:txBody>
      </p:sp>
      <p:sp>
        <p:nvSpPr>
          <p:cNvPr id="45" name="Text 39"/>
          <p:cNvSpPr txBox="1"/>
          <p:nvPr/>
        </p:nvSpPr>
        <p:spPr>
          <a:xfrm>
            <a:off x="6355080" y="4544568"/>
            <a:ext cx="3840480" cy="548640"/>
          </a:xfrm>
          <a:prstGeom prst="rect">
            <a:avLst/>
          </a:prstGeom>
          <a:noFill/>
          <a:ln/>
        </p:spPr>
        <p:txBody>
          <a:bodyPr wrap="square" lIns="0" tIns="0" rIns="0" bIns="0" rtlCol="0" anchor="ctr"/>
          <a:lstStyle/>
          <a:p>
            <a:pPr indent="0" marL="0">
              <a:buNone/>
            </a:pPr>
            <a:r>
              <a:rPr lang="en-US" sz="1400" dirty="0">
                <a:solidFill>
                  <a:srgbClr val="0B0B0D"/>
                </a:solidFill>
                <a:latin typeface="Arial" pitchFamily="34" charset="0"/>
                <a:ea typeface="Arial" pitchFamily="34" charset="-122"/>
                <a:cs typeface="Arial" pitchFamily="34" charset="-120"/>
              </a:rPr>
              <a:t>Gestionar distribuidores</a:t>
            </a:r>
            <a:endParaRPr lang="en-US" sz="1400" dirty="0"/>
          </a:p>
        </p:txBody>
      </p:sp>
      <p:sp>
        <p:nvSpPr>
          <p:cNvPr id="46" name="Shape 40"/>
          <p:cNvSpPr/>
          <p:nvPr/>
        </p:nvSpPr>
        <p:spPr>
          <a:xfrm>
            <a:off x="10545775" y="4690872"/>
            <a:ext cx="882396" cy="256032"/>
          </a:xfrm>
          <a:prstGeom prst="roundRect">
            <a:avLst>
              <a:gd name="adj" fmla="val 50000"/>
            </a:avLst>
          </a:prstGeom>
          <a:solidFill>
            <a:srgbClr val="6D28D9"/>
          </a:solidFill>
          <a:ln w="9525">
            <a:solidFill>
              <a:srgbClr val="6D28D9"/>
            </a:solidFill>
            <a:prstDash val="solid"/>
          </a:ln>
        </p:spPr>
      </p:sp>
      <p:sp>
        <p:nvSpPr>
          <p:cNvPr id="47" name="Text 41"/>
          <p:cNvSpPr txBox="1"/>
          <p:nvPr/>
        </p:nvSpPr>
        <p:spPr>
          <a:xfrm>
            <a:off x="10545775" y="4690872"/>
            <a:ext cx="8823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Propuesto</a:t>
            </a:r>
            <a:endParaRPr lang="en-US" sz="950" dirty="0"/>
          </a:p>
        </p:txBody>
      </p:sp>
      <p:sp>
        <p:nvSpPr>
          <p:cNvPr id="48" name="Shape 42"/>
          <p:cNvSpPr/>
          <p:nvPr/>
        </p:nvSpPr>
        <p:spPr>
          <a:xfrm>
            <a:off x="5394960" y="5815584"/>
            <a:ext cx="6248095" cy="0"/>
          </a:xfrm>
          <a:prstGeom prst="line">
            <a:avLst/>
          </a:prstGeom>
          <a:noFill/>
          <a:ln w="9525">
            <a:solidFill>
              <a:srgbClr val="E3E4E8"/>
            </a:solidFill>
            <a:prstDash val="solid"/>
          </a:ln>
        </p:spPr>
      </p:sp>
      <p:sp>
        <p:nvSpPr>
          <p:cNvPr id="49" name="Text 43"/>
          <p:cNvSpPr txBox="1"/>
          <p:nvPr/>
        </p:nvSpPr>
        <p:spPr>
          <a:xfrm>
            <a:off x="5394960" y="5212080"/>
            <a:ext cx="914400" cy="548640"/>
          </a:xfrm>
          <a:prstGeom prst="rect">
            <a:avLst/>
          </a:prstGeom>
          <a:noFill/>
          <a:ln/>
        </p:spPr>
        <p:txBody>
          <a:bodyPr wrap="square" lIns="0" tIns="0" rIns="0" bIns="0" rtlCol="0" anchor="ctr"/>
          <a:lstStyle/>
          <a:p>
            <a:pPr indent="0" marL="0">
              <a:buNone/>
            </a:pPr>
            <a:r>
              <a:rPr lang="en-US" sz="1500" b="1" dirty="0">
                <a:solidFill>
                  <a:srgbClr val="6D28D9"/>
                </a:solidFill>
                <a:latin typeface="Arial" pitchFamily="34" charset="0"/>
                <a:ea typeface="Arial" pitchFamily="34" charset="-122"/>
                <a:cs typeface="Arial" pitchFamily="34" charset="-120"/>
              </a:rPr>
              <a:t>CU-18</a:t>
            </a:r>
            <a:endParaRPr lang="en-US" sz="1500" dirty="0"/>
          </a:p>
        </p:txBody>
      </p:sp>
      <p:sp>
        <p:nvSpPr>
          <p:cNvPr id="50" name="Text 44"/>
          <p:cNvSpPr txBox="1"/>
          <p:nvPr/>
        </p:nvSpPr>
        <p:spPr>
          <a:xfrm>
            <a:off x="6355080" y="5212080"/>
            <a:ext cx="3840480" cy="548640"/>
          </a:xfrm>
          <a:prstGeom prst="rect">
            <a:avLst/>
          </a:prstGeom>
          <a:noFill/>
          <a:ln/>
        </p:spPr>
        <p:txBody>
          <a:bodyPr wrap="square" lIns="0" tIns="0" rIns="0" bIns="0" rtlCol="0" anchor="ctr"/>
          <a:lstStyle/>
          <a:p>
            <a:pPr indent="0" marL="0">
              <a:buNone/>
            </a:pPr>
            <a:r>
              <a:rPr lang="en-US" sz="1400" dirty="0">
                <a:solidFill>
                  <a:srgbClr val="0B0B0D"/>
                </a:solidFill>
                <a:latin typeface="Arial" pitchFamily="34" charset="0"/>
                <a:ea typeface="Arial" pitchFamily="34" charset="-122"/>
                <a:cs typeface="Arial" pitchFamily="34" charset="-120"/>
              </a:rPr>
              <a:t>Dar seguimiento a consultas</a:t>
            </a:r>
            <a:endParaRPr lang="en-US" sz="1400" dirty="0"/>
          </a:p>
        </p:txBody>
      </p:sp>
      <p:sp>
        <p:nvSpPr>
          <p:cNvPr id="51" name="Shape 45"/>
          <p:cNvSpPr/>
          <p:nvPr/>
        </p:nvSpPr>
        <p:spPr>
          <a:xfrm>
            <a:off x="10545775" y="5358384"/>
            <a:ext cx="882396" cy="256032"/>
          </a:xfrm>
          <a:prstGeom prst="roundRect">
            <a:avLst>
              <a:gd name="adj" fmla="val 50000"/>
            </a:avLst>
          </a:prstGeom>
          <a:solidFill>
            <a:srgbClr val="6D28D9"/>
          </a:solidFill>
          <a:ln w="9525">
            <a:solidFill>
              <a:srgbClr val="6D28D9"/>
            </a:solidFill>
            <a:prstDash val="solid"/>
          </a:ln>
        </p:spPr>
      </p:sp>
      <p:sp>
        <p:nvSpPr>
          <p:cNvPr id="52" name="Text 46"/>
          <p:cNvSpPr txBox="1"/>
          <p:nvPr/>
        </p:nvSpPr>
        <p:spPr>
          <a:xfrm>
            <a:off x="10545775" y="5358384"/>
            <a:ext cx="8823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Propuesto</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03 · APLICACIÓN · ELABORACIÓN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Arquitectura</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21</a:t>
            </a:r>
            <a:endParaRPr lang="en-US" sz="900" dirty="0"/>
          </a:p>
        </p:txBody>
      </p:sp>
      <p:pic>
        <p:nvPicPr>
          <p:cNvPr id="6" name="Image 0" descr="../DIAGRAMAS_UML/png/D22_arquitectura_capas.png">    </p:cNvPr>
          <p:cNvPicPr>
            <a:picLocks noChangeAspect="1"/>
          </p:cNvPicPr>
          <p:nvPr/>
        </p:nvPicPr>
        <p:blipFill>
          <a:blip r:embed="rId1"/>
          <a:stretch>
            <a:fillRect/>
          </a:stretch>
        </p:blipFill>
        <p:spPr>
          <a:xfrm>
            <a:off x="548640" y="1998545"/>
            <a:ext cx="7680960" cy="3729590"/>
          </a:xfrm>
          <a:prstGeom prst="rect">
            <a:avLst/>
          </a:prstGeom>
        </p:spPr>
      </p:pic>
      <p:sp>
        <p:nvSpPr>
          <p:cNvPr id="7" name="Shape 3"/>
          <p:cNvSpPr/>
          <p:nvPr/>
        </p:nvSpPr>
        <p:spPr>
          <a:xfrm>
            <a:off x="8549640" y="1371600"/>
            <a:ext cx="3093415" cy="4983480"/>
          </a:xfrm>
          <a:prstGeom prst="roundRect">
            <a:avLst>
              <a:gd name="adj" fmla="val 2365"/>
            </a:avLst>
          </a:prstGeom>
          <a:solidFill>
            <a:srgbClr val="F5F5F7"/>
          </a:solidFill>
          <a:ln/>
        </p:spPr>
      </p:sp>
      <p:sp>
        <p:nvSpPr>
          <p:cNvPr id="8" name="Text 4"/>
          <p:cNvSpPr txBox="1"/>
          <p:nvPr/>
        </p:nvSpPr>
        <p:spPr>
          <a:xfrm>
            <a:off x="8778240" y="1600200"/>
            <a:ext cx="2681935" cy="45262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AD-01 Mantener WordPress + WooCommerce.</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AD-02 Modo catálogo con YITH.</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AD-03 Tema hijo + plugin bh-core.</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AD-04 WhatsApp con wa.me y registro previo.</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AD-06 Tablas propias para consultas y auditoría.</a:t>
            </a:r>
            <a:endParaRPr lang="en-US" sz="1350" dirty="0"/>
          </a:p>
        </p:txBody>
      </p:sp>
      <p:sp>
        <p:nvSpPr>
          <p:cNvPr id="9" name="Text 5"/>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D-22 · Elaboración propia. Decisiones completas: monografía, Tabla 16.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03 · APLICACIÓN · CONSTRUCCIÓN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Construcción: tres incrementos hacia el IOC</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22</a:t>
            </a:r>
            <a:endParaRPr lang="en-US" sz="900" dirty="0"/>
          </a:p>
        </p:txBody>
      </p:sp>
      <p:sp>
        <p:nvSpPr>
          <p:cNvPr id="6" name="Shape 3"/>
          <p:cNvSpPr/>
          <p:nvPr/>
        </p:nvSpPr>
        <p:spPr>
          <a:xfrm>
            <a:off x="548640" y="1508760"/>
            <a:ext cx="3566160" cy="3383280"/>
          </a:xfrm>
          <a:prstGeom prst="roundRect">
            <a:avLst>
              <a:gd name="adj" fmla="val 2162"/>
            </a:avLst>
          </a:prstGeom>
          <a:solidFill>
            <a:srgbClr val="F5F5F7"/>
          </a:solidFill>
          <a:ln/>
        </p:spPr>
      </p:sp>
      <p:sp>
        <p:nvSpPr>
          <p:cNvPr id="7" name="Text 4"/>
          <p:cNvSpPr txBox="1"/>
          <p:nvPr/>
        </p:nvSpPr>
        <p:spPr>
          <a:xfrm>
            <a:off x="822960" y="1691640"/>
            <a:ext cx="1828800" cy="731520"/>
          </a:xfrm>
          <a:prstGeom prst="rect">
            <a:avLst/>
          </a:prstGeom>
          <a:noFill/>
          <a:ln/>
        </p:spPr>
        <p:txBody>
          <a:bodyPr wrap="square" lIns="0" tIns="0" rIns="0" bIns="0" rtlCol="0" anchor="t"/>
          <a:lstStyle/>
          <a:p>
            <a:pPr indent="0" marL="0">
              <a:buNone/>
            </a:pPr>
            <a:r>
              <a:rPr lang="en-US" sz="4000" b="1" dirty="0">
                <a:solidFill>
                  <a:srgbClr val="6D28D9"/>
                </a:solidFill>
                <a:latin typeface="Arial" pitchFamily="34" charset="0"/>
                <a:ea typeface="Arial" pitchFamily="34" charset="-122"/>
                <a:cs typeface="Arial" pitchFamily="34" charset="-120"/>
              </a:rPr>
              <a:t>C1</a:t>
            </a:r>
            <a:endParaRPr lang="en-US" sz="4000" dirty="0"/>
          </a:p>
        </p:txBody>
      </p:sp>
      <p:sp>
        <p:nvSpPr>
          <p:cNvPr id="8" name="Text 5"/>
          <p:cNvSpPr txBox="1"/>
          <p:nvPr/>
        </p:nvSpPr>
        <p:spPr>
          <a:xfrm>
            <a:off x="822960" y="2468880"/>
            <a:ext cx="2743200" cy="27432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Semanas 7–8</a:t>
            </a:r>
            <a:endParaRPr lang="en-US" sz="1200" dirty="0"/>
          </a:p>
        </p:txBody>
      </p:sp>
      <p:sp>
        <p:nvSpPr>
          <p:cNvPr id="9" name="Text 6"/>
          <p:cNvSpPr txBox="1"/>
          <p:nvPr/>
        </p:nvSpPr>
        <p:spPr>
          <a:xfrm>
            <a:off x="822960" y="2834640"/>
            <a:ext cx="3017520" cy="1188720"/>
          </a:xfrm>
          <a:prstGeom prst="rect">
            <a:avLst/>
          </a:prstGeom>
          <a:noFill/>
          <a:ln/>
        </p:spPr>
        <p:txBody>
          <a:bodyPr wrap="square" lIns="0" tIns="0" rIns="0" bIns="0" rtlCol="0" anchor="t"/>
          <a:lstStyle/>
          <a:p>
            <a:pPr indent="0" marL="0">
              <a:buNone/>
            </a:pPr>
            <a:r>
              <a:rPr lang="en-US" sz="1500" b="1" dirty="0">
                <a:solidFill>
                  <a:srgbClr val="0B0B0D"/>
                </a:solidFill>
                <a:latin typeface="Arial" pitchFamily="34" charset="0"/>
                <a:ea typeface="Arial" pitchFamily="34" charset="-122"/>
                <a:cs typeface="Arial" pitchFamily="34" charset="-120"/>
              </a:rPr>
              <a:t>Catálogo, categorías, fichas, especificaciones, imágenes y modo catálogo.</a:t>
            </a:r>
            <a:endParaRPr lang="en-US" sz="1500" dirty="0"/>
          </a:p>
        </p:txBody>
      </p:sp>
      <p:sp>
        <p:nvSpPr>
          <p:cNvPr id="10" name="Text 7"/>
          <p:cNvSpPr txBox="1"/>
          <p:nvPr/>
        </p:nvSpPr>
        <p:spPr>
          <a:xfrm>
            <a:off x="822960" y="4069080"/>
            <a:ext cx="3017520" cy="685800"/>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CU-01…CU-04, CU-12…CU-15</a:t>
            </a:r>
            <a:endParaRPr lang="en-US" sz="1150" dirty="0"/>
          </a:p>
        </p:txBody>
      </p:sp>
      <p:sp>
        <p:nvSpPr>
          <p:cNvPr id="11" name="Shape 8"/>
          <p:cNvSpPr/>
          <p:nvPr/>
        </p:nvSpPr>
        <p:spPr>
          <a:xfrm>
            <a:off x="4297680" y="1508760"/>
            <a:ext cx="3566160" cy="3383280"/>
          </a:xfrm>
          <a:prstGeom prst="roundRect">
            <a:avLst>
              <a:gd name="adj" fmla="val 2162"/>
            </a:avLst>
          </a:prstGeom>
          <a:solidFill>
            <a:srgbClr val="0B0B0D"/>
          </a:solidFill>
          <a:ln/>
        </p:spPr>
      </p:sp>
      <p:sp>
        <p:nvSpPr>
          <p:cNvPr id="12" name="Text 9"/>
          <p:cNvSpPr txBox="1"/>
          <p:nvPr/>
        </p:nvSpPr>
        <p:spPr>
          <a:xfrm>
            <a:off x="4572000" y="1691640"/>
            <a:ext cx="1828800" cy="731520"/>
          </a:xfrm>
          <a:prstGeom prst="rect">
            <a:avLst/>
          </a:prstGeom>
          <a:noFill/>
          <a:ln/>
        </p:spPr>
        <p:txBody>
          <a:bodyPr wrap="square" lIns="0" tIns="0" rIns="0" bIns="0" rtlCol="0" anchor="t"/>
          <a:lstStyle/>
          <a:p>
            <a:pPr indent="0" marL="0">
              <a:buNone/>
            </a:pPr>
            <a:r>
              <a:rPr lang="en-US" sz="4000" b="1" dirty="0">
                <a:solidFill>
                  <a:srgbClr val="A78BFA"/>
                </a:solidFill>
                <a:latin typeface="Arial" pitchFamily="34" charset="0"/>
                <a:ea typeface="Arial" pitchFamily="34" charset="-122"/>
                <a:cs typeface="Arial" pitchFamily="34" charset="-120"/>
              </a:rPr>
              <a:t>C2</a:t>
            </a:r>
            <a:endParaRPr lang="en-US" sz="4000" dirty="0"/>
          </a:p>
        </p:txBody>
      </p:sp>
      <p:sp>
        <p:nvSpPr>
          <p:cNvPr id="13" name="Text 10"/>
          <p:cNvSpPr txBox="1"/>
          <p:nvPr/>
        </p:nvSpPr>
        <p:spPr>
          <a:xfrm>
            <a:off x="4572000" y="2468880"/>
            <a:ext cx="2743200" cy="274320"/>
          </a:xfrm>
          <a:prstGeom prst="rect">
            <a:avLst/>
          </a:prstGeom>
          <a:noFill/>
          <a:ln/>
        </p:spPr>
        <p:txBody>
          <a:bodyPr wrap="square" lIns="0" tIns="0" rIns="0" bIns="0" rtlCol="0" anchor="t"/>
          <a:lstStyle/>
          <a:p>
            <a:pPr indent="0" marL="0">
              <a:buNone/>
            </a:pPr>
            <a:r>
              <a:rPr lang="en-US" sz="1200" dirty="0">
                <a:solidFill>
                  <a:srgbClr val="9CA3AF"/>
                </a:solidFill>
                <a:latin typeface="Arial" pitchFamily="34" charset="0"/>
                <a:ea typeface="Arial" pitchFamily="34" charset="-122"/>
                <a:cs typeface="Arial" pitchFamily="34" charset="-120"/>
              </a:rPr>
              <a:t>Semanas 9–10</a:t>
            </a:r>
            <a:endParaRPr lang="en-US" sz="1200" dirty="0"/>
          </a:p>
        </p:txBody>
      </p:sp>
      <p:sp>
        <p:nvSpPr>
          <p:cNvPr id="14" name="Text 11"/>
          <p:cNvSpPr txBox="1"/>
          <p:nvPr/>
        </p:nvSpPr>
        <p:spPr>
          <a:xfrm>
            <a:off x="4572000" y="2834640"/>
            <a:ext cx="3017520" cy="11887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Comparador, WhatsApp, registro y seguimiento de consultas.</a:t>
            </a:r>
            <a:endParaRPr lang="en-US" sz="1500" dirty="0"/>
          </a:p>
        </p:txBody>
      </p:sp>
      <p:sp>
        <p:nvSpPr>
          <p:cNvPr id="15" name="Text 12"/>
          <p:cNvSpPr txBox="1"/>
          <p:nvPr/>
        </p:nvSpPr>
        <p:spPr>
          <a:xfrm>
            <a:off x="4572000" y="4069080"/>
            <a:ext cx="3017520" cy="685800"/>
          </a:xfrm>
          <a:prstGeom prst="rect">
            <a:avLst/>
          </a:prstGeom>
          <a:noFill/>
          <a:ln/>
        </p:spPr>
        <p:txBody>
          <a:bodyPr wrap="square" lIns="0" tIns="0" rIns="0" bIns="0" rtlCol="0" anchor="t"/>
          <a:lstStyle/>
          <a:p>
            <a:pPr indent="0" marL="0">
              <a:buNone/>
            </a:pPr>
            <a:r>
              <a:rPr lang="en-US" sz="1150" dirty="0">
                <a:solidFill>
                  <a:srgbClr val="9CA3AF"/>
                </a:solidFill>
                <a:latin typeface="Arial" pitchFamily="34" charset="0"/>
                <a:ea typeface="Arial" pitchFamily="34" charset="-122"/>
                <a:cs typeface="Arial" pitchFamily="34" charset="-120"/>
              </a:rPr>
              <a:t>CU-05, CU-08, CU-09, CU-18</a:t>
            </a:r>
            <a:endParaRPr lang="en-US" sz="1150" dirty="0"/>
          </a:p>
        </p:txBody>
      </p:sp>
      <p:sp>
        <p:nvSpPr>
          <p:cNvPr id="16" name="Shape 13"/>
          <p:cNvSpPr/>
          <p:nvPr/>
        </p:nvSpPr>
        <p:spPr>
          <a:xfrm>
            <a:off x="8046720" y="1508760"/>
            <a:ext cx="3566160" cy="3383280"/>
          </a:xfrm>
          <a:prstGeom prst="roundRect">
            <a:avLst>
              <a:gd name="adj" fmla="val 2162"/>
            </a:avLst>
          </a:prstGeom>
          <a:solidFill>
            <a:srgbClr val="F5F5F7"/>
          </a:solidFill>
          <a:ln/>
        </p:spPr>
      </p:sp>
      <p:sp>
        <p:nvSpPr>
          <p:cNvPr id="17" name="Text 14"/>
          <p:cNvSpPr txBox="1"/>
          <p:nvPr/>
        </p:nvSpPr>
        <p:spPr>
          <a:xfrm>
            <a:off x="8321040" y="1691640"/>
            <a:ext cx="1828800" cy="731520"/>
          </a:xfrm>
          <a:prstGeom prst="rect">
            <a:avLst/>
          </a:prstGeom>
          <a:noFill/>
          <a:ln/>
        </p:spPr>
        <p:txBody>
          <a:bodyPr wrap="square" lIns="0" tIns="0" rIns="0" bIns="0" rtlCol="0" anchor="t"/>
          <a:lstStyle/>
          <a:p>
            <a:pPr indent="0" marL="0">
              <a:buNone/>
            </a:pPr>
            <a:r>
              <a:rPr lang="en-US" sz="4000" b="1" dirty="0">
                <a:solidFill>
                  <a:srgbClr val="6D28D9"/>
                </a:solidFill>
                <a:latin typeface="Arial" pitchFamily="34" charset="0"/>
                <a:ea typeface="Arial" pitchFamily="34" charset="-122"/>
                <a:cs typeface="Arial" pitchFamily="34" charset="-120"/>
              </a:rPr>
              <a:t>C3</a:t>
            </a:r>
            <a:endParaRPr lang="en-US" sz="4000" dirty="0"/>
          </a:p>
        </p:txBody>
      </p:sp>
      <p:sp>
        <p:nvSpPr>
          <p:cNvPr id="18" name="Text 15"/>
          <p:cNvSpPr txBox="1"/>
          <p:nvPr/>
        </p:nvSpPr>
        <p:spPr>
          <a:xfrm>
            <a:off x="8321040" y="2468880"/>
            <a:ext cx="2743200" cy="27432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Semanas 11–12</a:t>
            </a:r>
            <a:endParaRPr lang="en-US" sz="1200" dirty="0"/>
          </a:p>
        </p:txBody>
      </p:sp>
      <p:sp>
        <p:nvSpPr>
          <p:cNvPr id="19" name="Text 16"/>
          <p:cNvSpPr txBox="1"/>
          <p:nvPr/>
        </p:nvSpPr>
        <p:spPr>
          <a:xfrm>
            <a:off x="8321040" y="2834640"/>
            <a:ext cx="3017520" cy="1188720"/>
          </a:xfrm>
          <a:prstGeom prst="rect">
            <a:avLst/>
          </a:prstGeom>
          <a:noFill/>
          <a:ln/>
        </p:spPr>
        <p:txBody>
          <a:bodyPr wrap="square" lIns="0" tIns="0" rIns="0" bIns="0" rtlCol="0" anchor="t"/>
          <a:lstStyle/>
          <a:p>
            <a:pPr indent="0" marL="0">
              <a:buNone/>
            </a:pPr>
            <a:r>
              <a:rPr lang="en-US" sz="1500" b="1" dirty="0">
                <a:solidFill>
                  <a:srgbClr val="0B0B0D"/>
                </a:solidFill>
                <a:latin typeface="Arial" pitchFamily="34" charset="0"/>
                <a:ea typeface="Arial" pitchFamily="34" charset="-122"/>
                <a:cs typeface="Arial" pitchFamily="34" charset="-120"/>
              </a:rPr>
              <a:t>Distribuidores, novedades, roles, reportes, auditoría y seguridad.</a:t>
            </a:r>
            <a:endParaRPr lang="en-US" sz="1500" dirty="0"/>
          </a:p>
        </p:txBody>
      </p:sp>
      <p:sp>
        <p:nvSpPr>
          <p:cNvPr id="20" name="Text 17"/>
          <p:cNvSpPr txBox="1"/>
          <p:nvPr/>
        </p:nvSpPr>
        <p:spPr>
          <a:xfrm>
            <a:off x="8321040" y="4069080"/>
            <a:ext cx="3017520" cy="685800"/>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CU-06, CU-07, CU-10, CU-16, CU-17, CU-19…CU-22</a:t>
            </a:r>
            <a:endParaRPr lang="en-US" sz="1150" dirty="0"/>
          </a:p>
        </p:txBody>
      </p:sp>
      <p:sp>
        <p:nvSpPr>
          <p:cNvPr id="21" name="Shape 18"/>
          <p:cNvSpPr/>
          <p:nvPr/>
        </p:nvSpPr>
        <p:spPr>
          <a:xfrm>
            <a:off x="548640" y="5120640"/>
            <a:ext cx="11094415" cy="868680"/>
          </a:xfrm>
          <a:prstGeom prst="roundRect">
            <a:avLst>
              <a:gd name="adj" fmla="val 8421"/>
            </a:avLst>
          </a:prstGeom>
          <a:solidFill>
            <a:srgbClr val="EDE4FB"/>
          </a:solidFill>
          <a:ln/>
        </p:spPr>
      </p:sp>
      <p:sp>
        <p:nvSpPr>
          <p:cNvPr id="22" name="Text 19"/>
          <p:cNvSpPr txBox="1"/>
          <p:nvPr/>
        </p:nvSpPr>
        <p:spPr>
          <a:xfrm>
            <a:off x="822960" y="5120640"/>
            <a:ext cx="10545775" cy="868680"/>
          </a:xfrm>
          <a:prstGeom prst="rect">
            <a:avLst/>
          </a:prstGeom>
          <a:noFill/>
          <a:ln/>
        </p:spPr>
        <p:txBody>
          <a:bodyPr wrap="square" lIns="0" tIns="0" rIns="0" bIns="0" rtlCol="0" anchor="ctr"/>
          <a:lstStyle/>
          <a:p>
            <a:pPr indent="0" marL="0">
              <a:buNone/>
            </a:pPr>
            <a:r>
              <a:rPr lang="en-US" sz="1400" b="1" dirty="0">
                <a:solidFill>
                  <a:srgbClr val="6D28D9"/>
                </a:solidFill>
                <a:latin typeface="Arial" pitchFamily="34" charset="0"/>
                <a:ea typeface="Arial" pitchFamily="34" charset="-122"/>
                <a:cs typeface="Arial" pitchFamily="34" charset="-120"/>
              </a:rPr>
              <a:t>Hito IOC: </a:t>
            </a:r>
            <a:pPr indent="0" marL="0">
              <a:buNone/>
            </a:pPr>
            <a:r>
              <a:rPr lang="en-US" sz="1400" dirty="0">
                <a:solidFill>
                  <a:srgbClr val="0B0B0D"/>
                </a:solidFill>
                <a:latin typeface="Arial" pitchFamily="34" charset="0"/>
                <a:ea typeface="Arial" pitchFamily="34" charset="-122"/>
                <a:cs typeface="Arial" pitchFamily="34" charset="-120"/>
              </a:rPr>
              <a:t>Casos de uso de prioridad alta implementados · 0 incidencias críticas abiertas · Pruebas de integración y de sistema aprobadas · Manuales en borrador</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03 · APLICACIÓN · CONSTRUCCIÓN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Lo que ya existe y lo que se construye</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23</a:t>
            </a:r>
            <a:endParaRPr lang="en-US" sz="900" dirty="0"/>
          </a:p>
        </p:txBody>
      </p:sp>
      <p:sp>
        <p:nvSpPr>
          <p:cNvPr id="6" name="Shape 3"/>
          <p:cNvSpPr/>
          <p:nvPr/>
        </p:nvSpPr>
        <p:spPr>
          <a:xfrm>
            <a:off x="548640" y="1508760"/>
            <a:ext cx="5440680" cy="4480560"/>
          </a:xfrm>
          <a:prstGeom prst="roundRect">
            <a:avLst>
              <a:gd name="adj" fmla="val 1633"/>
            </a:avLst>
          </a:prstGeom>
          <a:solidFill>
            <a:srgbClr val="F5F5F7"/>
          </a:solidFill>
          <a:ln/>
        </p:spPr>
      </p:sp>
      <p:sp>
        <p:nvSpPr>
          <p:cNvPr id="7" name="Text 4"/>
          <p:cNvSpPr txBox="1"/>
          <p:nvPr/>
        </p:nvSpPr>
        <p:spPr>
          <a:xfrm>
            <a:off x="868680" y="1737360"/>
            <a:ext cx="4846320" cy="274320"/>
          </a:xfrm>
          <a:prstGeom prst="rect">
            <a:avLst/>
          </a:prstGeom>
          <a:noFill/>
          <a:ln/>
        </p:spPr>
        <p:txBody>
          <a:bodyPr wrap="square" lIns="0" tIns="0" rIns="0" bIns="0" rtlCol="0" anchor="t"/>
          <a:lstStyle/>
          <a:p>
            <a:pPr indent="0" marL="0">
              <a:buNone/>
            </a:pPr>
            <a:r>
              <a:rPr lang="en-US" sz="1100" b="1" spc="200" kern="0" dirty="0">
                <a:solidFill>
                  <a:srgbClr val="6D28D9"/>
                </a:solidFill>
                <a:latin typeface="Arial" pitchFamily="34" charset="0"/>
                <a:ea typeface="Arial" pitchFamily="34" charset="-122"/>
                <a:cs typeface="Arial" pitchFamily="34" charset="-120"/>
              </a:rPr>
              <a:t>YA DESARROLLADO EN EL REDISEÑO</a:t>
            </a:r>
            <a:endParaRPr lang="en-US" sz="1100" dirty="0"/>
          </a:p>
        </p:txBody>
      </p:sp>
      <p:sp>
        <p:nvSpPr>
          <p:cNvPr id="8" name="Text 5"/>
          <p:cNvSpPr txBox="1"/>
          <p:nvPr/>
        </p:nvSpPr>
        <p:spPr>
          <a:xfrm>
            <a:off x="868680" y="2194560"/>
            <a:ext cx="4846320" cy="36576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0B0B0D"/>
                </a:solidFill>
                <a:latin typeface="Arial" pitchFamily="34" charset="0"/>
                <a:ea typeface="Arial" pitchFamily="34" charset="-122"/>
                <a:cs typeface="Arial" pitchFamily="34" charset="-120"/>
              </a:rPr>
              <a:t>Tema hijo Black Hawk</a:t>
            </a:r>
            <a:endParaRPr lang="en-US" sz="1600" dirty="0"/>
          </a:p>
          <a:p>
            <a:pPr marL="342900" indent="-342900">
              <a:spcAft>
                <a:spcPts val="1200"/>
              </a:spcAft>
              <a:buSzPct val="100000"/>
              <a:buChar char="●"/>
            </a:pPr>
            <a:r>
              <a:rPr lang="en-US" sz="1600" dirty="0">
                <a:solidFill>
                  <a:srgbClr val="0B0B0D"/>
                </a:solidFill>
                <a:latin typeface="Arial" pitchFamily="34" charset="0"/>
                <a:ea typeface="Arial" pitchFamily="34" charset="-122"/>
                <a:cs typeface="Arial" pitchFamily="34" charset="-120"/>
              </a:rPr>
              <a:t>Catálogo con filtros y contadores</a:t>
            </a:r>
            <a:endParaRPr lang="en-US" sz="1600" dirty="0"/>
          </a:p>
          <a:p>
            <a:pPr marL="342900" indent="-342900">
              <a:spcAft>
                <a:spcPts val="1200"/>
              </a:spcAft>
              <a:buSzPct val="100000"/>
              <a:buChar char="●"/>
            </a:pPr>
            <a:r>
              <a:rPr lang="en-US" sz="1600" dirty="0">
                <a:solidFill>
                  <a:srgbClr val="0B0B0D"/>
                </a:solidFill>
                <a:latin typeface="Arial" pitchFamily="34" charset="0"/>
                <a:ea typeface="Arial" pitchFamily="34" charset="-122"/>
                <a:cs typeface="Arial" pitchFamily="34" charset="-120"/>
              </a:rPr>
              <a:t>Búsqueda con sugerencias en vivo</a:t>
            </a:r>
            <a:endParaRPr lang="en-US" sz="1600" dirty="0"/>
          </a:p>
          <a:p>
            <a:pPr marL="342900" indent="-342900">
              <a:spcAft>
                <a:spcPts val="1200"/>
              </a:spcAft>
              <a:buSzPct val="100000"/>
              <a:buChar char="●"/>
            </a:pPr>
            <a:r>
              <a:rPr lang="en-US" sz="1600" dirty="0">
                <a:solidFill>
                  <a:srgbClr val="0B0B0D"/>
                </a:solidFill>
                <a:latin typeface="Arial" pitchFamily="34" charset="0"/>
                <a:ea typeface="Arial" pitchFamily="34" charset="-122"/>
                <a:cs typeface="Arial" pitchFamily="34" charset="-120"/>
              </a:rPr>
              <a:t>Comparador de hasta 3 modelos</a:t>
            </a:r>
            <a:endParaRPr lang="en-US" sz="1600" dirty="0"/>
          </a:p>
          <a:p>
            <a:pPr marL="342900" indent="-342900">
              <a:spcAft>
                <a:spcPts val="1200"/>
              </a:spcAft>
              <a:buSzPct val="100000"/>
              <a:buChar char="●"/>
            </a:pPr>
            <a:r>
              <a:rPr lang="en-US" sz="1600" dirty="0">
                <a:solidFill>
                  <a:srgbClr val="0B0B0D"/>
                </a:solidFill>
                <a:latin typeface="Arial" pitchFamily="34" charset="0"/>
                <a:ea typeface="Arial" pitchFamily="34" charset="-122"/>
                <a:cs typeface="Arial" pitchFamily="34" charset="-120"/>
              </a:rPr>
              <a:t>«Cotizar» con WhatsApp y modelo</a:t>
            </a:r>
            <a:endParaRPr lang="en-US" sz="1600" dirty="0"/>
          </a:p>
          <a:p>
            <a:pPr marL="342900" indent="-342900">
              <a:spcAft>
                <a:spcPts val="1200"/>
              </a:spcAft>
              <a:buSzPct val="100000"/>
              <a:buChar char="●"/>
            </a:pPr>
            <a:r>
              <a:rPr lang="en-US" sz="1600" dirty="0">
                <a:solidFill>
                  <a:srgbClr val="0B0B0D"/>
                </a:solidFill>
                <a:latin typeface="Arial" pitchFamily="34" charset="0"/>
                <a:ea typeface="Arial" pitchFamily="34" charset="-122"/>
                <a:cs typeface="Arial" pitchFamily="34" charset="-120"/>
              </a:rPr>
              <a:t>Dónde comprar, soporte, mayoristas, privacidad</a:t>
            </a:r>
            <a:endParaRPr lang="en-US" sz="1600" dirty="0"/>
          </a:p>
        </p:txBody>
      </p:sp>
      <p:sp>
        <p:nvSpPr>
          <p:cNvPr id="9" name="Shape 6"/>
          <p:cNvSpPr/>
          <p:nvPr/>
        </p:nvSpPr>
        <p:spPr>
          <a:xfrm>
            <a:off x="6172200" y="1508760"/>
            <a:ext cx="5440680" cy="4480560"/>
          </a:xfrm>
          <a:prstGeom prst="roundRect">
            <a:avLst>
              <a:gd name="adj" fmla="val 1633"/>
            </a:avLst>
          </a:prstGeom>
          <a:solidFill>
            <a:srgbClr val="6D28D9"/>
          </a:solidFill>
          <a:ln/>
        </p:spPr>
      </p:sp>
      <p:sp>
        <p:nvSpPr>
          <p:cNvPr id="10" name="Text 7"/>
          <p:cNvSpPr txBox="1"/>
          <p:nvPr/>
        </p:nvSpPr>
        <p:spPr>
          <a:xfrm>
            <a:off x="6492240" y="1737360"/>
            <a:ext cx="4846320" cy="274320"/>
          </a:xfrm>
          <a:prstGeom prst="rect">
            <a:avLst/>
          </a:prstGeom>
          <a:noFill/>
          <a:ln/>
        </p:spPr>
        <p:txBody>
          <a:bodyPr wrap="square" lIns="0" tIns="0" rIns="0" bIns="0" rtlCol="0" anchor="t"/>
          <a:lstStyle/>
          <a:p>
            <a:pPr indent="0" marL="0">
              <a:buNone/>
            </a:pPr>
            <a:r>
              <a:rPr lang="en-US" sz="1100" b="1" spc="200" kern="0" dirty="0">
                <a:solidFill>
                  <a:srgbClr val="EDE4FB"/>
                </a:solidFill>
                <a:latin typeface="Arial" pitchFamily="34" charset="0"/>
                <a:ea typeface="Arial" pitchFamily="34" charset="-122"/>
                <a:cs typeface="Arial" pitchFamily="34" charset="-120"/>
              </a:rPr>
              <a:t>PROPUESTO EN ESTE PROYECTO</a:t>
            </a:r>
            <a:endParaRPr lang="en-US" sz="1100" dirty="0"/>
          </a:p>
        </p:txBody>
      </p:sp>
      <p:sp>
        <p:nvSpPr>
          <p:cNvPr id="11" name="Text 8"/>
          <p:cNvSpPr txBox="1"/>
          <p:nvPr/>
        </p:nvSpPr>
        <p:spPr>
          <a:xfrm>
            <a:off x="6492240" y="2194560"/>
            <a:ext cx="4846320" cy="36576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FFFFFF"/>
                </a:solidFill>
                <a:latin typeface="Arial" pitchFamily="34" charset="0"/>
                <a:ea typeface="Arial" pitchFamily="34" charset="-122"/>
                <a:cs typeface="Arial" pitchFamily="34" charset="-120"/>
              </a:rPr>
              <a:t>Plugin bh-core</a:t>
            </a:r>
            <a:endParaRPr lang="en-US" sz="1600" dirty="0"/>
          </a:p>
          <a:p>
            <a:pPr marL="342900" indent="-342900">
              <a:spcAft>
                <a:spcPts val="1200"/>
              </a:spcAft>
              <a:buSzPct val="100000"/>
              <a:buChar char="○"/>
            </a:pPr>
            <a:r>
              <a:rPr lang="en-US" sz="1600" dirty="0">
                <a:solidFill>
                  <a:srgbClr val="FFFFFF"/>
                </a:solidFill>
                <a:latin typeface="Arial" pitchFamily="34" charset="0"/>
                <a:ea typeface="Arial" pitchFamily="34" charset="-122"/>
                <a:cs typeface="Arial" pitchFamily="34" charset="-120"/>
              </a:rPr>
              <a:t>Registro de consultas (wp_bh_consulta)</a:t>
            </a:r>
            <a:endParaRPr lang="en-US" sz="1600" dirty="0"/>
          </a:p>
          <a:p>
            <a:pPr marL="342900" indent="-342900">
              <a:spcAft>
                <a:spcPts val="1200"/>
              </a:spcAft>
              <a:buSzPct val="100000"/>
              <a:buChar char="○"/>
            </a:pPr>
            <a:r>
              <a:rPr lang="en-US" sz="1600" dirty="0">
                <a:solidFill>
                  <a:srgbClr val="FFFFFF"/>
                </a:solidFill>
                <a:latin typeface="Arial" pitchFamily="34" charset="0"/>
                <a:ea typeface="Arial" pitchFamily="34" charset="-122"/>
                <a:cs typeface="Arial" pitchFamily="34" charset="-120"/>
              </a:rPr>
              <a:t>Seguimiento con estados</a:t>
            </a:r>
            <a:endParaRPr lang="en-US" sz="1600" dirty="0"/>
          </a:p>
          <a:p>
            <a:pPr marL="342900" indent="-342900">
              <a:spcAft>
                <a:spcPts val="1200"/>
              </a:spcAft>
              <a:buSzPct val="100000"/>
              <a:buChar char="○"/>
            </a:pPr>
            <a:r>
              <a:rPr lang="en-US" sz="1600" dirty="0">
                <a:solidFill>
                  <a:srgbClr val="FFFFFF"/>
                </a:solidFill>
                <a:latin typeface="Arial" pitchFamily="34" charset="0"/>
                <a:ea typeface="Arial" pitchFamily="34" charset="-122"/>
                <a:cs typeface="Arial" pitchFamily="34" charset="-120"/>
              </a:rPr>
              <a:t>Directorio de distribuidores</a:t>
            </a:r>
            <a:endParaRPr lang="en-US" sz="1600" dirty="0"/>
          </a:p>
          <a:p>
            <a:pPr marL="342900" indent="-342900">
              <a:spcAft>
                <a:spcPts val="1200"/>
              </a:spcAft>
              <a:buSzPct val="100000"/>
              <a:buChar char="○"/>
            </a:pPr>
            <a:r>
              <a:rPr lang="en-US" sz="1600" dirty="0">
                <a:solidFill>
                  <a:srgbClr val="FFFFFF"/>
                </a:solidFill>
                <a:latin typeface="Arial" pitchFamily="34" charset="0"/>
                <a:ea typeface="Arial" pitchFamily="34" charset="-122"/>
                <a:cs typeface="Arial" pitchFamily="34" charset="-120"/>
              </a:rPr>
              <a:t>Estado de verificación de especificaciones</a:t>
            </a:r>
            <a:endParaRPr lang="en-US" sz="1600" dirty="0"/>
          </a:p>
          <a:p>
            <a:pPr marL="342900" indent="-342900">
              <a:spcAft>
                <a:spcPts val="1200"/>
              </a:spcAft>
              <a:buSzPct val="100000"/>
              <a:buChar char="○"/>
            </a:pPr>
            <a:r>
              <a:rPr lang="en-US" sz="1600" dirty="0">
                <a:solidFill>
                  <a:srgbClr val="FFFFFF"/>
                </a:solidFill>
                <a:latin typeface="Arial" pitchFamily="34" charset="0"/>
                <a:ea typeface="Arial" pitchFamily="34" charset="-122"/>
                <a:cs typeface="Arial" pitchFamily="34" charset="-120"/>
              </a:rPr>
              <a:t>Reportes, auditoría, 2FA y respaldos</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03 · APLICACIÓN · CONSTRUCCIÓN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WhatsApp: registrar primero, sin hacer esperar al cliente</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24</a:t>
            </a:r>
            <a:endParaRPr lang="en-US" sz="900" dirty="0"/>
          </a:p>
        </p:txBody>
      </p:sp>
      <p:pic>
        <p:nvPicPr>
          <p:cNvPr id="6" name="Image 0" descr="img/cotizar.png">    </p:cNvPr>
          <p:cNvPicPr>
            <a:picLocks noChangeAspect="1"/>
          </p:cNvPicPr>
          <p:nvPr/>
        </p:nvPicPr>
        <p:blipFill>
          <a:blip r:embed="rId1"/>
          <a:stretch>
            <a:fillRect/>
          </a:stretch>
        </p:blipFill>
        <p:spPr>
          <a:xfrm>
            <a:off x="548640" y="1817328"/>
            <a:ext cx="5669280" cy="2308943"/>
          </a:xfrm>
          <a:prstGeom prst="rect">
            <a:avLst/>
          </a:prstGeom>
        </p:spPr>
      </p:pic>
      <p:sp>
        <p:nvSpPr>
          <p:cNvPr id="7" name="Text 3"/>
          <p:cNvSpPr txBox="1"/>
          <p:nvPr/>
        </p:nvSpPr>
        <p:spPr>
          <a:xfrm>
            <a:off x="548640" y="4199424"/>
            <a:ext cx="5486400" cy="274320"/>
          </a:xfrm>
          <a:prstGeom prst="rect">
            <a:avLst/>
          </a:prstGeom>
          <a:noFill/>
          <a:ln/>
        </p:spPr>
        <p:txBody>
          <a:bodyPr wrap="square" lIns="0" tIns="0" rIns="0" bIns="0" rtlCol="0" anchor="t"/>
          <a:lstStyle/>
          <a:p>
            <a:pPr indent="0" marL="0">
              <a:buNone/>
            </a:pPr>
            <a:r>
              <a:rPr lang="en-US" sz="1000" dirty="0">
                <a:solidFill>
                  <a:srgbClr val="9CA3AF"/>
                </a:solidFill>
                <a:latin typeface="Arial" pitchFamily="34" charset="0"/>
                <a:ea typeface="Arial" pitchFamily="34" charset="-122"/>
                <a:cs typeface="Arial" pitchFamily="34" charset="-120"/>
              </a:rPr>
              <a:t>Ficha real del rediseño (evidencia 23-09-2026)</a:t>
            </a:r>
            <a:endParaRPr lang="en-US" sz="1000" dirty="0"/>
          </a:p>
        </p:txBody>
      </p:sp>
      <p:sp>
        <p:nvSpPr>
          <p:cNvPr id="8" name="Shape 4"/>
          <p:cNvSpPr/>
          <p:nvPr/>
        </p:nvSpPr>
        <p:spPr>
          <a:xfrm>
            <a:off x="548640" y="4892040"/>
            <a:ext cx="5669280" cy="1097280"/>
          </a:xfrm>
          <a:prstGeom prst="roundRect">
            <a:avLst>
              <a:gd name="adj" fmla="val 6667"/>
            </a:avLst>
          </a:prstGeom>
          <a:solidFill>
            <a:srgbClr val="0B0B0D"/>
          </a:solidFill>
          <a:ln/>
        </p:spPr>
      </p:sp>
      <p:sp>
        <p:nvSpPr>
          <p:cNvPr id="9" name="Text 5"/>
          <p:cNvSpPr txBox="1"/>
          <p:nvPr/>
        </p:nvSpPr>
        <p:spPr>
          <a:xfrm>
            <a:off x="777240" y="4892040"/>
            <a:ext cx="5212080" cy="1097280"/>
          </a:xfrm>
          <a:prstGeom prst="rect">
            <a:avLst/>
          </a:prstGeom>
          <a:noFill/>
          <a:ln/>
        </p:spPr>
        <p:txBody>
          <a:bodyPr wrap="square" lIns="0" tIns="0" rIns="0" bIns="0" rtlCol="0" anchor="ctr"/>
          <a:lstStyle/>
          <a:p>
            <a:pPr indent="0" marL="0">
              <a:buNone/>
            </a:pPr>
            <a:r>
              <a:rPr lang="en-US" sz="1200" dirty="0">
                <a:solidFill>
                  <a:srgbClr val="A78BFA"/>
                </a:solidFill>
                <a:latin typeface="Courier New" pitchFamily="34" charset="0"/>
                <a:ea typeface="Courier New" pitchFamily="34" charset="-122"/>
                <a:cs typeface="Courier New" pitchFamily="34" charset="-120"/>
              </a:rPr>
              <a:t>https://wa.me/&lt;número&gt;?text=</a:t>
            </a:r>
            <a:pPr indent="0" marL="0">
              <a:buNone/>
            </a:pPr>
            <a:r>
              <a:rPr lang="en-US" sz="1200" dirty="0">
                <a:solidFill>
                  <a:srgbClr val="FFFFFF"/>
                </a:solidFill>
                <a:latin typeface="Courier New" pitchFamily="34" charset="0"/>
                <a:ea typeface="Courier New" pitchFamily="34" charset="-122"/>
                <a:cs typeface="Courier New" pitchFamily="34" charset="-120"/>
              </a:rPr>
              <a:t>Hola Black Hawk, vengo de la web y quiero cotizar el modelo BH-SW12XXG. </a:t>
            </a:r>
            <a:pPr indent="0" marL="0">
              <a:buNone/>
            </a:pPr>
            <a:r>
              <a:rPr lang="en-US" sz="1200" b="1" dirty="0">
                <a:solidFill>
                  <a:srgbClr val="A78BFA"/>
                </a:solidFill>
                <a:latin typeface="Courier New" pitchFamily="34" charset="0"/>
                <a:ea typeface="Courier New" pitchFamily="34" charset="-122"/>
                <a:cs typeface="Courier New" pitchFamily="34" charset="-120"/>
              </a:rPr>
              <a:t>&lt;URL de la ficha&gt;</a:t>
            </a:r>
            <a:endParaRPr lang="en-US" sz="1200" dirty="0"/>
          </a:p>
        </p:txBody>
      </p:sp>
      <p:sp>
        <p:nvSpPr>
          <p:cNvPr id="10" name="Shape 6"/>
          <p:cNvSpPr/>
          <p:nvPr/>
        </p:nvSpPr>
        <p:spPr>
          <a:xfrm>
            <a:off x="6675120" y="1600200"/>
            <a:ext cx="548640" cy="548640"/>
          </a:xfrm>
          <a:prstGeom prst="ellipse">
            <a:avLst/>
          </a:prstGeom>
          <a:solidFill>
            <a:srgbClr val="0B0B0D"/>
          </a:solidFill>
          <a:ln/>
        </p:spPr>
      </p:sp>
      <p:sp>
        <p:nvSpPr>
          <p:cNvPr id="11" name="Text 7"/>
          <p:cNvSpPr txBox="1"/>
          <p:nvPr/>
        </p:nvSpPr>
        <p:spPr>
          <a:xfrm>
            <a:off x="6675120"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2" name="Text 8"/>
          <p:cNvSpPr txBox="1"/>
          <p:nvPr/>
        </p:nvSpPr>
        <p:spPr>
          <a:xfrm>
            <a:off x="7406640" y="1527048"/>
            <a:ext cx="4206240" cy="36576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Construir el mensaje</a:t>
            </a:r>
            <a:endParaRPr lang="en-US" sz="1600" dirty="0"/>
          </a:p>
        </p:txBody>
      </p:sp>
      <p:sp>
        <p:nvSpPr>
          <p:cNvPr id="13" name="Text 9"/>
          <p:cNvSpPr txBox="1"/>
          <p:nvPr/>
        </p:nvSpPr>
        <p:spPr>
          <a:xfrm>
            <a:off x="7406640" y="1920240"/>
            <a:ext cx="4206240" cy="548640"/>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Intención + modelo + URL (RF-012, RF-013)</a:t>
            </a:r>
            <a:endParaRPr lang="en-US" sz="1300" dirty="0"/>
          </a:p>
        </p:txBody>
      </p:sp>
      <p:sp>
        <p:nvSpPr>
          <p:cNvPr id="14" name="Shape 10"/>
          <p:cNvSpPr/>
          <p:nvPr/>
        </p:nvSpPr>
        <p:spPr>
          <a:xfrm>
            <a:off x="6675120" y="2724912"/>
            <a:ext cx="548640" cy="548640"/>
          </a:xfrm>
          <a:prstGeom prst="ellipse">
            <a:avLst/>
          </a:prstGeom>
          <a:solidFill>
            <a:srgbClr val="6D28D9"/>
          </a:solidFill>
          <a:ln/>
        </p:spPr>
      </p:sp>
      <p:sp>
        <p:nvSpPr>
          <p:cNvPr id="15" name="Text 11"/>
          <p:cNvSpPr txBox="1"/>
          <p:nvPr/>
        </p:nvSpPr>
        <p:spPr>
          <a:xfrm>
            <a:off x="6675120" y="272491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6" name="Text 12"/>
          <p:cNvSpPr txBox="1"/>
          <p:nvPr/>
        </p:nvSpPr>
        <p:spPr>
          <a:xfrm>
            <a:off x="7406640" y="2651760"/>
            <a:ext cx="4206240" cy="36576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Registrar la consulta</a:t>
            </a:r>
            <a:endParaRPr lang="en-US" sz="1600" dirty="0"/>
          </a:p>
        </p:txBody>
      </p:sp>
      <p:sp>
        <p:nvSpPr>
          <p:cNvPr id="17" name="Text 13"/>
          <p:cNvSpPr txBox="1"/>
          <p:nvPr/>
        </p:nvSpPr>
        <p:spPr>
          <a:xfrm>
            <a:off x="7406640" y="3044952"/>
            <a:ext cx="4206240" cy="548640"/>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POST /bh/v1/consultas con sendBeacon (RF-014)</a:t>
            </a:r>
            <a:endParaRPr lang="en-US" sz="1300" dirty="0"/>
          </a:p>
        </p:txBody>
      </p:sp>
      <p:sp>
        <p:nvSpPr>
          <p:cNvPr id="18" name="Shape 14"/>
          <p:cNvSpPr/>
          <p:nvPr/>
        </p:nvSpPr>
        <p:spPr>
          <a:xfrm>
            <a:off x="6675120" y="3849624"/>
            <a:ext cx="548640" cy="548640"/>
          </a:xfrm>
          <a:prstGeom prst="ellipse">
            <a:avLst/>
          </a:prstGeom>
          <a:solidFill>
            <a:srgbClr val="0B0B0D"/>
          </a:solidFill>
          <a:ln/>
        </p:spPr>
      </p:sp>
      <p:sp>
        <p:nvSpPr>
          <p:cNvPr id="19" name="Text 15"/>
          <p:cNvSpPr txBox="1"/>
          <p:nvPr/>
        </p:nvSpPr>
        <p:spPr>
          <a:xfrm>
            <a:off x="6675120" y="384962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0" name="Text 16"/>
          <p:cNvSpPr txBox="1"/>
          <p:nvPr/>
        </p:nvSpPr>
        <p:spPr>
          <a:xfrm>
            <a:off x="7406640" y="3776472"/>
            <a:ext cx="4206240" cy="36576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Abrir wa.me</a:t>
            </a:r>
            <a:endParaRPr lang="en-US" sz="1600" dirty="0"/>
          </a:p>
        </p:txBody>
      </p:sp>
      <p:sp>
        <p:nvSpPr>
          <p:cNvPr id="21" name="Text 17"/>
          <p:cNvSpPr txBox="1"/>
          <p:nvPr/>
        </p:nvSpPr>
        <p:spPr>
          <a:xfrm>
            <a:off x="7406640" y="4169664"/>
            <a:ext cx="4206240" cy="548640"/>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Se abre aunque el registro falle</a:t>
            </a:r>
            <a:endParaRPr lang="en-US" sz="1300" dirty="0"/>
          </a:p>
        </p:txBody>
      </p:sp>
      <p:sp>
        <p:nvSpPr>
          <p:cNvPr id="22" name="Shape 18"/>
          <p:cNvSpPr/>
          <p:nvPr/>
        </p:nvSpPr>
        <p:spPr>
          <a:xfrm>
            <a:off x="6675120" y="4974336"/>
            <a:ext cx="548640" cy="548640"/>
          </a:xfrm>
          <a:prstGeom prst="ellipse">
            <a:avLst/>
          </a:prstGeom>
          <a:solidFill>
            <a:srgbClr val="0B0B0D"/>
          </a:solidFill>
          <a:ln/>
        </p:spPr>
      </p:sp>
      <p:sp>
        <p:nvSpPr>
          <p:cNvPr id="23" name="Text 19"/>
          <p:cNvSpPr txBox="1"/>
          <p:nvPr/>
        </p:nvSpPr>
        <p:spPr>
          <a:xfrm>
            <a:off x="6675120" y="497433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4" name="Text 20"/>
          <p:cNvSpPr txBox="1"/>
          <p:nvPr/>
        </p:nvSpPr>
        <p:spPr>
          <a:xfrm>
            <a:off x="7406640" y="4901184"/>
            <a:ext cx="4206240" cy="36576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Dar seguimiento</a:t>
            </a:r>
            <a:endParaRPr lang="en-US" sz="1600" dirty="0"/>
          </a:p>
        </p:txBody>
      </p:sp>
      <p:sp>
        <p:nvSpPr>
          <p:cNvPr id="25" name="Text 21"/>
          <p:cNvSpPr txBox="1"/>
          <p:nvPr/>
        </p:nvSpPr>
        <p:spPr>
          <a:xfrm>
            <a:off x="7406640" y="5294376"/>
            <a:ext cx="4206240" cy="548640"/>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El gestor cambia el estado (CU-18)</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03 · APLICACIÓN · CONSTRUCCIÓN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32 casos de prueba, cada uno ligado a un requisito</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25</a:t>
            </a:r>
            <a:endParaRPr lang="en-US" sz="900" dirty="0"/>
          </a:p>
        </p:txBody>
      </p:sp>
      <p:sp>
        <p:nvSpPr>
          <p:cNvPr id="6" name="Shape 3"/>
          <p:cNvSpPr/>
          <p:nvPr/>
        </p:nvSpPr>
        <p:spPr>
          <a:xfrm>
            <a:off x="548640" y="5074920"/>
            <a:ext cx="5486400" cy="731520"/>
          </a:xfrm>
          <a:prstGeom prst="rect">
            <a:avLst/>
          </a:prstGeom>
          <a:solidFill>
            <a:srgbClr val="0B0B0D"/>
          </a:solidFill>
          <a:ln/>
        </p:spPr>
      </p:sp>
      <p:sp>
        <p:nvSpPr>
          <p:cNvPr id="7" name="Text 4"/>
          <p:cNvSpPr txBox="1"/>
          <p:nvPr/>
        </p:nvSpPr>
        <p:spPr>
          <a:xfrm>
            <a:off x="548640" y="5074920"/>
            <a:ext cx="548640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Unitaria · 5</a:t>
            </a:r>
            <a:endParaRPr lang="en-US" sz="1500" dirty="0"/>
          </a:p>
        </p:txBody>
      </p:sp>
      <p:sp>
        <p:nvSpPr>
          <p:cNvPr id="8" name="Shape 5"/>
          <p:cNvSpPr/>
          <p:nvPr/>
        </p:nvSpPr>
        <p:spPr>
          <a:xfrm>
            <a:off x="960120" y="4233672"/>
            <a:ext cx="4663440" cy="731520"/>
          </a:xfrm>
          <a:prstGeom prst="rect">
            <a:avLst/>
          </a:prstGeom>
          <a:solidFill>
            <a:srgbClr val="1A1B1F"/>
          </a:solidFill>
          <a:ln/>
        </p:spPr>
      </p:sp>
      <p:sp>
        <p:nvSpPr>
          <p:cNvPr id="9" name="Text 6"/>
          <p:cNvSpPr txBox="1"/>
          <p:nvPr/>
        </p:nvSpPr>
        <p:spPr>
          <a:xfrm>
            <a:off x="960120" y="4233672"/>
            <a:ext cx="466344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Integración · 6</a:t>
            </a:r>
            <a:endParaRPr lang="en-US" sz="1500" dirty="0"/>
          </a:p>
        </p:txBody>
      </p:sp>
      <p:sp>
        <p:nvSpPr>
          <p:cNvPr id="10" name="Shape 7"/>
          <p:cNvSpPr/>
          <p:nvPr/>
        </p:nvSpPr>
        <p:spPr>
          <a:xfrm>
            <a:off x="1371600" y="3392424"/>
            <a:ext cx="3840480" cy="731520"/>
          </a:xfrm>
          <a:prstGeom prst="rect">
            <a:avLst/>
          </a:prstGeom>
          <a:solidFill>
            <a:srgbClr val="3B2A66"/>
          </a:solidFill>
          <a:ln/>
        </p:spPr>
      </p:sp>
      <p:sp>
        <p:nvSpPr>
          <p:cNvPr id="11" name="Text 8"/>
          <p:cNvSpPr txBox="1"/>
          <p:nvPr/>
        </p:nvSpPr>
        <p:spPr>
          <a:xfrm>
            <a:off x="1371600" y="3392424"/>
            <a:ext cx="384048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Funcional · 11</a:t>
            </a:r>
            <a:endParaRPr lang="en-US" sz="1500" dirty="0"/>
          </a:p>
        </p:txBody>
      </p:sp>
      <p:sp>
        <p:nvSpPr>
          <p:cNvPr id="12" name="Shape 9"/>
          <p:cNvSpPr/>
          <p:nvPr/>
        </p:nvSpPr>
        <p:spPr>
          <a:xfrm>
            <a:off x="1783080" y="2551176"/>
            <a:ext cx="3017520" cy="731520"/>
          </a:xfrm>
          <a:prstGeom prst="rect">
            <a:avLst/>
          </a:prstGeom>
          <a:solidFill>
            <a:srgbClr val="5B2FB0"/>
          </a:solidFill>
          <a:ln/>
        </p:spPr>
      </p:sp>
      <p:sp>
        <p:nvSpPr>
          <p:cNvPr id="13" name="Text 10"/>
          <p:cNvSpPr txBox="1"/>
          <p:nvPr/>
        </p:nvSpPr>
        <p:spPr>
          <a:xfrm>
            <a:off x="1783080" y="2551176"/>
            <a:ext cx="301752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Sistema · 8</a:t>
            </a:r>
            <a:endParaRPr lang="en-US" sz="1500" dirty="0"/>
          </a:p>
        </p:txBody>
      </p:sp>
      <p:sp>
        <p:nvSpPr>
          <p:cNvPr id="14" name="Shape 11"/>
          <p:cNvSpPr/>
          <p:nvPr/>
        </p:nvSpPr>
        <p:spPr>
          <a:xfrm>
            <a:off x="2194560" y="1709928"/>
            <a:ext cx="2194560" cy="731520"/>
          </a:xfrm>
          <a:prstGeom prst="rect">
            <a:avLst/>
          </a:prstGeom>
          <a:solidFill>
            <a:srgbClr val="6D28D9"/>
          </a:solidFill>
          <a:ln/>
        </p:spPr>
      </p:sp>
      <p:sp>
        <p:nvSpPr>
          <p:cNvPr id="15" name="Text 12"/>
          <p:cNvSpPr txBox="1"/>
          <p:nvPr/>
        </p:nvSpPr>
        <p:spPr>
          <a:xfrm>
            <a:off x="2194560" y="1709928"/>
            <a:ext cx="219456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Aceptación · 2</a:t>
            </a:r>
            <a:endParaRPr lang="en-US" sz="1500" dirty="0"/>
          </a:p>
        </p:txBody>
      </p:sp>
      <p:sp>
        <p:nvSpPr>
          <p:cNvPr id="16" name="Shape 13"/>
          <p:cNvSpPr/>
          <p:nvPr/>
        </p:nvSpPr>
        <p:spPr>
          <a:xfrm>
            <a:off x="6492240" y="1508760"/>
            <a:ext cx="5150815" cy="1097280"/>
          </a:xfrm>
          <a:prstGeom prst="roundRect">
            <a:avLst>
              <a:gd name="adj" fmla="val 6667"/>
            </a:avLst>
          </a:prstGeom>
          <a:solidFill>
            <a:srgbClr val="F5F5F7"/>
          </a:solidFill>
          <a:ln/>
        </p:spPr>
      </p:sp>
      <p:sp>
        <p:nvSpPr>
          <p:cNvPr id="17" name="Text 14"/>
          <p:cNvSpPr txBox="1"/>
          <p:nvPr/>
        </p:nvSpPr>
        <p:spPr>
          <a:xfrm>
            <a:off x="6720840" y="1600200"/>
            <a:ext cx="4572000" cy="320040"/>
          </a:xfrm>
          <a:prstGeom prst="rect">
            <a:avLst/>
          </a:prstGeom>
          <a:noFill/>
          <a:ln/>
        </p:spPr>
        <p:txBody>
          <a:bodyPr wrap="square" lIns="0" tIns="0" rIns="0" bIns="0" rtlCol="0" anchor="t"/>
          <a:lstStyle/>
          <a:p>
            <a:pPr indent="0" marL="0">
              <a:buNone/>
            </a:pPr>
            <a:r>
              <a:rPr lang="en-US" sz="1200" b="1" dirty="0">
                <a:solidFill>
                  <a:srgbClr val="6D28D9"/>
                </a:solidFill>
                <a:latin typeface="Arial" pitchFamily="34" charset="0"/>
                <a:ea typeface="Arial" pitchFamily="34" charset="-122"/>
                <a:cs typeface="Arial" pitchFamily="34" charset="-120"/>
              </a:rPr>
              <a:t>CP-007 · Unitaria</a:t>
            </a:r>
            <a:endParaRPr lang="en-US" sz="1200" dirty="0"/>
          </a:p>
        </p:txBody>
      </p:sp>
      <p:sp>
        <p:nvSpPr>
          <p:cNvPr id="18" name="Text 15"/>
          <p:cNvSpPr txBox="1"/>
          <p:nvPr/>
        </p:nvSpPr>
        <p:spPr>
          <a:xfrm>
            <a:off x="6720840" y="1892808"/>
            <a:ext cx="4572000" cy="320040"/>
          </a:xfrm>
          <a:prstGeom prst="rect">
            <a:avLst/>
          </a:prstGeom>
          <a:noFill/>
          <a:ln/>
        </p:spPr>
        <p:txBody>
          <a:bodyPr wrap="square" lIns="0" tIns="0" rIns="0" bIns="0" rtlCol="0" anchor="t"/>
          <a:lstStyle/>
          <a:p>
            <a:pPr indent="0" marL="0">
              <a:buNone/>
            </a:pPr>
            <a:r>
              <a:rPr lang="en-US" sz="1450" b="1" dirty="0">
                <a:solidFill>
                  <a:srgbClr val="0B0B0D"/>
                </a:solidFill>
                <a:latin typeface="Arial" pitchFamily="34" charset="0"/>
                <a:ea typeface="Arial" pitchFamily="34" charset="-122"/>
                <a:cs typeface="Arial" pitchFamily="34" charset="-120"/>
              </a:rPr>
              <a:t>Límite de 3 en el comparador</a:t>
            </a:r>
            <a:endParaRPr lang="en-US" sz="1450" dirty="0"/>
          </a:p>
        </p:txBody>
      </p:sp>
      <p:sp>
        <p:nvSpPr>
          <p:cNvPr id="19" name="Text 16"/>
          <p:cNvSpPr txBox="1"/>
          <p:nvPr/>
        </p:nvSpPr>
        <p:spPr>
          <a:xfrm>
            <a:off x="6720840" y="2221992"/>
            <a:ext cx="4754880" cy="32004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El cuarto producto se rechaza con aviso</a:t>
            </a:r>
            <a:endParaRPr lang="en-US" sz="1200" dirty="0"/>
          </a:p>
        </p:txBody>
      </p:sp>
      <p:sp>
        <p:nvSpPr>
          <p:cNvPr id="20" name="Shape 17"/>
          <p:cNvSpPr/>
          <p:nvPr/>
        </p:nvSpPr>
        <p:spPr>
          <a:xfrm>
            <a:off x="6492240" y="2743200"/>
            <a:ext cx="5150815" cy="1097280"/>
          </a:xfrm>
          <a:prstGeom prst="roundRect">
            <a:avLst>
              <a:gd name="adj" fmla="val 6667"/>
            </a:avLst>
          </a:prstGeom>
          <a:solidFill>
            <a:srgbClr val="F5F5F7"/>
          </a:solidFill>
          <a:ln/>
        </p:spPr>
      </p:sp>
      <p:sp>
        <p:nvSpPr>
          <p:cNvPr id="21" name="Text 18"/>
          <p:cNvSpPr txBox="1"/>
          <p:nvPr/>
        </p:nvSpPr>
        <p:spPr>
          <a:xfrm>
            <a:off x="6720840" y="2834640"/>
            <a:ext cx="4572000" cy="320040"/>
          </a:xfrm>
          <a:prstGeom prst="rect">
            <a:avLst/>
          </a:prstGeom>
          <a:noFill/>
          <a:ln/>
        </p:spPr>
        <p:txBody>
          <a:bodyPr wrap="square" lIns="0" tIns="0" rIns="0" bIns="0" rtlCol="0" anchor="t"/>
          <a:lstStyle/>
          <a:p>
            <a:pPr indent="0" marL="0">
              <a:buNone/>
            </a:pPr>
            <a:r>
              <a:rPr lang="en-US" sz="1200" b="1" dirty="0">
                <a:solidFill>
                  <a:srgbClr val="6D28D9"/>
                </a:solidFill>
                <a:latin typeface="Arial" pitchFamily="34" charset="0"/>
                <a:ea typeface="Arial" pitchFamily="34" charset="-122"/>
                <a:cs typeface="Arial" pitchFamily="34" charset="-120"/>
              </a:rPr>
              <a:t>CP-014 · Integración</a:t>
            </a:r>
            <a:endParaRPr lang="en-US" sz="1200" dirty="0"/>
          </a:p>
        </p:txBody>
      </p:sp>
      <p:sp>
        <p:nvSpPr>
          <p:cNvPr id="22" name="Text 19"/>
          <p:cNvSpPr txBox="1"/>
          <p:nvPr/>
        </p:nvSpPr>
        <p:spPr>
          <a:xfrm>
            <a:off x="6720840" y="3127248"/>
            <a:ext cx="4572000" cy="320040"/>
          </a:xfrm>
          <a:prstGeom prst="rect">
            <a:avLst/>
          </a:prstGeom>
          <a:noFill/>
          <a:ln/>
        </p:spPr>
        <p:txBody>
          <a:bodyPr wrap="square" lIns="0" tIns="0" rIns="0" bIns="0" rtlCol="0" anchor="t"/>
          <a:lstStyle/>
          <a:p>
            <a:pPr indent="0" marL="0">
              <a:buNone/>
            </a:pPr>
            <a:r>
              <a:rPr lang="en-US" sz="1450" b="1" dirty="0">
                <a:solidFill>
                  <a:srgbClr val="0B0B0D"/>
                </a:solidFill>
                <a:latin typeface="Arial" pitchFamily="34" charset="0"/>
                <a:ea typeface="Arial" pitchFamily="34" charset="-122"/>
                <a:cs typeface="Arial" pitchFamily="34" charset="-120"/>
              </a:rPr>
              <a:t>Registro previo a la redirección</a:t>
            </a:r>
            <a:endParaRPr lang="en-US" sz="1450" dirty="0"/>
          </a:p>
        </p:txBody>
      </p:sp>
      <p:sp>
        <p:nvSpPr>
          <p:cNvPr id="23" name="Text 20"/>
          <p:cNvSpPr txBox="1"/>
          <p:nvPr/>
        </p:nvSpPr>
        <p:spPr>
          <a:xfrm>
            <a:off x="6720840" y="3456432"/>
            <a:ext cx="4754880" cy="32004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Registro REGISTRADA; WhatsApp abre sin demora</a:t>
            </a:r>
            <a:endParaRPr lang="en-US" sz="1200" dirty="0"/>
          </a:p>
        </p:txBody>
      </p:sp>
      <p:sp>
        <p:nvSpPr>
          <p:cNvPr id="24" name="Shape 21"/>
          <p:cNvSpPr/>
          <p:nvPr/>
        </p:nvSpPr>
        <p:spPr>
          <a:xfrm>
            <a:off x="6492240" y="3977640"/>
            <a:ext cx="5150815" cy="1097280"/>
          </a:xfrm>
          <a:prstGeom prst="roundRect">
            <a:avLst>
              <a:gd name="adj" fmla="val 6667"/>
            </a:avLst>
          </a:prstGeom>
          <a:solidFill>
            <a:srgbClr val="F5F5F7"/>
          </a:solidFill>
          <a:ln/>
        </p:spPr>
      </p:sp>
      <p:sp>
        <p:nvSpPr>
          <p:cNvPr id="25" name="Text 22"/>
          <p:cNvSpPr txBox="1"/>
          <p:nvPr/>
        </p:nvSpPr>
        <p:spPr>
          <a:xfrm>
            <a:off x="6720840" y="4069080"/>
            <a:ext cx="4572000" cy="320040"/>
          </a:xfrm>
          <a:prstGeom prst="rect">
            <a:avLst/>
          </a:prstGeom>
          <a:noFill/>
          <a:ln/>
        </p:spPr>
        <p:txBody>
          <a:bodyPr wrap="square" lIns="0" tIns="0" rIns="0" bIns="0" rtlCol="0" anchor="t"/>
          <a:lstStyle/>
          <a:p>
            <a:pPr indent="0" marL="0">
              <a:buNone/>
            </a:pPr>
            <a:r>
              <a:rPr lang="en-US" sz="1200" b="1" dirty="0">
                <a:solidFill>
                  <a:srgbClr val="6D28D9"/>
                </a:solidFill>
                <a:latin typeface="Arial" pitchFamily="34" charset="0"/>
                <a:ea typeface="Arial" pitchFamily="34" charset="-122"/>
                <a:cs typeface="Arial" pitchFamily="34" charset="-120"/>
              </a:rPr>
              <a:t>CP-031 · Aceptación</a:t>
            </a:r>
            <a:endParaRPr lang="en-US" sz="1200" dirty="0"/>
          </a:p>
        </p:txBody>
      </p:sp>
      <p:sp>
        <p:nvSpPr>
          <p:cNvPr id="26" name="Text 23"/>
          <p:cNvSpPr txBox="1"/>
          <p:nvPr/>
        </p:nvSpPr>
        <p:spPr>
          <a:xfrm>
            <a:off x="6720840" y="4361688"/>
            <a:ext cx="4572000" cy="320040"/>
          </a:xfrm>
          <a:prstGeom prst="rect">
            <a:avLst/>
          </a:prstGeom>
          <a:noFill/>
          <a:ln/>
        </p:spPr>
        <p:txBody>
          <a:bodyPr wrap="square" lIns="0" tIns="0" rIns="0" bIns="0" rtlCol="0" anchor="t"/>
          <a:lstStyle/>
          <a:p>
            <a:pPr indent="0" marL="0">
              <a:buNone/>
            </a:pPr>
            <a:r>
              <a:rPr lang="en-US" sz="1450" b="1" dirty="0">
                <a:solidFill>
                  <a:srgbClr val="0B0B0D"/>
                </a:solidFill>
                <a:latin typeface="Arial" pitchFamily="34" charset="0"/>
                <a:ea typeface="Arial" pitchFamily="34" charset="-122"/>
                <a:cs typeface="Arial" pitchFamily="34" charset="-120"/>
              </a:rPr>
              <a:t>Usabilidad con 5 usuarios</a:t>
            </a:r>
            <a:endParaRPr lang="en-US" sz="1450" dirty="0"/>
          </a:p>
        </p:txBody>
      </p:sp>
      <p:sp>
        <p:nvSpPr>
          <p:cNvPr id="27" name="Text 24"/>
          <p:cNvSpPr txBox="1"/>
          <p:nvPr/>
        </p:nvSpPr>
        <p:spPr>
          <a:xfrm>
            <a:off x="6720840" y="4690872"/>
            <a:ext cx="4754880" cy="32004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 4 de 5 inician la consulta sin ayuda</a:t>
            </a:r>
            <a:endParaRPr lang="en-US" sz="1200" dirty="0"/>
          </a:p>
        </p:txBody>
      </p:sp>
      <p:sp>
        <p:nvSpPr>
          <p:cNvPr id="28" name="Shape 25"/>
          <p:cNvSpPr/>
          <p:nvPr/>
        </p:nvSpPr>
        <p:spPr>
          <a:xfrm>
            <a:off x="6492240" y="5257800"/>
            <a:ext cx="5150815" cy="731520"/>
          </a:xfrm>
          <a:prstGeom prst="roundRect">
            <a:avLst>
              <a:gd name="adj" fmla="val 10000"/>
            </a:avLst>
          </a:prstGeom>
          <a:solidFill>
            <a:srgbClr val="0B0B0D"/>
          </a:solidFill>
          <a:ln/>
        </p:spPr>
      </p:sp>
      <p:sp>
        <p:nvSpPr>
          <p:cNvPr id="29" name="Text 26"/>
          <p:cNvSpPr txBox="1"/>
          <p:nvPr/>
        </p:nvSpPr>
        <p:spPr>
          <a:xfrm>
            <a:off x="6720840" y="5257800"/>
            <a:ext cx="4754880" cy="7315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Estado: diseñados, no ejecutados en este trabajo.</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03 · APLICACIÓN · TRANSICIÓN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Transición: siete criterios objetivos para salir a producción</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26</a:t>
            </a:r>
            <a:endParaRPr lang="en-US" sz="900" dirty="0"/>
          </a:p>
        </p:txBody>
      </p:sp>
      <p:sp>
        <p:nvSpPr>
          <p:cNvPr id="6" name="Shape 3"/>
          <p:cNvSpPr/>
          <p:nvPr/>
        </p:nvSpPr>
        <p:spPr>
          <a:xfrm>
            <a:off x="548640" y="1508760"/>
            <a:ext cx="2651760" cy="2011680"/>
          </a:xfrm>
          <a:prstGeom prst="roundRect">
            <a:avLst>
              <a:gd name="adj" fmla="val 3636"/>
            </a:avLst>
          </a:prstGeom>
          <a:solidFill>
            <a:srgbClr val="F5F5F7"/>
          </a:solidFill>
          <a:ln/>
        </p:spPr>
      </p:sp>
      <p:sp>
        <p:nvSpPr>
          <p:cNvPr id="7" name="Text 4"/>
          <p:cNvSpPr txBox="1"/>
          <p:nvPr/>
        </p:nvSpPr>
        <p:spPr>
          <a:xfrm>
            <a:off x="777240" y="1737360"/>
            <a:ext cx="2286000" cy="731520"/>
          </a:xfrm>
          <a:prstGeom prst="rect">
            <a:avLst/>
          </a:prstGeom>
          <a:noFill/>
          <a:ln/>
        </p:spPr>
        <p:txBody>
          <a:bodyPr wrap="square" lIns="0" tIns="0" rIns="0" bIns="0" rtlCol="0" anchor="t"/>
          <a:lstStyle/>
          <a:p>
            <a:pPr indent="0" marL="0">
              <a:buNone/>
            </a:pPr>
            <a:r>
              <a:rPr lang="en-US" sz="3000" b="1" dirty="0">
                <a:solidFill>
                  <a:srgbClr val="6D28D9"/>
                </a:solidFill>
                <a:latin typeface="Arial" pitchFamily="34" charset="0"/>
                <a:ea typeface="Arial" pitchFamily="34" charset="-122"/>
                <a:cs typeface="Arial" pitchFamily="34" charset="-120"/>
              </a:rPr>
              <a:t>100 %</a:t>
            </a:r>
            <a:endParaRPr lang="en-US" sz="3000" dirty="0"/>
          </a:p>
        </p:txBody>
      </p:sp>
      <p:sp>
        <p:nvSpPr>
          <p:cNvPr id="8" name="Text 5"/>
          <p:cNvSpPr txBox="1"/>
          <p:nvPr/>
        </p:nvSpPr>
        <p:spPr>
          <a:xfrm>
            <a:off x="777240" y="2514600"/>
            <a:ext cx="2240280" cy="868680"/>
          </a:xfrm>
          <a:prstGeom prst="rect">
            <a:avLst/>
          </a:prstGeom>
          <a:noFill/>
          <a:ln/>
        </p:spPr>
        <p:txBody>
          <a:bodyPr wrap="square" lIns="0" tIns="0" rIns="0" bIns="0" rtlCol="0" anchor="t"/>
          <a:lstStyle/>
          <a:p>
            <a:pPr indent="0" marL="0">
              <a:buNone/>
            </a:pPr>
            <a:r>
              <a:rPr lang="en-US" sz="1400" dirty="0">
                <a:solidFill>
                  <a:srgbClr val="0B0B0D"/>
                </a:solidFill>
                <a:latin typeface="Arial" pitchFamily="34" charset="0"/>
                <a:ea typeface="Arial" pitchFamily="34" charset="-122"/>
                <a:cs typeface="Arial" pitchFamily="34" charset="-120"/>
              </a:rPr>
              <a:t>pruebas de prioridad alta aprobadas</a:t>
            </a:r>
            <a:endParaRPr lang="en-US" sz="1400" dirty="0"/>
          </a:p>
        </p:txBody>
      </p:sp>
      <p:sp>
        <p:nvSpPr>
          <p:cNvPr id="9" name="Shape 6"/>
          <p:cNvSpPr/>
          <p:nvPr/>
        </p:nvSpPr>
        <p:spPr>
          <a:xfrm>
            <a:off x="3355848" y="1508760"/>
            <a:ext cx="2651760" cy="2011680"/>
          </a:xfrm>
          <a:prstGeom prst="roundRect">
            <a:avLst>
              <a:gd name="adj" fmla="val 3636"/>
            </a:avLst>
          </a:prstGeom>
          <a:solidFill>
            <a:srgbClr val="F5F5F7"/>
          </a:solidFill>
          <a:ln/>
        </p:spPr>
      </p:sp>
      <p:sp>
        <p:nvSpPr>
          <p:cNvPr id="10" name="Text 7"/>
          <p:cNvSpPr txBox="1"/>
          <p:nvPr/>
        </p:nvSpPr>
        <p:spPr>
          <a:xfrm>
            <a:off x="3584448" y="1737360"/>
            <a:ext cx="2286000" cy="731520"/>
          </a:xfrm>
          <a:prstGeom prst="rect">
            <a:avLst/>
          </a:prstGeom>
          <a:noFill/>
          <a:ln/>
        </p:spPr>
        <p:txBody>
          <a:bodyPr wrap="square" lIns="0" tIns="0" rIns="0" bIns="0" rtlCol="0" anchor="t"/>
          <a:lstStyle/>
          <a:p>
            <a:pPr indent="0" marL="0">
              <a:buNone/>
            </a:pPr>
            <a:r>
              <a:rPr lang="en-US" sz="3000" b="1" dirty="0">
                <a:solidFill>
                  <a:srgbClr val="6D28D9"/>
                </a:solidFill>
                <a:latin typeface="Arial" pitchFamily="34" charset="0"/>
                <a:ea typeface="Arial" pitchFamily="34" charset="-122"/>
                <a:cs typeface="Arial" pitchFamily="34" charset="-120"/>
              </a:rPr>
              <a:t>0</a:t>
            </a:r>
            <a:endParaRPr lang="en-US" sz="3000" dirty="0"/>
          </a:p>
        </p:txBody>
      </p:sp>
      <p:sp>
        <p:nvSpPr>
          <p:cNvPr id="11" name="Text 8"/>
          <p:cNvSpPr txBox="1"/>
          <p:nvPr/>
        </p:nvSpPr>
        <p:spPr>
          <a:xfrm>
            <a:off x="3584448" y="2514600"/>
            <a:ext cx="2240280" cy="868680"/>
          </a:xfrm>
          <a:prstGeom prst="rect">
            <a:avLst/>
          </a:prstGeom>
          <a:noFill/>
          <a:ln/>
        </p:spPr>
        <p:txBody>
          <a:bodyPr wrap="square" lIns="0" tIns="0" rIns="0" bIns="0" rtlCol="0" anchor="t"/>
          <a:lstStyle/>
          <a:p>
            <a:pPr indent="0" marL="0">
              <a:buNone/>
            </a:pPr>
            <a:r>
              <a:rPr lang="en-US" sz="1400" dirty="0">
                <a:solidFill>
                  <a:srgbClr val="0B0B0D"/>
                </a:solidFill>
                <a:latin typeface="Arial" pitchFamily="34" charset="0"/>
                <a:ea typeface="Arial" pitchFamily="34" charset="-122"/>
                <a:cs typeface="Arial" pitchFamily="34" charset="-120"/>
              </a:rPr>
              <a:t>incidencias críticas o altas</a:t>
            </a:r>
            <a:endParaRPr lang="en-US" sz="1400" dirty="0"/>
          </a:p>
        </p:txBody>
      </p:sp>
      <p:sp>
        <p:nvSpPr>
          <p:cNvPr id="12" name="Shape 9"/>
          <p:cNvSpPr/>
          <p:nvPr/>
        </p:nvSpPr>
        <p:spPr>
          <a:xfrm>
            <a:off x="6163056" y="1508760"/>
            <a:ext cx="2651760" cy="2011680"/>
          </a:xfrm>
          <a:prstGeom prst="roundRect">
            <a:avLst>
              <a:gd name="adj" fmla="val 3636"/>
            </a:avLst>
          </a:prstGeom>
          <a:solidFill>
            <a:srgbClr val="F5F5F7"/>
          </a:solidFill>
          <a:ln/>
        </p:spPr>
      </p:sp>
      <p:sp>
        <p:nvSpPr>
          <p:cNvPr id="13" name="Text 10"/>
          <p:cNvSpPr txBox="1"/>
          <p:nvPr/>
        </p:nvSpPr>
        <p:spPr>
          <a:xfrm>
            <a:off x="6391656" y="1737360"/>
            <a:ext cx="2286000" cy="731520"/>
          </a:xfrm>
          <a:prstGeom prst="rect">
            <a:avLst/>
          </a:prstGeom>
          <a:noFill/>
          <a:ln/>
        </p:spPr>
        <p:txBody>
          <a:bodyPr wrap="square" lIns="0" tIns="0" rIns="0" bIns="0" rtlCol="0" anchor="t"/>
          <a:lstStyle/>
          <a:p>
            <a:pPr indent="0" marL="0">
              <a:buNone/>
            </a:pPr>
            <a:r>
              <a:rPr lang="en-US" sz="3000" b="1" dirty="0">
                <a:solidFill>
                  <a:srgbClr val="6D28D9"/>
                </a:solidFill>
                <a:latin typeface="Arial" pitchFamily="34" charset="0"/>
                <a:ea typeface="Arial" pitchFamily="34" charset="-122"/>
                <a:cs typeface="Arial" pitchFamily="34" charset="-120"/>
              </a:rPr>
              <a:t>4 de 5</a:t>
            </a:r>
            <a:endParaRPr lang="en-US" sz="3000" dirty="0"/>
          </a:p>
        </p:txBody>
      </p:sp>
      <p:sp>
        <p:nvSpPr>
          <p:cNvPr id="14" name="Text 11"/>
          <p:cNvSpPr txBox="1"/>
          <p:nvPr/>
        </p:nvSpPr>
        <p:spPr>
          <a:xfrm>
            <a:off x="6391656" y="2514600"/>
            <a:ext cx="2240280" cy="868680"/>
          </a:xfrm>
          <a:prstGeom prst="rect">
            <a:avLst/>
          </a:prstGeom>
          <a:noFill/>
          <a:ln/>
        </p:spPr>
        <p:txBody>
          <a:bodyPr wrap="square" lIns="0" tIns="0" rIns="0" bIns="0" rtlCol="0" anchor="t"/>
          <a:lstStyle/>
          <a:p>
            <a:pPr indent="0" marL="0">
              <a:buNone/>
            </a:pPr>
            <a:r>
              <a:rPr lang="en-US" sz="1400" dirty="0">
                <a:solidFill>
                  <a:srgbClr val="0B0B0D"/>
                </a:solidFill>
                <a:latin typeface="Arial" pitchFamily="34" charset="0"/>
                <a:ea typeface="Arial" pitchFamily="34" charset="-122"/>
                <a:cs typeface="Arial" pitchFamily="34" charset="-120"/>
              </a:rPr>
              <a:t>usuarios completan la consulta sin ayuda</a:t>
            </a:r>
            <a:endParaRPr lang="en-US" sz="1400" dirty="0"/>
          </a:p>
        </p:txBody>
      </p:sp>
      <p:sp>
        <p:nvSpPr>
          <p:cNvPr id="15" name="Shape 12"/>
          <p:cNvSpPr/>
          <p:nvPr/>
        </p:nvSpPr>
        <p:spPr>
          <a:xfrm>
            <a:off x="8970264" y="1508760"/>
            <a:ext cx="2651760" cy="2011680"/>
          </a:xfrm>
          <a:prstGeom prst="roundRect">
            <a:avLst>
              <a:gd name="adj" fmla="val 3636"/>
            </a:avLst>
          </a:prstGeom>
          <a:solidFill>
            <a:srgbClr val="F5F5F7"/>
          </a:solidFill>
          <a:ln/>
        </p:spPr>
      </p:sp>
      <p:sp>
        <p:nvSpPr>
          <p:cNvPr id="16" name="Text 13"/>
          <p:cNvSpPr txBox="1"/>
          <p:nvPr/>
        </p:nvSpPr>
        <p:spPr>
          <a:xfrm>
            <a:off x="9198864" y="1737360"/>
            <a:ext cx="2286000" cy="731520"/>
          </a:xfrm>
          <a:prstGeom prst="rect">
            <a:avLst/>
          </a:prstGeom>
          <a:noFill/>
          <a:ln/>
        </p:spPr>
        <p:txBody>
          <a:bodyPr wrap="square" lIns="0" tIns="0" rIns="0" bIns="0" rtlCol="0" anchor="t"/>
          <a:lstStyle/>
          <a:p>
            <a:pPr indent="0" marL="0">
              <a:buNone/>
            </a:pPr>
            <a:r>
              <a:rPr lang="en-US" sz="3000" b="1" dirty="0">
                <a:solidFill>
                  <a:srgbClr val="6D28D9"/>
                </a:solidFill>
                <a:latin typeface="Arial" pitchFamily="34" charset="0"/>
                <a:ea typeface="Arial" pitchFamily="34" charset="-122"/>
                <a:cs typeface="Arial" pitchFamily="34" charset="-120"/>
              </a:rPr>
              <a:t>≤ 2,5 s</a:t>
            </a:r>
            <a:endParaRPr lang="en-US" sz="3000" dirty="0"/>
          </a:p>
        </p:txBody>
      </p:sp>
      <p:sp>
        <p:nvSpPr>
          <p:cNvPr id="17" name="Text 14"/>
          <p:cNvSpPr txBox="1"/>
          <p:nvPr/>
        </p:nvSpPr>
        <p:spPr>
          <a:xfrm>
            <a:off x="9198864" y="2514600"/>
            <a:ext cx="2240280" cy="868680"/>
          </a:xfrm>
          <a:prstGeom prst="rect">
            <a:avLst/>
          </a:prstGeom>
          <a:noFill/>
          <a:ln/>
        </p:spPr>
        <p:txBody>
          <a:bodyPr wrap="square" lIns="0" tIns="0" rIns="0" bIns="0" rtlCol="0" anchor="t"/>
          <a:lstStyle/>
          <a:p>
            <a:pPr indent="0" marL="0">
              <a:buNone/>
            </a:pPr>
            <a:r>
              <a:rPr lang="en-US" sz="1400" dirty="0">
                <a:solidFill>
                  <a:srgbClr val="0B0B0D"/>
                </a:solidFill>
                <a:latin typeface="Arial" pitchFamily="34" charset="0"/>
                <a:ea typeface="Arial" pitchFamily="34" charset="-122"/>
                <a:cs typeface="Arial" pitchFamily="34" charset="-120"/>
              </a:rPr>
              <a:t>LCP en home, catálogo y ficha</a:t>
            </a:r>
            <a:endParaRPr lang="en-US" sz="1400" dirty="0"/>
          </a:p>
        </p:txBody>
      </p:sp>
      <p:sp>
        <p:nvSpPr>
          <p:cNvPr id="18" name="Shape 15"/>
          <p:cNvSpPr/>
          <p:nvPr/>
        </p:nvSpPr>
        <p:spPr>
          <a:xfrm>
            <a:off x="548640" y="3703320"/>
            <a:ext cx="2651760" cy="2011680"/>
          </a:xfrm>
          <a:prstGeom prst="roundRect">
            <a:avLst>
              <a:gd name="adj" fmla="val 3636"/>
            </a:avLst>
          </a:prstGeom>
          <a:solidFill>
            <a:srgbClr val="F5F5F7"/>
          </a:solidFill>
          <a:ln/>
        </p:spPr>
      </p:sp>
      <p:sp>
        <p:nvSpPr>
          <p:cNvPr id="19" name="Text 16"/>
          <p:cNvSpPr txBox="1"/>
          <p:nvPr/>
        </p:nvSpPr>
        <p:spPr>
          <a:xfrm>
            <a:off x="777240" y="3931920"/>
            <a:ext cx="2286000" cy="731520"/>
          </a:xfrm>
          <a:prstGeom prst="rect">
            <a:avLst/>
          </a:prstGeom>
          <a:noFill/>
          <a:ln/>
        </p:spPr>
        <p:txBody>
          <a:bodyPr wrap="square" lIns="0" tIns="0" rIns="0" bIns="0" rtlCol="0" anchor="t"/>
          <a:lstStyle/>
          <a:p>
            <a:pPr indent="0" marL="0">
              <a:buNone/>
            </a:pPr>
            <a:r>
              <a:rPr lang="en-US" sz="3000" b="1" dirty="0">
                <a:solidFill>
                  <a:srgbClr val="6D28D9"/>
                </a:solidFill>
                <a:latin typeface="Arial" pitchFamily="34" charset="0"/>
                <a:ea typeface="Arial" pitchFamily="34" charset="-122"/>
                <a:cs typeface="Arial" pitchFamily="34" charset="-120"/>
              </a:rPr>
              <a:t>≤ 4 h</a:t>
            </a:r>
            <a:endParaRPr lang="en-US" sz="3000" dirty="0"/>
          </a:p>
        </p:txBody>
      </p:sp>
      <p:sp>
        <p:nvSpPr>
          <p:cNvPr id="20" name="Text 17"/>
          <p:cNvSpPr txBox="1"/>
          <p:nvPr/>
        </p:nvSpPr>
        <p:spPr>
          <a:xfrm>
            <a:off x="777240" y="4709160"/>
            <a:ext cx="2240280" cy="868680"/>
          </a:xfrm>
          <a:prstGeom prst="rect">
            <a:avLst/>
          </a:prstGeom>
          <a:noFill/>
          <a:ln/>
        </p:spPr>
        <p:txBody>
          <a:bodyPr wrap="square" lIns="0" tIns="0" rIns="0" bIns="0" rtlCol="0" anchor="t"/>
          <a:lstStyle/>
          <a:p>
            <a:pPr indent="0" marL="0">
              <a:buNone/>
            </a:pPr>
            <a:r>
              <a:rPr lang="en-US" sz="1400" dirty="0">
                <a:solidFill>
                  <a:srgbClr val="0B0B0D"/>
                </a:solidFill>
                <a:latin typeface="Arial" pitchFamily="34" charset="0"/>
                <a:ea typeface="Arial" pitchFamily="34" charset="-122"/>
                <a:cs typeface="Arial" pitchFamily="34" charset="-120"/>
              </a:rPr>
              <a:t>restauración de respaldo en staging</a:t>
            </a:r>
            <a:endParaRPr lang="en-US" sz="1400" dirty="0"/>
          </a:p>
        </p:txBody>
      </p:sp>
      <p:sp>
        <p:nvSpPr>
          <p:cNvPr id="21" name="Shape 18"/>
          <p:cNvSpPr/>
          <p:nvPr/>
        </p:nvSpPr>
        <p:spPr>
          <a:xfrm>
            <a:off x="3355848" y="3703320"/>
            <a:ext cx="2651760" cy="2011680"/>
          </a:xfrm>
          <a:prstGeom prst="roundRect">
            <a:avLst>
              <a:gd name="adj" fmla="val 3636"/>
            </a:avLst>
          </a:prstGeom>
          <a:solidFill>
            <a:srgbClr val="F5F5F7"/>
          </a:solidFill>
          <a:ln/>
        </p:spPr>
      </p:sp>
      <p:sp>
        <p:nvSpPr>
          <p:cNvPr id="22" name="Text 19"/>
          <p:cNvSpPr txBox="1"/>
          <p:nvPr/>
        </p:nvSpPr>
        <p:spPr>
          <a:xfrm>
            <a:off x="3584448" y="3931920"/>
            <a:ext cx="2286000" cy="731520"/>
          </a:xfrm>
          <a:prstGeom prst="rect">
            <a:avLst/>
          </a:prstGeom>
          <a:noFill/>
          <a:ln/>
        </p:spPr>
        <p:txBody>
          <a:bodyPr wrap="square" lIns="0" tIns="0" rIns="0" bIns="0" rtlCol="0" anchor="t"/>
          <a:lstStyle/>
          <a:p>
            <a:pPr indent="0" marL="0">
              <a:buNone/>
            </a:pPr>
            <a:r>
              <a:rPr lang="en-US" sz="3000" b="1" dirty="0">
                <a:solidFill>
                  <a:srgbClr val="6D28D9"/>
                </a:solidFill>
                <a:latin typeface="Arial" pitchFamily="34" charset="0"/>
                <a:ea typeface="Arial" pitchFamily="34" charset="-122"/>
                <a:cs typeface="Arial" pitchFamily="34" charset="-120"/>
              </a:rPr>
              <a:t>Sin noindex</a:t>
            </a:r>
            <a:endParaRPr lang="en-US" sz="3000" dirty="0"/>
          </a:p>
        </p:txBody>
      </p:sp>
      <p:sp>
        <p:nvSpPr>
          <p:cNvPr id="23" name="Text 20"/>
          <p:cNvSpPr txBox="1"/>
          <p:nvPr/>
        </p:nvSpPr>
        <p:spPr>
          <a:xfrm>
            <a:off x="3584448" y="4709160"/>
            <a:ext cx="2240280" cy="868680"/>
          </a:xfrm>
          <a:prstGeom prst="rect">
            <a:avLst/>
          </a:prstGeom>
          <a:noFill/>
          <a:ln/>
        </p:spPr>
        <p:txBody>
          <a:bodyPr wrap="square" lIns="0" tIns="0" rIns="0" bIns="0" rtlCol="0" anchor="t"/>
          <a:lstStyle/>
          <a:p>
            <a:pPr indent="0" marL="0">
              <a:buNone/>
            </a:pPr>
            <a:r>
              <a:rPr lang="en-US" sz="1400" dirty="0">
                <a:solidFill>
                  <a:srgbClr val="0B0B0D"/>
                </a:solidFill>
                <a:latin typeface="Arial" pitchFamily="34" charset="0"/>
                <a:ea typeface="Arial" pitchFamily="34" charset="-122"/>
                <a:cs typeface="Arial" pitchFamily="34" charset="-120"/>
              </a:rPr>
              <a:t>canonical al dominio oficial</a:t>
            </a:r>
            <a:endParaRPr lang="en-US" sz="1400" dirty="0"/>
          </a:p>
        </p:txBody>
      </p:sp>
      <p:sp>
        <p:nvSpPr>
          <p:cNvPr id="24" name="Shape 21"/>
          <p:cNvSpPr/>
          <p:nvPr/>
        </p:nvSpPr>
        <p:spPr>
          <a:xfrm>
            <a:off x="6163056" y="3703320"/>
            <a:ext cx="2651760" cy="2011680"/>
          </a:xfrm>
          <a:prstGeom prst="roundRect">
            <a:avLst>
              <a:gd name="adj" fmla="val 3636"/>
            </a:avLst>
          </a:prstGeom>
          <a:solidFill>
            <a:srgbClr val="6D28D9"/>
          </a:solidFill>
          <a:ln/>
        </p:spPr>
      </p:sp>
      <p:sp>
        <p:nvSpPr>
          <p:cNvPr id="25" name="Text 22"/>
          <p:cNvSpPr txBox="1"/>
          <p:nvPr/>
        </p:nvSpPr>
        <p:spPr>
          <a:xfrm>
            <a:off x="6391656" y="3931920"/>
            <a:ext cx="2286000" cy="73152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Acta</a:t>
            </a:r>
            <a:endParaRPr lang="en-US" sz="3000" dirty="0"/>
          </a:p>
        </p:txBody>
      </p:sp>
      <p:sp>
        <p:nvSpPr>
          <p:cNvPr id="26" name="Text 23"/>
          <p:cNvSpPr txBox="1"/>
          <p:nvPr/>
        </p:nvSpPr>
        <p:spPr>
          <a:xfrm>
            <a:off x="6391656" y="4709160"/>
            <a:ext cx="2240280" cy="86868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gestor y administrador capacitados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03 · APLICACIÓN · TRANSICIÓN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Desplegar con red de seguridad</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27</a:t>
            </a:r>
            <a:endParaRPr lang="en-US" sz="900" dirty="0"/>
          </a:p>
        </p:txBody>
      </p:sp>
      <p:sp>
        <p:nvSpPr>
          <p:cNvPr id="6" name="Shape 3"/>
          <p:cNvSpPr/>
          <p:nvPr/>
        </p:nvSpPr>
        <p:spPr>
          <a:xfrm>
            <a:off x="548640" y="1536192"/>
            <a:ext cx="420624" cy="420624"/>
          </a:xfrm>
          <a:prstGeom prst="ellipse">
            <a:avLst/>
          </a:prstGeom>
          <a:solidFill>
            <a:srgbClr val="0B0B0D"/>
          </a:solidFill>
          <a:ln/>
        </p:spPr>
      </p:sp>
      <p:sp>
        <p:nvSpPr>
          <p:cNvPr id="7" name="Text 4"/>
          <p:cNvSpPr txBox="1"/>
          <p:nvPr/>
        </p:nvSpPr>
        <p:spPr>
          <a:xfrm>
            <a:off x="548640" y="15361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5"/>
          <p:cNvSpPr txBox="1"/>
          <p:nvPr/>
        </p:nvSpPr>
        <p:spPr>
          <a:xfrm>
            <a:off x="1143000" y="1463040"/>
            <a:ext cx="5669280" cy="566928"/>
          </a:xfrm>
          <a:prstGeom prst="rect">
            <a:avLst/>
          </a:prstGeom>
          <a:noFill/>
          <a:ln/>
        </p:spPr>
        <p:txBody>
          <a:bodyPr wrap="square" lIns="0" tIns="0" rIns="0" bIns="0" rtlCol="0" anchor="ctr"/>
          <a:lstStyle/>
          <a:p>
            <a:pPr indent="0" marL="0">
              <a:buNone/>
            </a:pPr>
            <a:r>
              <a:rPr lang="en-US" sz="1450" dirty="0">
                <a:solidFill>
                  <a:srgbClr val="0B0B0D"/>
                </a:solidFill>
                <a:latin typeface="Arial" pitchFamily="34" charset="0"/>
                <a:ea typeface="Arial" pitchFamily="34" charset="-122"/>
                <a:cs typeface="Arial" pitchFamily="34" charset="-120"/>
              </a:rPr>
              <a:t>Congelar v1.0-rc y regresión en staging</a:t>
            </a:r>
            <a:endParaRPr lang="en-US" sz="1450" dirty="0"/>
          </a:p>
        </p:txBody>
      </p:sp>
      <p:sp>
        <p:nvSpPr>
          <p:cNvPr id="9" name="Shape 6"/>
          <p:cNvSpPr/>
          <p:nvPr/>
        </p:nvSpPr>
        <p:spPr>
          <a:xfrm>
            <a:off x="548640" y="2157984"/>
            <a:ext cx="420624" cy="420624"/>
          </a:xfrm>
          <a:prstGeom prst="ellipse">
            <a:avLst/>
          </a:prstGeom>
          <a:solidFill>
            <a:srgbClr val="0B0B0D"/>
          </a:solidFill>
          <a:ln/>
        </p:spPr>
      </p:sp>
      <p:sp>
        <p:nvSpPr>
          <p:cNvPr id="10" name="Text 7"/>
          <p:cNvSpPr txBox="1"/>
          <p:nvPr/>
        </p:nvSpPr>
        <p:spPr>
          <a:xfrm>
            <a:off x="548640" y="21579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8"/>
          <p:cNvSpPr txBox="1"/>
          <p:nvPr/>
        </p:nvSpPr>
        <p:spPr>
          <a:xfrm>
            <a:off x="1143000" y="2084832"/>
            <a:ext cx="5669280" cy="566928"/>
          </a:xfrm>
          <a:prstGeom prst="rect">
            <a:avLst/>
          </a:prstGeom>
          <a:noFill/>
          <a:ln/>
        </p:spPr>
        <p:txBody>
          <a:bodyPr wrap="square" lIns="0" tIns="0" rIns="0" bIns="0" rtlCol="0" anchor="ctr"/>
          <a:lstStyle/>
          <a:p>
            <a:pPr indent="0" marL="0">
              <a:buNone/>
            </a:pPr>
            <a:r>
              <a:rPr lang="en-US" sz="1450" dirty="0">
                <a:solidFill>
                  <a:srgbClr val="0B0B0D"/>
                </a:solidFill>
                <a:latin typeface="Arial" pitchFamily="34" charset="0"/>
                <a:ea typeface="Arial" pitchFamily="34" charset="-122"/>
                <a:cs typeface="Arial" pitchFamily="34" charset="-120"/>
              </a:rPr>
              <a:t>Respaldar producción (punto de reversión)</a:t>
            </a:r>
            <a:endParaRPr lang="en-US" sz="1450" dirty="0"/>
          </a:p>
        </p:txBody>
      </p:sp>
      <p:sp>
        <p:nvSpPr>
          <p:cNvPr id="12" name="Shape 9"/>
          <p:cNvSpPr/>
          <p:nvPr/>
        </p:nvSpPr>
        <p:spPr>
          <a:xfrm>
            <a:off x="548640" y="2779776"/>
            <a:ext cx="420624" cy="420624"/>
          </a:xfrm>
          <a:prstGeom prst="ellipse">
            <a:avLst/>
          </a:prstGeom>
          <a:solidFill>
            <a:srgbClr val="0B0B0D"/>
          </a:solidFill>
          <a:ln/>
        </p:spPr>
      </p:sp>
      <p:sp>
        <p:nvSpPr>
          <p:cNvPr id="13" name="Text 10"/>
          <p:cNvSpPr txBox="1"/>
          <p:nvPr/>
        </p:nvSpPr>
        <p:spPr>
          <a:xfrm>
            <a:off x="548640" y="27797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Text 11"/>
          <p:cNvSpPr txBox="1"/>
          <p:nvPr/>
        </p:nvSpPr>
        <p:spPr>
          <a:xfrm>
            <a:off x="1143000" y="2706624"/>
            <a:ext cx="5669280" cy="566928"/>
          </a:xfrm>
          <a:prstGeom prst="rect">
            <a:avLst/>
          </a:prstGeom>
          <a:noFill/>
          <a:ln/>
        </p:spPr>
        <p:txBody>
          <a:bodyPr wrap="square" lIns="0" tIns="0" rIns="0" bIns="0" rtlCol="0" anchor="ctr"/>
          <a:lstStyle/>
          <a:p>
            <a:pPr indent="0" marL="0">
              <a:buNone/>
            </a:pPr>
            <a:r>
              <a:rPr lang="en-US" sz="1450" dirty="0">
                <a:solidFill>
                  <a:srgbClr val="0B0B0D"/>
                </a:solidFill>
                <a:latin typeface="Arial" pitchFamily="34" charset="0"/>
                <a:ea typeface="Arial" pitchFamily="34" charset="-122"/>
                <a:cs typeface="Arial" pitchFamily="34" charset="-120"/>
              </a:rPr>
              <a:t>Desplegar tema hijo y bh-core; crear tablas wp_bh_*</a:t>
            </a:r>
            <a:endParaRPr lang="en-US" sz="1450" dirty="0"/>
          </a:p>
        </p:txBody>
      </p:sp>
      <p:sp>
        <p:nvSpPr>
          <p:cNvPr id="15" name="Shape 12"/>
          <p:cNvSpPr/>
          <p:nvPr/>
        </p:nvSpPr>
        <p:spPr>
          <a:xfrm>
            <a:off x="548640" y="3401568"/>
            <a:ext cx="420624" cy="420624"/>
          </a:xfrm>
          <a:prstGeom prst="ellipse">
            <a:avLst/>
          </a:prstGeom>
          <a:solidFill>
            <a:srgbClr val="0B0B0D"/>
          </a:solidFill>
          <a:ln/>
        </p:spPr>
      </p:sp>
      <p:sp>
        <p:nvSpPr>
          <p:cNvPr id="16" name="Text 13"/>
          <p:cNvSpPr txBox="1"/>
          <p:nvPr/>
        </p:nvSpPr>
        <p:spPr>
          <a:xfrm>
            <a:off x="548640" y="34015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Text 14"/>
          <p:cNvSpPr txBox="1"/>
          <p:nvPr/>
        </p:nvSpPr>
        <p:spPr>
          <a:xfrm>
            <a:off x="1143000" y="3328416"/>
            <a:ext cx="5669280" cy="566928"/>
          </a:xfrm>
          <a:prstGeom prst="rect">
            <a:avLst/>
          </a:prstGeom>
          <a:noFill/>
          <a:ln/>
        </p:spPr>
        <p:txBody>
          <a:bodyPr wrap="square" lIns="0" tIns="0" rIns="0" bIns="0" rtlCol="0" anchor="ctr"/>
          <a:lstStyle/>
          <a:p>
            <a:pPr indent="0" marL="0">
              <a:buNone/>
            </a:pPr>
            <a:r>
              <a:rPr lang="en-US" sz="1450" dirty="0">
                <a:solidFill>
                  <a:srgbClr val="0B0B0D"/>
                </a:solidFill>
                <a:latin typeface="Arial" pitchFamily="34" charset="0"/>
                <a:ea typeface="Arial" pitchFamily="34" charset="-122"/>
                <a:cs typeface="Arial" pitchFamily="34" charset="-120"/>
              </a:rPr>
              <a:t>Cargar distribuidores validados</a:t>
            </a:r>
            <a:endParaRPr lang="en-US" sz="1450" dirty="0"/>
          </a:p>
        </p:txBody>
      </p:sp>
      <p:sp>
        <p:nvSpPr>
          <p:cNvPr id="18" name="Shape 15"/>
          <p:cNvSpPr/>
          <p:nvPr/>
        </p:nvSpPr>
        <p:spPr>
          <a:xfrm>
            <a:off x="548640" y="4023360"/>
            <a:ext cx="420624" cy="420624"/>
          </a:xfrm>
          <a:prstGeom prst="ellipse">
            <a:avLst/>
          </a:prstGeom>
          <a:solidFill>
            <a:srgbClr val="0B0B0D"/>
          </a:solidFill>
          <a:ln/>
        </p:spPr>
      </p:sp>
      <p:sp>
        <p:nvSpPr>
          <p:cNvPr id="19" name="Text 16"/>
          <p:cNvSpPr txBox="1"/>
          <p:nvPr/>
        </p:nvSpPr>
        <p:spPr>
          <a:xfrm>
            <a:off x="548640" y="40233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0" name="Text 17"/>
          <p:cNvSpPr txBox="1"/>
          <p:nvPr/>
        </p:nvSpPr>
        <p:spPr>
          <a:xfrm>
            <a:off x="1143000" y="3950208"/>
            <a:ext cx="5669280" cy="566928"/>
          </a:xfrm>
          <a:prstGeom prst="rect">
            <a:avLst/>
          </a:prstGeom>
          <a:noFill/>
          <a:ln/>
        </p:spPr>
        <p:txBody>
          <a:bodyPr wrap="square" lIns="0" tIns="0" rIns="0" bIns="0" rtlCol="0" anchor="ctr"/>
          <a:lstStyle/>
          <a:p>
            <a:pPr indent="0" marL="0">
              <a:buNone/>
            </a:pPr>
            <a:r>
              <a:rPr lang="en-US" sz="1450" dirty="0">
                <a:solidFill>
                  <a:srgbClr val="0B0B0D"/>
                </a:solidFill>
                <a:latin typeface="Arial" pitchFamily="34" charset="0"/>
                <a:ea typeface="Arial" pitchFamily="34" charset="-122"/>
                <a:cs typeface="Arial" pitchFamily="34" charset="-120"/>
              </a:rPr>
              <a:t>Retirar noindex; revisar canonical y sitemap</a:t>
            </a:r>
            <a:endParaRPr lang="en-US" sz="1450" dirty="0"/>
          </a:p>
        </p:txBody>
      </p:sp>
      <p:sp>
        <p:nvSpPr>
          <p:cNvPr id="21" name="Shape 18"/>
          <p:cNvSpPr/>
          <p:nvPr/>
        </p:nvSpPr>
        <p:spPr>
          <a:xfrm>
            <a:off x="548640" y="4645152"/>
            <a:ext cx="420624" cy="420624"/>
          </a:xfrm>
          <a:prstGeom prst="ellipse">
            <a:avLst/>
          </a:prstGeom>
          <a:solidFill>
            <a:srgbClr val="0B0B0D"/>
          </a:solidFill>
          <a:ln/>
        </p:spPr>
      </p:sp>
      <p:sp>
        <p:nvSpPr>
          <p:cNvPr id="22" name="Text 19"/>
          <p:cNvSpPr txBox="1"/>
          <p:nvPr/>
        </p:nvSpPr>
        <p:spPr>
          <a:xfrm>
            <a:off x="548640" y="464515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3" name="Text 20"/>
          <p:cNvSpPr txBox="1"/>
          <p:nvPr/>
        </p:nvSpPr>
        <p:spPr>
          <a:xfrm>
            <a:off x="1143000" y="4572000"/>
            <a:ext cx="5669280" cy="566928"/>
          </a:xfrm>
          <a:prstGeom prst="rect">
            <a:avLst/>
          </a:prstGeom>
          <a:noFill/>
          <a:ln/>
        </p:spPr>
        <p:txBody>
          <a:bodyPr wrap="square" lIns="0" tIns="0" rIns="0" bIns="0" rtlCol="0" anchor="ctr"/>
          <a:lstStyle/>
          <a:p>
            <a:pPr indent="0" marL="0">
              <a:buNone/>
            </a:pPr>
            <a:r>
              <a:rPr lang="en-US" sz="1450" dirty="0">
                <a:solidFill>
                  <a:srgbClr val="0B0B0D"/>
                </a:solidFill>
                <a:latin typeface="Arial" pitchFamily="34" charset="0"/>
                <a:ea typeface="Arial" pitchFamily="34" charset="-122"/>
                <a:cs typeface="Arial" pitchFamily="34" charset="-120"/>
              </a:rPr>
              <a:t>Prueba de humo: ficha → Cotizar → registro</a:t>
            </a:r>
            <a:endParaRPr lang="en-US" sz="1450" dirty="0"/>
          </a:p>
        </p:txBody>
      </p:sp>
      <p:sp>
        <p:nvSpPr>
          <p:cNvPr id="24" name="Shape 21"/>
          <p:cNvSpPr/>
          <p:nvPr/>
        </p:nvSpPr>
        <p:spPr>
          <a:xfrm>
            <a:off x="548640" y="5266944"/>
            <a:ext cx="420624" cy="420624"/>
          </a:xfrm>
          <a:prstGeom prst="ellipse">
            <a:avLst/>
          </a:prstGeom>
          <a:solidFill>
            <a:srgbClr val="0B0B0D"/>
          </a:solidFill>
          <a:ln/>
        </p:spPr>
      </p:sp>
      <p:sp>
        <p:nvSpPr>
          <p:cNvPr id="25" name="Text 22"/>
          <p:cNvSpPr txBox="1"/>
          <p:nvPr/>
        </p:nvSpPr>
        <p:spPr>
          <a:xfrm>
            <a:off x="548640" y="5266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6" name="Text 23"/>
          <p:cNvSpPr txBox="1"/>
          <p:nvPr/>
        </p:nvSpPr>
        <p:spPr>
          <a:xfrm>
            <a:off x="1143000" y="5193792"/>
            <a:ext cx="5669280" cy="566928"/>
          </a:xfrm>
          <a:prstGeom prst="rect">
            <a:avLst/>
          </a:prstGeom>
          <a:noFill/>
          <a:ln/>
        </p:spPr>
        <p:txBody>
          <a:bodyPr wrap="square" lIns="0" tIns="0" rIns="0" bIns="0" rtlCol="0" anchor="ctr"/>
          <a:lstStyle/>
          <a:p>
            <a:pPr indent="0" marL="0">
              <a:buNone/>
            </a:pPr>
            <a:r>
              <a:rPr lang="en-US" sz="1450" dirty="0">
                <a:solidFill>
                  <a:srgbClr val="0B0B0D"/>
                </a:solidFill>
                <a:latin typeface="Arial" pitchFamily="34" charset="0"/>
                <a:ea typeface="Arial" pitchFamily="34" charset="-122"/>
                <a:cs typeface="Arial" pitchFamily="34" charset="-120"/>
              </a:rPr>
              <a:t>Activar monitoreo y respaldo diario</a:t>
            </a:r>
            <a:endParaRPr lang="en-US" sz="1450" dirty="0"/>
          </a:p>
        </p:txBody>
      </p:sp>
      <p:sp>
        <p:nvSpPr>
          <p:cNvPr id="27" name="Shape 24"/>
          <p:cNvSpPr/>
          <p:nvPr/>
        </p:nvSpPr>
        <p:spPr>
          <a:xfrm>
            <a:off x="7040880" y="1463040"/>
            <a:ext cx="4602175" cy="1554480"/>
          </a:xfrm>
          <a:prstGeom prst="roundRect">
            <a:avLst>
              <a:gd name="adj" fmla="val 4706"/>
            </a:avLst>
          </a:prstGeom>
          <a:solidFill>
            <a:srgbClr val="6D28D9"/>
          </a:solidFill>
          <a:ln/>
        </p:spPr>
      </p:sp>
      <p:sp>
        <p:nvSpPr>
          <p:cNvPr id="28" name="Text 25"/>
          <p:cNvSpPr txBox="1"/>
          <p:nvPr/>
        </p:nvSpPr>
        <p:spPr>
          <a:xfrm>
            <a:off x="7269480" y="1600200"/>
            <a:ext cx="4114800" cy="132588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Plan de reversión</a:t>
            </a:r>
            <a:endParaRPr lang="en-US" sz="1400" dirty="0"/>
          </a:p>
          <a:p>
            <a:pPr indent="0" marL="0">
              <a:buNone/>
            </a:pPr>
            <a:r>
              <a:rPr lang="en-US" sz="1400" dirty="0">
                <a:solidFill>
                  <a:srgbClr val="FFFFFF"/>
                </a:solidFill>
                <a:latin typeface="Arial" pitchFamily="34" charset="0"/>
                <a:ea typeface="Arial" pitchFamily="34" charset="-122"/>
                <a:cs typeface="Arial" pitchFamily="34" charset="-120"/>
              </a:rPr>
              <a:t>Restaurar el respaldo del paso 2 y desactivar bh-core. El catálogo no depende del plugin.</a:t>
            </a:r>
            <a:endParaRPr lang="en-US" sz="1400" dirty="0"/>
          </a:p>
        </p:txBody>
      </p:sp>
      <p:sp>
        <p:nvSpPr>
          <p:cNvPr id="29" name="Shape 26"/>
          <p:cNvSpPr/>
          <p:nvPr/>
        </p:nvSpPr>
        <p:spPr>
          <a:xfrm>
            <a:off x="7040880" y="3246120"/>
            <a:ext cx="2194560" cy="1234440"/>
          </a:xfrm>
          <a:prstGeom prst="roundRect">
            <a:avLst>
              <a:gd name="adj" fmla="val 5926"/>
            </a:avLst>
          </a:prstGeom>
          <a:solidFill>
            <a:srgbClr val="F5F5F7"/>
          </a:solidFill>
          <a:ln/>
        </p:spPr>
      </p:sp>
      <p:sp>
        <p:nvSpPr>
          <p:cNvPr id="30" name="Text 27"/>
          <p:cNvSpPr txBox="1"/>
          <p:nvPr/>
        </p:nvSpPr>
        <p:spPr>
          <a:xfrm>
            <a:off x="7223760" y="3429000"/>
            <a:ext cx="1920240" cy="365760"/>
          </a:xfrm>
          <a:prstGeom prst="rect">
            <a:avLst/>
          </a:prstGeom>
          <a:noFill/>
          <a:ln/>
        </p:spPr>
        <p:txBody>
          <a:bodyPr wrap="square" lIns="0" tIns="0" rIns="0" bIns="0" rtlCol="0" anchor="t"/>
          <a:lstStyle/>
          <a:p>
            <a:pPr indent="0" marL="0">
              <a:buNone/>
            </a:pPr>
            <a:r>
              <a:rPr lang="en-US" sz="1500" b="1" dirty="0">
                <a:solidFill>
                  <a:srgbClr val="0B0B0D"/>
                </a:solidFill>
                <a:latin typeface="Arial" pitchFamily="34" charset="0"/>
                <a:ea typeface="Arial" pitchFamily="34" charset="-122"/>
                <a:cs typeface="Arial" pitchFamily="34" charset="-120"/>
              </a:rPr>
              <a:t>Correctivo</a:t>
            </a:r>
            <a:endParaRPr lang="en-US" sz="1500" dirty="0"/>
          </a:p>
        </p:txBody>
      </p:sp>
      <p:sp>
        <p:nvSpPr>
          <p:cNvPr id="31" name="Text 28"/>
          <p:cNvSpPr txBox="1"/>
          <p:nvPr/>
        </p:nvSpPr>
        <p:spPr>
          <a:xfrm>
            <a:off x="7223760" y="3840480"/>
            <a:ext cx="1920240" cy="50292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incidencias</a:t>
            </a:r>
            <a:endParaRPr lang="en-US" sz="1250" dirty="0"/>
          </a:p>
        </p:txBody>
      </p:sp>
      <p:sp>
        <p:nvSpPr>
          <p:cNvPr id="32" name="Shape 29"/>
          <p:cNvSpPr/>
          <p:nvPr/>
        </p:nvSpPr>
        <p:spPr>
          <a:xfrm>
            <a:off x="9372600" y="3246120"/>
            <a:ext cx="2194560" cy="1234440"/>
          </a:xfrm>
          <a:prstGeom prst="roundRect">
            <a:avLst>
              <a:gd name="adj" fmla="val 5926"/>
            </a:avLst>
          </a:prstGeom>
          <a:solidFill>
            <a:srgbClr val="F5F5F7"/>
          </a:solidFill>
          <a:ln/>
        </p:spPr>
      </p:sp>
      <p:sp>
        <p:nvSpPr>
          <p:cNvPr id="33" name="Text 30"/>
          <p:cNvSpPr txBox="1"/>
          <p:nvPr/>
        </p:nvSpPr>
        <p:spPr>
          <a:xfrm>
            <a:off x="9555480" y="3429000"/>
            <a:ext cx="1920240" cy="365760"/>
          </a:xfrm>
          <a:prstGeom prst="rect">
            <a:avLst/>
          </a:prstGeom>
          <a:noFill/>
          <a:ln/>
        </p:spPr>
        <p:txBody>
          <a:bodyPr wrap="square" lIns="0" tIns="0" rIns="0" bIns="0" rtlCol="0" anchor="t"/>
          <a:lstStyle/>
          <a:p>
            <a:pPr indent="0" marL="0">
              <a:buNone/>
            </a:pPr>
            <a:r>
              <a:rPr lang="en-US" sz="1500" b="1" dirty="0">
                <a:solidFill>
                  <a:srgbClr val="0B0B0D"/>
                </a:solidFill>
                <a:latin typeface="Arial" pitchFamily="34" charset="0"/>
                <a:ea typeface="Arial" pitchFamily="34" charset="-122"/>
                <a:cs typeface="Arial" pitchFamily="34" charset="-120"/>
              </a:rPr>
              <a:t>Adaptativo</a:t>
            </a:r>
            <a:endParaRPr lang="en-US" sz="1500" dirty="0"/>
          </a:p>
        </p:txBody>
      </p:sp>
      <p:sp>
        <p:nvSpPr>
          <p:cNvPr id="34" name="Text 31"/>
          <p:cNvSpPr txBox="1"/>
          <p:nvPr/>
        </p:nvSpPr>
        <p:spPr>
          <a:xfrm>
            <a:off x="9555480" y="3840480"/>
            <a:ext cx="1920240" cy="50292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actualizaciones en staging</a:t>
            </a:r>
            <a:endParaRPr lang="en-US" sz="1250" dirty="0"/>
          </a:p>
        </p:txBody>
      </p:sp>
      <p:sp>
        <p:nvSpPr>
          <p:cNvPr id="35" name="Shape 32"/>
          <p:cNvSpPr/>
          <p:nvPr/>
        </p:nvSpPr>
        <p:spPr>
          <a:xfrm>
            <a:off x="7040880" y="4617720"/>
            <a:ext cx="2194560" cy="1234440"/>
          </a:xfrm>
          <a:prstGeom prst="roundRect">
            <a:avLst>
              <a:gd name="adj" fmla="val 5926"/>
            </a:avLst>
          </a:prstGeom>
          <a:solidFill>
            <a:srgbClr val="F5F5F7"/>
          </a:solidFill>
          <a:ln/>
        </p:spPr>
      </p:sp>
      <p:sp>
        <p:nvSpPr>
          <p:cNvPr id="36" name="Text 33"/>
          <p:cNvSpPr txBox="1"/>
          <p:nvPr/>
        </p:nvSpPr>
        <p:spPr>
          <a:xfrm>
            <a:off x="7223760" y="4800600"/>
            <a:ext cx="1920240" cy="365760"/>
          </a:xfrm>
          <a:prstGeom prst="rect">
            <a:avLst/>
          </a:prstGeom>
          <a:noFill/>
          <a:ln/>
        </p:spPr>
        <p:txBody>
          <a:bodyPr wrap="square" lIns="0" tIns="0" rIns="0" bIns="0" rtlCol="0" anchor="t"/>
          <a:lstStyle/>
          <a:p>
            <a:pPr indent="0" marL="0">
              <a:buNone/>
            </a:pPr>
            <a:r>
              <a:rPr lang="en-US" sz="1500" b="1" dirty="0">
                <a:solidFill>
                  <a:srgbClr val="0B0B0D"/>
                </a:solidFill>
                <a:latin typeface="Arial" pitchFamily="34" charset="0"/>
                <a:ea typeface="Arial" pitchFamily="34" charset="-122"/>
                <a:cs typeface="Arial" pitchFamily="34" charset="-120"/>
              </a:rPr>
              <a:t>Perfectivo</a:t>
            </a:r>
            <a:endParaRPr lang="en-US" sz="1500" dirty="0"/>
          </a:p>
        </p:txBody>
      </p:sp>
      <p:sp>
        <p:nvSpPr>
          <p:cNvPr id="37" name="Text 34"/>
          <p:cNvSpPr txBox="1"/>
          <p:nvPr/>
        </p:nvSpPr>
        <p:spPr>
          <a:xfrm>
            <a:off x="7223760" y="5212080"/>
            <a:ext cx="1920240" cy="50292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mejoras de uso</a:t>
            </a:r>
            <a:endParaRPr lang="en-US" sz="1250" dirty="0"/>
          </a:p>
        </p:txBody>
      </p:sp>
      <p:sp>
        <p:nvSpPr>
          <p:cNvPr id="38" name="Shape 35"/>
          <p:cNvSpPr/>
          <p:nvPr/>
        </p:nvSpPr>
        <p:spPr>
          <a:xfrm>
            <a:off x="9372600" y="4617720"/>
            <a:ext cx="2194560" cy="1234440"/>
          </a:xfrm>
          <a:prstGeom prst="roundRect">
            <a:avLst>
              <a:gd name="adj" fmla="val 5926"/>
            </a:avLst>
          </a:prstGeom>
          <a:solidFill>
            <a:srgbClr val="F5F5F7"/>
          </a:solidFill>
          <a:ln/>
        </p:spPr>
      </p:sp>
      <p:sp>
        <p:nvSpPr>
          <p:cNvPr id="39" name="Text 36"/>
          <p:cNvSpPr txBox="1"/>
          <p:nvPr/>
        </p:nvSpPr>
        <p:spPr>
          <a:xfrm>
            <a:off x="9555480" y="4800600"/>
            <a:ext cx="1920240" cy="365760"/>
          </a:xfrm>
          <a:prstGeom prst="rect">
            <a:avLst/>
          </a:prstGeom>
          <a:noFill/>
          <a:ln/>
        </p:spPr>
        <p:txBody>
          <a:bodyPr wrap="square" lIns="0" tIns="0" rIns="0" bIns="0" rtlCol="0" anchor="t"/>
          <a:lstStyle/>
          <a:p>
            <a:pPr indent="0" marL="0">
              <a:buNone/>
            </a:pPr>
            <a:r>
              <a:rPr lang="en-US" sz="1500" b="1" dirty="0">
                <a:solidFill>
                  <a:srgbClr val="0B0B0D"/>
                </a:solidFill>
                <a:latin typeface="Arial" pitchFamily="34" charset="0"/>
                <a:ea typeface="Arial" pitchFamily="34" charset="-122"/>
                <a:cs typeface="Arial" pitchFamily="34" charset="-120"/>
              </a:rPr>
              <a:t>Preventivo</a:t>
            </a:r>
            <a:endParaRPr lang="en-US" sz="1500" dirty="0"/>
          </a:p>
        </p:txBody>
      </p:sp>
      <p:sp>
        <p:nvSpPr>
          <p:cNvPr id="40" name="Text 37"/>
          <p:cNvSpPr txBox="1"/>
          <p:nvPr/>
        </p:nvSpPr>
        <p:spPr>
          <a:xfrm>
            <a:off x="9555480" y="5212080"/>
            <a:ext cx="1920240" cy="50292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respaldos y seguridad</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04 · MODELADO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UML es el lenguaje; Rational Rose, la herramienta</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28</a:t>
            </a:r>
            <a:endParaRPr lang="en-US" sz="900" dirty="0"/>
          </a:p>
        </p:txBody>
      </p:sp>
      <p:sp>
        <p:nvSpPr>
          <p:cNvPr id="6" name="Shape 3"/>
          <p:cNvSpPr/>
          <p:nvPr/>
        </p:nvSpPr>
        <p:spPr>
          <a:xfrm>
            <a:off x="548640" y="1463040"/>
            <a:ext cx="5394960" cy="1645920"/>
          </a:xfrm>
          <a:prstGeom prst="roundRect">
            <a:avLst>
              <a:gd name="adj" fmla="val 4444"/>
            </a:avLst>
          </a:prstGeom>
          <a:solidFill>
            <a:srgbClr val="0B0B0D"/>
          </a:solidFill>
          <a:ln/>
        </p:spPr>
      </p:sp>
      <p:sp>
        <p:nvSpPr>
          <p:cNvPr id="7" name="Text 4"/>
          <p:cNvSpPr txBox="1"/>
          <p:nvPr/>
        </p:nvSpPr>
        <p:spPr>
          <a:xfrm>
            <a:off x="822960" y="1600200"/>
            <a:ext cx="4846320" cy="1417320"/>
          </a:xfrm>
          <a:prstGeom prst="rect">
            <a:avLst/>
          </a:prstGeom>
          <a:noFill/>
          <a:ln/>
        </p:spPr>
        <p:txBody>
          <a:bodyPr wrap="square" lIns="0" tIns="0" rIns="0" bIns="0" rtlCol="0" anchor="t"/>
          <a:lstStyle/>
          <a:p>
            <a:pPr indent="0" marL="0">
              <a:buNone/>
            </a:pPr>
            <a:r>
              <a:rPr lang="en-US" sz="2400" b="1" dirty="0">
                <a:solidFill>
                  <a:srgbClr val="A78BFA"/>
                </a:solidFill>
                <a:latin typeface="Arial" pitchFamily="34" charset="0"/>
                <a:ea typeface="Arial" pitchFamily="34" charset="-122"/>
                <a:cs typeface="Arial" pitchFamily="34" charset="-120"/>
              </a:rPr>
              <a:t>UML</a:t>
            </a:r>
            <a:endParaRPr lang="en-US" sz="1500" dirty="0"/>
          </a:p>
          <a:p>
            <a:pPr indent="0" marL="0">
              <a:buNone/>
            </a:pPr>
            <a:r>
              <a:rPr lang="en-US" sz="1400" dirty="0">
                <a:solidFill>
                  <a:srgbClr val="FFFFFF"/>
                </a:solidFill>
                <a:latin typeface="Arial" pitchFamily="34" charset="0"/>
                <a:ea typeface="Arial" pitchFamily="34" charset="-122"/>
                <a:cs typeface="Arial" pitchFamily="34" charset="-120"/>
              </a:rPr>
              <a:t>Lenguaje estándar del OMG (v2.5.1) para especificar, visualizar y documentar sistemas. Define la notación, no el proceso.</a:t>
            </a:r>
            <a:endParaRPr lang="en-US" sz="1500" dirty="0"/>
          </a:p>
        </p:txBody>
      </p:sp>
      <p:sp>
        <p:nvSpPr>
          <p:cNvPr id="8" name="Shape 5"/>
          <p:cNvSpPr/>
          <p:nvPr/>
        </p:nvSpPr>
        <p:spPr>
          <a:xfrm>
            <a:off x="548640" y="3291840"/>
            <a:ext cx="5394960" cy="1645920"/>
          </a:xfrm>
          <a:prstGeom prst="roundRect">
            <a:avLst>
              <a:gd name="adj" fmla="val 4444"/>
            </a:avLst>
          </a:prstGeom>
          <a:solidFill>
            <a:srgbClr val="F5F5F7"/>
          </a:solidFill>
          <a:ln/>
        </p:spPr>
      </p:sp>
      <p:sp>
        <p:nvSpPr>
          <p:cNvPr id="9" name="Text 6"/>
          <p:cNvSpPr txBox="1"/>
          <p:nvPr/>
        </p:nvSpPr>
        <p:spPr>
          <a:xfrm>
            <a:off x="822960" y="3429000"/>
            <a:ext cx="4846320" cy="1417320"/>
          </a:xfrm>
          <a:prstGeom prst="rect">
            <a:avLst/>
          </a:prstGeom>
          <a:noFill/>
          <a:ln/>
        </p:spPr>
        <p:txBody>
          <a:bodyPr wrap="square" lIns="0" tIns="0" rIns="0" bIns="0" rtlCol="0" anchor="t"/>
          <a:lstStyle/>
          <a:p>
            <a:pPr indent="0" marL="0">
              <a:buNone/>
            </a:pPr>
            <a:r>
              <a:rPr lang="en-US" sz="2400" b="1" dirty="0">
                <a:solidFill>
                  <a:srgbClr val="6D28D9"/>
                </a:solidFill>
                <a:latin typeface="Arial" pitchFamily="34" charset="0"/>
                <a:ea typeface="Arial" pitchFamily="34" charset="-122"/>
                <a:cs typeface="Arial" pitchFamily="34" charset="-120"/>
              </a:rPr>
              <a:t>Rational Rose</a:t>
            </a:r>
            <a:endParaRPr lang="en-US" sz="1500" dirty="0"/>
          </a:p>
          <a:p>
            <a:pPr indent="0" marL="0">
              <a:buNone/>
            </a:pPr>
            <a:r>
              <a:rPr lang="en-US" sz="1400" dirty="0">
                <a:solidFill>
                  <a:srgbClr val="0B0B0D"/>
                </a:solidFill>
                <a:latin typeface="Arial" pitchFamily="34" charset="0"/>
                <a:ea typeface="Arial" pitchFamily="34" charset="-122"/>
                <a:cs typeface="Arial" pitchFamily="34" charset="-120"/>
              </a:rPr>
              <a:t>Herramienta CASE (Rational/IBM) para construir modelos UML, documentarlos y generar código esqueleto.</a:t>
            </a:r>
            <a:endParaRPr lang="en-US" sz="1500" dirty="0"/>
          </a:p>
        </p:txBody>
      </p:sp>
      <p:sp>
        <p:nvSpPr>
          <p:cNvPr id="10" name="Text 7"/>
          <p:cNvSpPr txBox="1"/>
          <p:nvPr/>
        </p:nvSpPr>
        <p:spPr>
          <a:xfrm>
            <a:off x="548640" y="5120640"/>
            <a:ext cx="5394960" cy="82296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Entregado: fuentes PlantUML editables, SVG, PNG, XMI experimental de clases y guía de reconstrucción en Rose. Sin archivo .mdl: su compatibilidad no se pudo verificar.</a:t>
            </a:r>
            <a:endParaRPr lang="en-US" sz="1200" dirty="0"/>
          </a:p>
        </p:txBody>
      </p:sp>
      <p:sp>
        <p:nvSpPr>
          <p:cNvPr id="11" name="Text 8"/>
          <p:cNvSpPr txBox="1"/>
          <p:nvPr/>
        </p:nvSpPr>
        <p:spPr>
          <a:xfrm>
            <a:off x="6355080" y="1463040"/>
            <a:ext cx="5303520" cy="274320"/>
          </a:xfrm>
          <a:prstGeom prst="rect">
            <a:avLst/>
          </a:prstGeom>
          <a:noFill/>
          <a:ln/>
        </p:spPr>
        <p:txBody>
          <a:bodyPr wrap="square" lIns="0" tIns="0" rIns="0" bIns="0" rtlCol="0" anchor="t"/>
          <a:lstStyle/>
          <a:p>
            <a:pPr indent="0" marL="0">
              <a:buNone/>
            </a:pPr>
            <a:r>
              <a:rPr lang="en-US" sz="1000" b="1" spc="150" kern="0" dirty="0">
                <a:solidFill>
                  <a:srgbClr val="6D28D9"/>
                </a:solidFill>
                <a:latin typeface="Arial" pitchFamily="34" charset="0"/>
                <a:ea typeface="Arial" pitchFamily="34" charset="-122"/>
                <a:cs typeface="Arial" pitchFamily="34" charset="-120"/>
              </a:rPr>
              <a:t>CUATRO VISTAS DE ROSE → NUESTROS DIAGRAMAS</a:t>
            </a:r>
            <a:endParaRPr lang="en-US" sz="1000" dirty="0"/>
          </a:p>
        </p:txBody>
      </p:sp>
      <p:sp>
        <p:nvSpPr>
          <p:cNvPr id="12" name="Shape 9"/>
          <p:cNvSpPr/>
          <p:nvPr/>
        </p:nvSpPr>
        <p:spPr>
          <a:xfrm>
            <a:off x="6355080" y="1874520"/>
            <a:ext cx="5287975" cy="896112"/>
          </a:xfrm>
          <a:prstGeom prst="roundRect">
            <a:avLst>
              <a:gd name="adj" fmla="val 8163"/>
            </a:avLst>
          </a:prstGeom>
          <a:solidFill>
            <a:srgbClr val="EDE4FB"/>
          </a:solidFill>
          <a:ln/>
        </p:spPr>
      </p:sp>
      <p:sp>
        <p:nvSpPr>
          <p:cNvPr id="13" name="Text 10"/>
          <p:cNvSpPr txBox="1"/>
          <p:nvPr/>
        </p:nvSpPr>
        <p:spPr>
          <a:xfrm>
            <a:off x="6583680" y="1965960"/>
            <a:ext cx="4846320" cy="36576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Use Case View</a:t>
            </a:r>
            <a:endParaRPr lang="en-US" sz="1600" dirty="0"/>
          </a:p>
        </p:txBody>
      </p:sp>
      <p:sp>
        <p:nvSpPr>
          <p:cNvPr id="14" name="Text 11"/>
          <p:cNvSpPr txBox="1"/>
          <p:nvPr/>
        </p:nvSpPr>
        <p:spPr>
          <a:xfrm>
            <a:off x="6583680" y="2331720"/>
            <a:ext cx="4846320" cy="36576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D-01 a D-06 · actores y casos de uso</a:t>
            </a:r>
            <a:endParaRPr lang="en-US" sz="1250" dirty="0"/>
          </a:p>
        </p:txBody>
      </p:sp>
      <p:sp>
        <p:nvSpPr>
          <p:cNvPr id="15" name="Shape 12"/>
          <p:cNvSpPr/>
          <p:nvPr/>
        </p:nvSpPr>
        <p:spPr>
          <a:xfrm>
            <a:off x="6355080" y="2898648"/>
            <a:ext cx="5287975" cy="896112"/>
          </a:xfrm>
          <a:prstGeom prst="roundRect">
            <a:avLst>
              <a:gd name="adj" fmla="val 8163"/>
            </a:avLst>
          </a:prstGeom>
          <a:solidFill>
            <a:srgbClr val="F5F5F7"/>
          </a:solidFill>
          <a:ln/>
        </p:spPr>
      </p:sp>
      <p:sp>
        <p:nvSpPr>
          <p:cNvPr id="16" name="Text 13"/>
          <p:cNvSpPr txBox="1"/>
          <p:nvPr/>
        </p:nvSpPr>
        <p:spPr>
          <a:xfrm>
            <a:off x="6583680" y="2990088"/>
            <a:ext cx="4846320" cy="36576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Logical View</a:t>
            </a:r>
            <a:endParaRPr lang="en-US" sz="1600" dirty="0"/>
          </a:p>
        </p:txBody>
      </p:sp>
      <p:sp>
        <p:nvSpPr>
          <p:cNvPr id="17" name="Text 14"/>
          <p:cNvSpPr txBox="1"/>
          <p:nvPr/>
        </p:nvSpPr>
        <p:spPr>
          <a:xfrm>
            <a:off x="6583680" y="3355848"/>
            <a:ext cx="4846320" cy="36576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D-07 a D-18 · clases, secuencias, actividades, estados</a:t>
            </a:r>
            <a:endParaRPr lang="en-US" sz="1250" dirty="0"/>
          </a:p>
        </p:txBody>
      </p:sp>
      <p:sp>
        <p:nvSpPr>
          <p:cNvPr id="18" name="Shape 15"/>
          <p:cNvSpPr/>
          <p:nvPr/>
        </p:nvSpPr>
        <p:spPr>
          <a:xfrm>
            <a:off x="6355080" y="3922776"/>
            <a:ext cx="5287975" cy="896112"/>
          </a:xfrm>
          <a:prstGeom prst="roundRect">
            <a:avLst>
              <a:gd name="adj" fmla="val 8163"/>
            </a:avLst>
          </a:prstGeom>
          <a:solidFill>
            <a:srgbClr val="EDE4FB"/>
          </a:solidFill>
          <a:ln/>
        </p:spPr>
      </p:sp>
      <p:sp>
        <p:nvSpPr>
          <p:cNvPr id="19" name="Text 16"/>
          <p:cNvSpPr txBox="1"/>
          <p:nvPr/>
        </p:nvSpPr>
        <p:spPr>
          <a:xfrm>
            <a:off x="6583680" y="4014216"/>
            <a:ext cx="4846320" cy="36576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Component View</a:t>
            </a:r>
            <a:endParaRPr lang="en-US" sz="1600" dirty="0"/>
          </a:p>
        </p:txBody>
      </p:sp>
      <p:sp>
        <p:nvSpPr>
          <p:cNvPr id="20" name="Text 17"/>
          <p:cNvSpPr txBox="1"/>
          <p:nvPr/>
        </p:nvSpPr>
        <p:spPr>
          <a:xfrm>
            <a:off x="6583680" y="4379976"/>
            <a:ext cx="4846320" cy="36576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D-19 · componentes y dependencias</a:t>
            </a:r>
            <a:endParaRPr lang="en-US" sz="1250" dirty="0"/>
          </a:p>
        </p:txBody>
      </p:sp>
      <p:sp>
        <p:nvSpPr>
          <p:cNvPr id="21" name="Shape 18"/>
          <p:cNvSpPr/>
          <p:nvPr/>
        </p:nvSpPr>
        <p:spPr>
          <a:xfrm>
            <a:off x="6355080" y="4946904"/>
            <a:ext cx="5287975" cy="896112"/>
          </a:xfrm>
          <a:prstGeom prst="roundRect">
            <a:avLst>
              <a:gd name="adj" fmla="val 8163"/>
            </a:avLst>
          </a:prstGeom>
          <a:solidFill>
            <a:srgbClr val="F5F5F7"/>
          </a:solidFill>
          <a:ln/>
        </p:spPr>
      </p:sp>
      <p:sp>
        <p:nvSpPr>
          <p:cNvPr id="22" name="Text 19"/>
          <p:cNvSpPr txBox="1"/>
          <p:nvPr/>
        </p:nvSpPr>
        <p:spPr>
          <a:xfrm>
            <a:off x="6583680" y="5038344"/>
            <a:ext cx="4846320" cy="36576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Deployment View</a:t>
            </a:r>
            <a:endParaRPr lang="en-US" sz="1600" dirty="0"/>
          </a:p>
        </p:txBody>
      </p:sp>
      <p:sp>
        <p:nvSpPr>
          <p:cNvPr id="23" name="Text 20"/>
          <p:cNvSpPr txBox="1"/>
          <p:nvPr/>
        </p:nvSpPr>
        <p:spPr>
          <a:xfrm>
            <a:off x="6583680" y="5404104"/>
            <a:ext cx="4846320" cy="36576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D-20 · nodos y conexiones</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04 · MODELADO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general de casos de uso</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29</a:t>
            </a:r>
            <a:endParaRPr lang="en-US" sz="900" dirty="0"/>
          </a:p>
        </p:txBody>
      </p:sp>
      <p:pic>
        <p:nvPicPr>
          <p:cNvPr id="6" name="Image 0" descr="../DIAGRAMAS_UML/png/D02_cu_general.png">    </p:cNvPr>
          <p:cNvPicPr>
            <a:picLocks noChangeAspect="1"/>
          </p:cNvPicPr>
          <p:nvPr/>
        </p:nvPicPr>
        <p:blipFill>
          <a:blip r:embed="rId1"/>
          <a:stretch>
            <a:fillRect/>
          </a:stretch>
        </p:blipFill>
        <p:spPr>
          <a:xfrm>
            <a:off x="1413902" y="1371600"/>
            <a:ext cx="5493237" cy="4983480"/>
          </a:xfrm>
          <a:prstGeom prst="rect">
            <a:avLst/>
          </a:prstGeom>
        </p:spPr>
      </p:pic>
      <p:sp>
        <p:nvSpPr>
          <p:cNvPr id="7" name="Shape 3"/>
          <p:cNvSpPr/>
          <p:nvPr/>
        </p:nvSpPr>
        <p:spPr>
          <a:xfrm>
            <a:off x="8092440" y="1371600"/>
            <a:ext cx="3550615" cy="4983480"/>
          </a:xfrm>
          <a:prstGeom prst="roundRect">
            <a:avLst>
              <a:gd name="adj" fmla="val 2060"/>
            </a:avLst>
          </a:prstGeom>
          <a:solidFill>
            <a:srgbClr val="F5F5F7"/>
          </a:solidFill>
          <a:ln/>
        </p:spPr>
      </p:sp>
      <p:sp>
        <p:nvSpPr>
          <p:cNvPr id="8" name="Text 4"/>
          <p:cNvSpPr txBox="1"/>
          <p:nvPr/>
        </p:nvSpPr>
        <p:spPr>
          <a:xfrm>
            <a:off x="8321040" y="1600200"/>
            <a:ext cx="3139135" cy="45262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«extend»: CU-03 Filtrar → CU-01 Explorar (opcional).</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«include»: CU-08 Enviar consulta → CU-09 Registrar (siempre).</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Cliente interesado → Visitante; Administrador → Gestor.</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Morado: propuesto.</a:t>
            </a:r>
            <a:endParaRPr lang="en-US" sz="1350" dirty="0"/>
          </a:p>
        </p:txBody>
      </p:sp>
      <p:sp>
        <p:nvSpPr>
          <p:cNvPr id="9" name="Text 5"/>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D-02 · Elaboración propia.</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04 · MODELADO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CU-08 Enviar consulta por WhatsApp</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30</a:t>
            </a:r>
            <a:endParaRPr lang="en-US" sz="900" dirty="0"/>
          </a:p>
        </p:txBody>
      </p:sp>
      <p:sp>
        <p:nvSpPr>
          <p:cNvPr id="6" name="Shape 3"/>
          <p:cNvSpPr/>
          <p:nvPr/>
        </p:nvSpPr>
        <p:spPr>
          <a:xfrm>
            <a:off x="548640" y="1417320"/>
            <a:ext cx="6675120" cy="4572000"/>
          </a:xfrm>
          <a:prstGeom prst="roundRect">
            <a:avLst>
              <a:gd name="adj" fmla="val 1600"/>
            </a:avLst>
          </a:prstGeom>
          <a:solidFill>
            <a:srgbClr val="F5F5F7"/>
          </a:solidFill>
          <a:ln/>
        </p:spPr>
      </p:sp>
      <p:sp>
        <p:nvSpPr>
          <p:cNvPr id="7" name="Text 4"/>
          <p:cNvSpPr txBox="1"/>
          <p:nvPr/>
        </p:nvSpPr>
        <p:spPr>
          <a:xfrm>
            <a:off x="822960" y="1554480"/>
            <a:ext cx="6126480" cy="777240"/>
          </a:xfrm>
          <a:prstGeom prst="rect">
            <a:avLst/>
          </a:prstGeom>
          <a:noFill/>
          <a:ln/>
        </p:spPr>
        <p:txBody>
          <a:bodyPr wrap="square" lIns="0" tIns="0" rIns="0" bIns="0" rtlCol="0" anchor="t"/>
          <a:lstStyle/>
          <a:p>
            <a:pPr indent="0" marL="0">
              <a:buNone/>
            </a:pPr>
            <a:r>
              <a:rPr lang="en-US" sz="1200" b="1" dirty="0">
                <a:solidFill>
                  <a:srgbClr val="0B0B0D"/>
                </a:solidFill>
                <a:latin typeface="Arial" pitchFamily="34" charset="0"/>
                <a:ea typeface="Arial" pitchFamily="34" charset="-122"/>
                <a:cs typeface="Arial" pitchFamily="34" charset="-120"/>
              </a:rPr>
              <a:t>Actores: </a:t>
            </a:r>
            <a:pPr indent="0" marL="0">
              <a:buNone/>
            </a:pPr>
            <a:r>
              <a:rPr lang="en-US" sz="1200" dirty="0">
                <a:solidFill>
                  <a:srgbClr val="0B0B0D"/>
                </a:solidFill>
                <a:latin typeface="Arial" pitchFamily="34" charset="0"/>
                <a:ea typeface="Arial" pitchFamily="34" charset="-122"/>
                <a:cs typeface="Arial" pitchFamily="34" charset="-120"/>
              </a:rPr>
              <a:t>Cliente interesado (principal); Servicio externo de WhatsApp (secundario)</a:t>
            </a:r>
            <a:endParaRPr lang="en-US" sz="1200" dirty="0"/>
          </a:p>
          <a:p>
            <a:pPr indent="0" marL="0">
              <a:buNone/>
            </a:pPr>
            <a:r>
              <a:rPr lang="en-US" sz="1200" b="1" dirty="0">
                <a:solidFill>
                  <a:srgbClr val="0B0B0D"/>
                </a:solidFill>
                <a:latin typeface="Arial" pitchFamily="34" charset="0"/>
                <a:ea typeface="Arial" pitchFamily="34" charset="-122"/>
                <a:cs typeface="Arial" pitchFamily="34" charset="-120"/>
              </a:rPr>
              <a:t>Precondición: </a:t>
            </a:r>
            <a:pPr indent="0" marL="0">
              <a:buNone/>
            </a:pPr>
            <a:r>
              <a:rPr lang="en-US" sz="1200" dirty="0">
                <a:solidFill>
                  <a:srgbClr val="0B0B0D"/>
                </a:solidFill>
                <a:latin typeface="Arial" pitchFamily="34" charset="0"/>
                <a:ea typeface="Arial" pitchFamily="34" charset="-122"/>
                <a:cs typeface="Arial" pitchFamily="34" charset="-120"/>
              </a:rPr>
              <a:t>El cliente está en una ficha, la vista rápida, el comparador, «Dónde comprar» o «Soporte».</a:t>
            </a:r>
            <a:endParaRPr lang="en-US" sz="1200" dirty="0"/>
          </a:p>
        </p:txBody>
      </p:sp>
      <p:sp>
        <p:nvSpPr>
          <p:cNvPr id="8" name="Text 5"/>
          <p:cNvSpPr txBox="1"/>
          <p:nvPr/>
        </p:nvSpPr>
        <p:spPr>
          <a:xfrm>
            <a:off x="822960" y="2377440"/>
            <a:ext cx="2743200" cy="274320"/>
          </a:xfrm>
          <a:prstGeom prst="rect">
            <a:avLst/>
          </a:prstGeom>
          <a:noFill/>
          <a:ln/>
        </p:spPr>
        <p:txBody>
          <a:bodyPr wrap="square" lIns="0" tIns="0" rIns="0" bIns="0" rtlCol="0" anchor="t"/>
          <a:lstStyle/>
          <a:p>
            <a:pPr indent="0" marL="0">
              <a:buNone/>
            </a:pPr>
            <a:r>
              <a:rPr lang="en-US" sz="1000" b="1" spc="200" kern="0" dirty="0">
                <a:solidFill>
                  <a:srgbClr val="6D28D9"/>
                </a:solidFill>
                <a:latin typeface="Arial" pitchFamily="34" charset="0"/>
                <a:ea typeface="Arial" pitchFamily="34" charset="-122"/>
                <a:cs typeface="Arial" pitchFamily="34" charset="-120"/>
              </a:rPr>
              <a:t>FLUJO BÁSICO</a:t>
            </a:r>
            <a:endParaRPr lang="en-US" sz="1000" dirty="0"/>
          </a:p>
        </p:txBody>
      </p:sp>
      <p:sp>
        <p:nvSpPr>
          <p:cNvPr id="9" name="Text 6"/>
          <p:cNvSpPr txBox="1"/>
          <p:nvPr/>
        </p:nvSpPr>
        <p:spPr>
          <a:xfrm>
            <a:off x="822960" y="2651760"/>
            <a:ext cx="6126480" cy="210312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150" dirty="0">
                <a:solidFill>
                  <a:srgbClr val="0B0B0D"/>
                </a:solidFill>
                <a:latin typeface="Arial" pitchFamily="34" charset="0"/>
                <a:ea typeface="Arial" pitchFamily="34" charset="-122"/>
                <a:cs typeface="Arial" pitchFamily="34" charset="-120"/>
              </a:rPr>
              <a:t>El cliente pulsa «Cotizar» (o «Contactar» en el directorio).</a:t>
            </a:r>
            <a:endParaRPr lang="en-US" sz="1150" dirty="0"/>
          </a:p>
          <a:p>
            <a:pPr marL="342900" indent="-342900">
              <a:spcAft>
                <a:spcPts val="300"/>
              </a:spcAft>
              <a:buSzPct val="100000"/>
              <a:buFont typeface="+mj-lt"/>
              <a:buAutoNum type="arabicPeriod" startAt="1"/>
            </a:pPr>
            <a:r>
              <a:rPr lang="en-US" sz="1150" dirty="0">
                <a:solidFill>
                  <a:srgbClr val="0B0B0D"/>
                </a:solidFill>
                <a:latin typeface="Arial" pitchFamily="34" charset="0"/>
                <a:ea typeface="Arial" pitchFamily="34" charset="-122"/>
                <a:cs typeface="Arial" pitchFamily="34" charset="-120"/>
              </a:rPr>
              <a:t>El sistema identifica el origen, la intención y, si corresponde, el producto.</a:t>
            </a:r>
            <a:endParaRPr lang="en-US" sz="1150" dirty="0"/>
          </a:p>
          <a:p>
            <a:pPr marL="342900" indent="-342900">
              <a:spcAft>
                <a:spcPts val="300"/>
              </a:spcAft>
              <a:buSzPct val="100000"/>
              <a:buFont typeface="+mj-lt"/>
              <a:buAutoNum type="arabicPeriod" startAt="1"/>
            </a:pPr>
            <a:r>
              <a:rPr lang="en-US" sz="1150" dirty="0">
                <a:solidFill>
                  <a:srgbClr val="0B0B0D"/>
                </a:solidFill>
                <a:latin typeface="Arial" pitchFamily="34" charset="0"/>
                <a:ea typeface="Arial" pitchFamily="34" charset="-122"/>
                <a:cs typeface="Arial" pitchFamily="34" charset="-120"/>
              </a:rPr>
              <a:t>El sistema construye el mensaje: saludo, intención, modelo y URL de la ficha.</a:t>
            </a:r>
            <a:endParaRPr lang="en-US" sz="1150" dirty="0"/>
          </a:p>
          <a:p>
            <a:pPr marL="342900" indent="-342900">
              <a:spcAft>
                <a:spcPts val="300"/>
              </a:spcAft>
              <a:buSzPct val="100000"/>
              <a:buFont typeface="+mj-lt"/>
              <a:buAutoNum type="arabicPeriod" startAt="1"/>
            </a:pPr>
            <a:r>
              <a:rPr lang="en-US" sz="1150" dirty="0">
                <a:solidFill>
                  <a:srgbClr val="0B0B0D"/>
                </a:solidFill>
                <a:latin typeface="Arial" pitchFamily="34" charset="0"/>
                <a:ea typeface="Arial" pitchFamily="34" charset="-122"/>
                <a:cs typeface="Arial" pitchFamily="34" charset="-120"/>
              </a:rPr>
              <a:t>El sistema registra la consulta en estado REGISTRADA mediante una llamada asíncrona (CU-09).</a:t>
            </a:r>
            <a:endParaRPr lang="en-US" sz="1150" dirty="0"/>
          </a:p>
          <a:p>
            <a:pPr marL="342900" indent="-342900">
              <a:spcAft>
                <a:spcPts val="300"/>
              </a:spcAft>
              <a:buSzPct val="100000"/>
              <a:buFont typeface="+mj-lt"/>
              <a:buAutoNum type="arabicPeriod" startAt="1"/>
            </a:pPr>
            <a:r>
              <a:rPr lang="en-US" sz="1150" dirty="0">
                <a:solidFill>
                  <a:srgbClr val="0B0B0D"/>
                </a:solidFill>
                <a:latin typeface="Arial" pitchFamily="34" charset="0"/>
                <a:ea typeface="Arial" pitchFamily="34" charset="-122"/>
                <a:cs typeface="Arial" pitchFamily="34" charset="-120"/>
              </a:rPr>
              <a:t>El sistema abre el enlace wa.me con el mensaje codificado.</a:t>
            </a:r>
            <a:endParaRPr lang="en-US" sz="1150" dirty="0"/>
          </a:p>
          <a:p>
            <a:pPr marL="342900" indent="-342900">
              <a:spcAft>
                <a:spcPts val="300"/>
              </a:spcAft>
              <a:buSzPct val="100000"/>
              <a:buFont typeface="+mj-lt"/>
              <a:buAutoNum type="arabicPeriod" startAt="1"/>
            </a:pPr>
            <a:r>
              <a:rPr lang="en-US" sz="1150" dirty="0">
                <a:solidFill>
                  <a:srgbClr val="0B0B0D"/>
                </a:solidFill>
                <a:latin typeface="Arial" pitchFamily="34" charset="0"/>
                <a:ea typeface="Arial" pitchFamily="34" charset="-122"/>
                <a:cs typeface="Arial" pitchFamily="34" charset="-120"/>
              </a:rPr>
              <a:t>El Servicio externo de WhatsApp abre el chat con el texto prellenado.</a:t>
            </a:r>
            <a:endParaRPr lang="en-US" sz="1150" dirty="0"/>
          </a:p>
          <a:p>
            <a:pPr marL="342900" indent="-342900">
              <a:spcAft>
                <a:spcPts val="300"/>
              </a:spcAft>
              <a:buSzPct val="100000"/>
              <a:buFont typeface="+mj-lt"/>
              <a:buAutoNum type="arabicPeriod" startAt="1"/>
            </a:pPr>
            <a:r>
              <a:rPr lang="en-US" sz="1150" dirty="0">
                <a:solidFill>
                  <a:srgbClr val="0B0B0D"/>
                </a:solidFill>
                <a:latin typeface="Arial" pitchFamily="34" charset="0"/>
                <a:ea typeface="Arial" pitchFamily="34" charset="-122"/>
                <a:cs typeface="Arial" pitchFamily="34" charset="-120"/>
              </a:rPr>
              <a:t>El cliente envía el mensaje.</a:t>
            </a:r>
            <a:endParaRPr lang="en-US" sz="1150" dirty="0"/>
          </a:p>
        </p:txBody>
      </p:sp>
      <p:sp>
        <p:nvSpPr>
          <p:cNvPr id="10" name="Text 7"/>
          <p:cNvSpPr txBox="1"/>
          <p:nvPr/>
        </p:nvSpPr>
        <p:spPr>
          <a:xfrm>
            <a:off x="822960" y="4754880"/>
            <a:ext cx="2743200" cy="274320"/>
          </a:xfrm>
          <a:prstGeom prst="rect">
            <a:avLst/>
          </a:prstGeom>
          <a:noFill/>
          <a:ln/>
        </p:spPr>
        <p:txBody>
          <a:bodyPr wrap="square" lIns="0" tIns="0" rIns="0" bIns="0" rtlCol="0" anchor="t"/>
          <a:lstStyle/>
          <a:p>
            <a:pPr indent="0" marL="0">
              <a:buNone/>
            </a:pPr>
            <a:r>
              <a:rPr lang="en-US" sz="1000" b="1" spc="200" kern="0" dirty="0">
                <a:solidFill>
                  <a:srgbClr val="6D28D9"/>
                </a:solidFill>
                <a:latin typeface="Arial" pitchFamily="34" charset="0"/>
                <a:ea typeface="Arial" pitchFamily="34" charset="-122"/>
                <a:cs typeface="Arial" pitchFamily="34" charset="-120"/>
              </a:rPr>
              <a:t>ALTERNATIVOS CLAVE</a:t>
            </a:r>
            <a:endParaRPr lang="en-US" sz="1000" dirty="0"/>
          </a:p>
        </p:txBody>
      </p:sp>
      <p:sp>
        <p:nvSpPr>
          <p:cNvPr id="11" name="Text 8"/>
          <p:cNvSpPr txBox="1"/>
          <p:nvPr/>
        </p:nvSpPr>
        <p:spPr>
          <a:xfrm>
            <a:off x="822960" y="5029200"/>
            <a:ext cx="6126480" cy="914400"/>
          </a:xfrm>
          <a:prstGeom prst="rect">
            <a:avLst/>
          </a:prstGeom>
          <a:noFill/>
          <a:ln/>
        </p:spPr>
        <p:txBody>
          <a:bodyPr wrap="square" lIns="0" tIns="0" rIns="0" bIns="0" rtlCol="0" anchor="t"/>
          <a:lstStyle/>
          <a:p>
            <a:pPr indent="0" marL="0">
              <a:spcAft>
                <a:spcPts val="300"/>
              </a:spcAft>
              <a:buNone/>
            </a:pPr>
            <a:r>
              <a:rPr lang="en-US" sz="1100" dirty="0">
                <a:solidFill>
                  <a:srgbClr val="0B0B0D"/>
                </a:solidFill>
                <a:latin typeface="Arial" pitchFamily="34" charset="0"/>
                <a:ea typeface="Arial" pitchFamily="34" charset="-122"/>
                <a:cs typeface="Arial" pitchFamily="34" charset="-120"/>
              </a:rPr>
              <a:t>4a. El registro falla: el sistema no bloquea la apertura de WhatsApp y guarda el error en el log técnico.</a:t>
            </a:r>
            <a:endParaRPr lang="en-US" sz="1100" dirty="0"/>
          </a:p>
          <a:p>
            <a:pPr indent="0" marL="0">
              <a:spcAft>
                <a:spcPts val="300"/>
              </a:spcAft>
              <a:buNone/>
            </a:pPr>
            <a:r>
              <a:rPr lang="en-US" sz="1100" dirty="0">
                <a:solidFill>
                  <a:srgbClr val="0B0B0D"/>
                </a:solidFill>
                <a:latin typeface="Arial" pitchFamily="34" charset="0"/>
                <a:ea typeface="Arial" pitchFamily="34" charset="-122"/>
                <a:cs typeface="Arial" pitchFamily="34" charset="-120"/>
              </a:rPr>
              <a:t>5a. El cliente eligió un distribuidor del directorio: el número de destino es el del distribuidor (propuesto).</a:t>
            </a:r>
            <a:endParaRPr lang="en-US" sz="1100" dirty="0"/>
          </a:p>
        </p:txBody>
      </p:sp>
      <p:pic>
        <p:nvPicPr>
          <p:cNvPr id="12" name="Image 0" descr="../DIAGRAMAS_UML/png/D04_cu_comercial.png">    </p:cNvPr>
          <p:cNvPicPr>
            <a:picLocks noChangeAspect="1"/>
          </p:cNvPicPr>
          <p:nvPr/>
        </p:nvPicPr>
        <p:blipFill>
          <a:blip r:embed="rId1"/>
          <a:stretch>
            <a:fillRect/>
          </a:stretch>
        </p:blipFill>
        <p:spPr>
          <a:xfrm>
            <a:off x="7770493" y="1417320"/>
            <a:ext cx="3554430" cy="4572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04 · MODELADO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clases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31</a:t>
            </a:r>
            <a:endParaRPr lang="en-US" sz="900" dirty="0"/>
          </a:p>
        </p:txBody>
      </p:sp>
      <p:pic>
        <p:nvPicPr>
          <p:cNvPr id="6" name="Image 0" descr="../DIAGRAMAS_UML/png/D07_dominio.png">    </p:cNvPr>
          <p:cNvPicPr>
            <a:picLocks noChangeAspect="1"/>
          </p:cNvPicPr>
          <p:nvPr/>
        </p:nvPicPr>
        <p:blipFill>
          <a:blip r:embed="rId1"/>
          <a:stretch>
            <a:fillRect/>
          </a:stretch>
        </p:blipFill>
        <p:spPr>
          <a:xfrm>
            <a:off x="838559" y="1371600"/>
            <a:ext cx="7009681" cy="4983480"/>
          </a:xfrm>
          <a:prstGeom prst="rect">
            <a:avLst/>
          </a:prstGeom>
        </p:spPr>
      </p:pic>
      <p:sp>
        <p:nvSpPr>
          <p:cNvPr id="7" name="Shape 3"/>
          <p:cNvSpPr/>
          <p:nvPr/>
        </p:nvSpPr>
        <p:spPr>
          <a:xfrm>
            <a:off x="8458200" y="1371600"/>
            <a:ext cx="3184855" cy="4983480"/>
          </a:xfrm>
          <a:prstGeom prst="roundRect">
            <a:avLst>
              <a:gd name="adj" fmla="val 2297"/>
            </a:avLst>
          </a:prstGeom>
          <a:solidFill>
            <a:srgbClr val="F5F5F7"/>
          </a:solidFill>
          <a:ln/>
        </p:spPr>
      </p:sp>
      <p:sp>
        <p:nvSpPr>
          <p:cNvPr id="8" name="Text 4"/>
          <p:cNvSpPr txBox="1"/>
          <p:nvPr/>
        </p:nvSpPr>
        <p:spPr>
          <a:xfrm>
            <a:off x="8686800" y="1600200"/>
            <a:ext cx="2773375" cy="45262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Producto 1..* Categoría.</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Composición: la especificación y la imagen no existen sin su producto.</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Comparación: 2..3 productos (RN-04).</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Consulta: 0..1 producto y 0..1 distribuidor.</a:t>
            </a:r>
            <a:endParaRPr lang="en-US" sz="1350" dirty="0"/>
          </a:p>
        </p:txBody>
      </p:sp>
      <p:sp>
        <p:nvSpPr>
          <p:cNvPr id="9" name="Text 5"/>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D-07 · Clases de diseño completas: D-09 y D-10 (monografía, Figuras 12 y 13).</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04 · MODELADO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secuencia</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32</a:t>
            </a:r>
            <a:endParaRPr lang="en-US" sz="900" dirty="0"/>
          </a:p>
        </p:txBody>
      </p:sp>
      <p:pic>
        <p:nvPicPr>
          <p:cNvPr id="6" name="Image 0" descr="../DIAGRAMAS_UML/png/D14_seq_contacto.png">    </p:cNvPr>
          <p:cNvPicPr>
            <a:picLocks noChangeAspect="1"/>
          </p:cNvPicPr>
          <p:nvPr/>
        </p:nvPicPr>
        <p:blipFill>
          <a:blip r:embed="rId1"/>
          <a:stretch>
            <a:fillRect/>
          </a:stretch>
        </p:blipFill>
        <p:spPr>
          <a:xfrm>
            <a:off x="1952327" y="1371600"/>
            <a:ext cx="8287042" cy="4892040"/>
          </a:xfrm>
          <a:prstGeom prst="rect">
            <a:avLst/>
          </a:prstGeom>
        </p:spPr>
      </p:pic>
      <p:sp>
        <p:nvSpPr>
          <p:cNvPr id="7" name="Text 3"/>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D-14 · Otras secuencias: consulta de producto (D-12), comparación (D-13) y administración (D-15).</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04 · MODELADO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actividades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33</a:t>
            </a:r>
            <a:endParaRPr lang="en-US" sz="900" dirty="0"/>
          </a:p>
        </p:txBody>
      </p:sp>
      <p:pic>
        <p:nvPicPr>
          <p:cNvPr id="6" name="Image 0" descr="../DIAGRAMAS_UML/png/D16_act_proceso_comercial.png">    </p:cNvPr>
          <p:cNvPicPr>
            <a:picLocks noChangeAspect="1"/>
          </p:cNvPicPr>
          <p:nvPr/>
        </p:nvPicPr>
        <p:blipFill>
          <a:blip r:embed="rId1"/>
          <a:stretch>
            <a:fillRect/>
          </a:stretch>
        </p:blipFill>
        <p:spPr>
          <a:xfrm>
            <a:off x="1096580" y="1371600"/>
            <a:ext cx="5304919" cy="4983480"/>
          </a:xfrm>
          <a:prstGeom prst="rect">
            <a:avLst/>
          </a:prstGeom>
        </p:spPr>
      </p:pic>
      <p:sp>
        <p:nvSpPr>
          <p:cNvPr id="7" name="Shape 3"/>
          <p:cNvSpPr/>
          <p:nvPr/>
        </p:nvSpPr>
        <p:spPr>
          <a:xfrm>
            <a:off x="7269480" y="1371600"/>
            <a:ext cx="4373575" cy="4983480"/>
          </a:xfrm>
          <a:prstGeom prst="roundRect">
            <a:avLst>
              <a:gd name="adj" fmla="val 1673"/>
            </a:avLst>
          </a:prstGeom>
          <a:solidFill>
            <a:srgbClr val="F5F5F7"/>
          </a:solidFill>
          <a:ln/>
        </p:spPr>
      </p:sp>
      <p:sp>
        <p:nvSpPr>
          <p:cNvPr id="8" name="Text 4"/>
          <p:cNvSpPr txBox="1"/>
          <p:nvPr/>
        </p:nvSpPr>
        <p:spPr>
          <a:xfrm>
            <a:off x="7498080" y="1600200"/>
            <a:ext cx="3962095" cy="45262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Cuatro calles: cliente, sistema, área comercial, distribuidor.</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El sistema registra, genera el mensaje y cierra.</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La venta ocurre fuera del sistema.</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El cierre de la consulta permite medir la derivación.</a:t>
            </a:r>
            <a:endParaRPr lang="en-US" sz="1350" dirty="0"/>
          </a:p>
        </p:txBody>
      </p:sp>
      <p:sp>
        <p:nvSpPr>
          <p:cNvPr id="9" name="Text 5"/>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D-16 · También: administración del catálogo (D-17).</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04 · MODELADO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estados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34</a:t>
            </a:r>
            <a:endParaRPr lang="en-US" sz="900" dirty="0"/>
          </a:p>
        </p:txBody>
      </p:sp>
      <p:pic>
        <p:nvPicPr>
          <p:cNvPr id="6" name="Image 0" descr="../DIAGRAMAS_UML/png/D18_estados_consulta.png">    </p:cNvPr>
          <p:cNvPicPr>
            <a:picLocks noChangeAspect="1"/>
          </p:cNvPicPr>
          <p:nvPr/>
        </p:nvPicPr>
        <p:blipFill>
          <a:blip r:embed="rId1"/>
          <a:stretch>
            <a:fillRect/>
          </a:stretch>
        </p:blipFill>
        <p:spPr>
          <a:xfrm>
            <a:off x="870674" y="1371600"/>
            <a:ext cx="6671131" cy="4983480"/>
          </a:xfrm>
          <a:prstGeom prst="rect">
            <a:avLst/>
          </a:prstGeom>
        </p:spPr>
      </p:pic>
      <p:sp>
        <p:nvSpPr>
          <p:cNvPr id="7" name="Shape 3"/>
          <p:cNvSpPr/>
          <p:nvPr/>
        </p:nvSpPr>
        <p:spPr>
          <a:xfrm>
            <a:off x="8183880" y="1371600"/>
            <a:ext cx="3459175" cy="4983480"/>
          </a:xfrm>
          <a:prstGeom prst="roundRect">
            <a:avLst>
              <a:gd name="adj" fmla="val 2115"/>
            </a:avLst>
          </a:prstGeom>
          <a:solidFill>
            <a:srgbClr val="F5F5F7"/>
          </a:solidFill>
          <a:ln/>
        </p:spPr>
      </p:sp>
      <p:sp>
        <p:nvSpPr>
          <p:cNvPr id="8" name="Text 4"/>
          <p:cNvSpPr txBox="1"/>
          <p:nvPr/>
        </p:nvSpPr>
        <p:spPr>
          <a:xfrm>
            <a:off x="8412480" y="1600200"/>
            <a:ext cx="3047695" cy="45262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Se modela porque las acciones permitidas dependen del estado.</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Regla: Registrada no pasa a Cerrada sin atención.</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after(30 días): descarte automático.</a:t>
            </a:r>
            <a:endParaRPr lang="en-US" sz="1350" dirty="0"/>
          </a:p>
        </p:txBody>
      </p:sp>
      <p:sp>
        <p:nvSpPr>
          <p:cNvPr id="9" name="Text 5"/>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D-18 · Elaboración propia.</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04 · MODELADO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componentes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35</a:t>
            </a:r>
            <a:endParaRPr lang="en-US" sz="900" dirty="0"/>
          </a:p>
        </p:txBody>
      </p:sp>
      <p:pic>
        <p:nvPicPr>
          <p:cNvPr id="6" name="Image 0" descr="../DIAGRAMAS_UML/png/D19_componentes.png">    </p:cNvPr>
          <p:cNvPicPr>
            <a:picLocks noChangeAspect="1"/>
          </p:cNvPicPr>
          <p:nvPr/>
        </p:nvPicPr>
        <p:blipFill>
          <a:blip r:embed="rId1"/>
          <a:stretch>
            <a:fillRect/>
          </a:stretch>
        </p:blipFill>
        <p:spPr>
          <a:xfrm>
            <a:off x="2262929" y="1371600"/>
            <a:ext cx="7665838" cy="4892040"/>
          </a:xfrm>
          <a:prstGeom prst="rect">
            <a:avLst/>
          </a:prstGeom>
        </p:spPr>
      </p:pic>
      <p:sp>
        <p:nvSpPr>
          <p:cNvPr id="7" name="Text 3"/>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D-19 · Elaboración propia.</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04 · MODELADO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despliegue</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36</a:t>
            </a:r>
            <a:endParaRPr lang="en-US" sz="900" dirty="0"/>
          </a:p>
        </p:txBody>
      </p:sp>
      <p:pic>
        <p:nvPicPr>
          <p:cNvPr id="6" name="Image 0" descr="../DIAGRAMAS_UML/png/D20_despliegue.png">    </p:cNvPr>
          <p:cNvPicPr>
            <a:picLocks noChangeAspect="1"/>
          </p:cNvPicPr>
          <p:nvPr/>
        </p:nvPicPr>
        <p:blipFill>
          <a:blip r:embed="rId1"/>
          <a:stretch>
            <a:fillRect/>
          </a:stretch>
        </p:blipFill>
        <p:spPr>
          <a:xfrm>
            <a:off x="548640" y="1452228"/>
            <a:ext cx="6949440" cy="4822224"/>
          </a:xfrm>
          <a:prstGeom prst="rect">
            <a:avLst/>
          </a:prstGeom>
        </p:spPr>
      </p:pic>
      <p:sp>
        <p:nvSpPr>
          <p:cNvPr id="7" name="Shape 3"/>
          <p:cNvSpPr/>
          <p:nvPr/>
        </p:nvSpPr>
        <p:spPr>
          <a:xfrm>
            <a:off x="7818120" y="1371600"/>
            <a:ext cx="3824935" cy="4983480"/>
          </a:xfrm>
          <a:prstGeom prst="roundRect">
            <a:avLst>
              <a:gd name="adj" fmla="val 1913"/>
            </a:avLst>
          </a:prstGeom>
          <a:solidFill>
            <a:srgbClr val="F5F5F7"/>
          </a:solidFill>
          <a:ln/>
        </p:spPr>
      </p:sp>
      <p:sp>
        <p:nvSpPr>
          <p:cNvPr id="8" name="Text 4"/>
          <p:cNvSpPr txBox="1"/>
          <p:nvPr/>
        </p:nvSpPr>
        <p:spPr>
          <a:xfrm>
            <a:off x="8046720" y="1600200"/>
            <a:ext cx="3413455" cy="45262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HTTPS 443 en todas las conexiones externas.</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CDN/WAF y respaldo externo: propuestos.</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Staging → producción solo tras la aprobación.</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La base de datos puede estar en el mismo host.</a:t>
            </a:r>
            <a:endParaRPr lang="en-US" sz="1350" dirty="0"/>
          </a:p>
        </p:txBody>
      </p:sp>
      <p:sp>
        <p:nvSpPr>
          <p:cNvPr id="9" name="Text 5"/>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D-20 · Elaboración propia. Versión de PHP por confirmar con el hosting.</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04 · MODELADO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Modelo entidad-relación</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37</a:t>
            </a:r>
            <a:endParaRPr lang="en-US" sz="900" dirty="0"/>
          </a:p>
        </p:txBody>
      </p:sp>
      <p:pic>
        <p:nvPicPr>
          <p:cNvPr id="6" name="Image 0" descr="../DIAGRAMAS_UML/png/D21_entidad_relacion.png">    </p:cNvPr>
          <p:cNvPicPr>
            <a:picLocks noChangeAspect="1"/>
          </p:cNvPicPr>
          <p:nvPr/>
        </p:nvPicPr>
        <p:blipFill>
          <a:blip r:embed="rId1"/>
          <a:stretch>
            <a:fillRect/>
          </a:stretch>
        </p:blipFill>
        <p:spPr>
          <a:xfrm>
            <a:off x="548640" y="2038582"/>
            <a:ext cx="11094415" cy="3558077"/>
          </a:xfrm>
          <a:prstGeom prst="rect">
            <a:avLst/>
          </a:prstGeom>
        </p:spPr>
      </p:pic>
      <p:sp>
        <p:nvSpPr>
          <p:cNvPr id="7" name="Text 3"/>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D-21 · Notación de patas de gallo. Diccionario de datos: monografía, Anexo E.</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05 · GESTIÓN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14 semanas, hitos al cierre de cada fase</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38</a:t>
            </a:r>
            <a:endParaRPr lang="en-US" sz="900" dirty="0"/>
          </a:p>
        </p:txBody>
      </p:sp>
      <p:sp>
        <p:nvSpPr>
          <p:cNvPr id="6" name="Text 3"/>
          <p:cNvSpPr txBox="1"/>
          <p:nvPr/>
        </p:nvSpPr>
        <p:spPr>
          <a:xfrm>
            <a:off x="3840480" y="1463040"/>
            <a:ext cx="557327" cy="274320"/>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S1</a:t>
            </a:r>
            <a:endParaRPr lang="en-US" sz="1000" dirty="0"/>
          </a:p>
        </p:txBody>
      </p:sp>
      <p:sp>
        <p:nvSpPr>
          <p:cNvPr id="7" name="Text 4"/>
          <p:cNvSpPr txBox="1"/>
          <p:nvPr/>
        </p:nvSpPr>
        <p:spPr>
          <a:xfrm>
            <a:off x="4397807" y="1463040"/>
            <a:ext cx="557327" cy="274320"/>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S2</a:t>
            </a:r>
            <a:endParaRPr lang="en-US" sz="1000" dirty="0"/>
          </a:p>
        </p:txBody>
      </p:sp>
      <p:sp>
        <p:nvSpPr>
          <p:cNvPr id="8" name="Text 5"/>
          <p:cNvSpPr txBox="1"/>
          <p:nvPr/>
        </p:nvSpPr>
        <p:spPr>
          <a:xfrm>
            <a:off x="4955134" y="1463040"/>
            <a:ext cx="557327" cy="274320"/>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S3</a:t>
            </a:r>
            <a:endParaRPr lang="en-US" sz="1000" dirty="0"/>
          </a:p>
        </p:txBody>
      </p:sp>
      <p:sp>
        <p:nvSpPr>
          <p:cNvPr id="9" name="Text 6"/>
          <p:cNvSpPr txBox="1"/>
          <p:nvPr/>
        </p:nvSpPr>
        <p:spPr>
          <a:xfrm>
            <a:off x="5512460" y="1463040"/>
            <a:ext cx="557327" cy="274320"/>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S4</a:t>
            </a:r>
            <a:endParaRPr lang="en-US" sz="1000" dirty="0"/>
          </a:p>
        </p:txBody>
      </p:sp>
      <p:sp>
        <p:nvSpPr>
          <p:cNvPr id="10" name="Text 7"/>
          <p:cNvSpPr txBox="1"/>
          <p:nvPr/>
        </p:nvSpPr>
        <p:spPr>
          <a:xfrm>
            <a:off x="6069787" y="1463040"/>
            <a:ext cx="557327" cy="274320"/>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S5</a:t>
            </a:r>
            <a:endParaRPr lang="en-US" sz="1000" dirty="0"/>
          </a:p>
        </p:txBody>
      </p:sp>
      <p:sp>
        <p:nvSpPr>
          <p:cNvPr id="11" name="Text 8"/>
          <p:cNvSpPr txBox="1"/>
          <p:nvPr/>
        </p:nvSpPr>
        <p:spPr>
          <a:xfrm>
            <a:off x="6627114" y="1463040"/>
            <a:ext cx="557327" cy="274320"/>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S6</a:t>
            </a:r>
            <a:endParaRPr lang="en-US" sz="1000" dirty="0"/>
          </a:p>
        </p:txBody>
      </p:sp>
      <p:sp>
        <p:nvSpPr>
          <p:cNvPr id="12" name="Text 9"/>
          <p:cNvSpPr txBox="1"/>
          <p:nvPr/>
        </p:nvSpPr>
        <p:spPr>
          <a:xfrm>
            <a:off x="7184441" y="1463040"/>
            <a:ext cx="557327" cy="274320"/>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S7</a:t>
            </a:r>
            <a:endParaRPr lang="en-US" sz="1000" dirty="0"/>
          </a:p>
        </p:txBody>
      </p:sp>
      <p:sp>
        <p:nvSpPr>
          <p:cNvPr id="13" name="Text 10"/>
          <p:cNvSpPr txBox="1"/>
          <p:nvPr/>
        </p:nvSpPr>
        <p:spPr>
          <a:xfrm>
            <a:off x="7741768" y="1463040"/>
            <a:ext cx="557327" cy="274320"/>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S8</a:t>
            </a:r>
            <a:endParaRPr lang="en-US" sz="1000" dirty="0"/>
          </a:p>
        </p:txBody>
      </p:sp>
      <p:sp>
        <p:nvSpPr>
          <p:cNvPr id="14" name="Text 11"/>
          <p:cNvSpPr txBox="1"/>
          <p:nvPr/>
        </p:nvSpPr>
        <p:spPr>
          <a:xfrm>
            <a:off x="8299094" y="1463040"/>
            <a:ext cx="557327" cy="274320"/>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S9</a:t>
            </a:r>
            <a:endParaRPr lang="en-US" sz="1000" dirty="0"/>
          </a:p>
        </p:txBody>
      </p:sp>
      <p:sp>
        <p:nvSpPr>
          <p:cNvPr id="15" name="Text 12"/>
          <p:cNvSpPr txBox="1"/>
          <p:nvPr/>
        </p:nvSpPr>
        <p:spPr>
          <a:xfrm>
            <a:off x="8856421" y="1463040"/>
            <a:ext cx="557327" cy="274320"/>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S10</a:t>
            </a:r>
            <a:endParaRPr lang="en-US" sz="1000" dirty="0"/>
          </a:p>
        </p:txBody>
      </p:sp>
      <p:sp>
        <p:nvSpPr>
          <p:cNvPr id="16" name="Text 13"/>
          <p:cNvSpPr txBox="1"/>
          <p:nvPr/>
        </p:nvSpPr>
        <p:spPr>
          <a:xfrm>
            <a:off x="9413748" y="1463040"/>
            <a:ext cx="557327" cy="274320"/>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S11</a:t>
            </a:r>
            <a:endParaRPr lang="en-US" sz="1000" dirty="0"/>
          </a:p>
        </p:txBody>
      </p:sp>
      <p:sp>
        <p:nvSpPr>
          <p:cNvPr id="17" name="Text 14"/>
          <p:cNvSpPr txBox="1"/>
          <p:nvPr/>
        </p:nvSpPr>
        <p:spPr>
          <a:xfrm>
            <a:off x="9971075" y="1463040"/>
            <a:ext cx="557327" cy="274320"/>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S12</a:t>
            </a:r>
            <a:endParaRPr lang="en-US" sz="1000" dirty="0"/>
          </a:p>
        </p:txBody>
      </p:sp>
      <p:sp>
        <p:nvSpPr>
          <p:cNvPr id="18" name="Text 15"/>
          <p:cNvSpPr txBox="1"/>
          <p:nvPr/>
        </p:nvSpPr>
        <p:spPr>
          <a:xfrm>
            <a:off x="10528402" y="1463040"/>
            <a:ext cx="557327" cy="274320"/>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S13</a:t>
            </a:r>
            <a:endParaRPr lang="en-US" sz="1000" dirty="0"/>
          </a:p>
        </p:txBody>
      </p:sp>
      <p:sp>
        <p:nvSpPr>
          <p:cNvPr id="19" name="Text 16"/>
          <p:cNvSpPr txBox="1"/>
          <p:nvPr/>
        </p:nvSpPr>
        <p:spPr>
          <a:xfrm>
            <a:off x="11085728" y="1463040"/>
            <a:ext cx="557327" cy="274320"/>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S14</a:t>
            </a:r>
            <a:endParaRPr lang="en-US" sz="1000" dirty="0"/>
          </a:p>
        </p:txBody>
      </p:sp>
      <p:sp>
        <p:nvSpPr>
          <p:cNvPr id="20" name="Text 17"/>
          <p:cNvSpPr txBox="1"/>
          <p:nvPr/>
        </p:nvSpPr>
        <p:spPr>
          <a:xfrm>
            <a:off x="548640" y="1783080"/>
            <a:ext cx="3200400" cy="329184"/>
          </a:xfrm>
          <a:prstGeom prst="rect">
            <a:avLst/>
          </a:prstGeom>
          <a:noFill/>
          <a:ln/>
        </p:spPr>
        <p:txBody>
          <a:bodyPr wrap="square" lIns="0" tIns="0" rIns="0" bIns="0" rtlCol="0" anchor="ctr"/>
          <a:lstStyle/>
          <a:p>
            <a:pPr algn="r" indent="0" marL="0">
              <a:buNone/>
            </a:pPr>
            <a:r>
              <a:rPr lang="en-US" sz="1150" dirty="0">
                <a:solidFill>
                  <a:srgbClr val="0B0B0D"/>
                </a:solidFill>
                <a:latin typeface="Arial" pitchFamily="34" charset="0"/>
                <a:ea typeface="Arial" pitchFamily="34" charset="-122"/>
                <a:cs typeface="Arial" pitchFamily="34" charset="-120"/>
              </a:rPr>
              <a:t>Modelo del negocio y visión</a:t>
            </a:r>
            <a:endParaRPr lang="en-US" sz="1150" dirty="0"/>
          </a:p>
        </p:txBody>
      </p:sp>
      <p:sp>
        <p:nvSpPr>
          <p:cNvPr id="21" name="Shape 18"/>
          <p:cNvSpPr/>
          <p:nvPr/>
        </p:nvSpPr>
        <p:spPr>
          <a:xfrm>
            <a:off x="3858768" y="1837944"/>
            <a:ext cx="1078078" cy="219456"/>
          </a:xfrm>
          <a:prstGeom prst="rect">
            <a:avLst/>
          </a:prstGeom>
          <a:solidFill>
            <a:srgbClr val="9CA3AF"/>
          </a:solidFill>
          <a:ln/>
        </p:spPr>
      </p:sp>
      <p:sp>
        <p:nvSpPr>
          <p:cNvPr id="22" name="Text 19"/>
          <p:cNvSpPr txBox="1"/>
          <p:nvPr/>
        </p:nvSpPr>
        <p:spPr>
          <a:xfrm>
            <a:off x="548640" y="2112264"/>
            <a:ext cx="3200400" cy="329184"/>
          </a:xfrm>
          <a:prstGeom prst="rect">
            <a:avLst/>
          </a:prstGeom>
          <a:noFill/>
          <a:ln/>
        </p:spPr>
        <p:txBody>
          <a:bodyPr wrap="square" lIns="0" tIns="0" rIns="0" bIns="0" rtlCol="0" anchor="ctr"/>
          <a:lstStyle/>
          <a:p>
            <a:pPr algn="r" indent="0" marL="0">
              <a:buNone/>
            </a:pPr>
            <a:r>
              <a:rPr lang="en-US" sz="1150" dirty="0">
                <a:solidFill>
                  <a:srgbClr val="0B0B0D"/>
                </a:solidFill>
                <a:latin typeface="Arial" pitchFamily="34" charset="0"/>
                <a:ea typeface="Arial" pitchFamily="34" charset="-122"/>
                <a:cs typeface="Arial" pitchFamily="34" charset="-120"/>
              </a:rPr>
              <a:t>Caso de negocio y riesgos</a:t>
            </a:r>
            <a:endParaRPr lang="en-US" sz="1150" dirty="0"/>
          </a:p>
        </p:txBody>
      </p:sp>
      <p:sp>
        <p:nvSpPr>
          <p:cNvPr id="23" name="Shape 20"/>
          <p:cNvSpPr/>
          <p:nvPr/>
        </p:nvSpPr>
        <p:spPr>
          <a:xfrm>
            <a:off x="4416095" y="2167128"/>
            <a:ext cx="520751" cy="219456"/>
          </a:xfrm>
          <a:prstGeom prst="rect">
            <a:avLst/>
          </a:prstGeom>
          <a:solidFill>
            <a:srgbClr val="9CA3AF"/>
          </a:solidFill>
          <a:ln/>
        </p:spPr>
      </p:sp>
      <p:sp>
        <p:nvSpPr>
          <p:cNvPr id="24" name="Text 21"/>
          <p:cNvSpPr txBox="1"/>
          <p:nvPr/>
        </p:nvSpPr>
        <p:spPr>
          <a:xfrm>
            <a:off x="548640" y="2441448"/>
            <a:ext cx="3200400" cy="329184"/>
          </a:xfrm>
          <a:prstGeom prst="rect">
            <a:avLst/>
          </a:prstGeom>
          <a:noFill/>
          <a:ln/>
        </p:spPr>
        <p:txBody>
          <a:bodyPr wrap="square" lIns="0" tIns="0" rIns="0" bIns="0" rtlCol="0" anchor="ctr"/>
          <a:lstStyle/>
          <a:p>
            <a:pPr algn="r" indent="0" marL="0">
              <a:buNone/>
            </a:pPr>
            <a:r>
              <a:rPr lang="en-US" sz="1150" dirty="0">
                <a:solidFill>
                  <a:srgbClr val="0B0B0D"/>
                </a:solidFill>
                <a:latin typeface="Arial" pitchFamily="34" charset="0"/>
                <a:ea typeface="Arial" pitchFamily="34" charset="-122"/>
                <a:cs typeface="Arial" pitchFamily="34" charset="-120"/>
              </a:rPr>
              <a:t>Requisitos y casos de uso</a:t>
            </a:r>
            <a:endParaRPr lang="en-US" sz="1150" dirty="0"/>
          </a:p>
        </p:txBody>
      </p:sp>
      <p:sp>
        <p:nvSpPr>
          <p:cNvPr id="25" name="Shape 22"/>
          <p:cNvSpPr/>
          <p:nvPr/>
        </p:nvSpPr>
        <p:spPr>
          <a:xfrm>
            <a:off x="4973422" y="2496312"/>
            <a:ext cx="1078078" cy="219456"/>
          </a:xfrm>
          <a:prstGeom prst="rect">
            <a:avLst/>
          </a:prstGeom>
          <a:solidFill>
            <a:srgbClr val="A78BFA"/>
          </a:solidFill>
          <a:ln/>
        </p:spPr>
      </p:sp>
      <p:sp>
        <p:nvSpPr>
          <p:cNvPr id="26" name="Text 23"/>
          <p:cNvSpPr txBox="1"/>
          <p:nvPr/>
        </p:nvSpPr>
        <p:spPr>
          <a:xfrm>
            <a:off x="548640" y="2770632"/>
            <a:ext cx="3200400" cy="329184"/>
          </a:xfrm>
          <a:prstGeom prst="rect">
            <a:avLst/>
          </a:prstGeom>
          <a:noFill/>
          <a:ln/>
        </p:spPr>
        <p:txBody>
          <a:bodyPr wrap="square" lIns="0" tIns="0" rIns="0" bIns="0" rtlCol="0" anchor="ctr"/>
          <a:lstStyle/>
          <a:p>
            <a:pPr algn="r" indent="0" marL="0">
              <a:buNone/>
            </a:pPr>
            <a:r>
              <a:rPr lang="en-US" sz="1150" dirty="0">
                <a:solidFill>
                  <a:srgbClr val="0B0B0D"/>
                </a:solidFill>
                <a:latin typeface="Arial" pitchFamily="34" charset="0"/>
                <a:ea typeface="Arial" pitchFamily="34" charset="-122"/>
                <a:cs typeface="Arial" pitchFamily="34" charset="-120"/>
              </a:rPr>
              <a:t>Arquitectura y modelo de datos</a:t>
            </a:r>
            <a:endParaRPr lang="en-US" sz="1150" dirty="0"/>
          </a:p>
        </p:txBody>
      </p:sp>
      <p:sp>
        <p:nvSpPr>
          <p:cNvPr id="27" name="Shape 24"/>
          <p:cNvSpPr/>
          <p:nvPr/>
        </p:nvSpPr>
        <p:spPr>
          <a:xfrm>
            <a:off x="5530748" y="2825496"/>
            <a:ext cx="1635404" cy="219456"/>
          </a:xfrm>
          <a:prstGeom prst="rect">
            <a:avLst/>
          </a:prstGeom>
          <a:solidFill>
            <a:srgbClr val="A78BFA"/>
          </a:solidFill>
          <a:ln/>
        </p:spPr>
      </p:sp>
      <p:sp>
        <p:nvSpPr>
          <p:cNvPr id="28" name="Text 25"/>
          <p:cNvSpPr txBox="1"/>
          <p:nvPr/>
        </p:nvSpPr>
        <p:spPr>
          <a:xfrm>
            <a:off x="548640" y="3099816"/>
            <a:ext cx="3200400" cy="329184"/>
          </a:xfrm>
          <a:prstGeom prst="rect">
            <a:avLst/>
          </a:prstGeom>
          <a:noFill/>
          <a:ln/>
        </p:spPr>
        <p:txBody>
          <a:bodyPr wrap="square" lIns="0" tIns="0" rIns="0" bIns="0" rtlCol="0" anchor="ctr"/>
          <a:lstStyle/>
          <a:p>
            <a:pPr algn="r" indent="0" marL="0">
              <a:buNone/>
            </a:pPr>
            <a:r>
              <a:rPr lang="en-US" sz="1150" dirty="0">
                <a:solidFill>
                  <a:srgbClr val="0B0B0D"/>
                </a:solidFill>
                <a:latin typeface="Arial" pitchFamily="34" charset="0"/>
                <a:ea typeface="Arial" pitchFamily="34" charset="-122"/>
                <a:cs typeface="Arial" pitchFamily="34" charset="-120"/>
              </a:rPr>
              <a:t>Prototipos y prototipo arquitectónico</a:t>
            </a:r>
            <a:endParaRPr lang="en-US" sz="1150" dirty="0"/>
          </a:p>
        </p:txBody>
      </p:sp>
      <p:sp>
        <p:nvSpPr>
          <p:cNvPr id="29" name="Shape 26"/>
          <p:cNvSpPr/>
          <p:nvPr/>
        </p:nvSpPr>
        <p:spPr>
          <a:xfrm>
            <a:off x="6088075" y="3154680"/>
            <a:ext cx="1078078" cy="219456"/>
          </a:xfrm>
          <a:prstGeom prst="rect">
            <a:avLst/>
          </a:prstGeom>
          <a:solidFill>
            <a:srgbClr val="A78BFA"/>
          </a:solidFill>
          <a:ln/>
        </p:spPr>
      </p:sp>
      <p:sp>
        <p:nvSpPr>
          <p:cNvPr id="30" name="Text 27"/>
          <p:cNvSpPr txBox="1"/>
          <p:nvPr/>
        </p:nvSpPr>
        <p:spPr>
          <a:xfrm>
            <a:off x="548640" y="3429000"/>
            <a:ext cx="3200400" cy="329184"/>
          </a:xfrm>
          <a:prstGeom prst="rect">
            <a:avLst/>
          </a:prstGeom>
          <a:noFill/>
          <a:ln/>
        </p:spPr>
        <p:txBody>
          <a:bodyPr wrap="square" lIns="0" tIns="0" rIns="0" bIns="0" rtlCol="0" anchor="ctr"/>
          <a:lstStyle/>
          <a:p>
            <a:pPr algn="r" indent="0" marL="0">
              <a:buNone/>
            </a:pPr>
            <a:r>
              <a:rPr lang="en-US" sz="1150" dirty="0">
                <a:solidFill>
                  <a:srgbClr val="0B0B0D"/>
                </a:solidFill>
                <a:latin typeface="Arial" pitchFamily="34" charset="0"/>
                <a:ea typeface="Arial" pitchFamily="34" charset="-122"/>
                <a:cs typeface="Arial" pitchFamily="34" charset="-120"/>
              </a:rPr>
              <a:t>C1 Catálogo y fichas</a:t>
            </a:r>
            <a:endParaRPr lang="en-US" sz="1150" dirty="0"/>
          </a:p>
        </p:txBody>
      </p:sp>
      <p:sp>
        <p:nvSpPr>
          <p:cNvPr id="31" name="Shape 28"/>
          <p:cNvSpPr/>
          <p:nvPr/>
        </p:nvSpPr>
        <p:spPr>
          <a:xfrm>
            <a:off x="7202729" y="3483864"/>
            <a:ext cx="1078078" cy="219456"/>
          </a:xfrm>
          <a:prstGeom prst="rect">
            <a:avLst/>
          </a:prstGeom>
          <a:solidFill>
            <a:srgbClr val="6D28D9"/>
          </a:solidFill>
          <a:ln/>
        </p:spPr>
      </p:sp>
      <p:sp>
        <p:nvSpPr>
          <p:cNvPr id="32" name="Text 29"/>
          <p:cNvSpPr txBox="1"/>
          <p:nvPr/>
        </p:nvSpPr>
        <p:spPr>
          <a:xfrm>
            <a:off x="548640" y="3758184"/>
            <a:ext cx="3200400" cy="329184"/>
          </a:xfrm>
          <a:prstGeom prst="rect">
            <a:avLst/>
          </a:prstGeom>
          <a:noFill/>
          <a:ln/>
        </p:spPr>
        <p:txBody>
          <a:bodyPr wrap="square" lIns="0" tIns="0" rIns="0" bIns="0" rtlCol="0" anchor="ctr"/>
          <a:lstStyle/>
          <a:p>
            <a:pPr algn="r" indent="0" marL="0">
              <a:buNone/>
            </a:pPr>
            <a:r>
              <a:rPr lang="en-US" sz="1150" dirty="0">
                <a:solidFill>
                  <a:srgbClr val="0B0B0D"/>
                </a:solidFill>
                <a:latin typeface="Arial" pitchFamily="34" charset="0"/>
                <a:ea typeface="Arial" pitchFamily="34" charset="-122"/>
                <a:cs typeface="Arial" pitchFamily="34" charset="-120"/>
              </a:rPr>
              <a:t>C2 Comparador y consultas</a:t>
            </a:r>
            <a:endParaRPr lang="en-US" sz="1150" dirty="0"/>
          </a:p>
        </p:txBody>
      </p:sp>
      <p:sp>
        <p:nvSpPr>
          <p:cNvPr id="33" name="Shape 30"/>
          <p:cNvSpPr/>
          <p:nvPr/>
        </p:nvSpPr>
        <p:spPr>
          <a:xfrm>
            <a:off x="8317382" y="3813048"/>
            <a:ext cx="1078078" cy="219456"/>
          </a:xfrm>
          <a:prstGeom prst="rect">
            <a:avLst/>
          </a:prstGeom>
          <a:solidFill>
            <a:srgbClr val="6D28D9"/>
          </a:solidFill>
          <a:ln/>
        </p:spPr>
      </p:sp>
      <p:sp>
        <p:nvSpPr>
          <p:cNvPr id="34" name="Text 31"/>
          <p:cNvSpPr txBox="1"/>
          <p:nvPr/>
        </p:nvSpPr>
        <p:spPr>
          <a:xfrm>
            <a:off x="548640" y="4087368"/>
            <a:ext cx="3200400" cy="329184"/>
          </a:xfrm>
          <a:prstGeom prst="rect">
            <a:avLst/>
          </a:prstGeom>
          <a:noFill/>
          <a:ln/>
        </p:spPr>
        <p:txBody>
          <a:bodyPr wrap="square" lIns="0" tIns="0" rIns="0" bIns="0" rtlCol="0" anchor="ctr"/>
          <a:lstStyle/>
          <a:p>
            <a:pPr algn="r" indent="0" marL="0">
              <a:buNone/>
            </a:pPr>
            <a:r>
              <a:rPr lang="en-US" sz="1150" dirty="0">
                <a:solidFill>
                  <a:srgbClr val="0B0B0D"/>
                </a:solidFill>
                <a:latin typeface="Arial" pitchFamily="34" charset="0"/>
                <a:ea typeface="Arial" pitchFamily="34" charset="-122"/>
                <a:cs typeface="Arial" pitchFamily="34" charset="-120"/>
              </a:rPr>
              <a:t>C3 Distribuidores, reportes y seguridad</a:t>
            </a:r>
            <a:endParaRPr lang="en-US" sz="1150" dirty="0"/>
          </a:p>
        </p:txBody>
      </p:sp>
      <p:sp>
        <p:nvSpPr>
          <p:cNvPr id="35" name="Shape 32"/>
          <p:cNvSpPr/>
          <p:nvPr/>
        </p:nvSpPr>
        <p:spPr>
          <a:xfrm>
            <a:off x="9432036" y="4142232"/>
            <a:ext cx="1078078" cy="219456"/>
          </a:xfrm>
          <a:prstGeom prst="rect">
            <a:avLst/>
          </a:prstGeom>
          <a:solidFill>
            <a:srgbClr val="6D28D9"/>
          </a:solidFill>
          <a:ln/>
        </p:spPr>
      </p:sp>
      <p:sp>
        <p:nvSpPr>
          <p:cNvPr id="36" name="Text 33"/>
          <p:cNvSpPr txBox="1"/>
          <p:nvPr/>
        </p:nvSpPr>
        <p:spPr>
          <a:xfrm>
            <a:off x="548640" y="4416552"/>
            <a:ext cx="3200400" cy="329184"/>
          </a:xfrm>
          <a:prstGeom prst="rect">
            <a:avLst/>
          </a:prstGeom>
          <a:noFill/>
          <a:ln/>
        </p:spPr>
        <p:txBody>
          <a:bodyPr wrap="square" lIns="0" tIns="0" rIns="0" bIns="0" rtlCol="0" anchor="ctr"/>
          <a:lstStyle/>
          <a:p>
            <a:pPr algn="r" indent="0" marL="0">
              <a:buNone/>
            </a:pPr>
            <a:r>
              <a:rPr lang="en-US" sz="1150" dirty="0">
                <a:solidFill>
                  <a:srgbClr val="0B0B0D"/>
                </a:solidFill>
                <a:latin typeface="Arial" pitchFamily="34" charset="0"/>
                <a:ea typeface="Arial" pitchFamily="34" charset="-122"/>
                <a:cs typeface="Arial" pitchFamily="34" charset="-120"/>
              </a:rPr>
              <a:t>Pruebas de integración y sistema</a:t>
            </a:r>
            <a:endParaRPr lang="en-US" sz="1150" dirty="0"/>
          </a:p>
        </p:txBody>
      </p:sp>
      <p:sp>
        <p:nvSpPr>
          <p:cNvPr id="37" name="Shape 34"/>
          <p:cNvSpPr/>
          <p:nvPr/>
        </p:nvSpPr>
        <p:spPr>
          <a:xfrm>
            <a:off x="7760056" y="4471416"/>
            <a:ext cx="2750058" cy="219456"/>
          </a:xfrm>
          <a:prstGeom prst="rect">
            <a:avLst/>
          </a:prstGeom>
          <a:solidFill>
            <a:srgbClr val="6D28D9"/>
          </a:solidFill>
          <a:ln/>
        </p:spPr>
      </p:sp>
      <p:sp>
        <p:nvSpPr>
          <p:cNvPr id="38" name="Text 35"/>
          <p:cNvSpPr txBox="1"/>
          <p:nvPr/>
        </p:nvSpPr>
        <p:spPr>
          <a:xfrm>
            <a:off x="548640" y="4745736"/>
            <a:ext cx="3200400" cy="329184"/>
          </a:xfrm>
          <a:prstGeom prst="rect">
            <a:avLst/>
          </a:prstGeom>
          <a:noFill/>
          <a:ln/>
        </p:spPr>
        <p:txBody>
          <a:bodyPr wrap="square" lIns="0" tIns="0" rIns="0" bIns="0" rtlCol="0" anchor="ctr"/>
          <a:lstStyle/>
          <a:p>
            <a:pPr algn="r" indent="0" marL="0">
              <a:buNone/>
            </a:pPr>
            <a:r>
              <a:rPr lang="en-US" sz="1150" dirty="0">
                <a:solidFill>
                  <a:srgbClr val="0B0B0D"/>
                </a:solidFill>
                <a:latin typeface="Arial" pitchFamily="34" charset="0"/>
                <a:ea typeface="Arial" pitchFamily="34" charset="-122"/>
                <a:cs typeface="Arial" pitchFamily="34" charset="-120"/>
              </a:rPr>
              <a:t>Aceptación y capacitación</a:t>
            </a:r>
            <a:endParaRPr lang="en-US" sz="1150" dirty="0"/>
          </a:p>
        </p:txBody>
      </p:sp>
      <p:sp>
        <p:nvSpPr>
          <p:cNvPr id="39" name="Shape 36"/>
          <p:cNvSpPr/>
          <p:nvPr/>
        </p:nvSpPr>
        <p:spPr>
          <a:xfrm>
            <a:off x="10546690" y="4800600"/>
            <a:ext cx="520751" cy="219456"/>
          </a:xfrm>
          <a:prstGeom prst="rect">
            <a:avLst/>
          </a:prstGeom>
          <a:solidFill>
            <a:srgbClr val="0B0B0D"/>
          </a:solidFill>
          <a:ln/>
        </p:spPr>
      </p:sp>
      <p:sp>
        <p:nvSpPr>
          <p:cNvPr id="40" name="Text 37"/>
          <p:cNvSpPr txBox="1"/>
          <p:nvPr/>
        </p:nvSpPr>
        <p:spPr>
          <a:xfrm>
            <a:off x="548640" y="5074920"/>
            <a:ext cx="3200400" cy="329184"/>
          </a:xfrm>
          <a:prstGeom prst="rect">
            <a:avLst/>
          </a:prstGeom>
          <a:noFill/>
          <a:ln/>
        </p:spPr>
        <p:txBody>
          <a:bodyPr wrap="square" lIns="0" tIns="0" rIns="0" bIns="0" rtlCol="0" anchor="ctr"/>
          <a:lstStyle/>
          <a:p>
            <a:pPr algn="r" indent="0" marL="0">
              <a:buNone/>
            </a:pPr>
            <a:r>
              <a:rPr lang="en-US" sz="1150" dirty="0">
                <a:solidFill>
                  <a:srgbClr val="0B0B0D"/>
                </a:solidFill>
                <a:latin typeface="Arial" pitchFamily="34" charset="0"/>
                <a:ea typeface="Arial" pitchFamily="34" charset="-122"/>
                <a:cs typeface="Arial" pitchFamily="34" charset="-120"/>
              </a:rPr>
              <a:t>Despliegue y cierre</a:t>
            </a:r>
            <a:endParaRPr lang="en-US" sz="1150" dirty="0"/>
          </a:p>
        </p:txBody>
      </p:sp>
      <p:sp>
        <p:nvSpPr>
          <p:cNvPr id="41" name="Shape 38"/>
          <p:cNvSpPr/>
          <p:nvPr/>
        </p:nvSpPr>
        <p:spPr>
          <a:xfrm>
            <a:off x="11104016" y="5129784"/>
            <a:ext cx="520751" cy="219456"/>
          </a:xfrm>
          <a:prstGeom prst="rect">
            <a:avLst/>
          </a:prstGeom>
          <a:solidFill>
            <a:srgbClr val="0B0B0D"/>
          </a:solidFill>
          <a:ln/>
        </p:spPr>
      </p:sp>
      <p:sp>
        <p:nvSpPr>
          <p:cNvPr id="42" name="Shape 39"/>
          <p:cNvSpPr/>
          <p:nvPr/>
        </p:nvSpPr>
        <p:spPr>
          <a:xfrm>
            <a:off x="4955134" y="1737360"/>
            <a:ext cx="0" cy="3712464"/>
          </a:xfrm>
          <a:prstGeom prst="line">
            <a:avLst/>
          </a:prstGeom>
          <a:noFill/>
          <a:ln w="12700">
            <a:solidFill>
              <a:srgbClr val="0B0B0D"/>
            </a:solidFill>
            <a:prstDash val="dash"/>
          </a:ln>
        </p:spPr>
      </p:sp>
      <p:sp>
        <p:nvSpPr>
          <p:cNvPr id="43" name="Text 40"/>
          <p:cNvSpPr txBox="1"/>
          <p:nvPr/>
        </p:nvSpPr>
        <p:spPr>
          <a:xfrm>
            <a:off x="4497934" y="5477256"/>
            <a:ext cx="914400" cy="320040"/>
          </a:xfrm>
          <a:prstGeom prst="rect">
            <a:avLst/>
          </a:prstGeom>
          <a:noFill/>
          <a:ln/>
        </p:spPr>
        <p:txBody>
          <a:bodyPr wrap="square" lIns="0" tIns="0" rIns="0" bIns="0" rtlCol="0" anchor="t"/>
          <a:lstStyle/>
          <a:p>
            <a:pPr algn="ctr" indent="0" marL="0">
              <a:buNone/>
            </a:pPr>
            <a:r>
              <a:rPr lang="en-US" sz="1300" b="1" dirty="0">
                <a:solidFill>
                  <a:srgbClr val="6D28D9"/>
                </a:solidFill>
                <a:latin typeface="Arial" pitchFamily="34" charset="0"/>
                <a:ea typeface="Arial" pitchFamily="34" charset="-122"/>
                <a:cs typeface="Arial" pitchFamily="34" charset="-120"/>
              </a:rPr>
              <a:t>LCO</a:t>
            </a:r>
            <a:endParaRPr lang="en-US" sz="1300" dirty="0"/>
          </a:p>
        </p:txBody>
      </p:sp>
      <p:sp>
        <p:nvSpPr>
          <p:cNvPr id="44" name="Shape 41"/>
          <p:cNvSpPr/>
          <p:nvPr/>
        </p:nvSpPr>
        <p:spPr>
          <a:xfrm>
            <a:off x="7184441" y="1737360"/>
            <a:ext cx="0" cy="3712464"/>
          </a:xfrm>
          <a:prstGeom prst="line">
            <a:avLst/>
          </a:prstGeom>
          <a:noFill/>
          <a:ln w="12700">
            <a:solidFill>
              <a:srgbClr val="0B0B0D"/>
            </a:solidFill>
            <a:prstDash val="dash"/>
          </a:ln>
        </p:spPr>
      </p:sp>
      <p:sp>
        <p:nvSpPr>
          <p:cNvPr id="45" name="Text 42"/>
          <p:cNvSpPr txBox="1"/>
          <p:nvPr/>
        </p:nvSpPr>
        <p:spPr>
          <a:xfrm>
            <a:off x="6727241" y="5477256"/>
            <a:ext cx="914400" cy="320040"/>
          </a:xfrm>
          <a:prstGeom prst="rect">
            <a:avLst/>
          </a:prstGeom>
          <a:noFill/>
          <a:ln/>
        </p:spPr>
        <p:txBody>
          <a:bodyPr wrap="square" lIns="0" tIns="0" rIns="0" bIns="0" rtlCol="0" anchor="t"/>
          <a:lstStyle/>
          <a:p>
            <a:pPr algn="ctr" indent="0" marL="0">
              <a:buNone/>
            </a:pPr>
            <a:r>
              <a:rPr lang="en-US" sz="1300" b="1" dirty="0">
                <a:solidFill>
                  <a:srgbClr val="6D28D9"/>
                </a:solidFill>
                <a:latin typeface="Arial" pitchFamily="34" charset="0"/>
                <a:ea typeface="Arial" pitchFamily="34" charset="-122"/>
                <a:cs typeface="Arial" pitchFamily="34" charset="-120"/>
              </a:rPr>
              <a:t>LCA</a:t>
            </a:r>
            <a:endParaRPr lang="en-US" sz="1300" dirty="0"/>
          </a:p>
        </p:txBody>
      </p:sp>
      <p:sp>
        <p:nvSpPr>
          <p:cNvPr id="46" name="Shape 43"/>
          <p:cNvSpPr/>
          <p:nvPr/>
        </p:nvSpPr>
        <p:spPr>
          <a:xfrm>
            <a:off x="10528402" y="1737360"/>
            <a:ext cx="0" cy="3712464"/>
          </a:xfrm>
          <a:prstGeom prst="line">
            <a:avLst/>
          </a:prstGeom>
          <a:noFill/>
          <a:ln w="12700">
            <a:solidFill>
              <a:srgbClr val="0B0B0D"/>
            </a:solidFill>
            <a:prstDash val="dash"/>
          </a:ln>
        </p:spPr>
      </p:sp>
      <p:sp>
        <p:nvSpPr>
          <p:cNvPr id="47" name="Text 44"/>
          <p:cNvSpPr txBox="1"/>
          <p:nvPr/>
        </p:nvSpPr>
        <p:spPr>
          <a:xfrm>
            <a:off x="10071202" y="5477256"/>
            <a:ext cx="914400" cy="320040"/>
          </a:xfrm>
          <a:prstGeom prst="rect">
            <a:avLst/>
          </a:prstGeom>
          <a:noFill/>
          <a:ln/>
        </p:spPr>
        <p:txBody>
          <a:bodyPr wrap="square" lIns="0" tIns="0" rIns="0" bIns="0" rtlCol="0" anchor="t"/>
          <a:lstStyle/>
          <a:p>
            <a:pPr algn="ctr" indent="0" marL="0">
              <a:buNone/>
            </a:pPr>
            <a:r>
              <a:rPr lang="en-US" sz="1300" b="1" dirty="0">
                <a:solidFill>
                  <a:srgbClr val="6D28D9"/>
                </a:solidFill>
                <a:latin typeface="Arial" pitchFamily="34" charset="0"/>
                <a:ea typeface="Arial" pitchFamily="34" charset="-122"/>
                <a:cs typeface="Arial" pitchFamily="34" charset="-120"/>
              </a:rPr>
              <a:t>IOC</a:t>
            </a:r>
            <a:endParaRPr lang="en-US" sz="1300" dirty="0"/>
          </a:p>
        </p:txBody>
      </p:sp>
      <p:sp>
        <p:nvSpPr>
          <p:cNvPr id="48" name="Shape 45"/>
          <p:cNvSpPr/>
          <p:nvPr/>
        </p:nvSpPr>
        <p:spPr>
          <a:xfrm>
            <a:off x="11643055" y="1737360"/>
            <a:ext cx="0" cy="3712464"/>
          </a:xfrm>
          <a:prstGeom prst="line">
            <a:avLst/>
          </a:prstGeom>
          <a:noFill/>
          <a:ln w="12700">
            <a:solidFill>
              <a:srgbClr val="0B0B0D"/>
            </a:solidFill>
            <a:prstDash val="dash"/>
          </a:ln>
        </p:spPr>
      </p:sp>
      <p:sp>
        <p:nvSpPr>
          <p:cNvPr id="49" name="Text 46"/>
          <p:cNvSpPr txBox="1"/>
          <p:nvPr/>
        </p:nvSpPr>
        <p:spPr>
          <a:xfrm>
            <a:off x="11185855" y="5477256"/>
            <a:ext cx="914400" cy="320040"/>
          </a:xfrm>
          <a:prstGeom prst="rect">
            <a:avLst/>
          </a:prstGeom>
          <a:noFill/>
          <a:ln/>
        </p:spPr>
        <p:txBody>
          <a:bodyPr wrap="square" lIns="0" tIns="0" rIns="0" bIns="0" rtlCol="0" anchor="t"/>
          <a:lstStyle/>
          <a:p>
            <a:pPr algn="ctr" indent="0" marL="0">
              <a:buNone/>
            </a:pPr>
            <a:r>
              <a:rPr lang="en-US" sz="1300" b="1" dirty="0">
                <a:solidFill>
                  <a:srgbClr val="6D28D9"/>
                </a:solidFill>
                <a:latin typeface="Arial" pitchFamily="34" charset="0"/>
                <a:ea typeface="Arial" pitchFamily="34" charset="-122"/>
                <a:cs typeface="Arial" pitchFamily="34" charset="-120"/>
              </a:rPr>
              <a:t>PR</a:t>
            </a:r>
            <a:endParaRPr lang="en-US" sz="1300" dirty="0"/>
          </a:p>
        </p:txBody>
      </p:sp>
      <p:sp>
        <p:nvSpPr>
          <p:cNvPr id="50" name="Shape 47"/>
          <p:cNvSpPr/>
          <p:nvPr/>
        </p:nvSpPr>
        <p:spPr>
          <a:xfrm>
            <a:off x="548640" y="5715000"/>
            <a:ext cx="11094415" cy="548640"/>
          </a:xfrm>
          <a:prstGeom prst="roundRect">
            <a:avLst>
              <a:gd name="adj" fmla="val 13333"/>
            </a:avLst>
          </a:prstGeom>
          <a:solidFill>
            <a:srgbClr val="F5F5F7"/>
          </a:solidFill>
          <a:ln/>
        </p:spPr>
      </p:sp>
      <p:sp>
        <p:nvSpPr>
          <p:cNvPr id="51" name="Text 48"/>
          <p:cNvSpPr txBox="1"/>
          <p:nvPr/>
        </p:nvSpPr>
        <p:spPr>
          <a:xfrm>
            <a:off x="777240" y="5715000"/>
            <a:ext cx="10637215" cy="548640"/>
          </a:xfrm>
          <a:prstGeom prst="rect">
            <a:avLst/>
          </a:prstGeom>
          <a:noFill/>
          <a:ln/>
        </p:spPr>
        <p:txBody>
          <a:bodyPr wrap="square" lIns="0" tIns="0" rIns="0" bIns="0" rtlCol="0" anchor="ctr"/>
          <a:lstStyle/>
          <a:p>
            <a:pPr indent="0" marL="0">
              <a:buNone/>
            </a:pPr>
            <a:r>
              <a:rPr lang="en-US" sz="1150" b="1" dirty="0">
                <a:solidFill>
                  <a:srgbClr val="0B0B0D"/>
                </a:solidFill>
                <a:latin typeface="Arial" pitchFamily="34" charset="0"/>
                <a:ea typeface="Arial" pitchFamily="34" charset="-122"/>
                <a:cs typeface="Arial" pitchFamily="34" charset="-120"/>
              </a:rPr>
              <a:t>Esfuerzo estimado: 560 horas-persona · </a:t>
            </a:r>
            <a:pPr indent="0" marL="0">
              <a:buNone/>
            </a:pPr>
            <a:r>
              <a:rPr lang="en-US" sz="1150" dirty="0">
                <a:solidFill>
                  <a:srgbClr val="0B0B0D"/>
                </a:solidFill>
                <a:latin typeface="Arial" pitchFamily="34" charset="0"/>
                <a:ea typeface="Arial" pitchFamily="34" charset="-122"/>
                <a:cs typeface="Arial" pitchFamily="34" charset="-120"/>
              </a:rPr>
              <a:t>Inicio 40 h · Elaboración 140 h · Construcción 300 h · Transición 80 h · Presupuesto referencial: S/ 16,800 (tarifa hipotética de S/ 30/h; no es un costo real)</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05 · GESTIÓN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12 riesgos, atacados desde las primeras fases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39</a:t>
            </a:r>
            <a:endParaRPr lang="en-US" sz="900" dirty="0"/>
          </a:p>
        </p:txBody>
      </p:sp>
      <p:sp>
        <p:nvSpPr>
          <p:cNvPr id="6" name="Shape 3"/>
          <p:cNvSpPr/>
          <p:nvPr/>
        </p:nvSpPr>
        <p:spPr>
          <a:xfrm>
            <a:off x="1097280" y="1508760"/>
            <a:ext cx="768096" cy="768096"/>
          </a:xfrm>
          <a:prstGeom prst="rect">
            <a:avLst/>
          </a:prstGeom>
          <a:solidFill>
            <a:srgbClr val="F3F4F6"/>
          </a:solidFill>
          <a:ln/>
        </p:spPr>
      </p:sp>
      <p:sp>
        <p:nvSpPr>
          <p:cNvPr id="7" name="Shape 4"/>
          <p:cNvSpPr/>
          <p:nvPr/>
        </p:nvSpPr>
        <p:spPr>
          <a:xfrm>
            <a:off x="1901952" y="1508760"/>
            <a:ext cx="768096" cy="768096"/>
          </a:xfrm>
          <a:prstGeom prst="rect">
            <a:avLst/>
          </a:prstGeom>
          <a:solidFill>
            <a:srgbClr val="DDD6FE"/>
          </a:solidFill>
          <a:ln/>
        </p:spPr>
      </p:sp>
      <p:sp>
        <p:nvSpPr>
          <p:cNvPr id="8" name="Text 5"/>
          <p:cNvSpPr txBox="1"/>
          <p:nvPr/>
        </p:nvSpPr>
        <p:spPr>
          <a:xfrm>
            <a:off x="1901952" y="1508760"/>
            <a:ext cx="768096" cy="768096"/>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R-09</a:t>
            </a:r>
            <a:endParaRPr lang="en-US" sz="1000" dirty="0"/>
          </a:p>
        </p:txBody>
      </p:sp>
      <p:sp>
        <p:nvSpPr>
          <p:cNvPr id="9" name="Shape 6"/>
          <p:cNvSpPr/>
          <p:nvPr/>
        </p:nvSpPr>
        <p:spPr>
          <a:xfrm>
            <a:off x="2706624" y="1508760"/>
            <a:ext cx="768096" cy="768096"/>
          </a:xfrm>
          <a:prstGeom prst="rect">
            <a:avLst/>
          </a:prstGeom>
          <a:solidFill>
            <a:srgbClr val="A78BFA"/>
          </a:solidFill>
          <a:ln/>
        </p:spPr>
      </p:sp>
      <p:sp>
        <p:nvSpPr>
          <p:cNvPr id="10" name="Shape 7"/>
          <p:cNvSpPr/>
          <p:nvPr/>
        </p:nvSpPr>
        <p:spPr>
          <a:xfrm>
            <a:off x="3511296" y="1508760"/>
            <a:ext cx="768096" cy="768096"/>
          </a:xfrm>
          <a:prstGeom prst="rect">
            <a:avLst/>
          </a:prstGeom>
          <a:solidFill>
            <a:srgbClr val="6D28D9"/>
          </a:solidFill>
          <a:ln/>
        </p:spPr>
      </p:sp>
      <p:sp>
        <p:nvSpPr>
          <p:cNvPr id="11" name="Shape 8"/>
          <p:cNvSpPr/>
          <p:nvPr/>
        </p:nvSpPr>
        <p:spPr>
          <a:xfrm>
            <a:off x="4315968" y="1508760"/>
            <a:ext cx="768096" cy="768096"/>
          </a:xfrm>
          <a:prstGeom prst="rect">
            <a:avLst/>
          </a:prstGeom>
          <a:solidFill>
            <a:srgbClr val="6D28D9"/>
          </a:solidFill>
          <a:ln/>
        </p:spPr>
      </p:sp>
      <p:sp>
        <p:nvSpPr>
          <p:cNvPr id="12" name="Shape 9"/>
          <p:cNvSpPr/>
          <p:nvPr/>
        </p:nvSpPr>
        <p:spPr>
          <a:xfrm>
            <a:off x="1097280" y="2313432"/>
            <a:ext cx="768096" cy="768096"/>
          </a:xfrm>
          <a:prstGeom prst="rect">
            <a:avLst/>
          </a:prstGeom>
          <a:solidFill>
            <a:srgbClr val="F3F4F6"/>
          </a:solidFill>
          <a:ln/>
        </p:spPr>
      </p:sp>
      <p:sp>
        <p:nvSpPr>
          <p:cNvPr id="13" name="Shape 10"/>
          <p:cNvSpPr/>
          <p:nvPr/>
        </p:nvSpPr>
        <p:spPr>
          <a:xfrm>
            <a:off x="1901952" y="2313432"/>
            <a:ext cx="768096" cy="768096"/>
          </a:xfrm>
          <a:prstGeom prst="rect">
            <a:avLst/>
          </a:prstGeom>
          <a:solidFill>
            <a:srgbClr val="DDD6FE"/>
          </a:solidFill>
          <a:ln/>
        </p:spPr>
      </p:sp>
      <p:sp>
        <p:nvSpPr>
          <p:cNvPr id="14" name="Shape 11"/>
          <p:cNvSpPr/>
          <p:nvPr/>
        </p:nvSpPr>
        <p:spPr>
          <a:xfrm>
            <a:off x="2706624" y="2313432"/>
            <a:ext cx="768096" cy="768096"/>
          </a:xfrm>
          <a:prstGeom prst="rect">
            <a:avLst/>
          </a:prstGeom>
          <a:solidFill>
            <a:srgbClr val="A78BFA"/>
          </a:solidFill>
          <a:ln/>
        </p:spPr>
      </p:sp>
      <p:sp>
        <p:nvSpPr>
          <p:cNvPr id="15" name="Text 12"/>
          <p:cNvSpPr txBox="1"/>
          <p:nvPr/>
        </p:nvSpPr>
        <p:spPr>
          <a:xfrm>
            <a:off x="2706624" y="2313432"/>
            <a:ext cx="768096" cy="768096"/>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R-04</a:t>
            </a:r>
            <a:endParaRPr lang="en-US" sz="1000" dirty="0"/>
          </a:p>
          <a:p>
            <a:pPr algn="ctr" indent="0" marL="0">
              <a:buNone/>
            </a:pPr>
            <a:r>
              <a:rPr lang="en-US" sz="1000" b="1" dirty="0">
                <a:solidFill>
                  <a:srgbClr val="0B0B0D"/>
                </a:solidFill>
                <a:latin typeface="Arial" pitchFamily="34" charset="0"/>
                <a:ea typeface="Arial" pitchFamily="34" charset="-122"/>
                <a:cs typeface="Arial" pitchFamily="34" charset="-120"/>
              </a:rPr>
              <a:t>R-05</a:t>
            </a:r>
            <a:endParaRPr lang="en-US" sz="1000" dirty="0"/>
          </a:p>
        </p:txBody>
      </p:sp>
      <p:sp>
        <p:nvSpPr>
          <p:cNvPr id="16" name="Shape 13"/>
          <p:cNvSpPr/>
          <p:nvPr/>
        </p:nvSpPr>
        <p:spPr>
          <a:xfrm>
            <a:off x="3511296" y="2313432"/>
            <a:ext cx="768096" cy="768096"/>
          </a:xfrm>
          <a:prstGeom prst="rect">
            <a:avLst/>
          </a:prstGeom>
          <a:solidFill>
            <a:srgbClr val="6D28D9"/>
          </a:solidFill>
          <a:ln/>
        </p:spPr>
      </p:sp>
      <p:sp>
        <p:nvSpPr>
          <p:cNvPr id="17" name="Text 14"/>
          <p:cNvSpPr txBox="1"/>
          <p:nvPr/>
        </p:nvSpPr>
        <p:spPr>
          <a:xfrm>
            <a:off x="3511296" y="2313432"/>
            <a:ext cx="768096" cy="7680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R-01</a:t>
            </a:r>
            <a:endParaRPr lang="en-US" sz="1000" dirty="0"/>
          </a:p>
        </p:txBody>
      </p:sp>
      <p:sp>
        <p:nvSpPr>
          <p:cNvPr id="18" name="Shape 15"/>
          <p:cNvSpPr/>
          <p:nvPr/>
        </p:nvSpPr>
        <p:spPr>
          <a:xfrm>
            <a:off x="4315968" y="2313432"/>
            <a:ext cx="768096" cy="768096"/>
          </a:xfrm>
          <a:prstGeom prst="rect">
            <a:avLst/>
          </a:prstGeom>
          <a:solidFill>
            <a:srgbClr val="6D28D9"/>
          </a:solidFill>
          <a:ln/>
        </p:spPr>
      </p:sp>
      <p:sp>
        <p:nvSpPr>
          <p:cNvPr id="19" name="Shape 16"/>
          <p:cNvSpPr/>
          <p:nvPr/>
        </p:nvSpPr>
        <p:spPr>
          <a:xfrm>
            <a:off x="1097280" y="3118104"/>
            <a:ext cx="768096" cy="768096"/>
          </a:xfrm>
          <a:prstGeom prst="rect">
            <a:avLst/>
          </a:prstGeom>
          <a:solidFill>
            <a:srgbClr val="F3F4F6"/>
          </a:solidFill>
          <a:ln/>
        </p:spPr>
      </p:sp>
      <p:sp>
        <p:nvSpPr>
          <p:cNvPr id="20" name="Shape 17"/>
          <p:cNvSpPr/>
          <p:nvPr/>
        </p:nvSpPr>
        <p:spPr>
          <a:xfrm>
            <a:off x="1901952" y="3118104"/>
            <a:ext cx="768096" cy="768096"/>
          </a:xfrm>
          <a:prstGeom prst="rect">
            <a:avLst/>
          </a:prstGeom>
          <a:solidFill>
            <a:srgbClr val="DDD6FE"/>
          </a:solidFill>
          <a:ln/>
        </p:spPr>
      </p:sp>
      <p:sp>
        <p:nvSpPr>
          <p:cNvPr id="21" name="Shape 18"/>
          <p:cNvSpPr/>
          <p:nvPr/>
        </p:nvSpPr>
        <p:spPr>
          <a:xfrm>
            <a:off x="2706624" y="3118104"/>
            <a:ext cx="768096" cy="768096"/>
          </a:xfrm>
          <a:prstGeom prst="rect">
            <a:avLst/>
          </a:prstGeom>
          <a:solidFill>
            <a:srgbClr val="DDD6FE"/>
          </a:solidFill>
          <a:ln/>
        </p:spPr>
      </p:sp>
      <p:sp>
        <p:nvSpPr>
          <p:cNvPr id="22" name="Text 19"/>
          <p:cNvSpPr txBox="1"/>
          <p:nvPr/>
        </p:nvSpPr>
        <p:spPr>
          <a:xfrm>
            <a:off x="2706624" y="3118104"/>
            <a:ext cx="768096" cy="768096"/>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R-06</a:t>
            </a:r>
            <a:endParaRPr lang="en-US" sz="1000" dirty="0"/>
          </a:p>
          <a:p>
            <a:pPr algn="ctr" indent="0" marL="0">
              <a:buNone/>
            </a:pPr>
            <a:r>
              <a:rPr lang="en-US" sz="1000" b="1" dirty="0">
                <a:solidFill>
                  <a:srgbClr val="0B0B0D"/>
                </a:solidFill>
                <a:latin typeface="Arial" pitchFamily="34" charset="0"/>
                <a:ea typeface="Arial" pitchFamily="34" charset="-122"/>
                <a:cs typeface="Arial" pitchFamily="34" charset="-120"/>
              </a:rPr>
              <a:t>R-08</a:t>
            </a:r>
            <a:endParaRPr lang="en-US" sz="1000" dirty="0"/>
          </a:p>
          <a:p>
            <a:pPr algn="ctr" indent="0" marL="0">
              <a:buNone/>
            </a:pPr>
            <a:r>
              <a:rPr lang="en-US" sz="1000" b="1" dirty="0">
                <a:solidFill>
                  <a:srgbClr val="0B0B0D"/>
                </a:solidFill>
                <a:latin typeface="Arial" pitchFamily="34" charset="0"/>
                <a:ea typeface="Arial" pitchFamily="34" charset="-122"/>
                <a:cs typeface="Arial" pitchFamily="34" charset="-120"/>
              </a:rPr>
              <a:t>R-12</a:t>
            </a:r>
            <a:endParaRPr lang="en-US" sz="1000" dirty="0"/>
          </a:p>
        </p:txBody>
      </p:sp>
      <p:sp>
        <p:nvSpPr>
          <p:cNvPr id="23" name="Shape 20"/>
          <p:cNvSpPr/>
          <p:nvPr/>
        </p:nvSpPr>
        <p:spPr>
          <a:xfrm>
            <a:off x="3511296" y="3118104"/>
            <a:ext cx="768096" cy="768096"/>
          </a:xfrm>
          <a:prstGeom prst="rect">
            <a:avLst/>
          </a:prstGeom>
          <a:solidFill>
            <a:srgbClr val="A78BFA"/>
          </a:solidFill>
          <a:ln/>
        </p:spPr>
      </p:sp>
      <p:sp>
        <p:nvSpPr>
          <p:cNvPr id="24" name="Text 21"/>
          <p:cNvSpPr txBox="1"/>
          <p:nvPr/>
        </p:nvSpPr>
        <p:spPr>
          <a:xfrm>
            <a:off x="3511296" y="3118104"/>
            <a:ext cx="768096" cy="768096"/>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R-02</a:t>
            </a:r>
            <a:endParaRPr lang="en-US" sz="1000" dirty="0"/>
          </a:p>
          <a:p>
            <a:pPr algn="ctr" indent="0" marL="0">
              <a:buNone/>
            </a:pPr>
            <a:r>
              <a:rPr lang="en-US" sz="1000" b="1" dirty="0">
                <a:solidFill>
                  <a:srgbClr val="0B0B0D"/>
                </a:solidFill>
                <a:latin typeface="Arial" pitchFamily="34" charset="0"/>
                <a:ea typeface="Arial" pitchFamily="34" charset="-122"/>
                <a:cs typeface="Arial" pitchFamily="34" charset="-120"/>
              </a:rPr>
              <a:t>R-11</a:t>
            </a:r>
            <a:endParaRPr lang="en-US" sz="1000" dirty="0"/>
          </a:p>
        </p:txBody>
      </p:sp>
      <p:sp>
        <p:nvSpPr>
          <p:cNvPr id="25" name="Shape 22"/>
          <p:cNvSpPr/>
          <p:nvPr/>
        </p:nvSpPr>
        <p:spPr>
          <a:xfrm>
            <a:off x="4315968" y="3118104"/>
            <a:ext cx="768096" cy="768096"/>
          </a:xfrm>
          <a:prstGeom prst="rect">
            <a:avLst/>
          </a:prstGeom>
          <a:solidFill>
            <a:srgbClr val="A78BFA"/>
          </a:solidFill>
          <a:ln/>
        </p:spPr>
      </p:sp>
      <p:sp>
        <p:nvSpPr>
          <p:cNvPr id="26" name="Text 23"/>
          <p:cNvSpPr txBox="1"/>
          <p:nvPr/>
        </p:nvSpPr>
        <p:spPr>
          <a:xfrm>
            <a:off x="4315968" y="3118104"/>
            <a:ext cx="768096" cy="768096"/>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R-07</a:t>
            </a:r>
            <a:endParaRPr lang="en-US" sz="1000" dirty="0"/>
          </a:p>
        </p:txBody>
      </p:sp>
      <p:sp>
        <p:nvSpPr>
          <p:cNvPr id="27" name="Shape 24"/>
          <p:cNvSpPr/>
          <p:nvPr/>
        </p:nvSpPr>
        <p:spPr>
          <a:xfrm>
            <a:off x="1097280" y="3922776"/>
            <a:ext cx="768096" cy="768096"/>
          </a:xfrm>
          <a:prstGeom prst="rect">
            <a:avLst/>
          </a:prstGeom>
          <a:solidFill>
            <a:srgbClr val="F3F4F6"/>
          </a:solidFill>
          <a:ln/>
        </p:spPr>
      </p:sp>
      <p:sp>
        <p:nvSpPr>
          <p:cNvPr id="28" name="Shape 25"/>
          <p:cNvSpPr/>
          <p:nvPr/>
        </p:nvSpPr>
        <p:spPr>
          <a:xfrm>
            <a:off x="1901952" y="3922776"/>
            <a:ext cx="768096" cy="768096"/>
          </a:xfrm>
          <a:prstGeom prst="rect">
            <a:avLst/>
          </a:prstGeom>
          <a:solidFill>
            <a:srgbClr val="F3F4F6"/>
          </a:solidFill>
          <a:ln/>
        </p:spPr>
      </p:sp>
      <p:sp>
        <p:nvSpPr>
          <p:cNvPr id="29" name="Shape 26"/>
          <p:cNvSpPr/>
          <p:nvPr/>
        </p:nvSpPr>
        <p:spPr>
          <a:xfrm>
            <a:off x="2706624" y="3922776"/>
            <a:ext cx="768096" cy="768096"/>
          </a:xfrm>
          <a:prstGeom prst="rect">
            <a:avLst/>
          </a:prstGeom>
          <a:solidFill>
            <a:srgbClr val="DDD6FE"/>
          </a:solidFill>
          <a:ln/>
        </p:spPr>
      </p:sp>
      <p:sp>
        <p:nvSpPr>
          <p:cNvPr id="30" name="Shape 27"/>
          <p:cNvSpPr/>
          <p:nvPr/>
        </p:nvSpPr>
        <p:spPr>
          <a:xfrm>
            <a:off x="3511296" y="3922776"/>
            <a:ext cx="768096" cy="768096"/>
          </a:xfrm>
          <a:prstGeom prst="rect">
            <a:avLst/>
          </a:prstGeom>
          <a:solidFill>
            <a:srgbClr val="DDD6FE"/>
          </a:solidFill>
          <a:ln/>
        </p:spPr>
      </p:sp>
      <p:sp>
        <p:nvSpPr>
          <p:cNvPr id="31" name="Text 28"/>
          <p:cNvSpPr txBox="1"/>
          <p:nvPr/>
        </p:nvSpPr>
        <p:spPr>
          <a:xfrm>
            <a:off x="3511296" y="3922776"/>
            <a:ext cx="768096" cy="768096"/>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R-03</a:t>
            </a:r>
            <a:endParaRPr lang="en-US" sz="1000" dirty="0"/>
          </a:p>
        </p:txBody>
      </p:sp>
      <p:sp>
        <p:nvSpPr>
          <p:cNvPr id="32" name="Shape 29"/>
          <p:cNvSpPr/>
          <p:nvPr/>
        </p:nvSpPr>
        <p:spPr>
          <a:xfrm>
            <a:off x="4315968" y="3922776"/>
            <a:ext cx="768096" cy="768096"/>
          </a:xfrm>
          <a:prstGeom prst="rect">
            <a:avLst/>
          </a:prstGeom>
          <a:solidFill>
            <a:srgbClr val="DDD6FE"/>
          </a:solidFill>
          <a:ln/>
        </p:spPr>
      </p:sp>
      <p:sp>
        <p:nvSpPr>
          <p:cNvPr id="33" name="Text 30"/>
          <p:cNvSpPr txBox="1"/>
          <p:nvPr/>
        </p:nvSpPr>
        <p:spPr>
          <a:xfrm>
            <a:off x="4315968" y="3922776"/>
            <a:ext cx="768096" cy="768096"/>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R-10</a:t>
            </a:r>
            <a:endParaRPr lang="en-US" sz="1000" dirty="0"/>
          </a:p>
        </p:txBody>
      </p:sp>
      <p:sp>
        <p:nvSpPr>
          <p:cNvPr id="34" name="Shape 31"/>
          <p:cNvSpPr/>
          <p:nvPr/>
        </p:nvSpPr>
        <p:spPr>
          <a:xfrm>
            <a:off x="1097280" y="4727448"/>
            <a:ext cx="768096" cy="768096"/>
          </a:xfrm>
          <a:prstGeom prst="rect">
            <a:avLst/>
          </a:prstGeom>
          <a:solidFill>
            <a:srgbClr val="F3F4F6"/>
          </a:solidFill>
          <a:ln/>
        </p:spPr>
      </p:sp>
      <p:sp>
        <p:nvSpPr>
          <p:cNvPr id="35" name="Shape 32"/>
          <p:cNvSpPr/>
          <p:nvPr/>
        </p:nvSpPr>
        <p:spPr>
          <a:xfrm>
            <a:off x="1901952" y="4727448"/>
            <a:ext cx="768096" cy="768096"/>
          </a:xfrm>
          <a:prstGeom prst="rect">
            <a:avLst/>
          </a:prstGeom>
          <a:solidFill>
            <a:srgbClr val="F3F4F6"/>
          </a:solidFill>
          <a:ln/>
        </p:spPr>
      </p:sp>
      <p:sp>
        <p:nvSpPr>
          <p:cNvPr id="36" name="Shape 33"/>
          <p:cNvSpPr/>
          <p:nvPr/>
        </p:nvSpPr>
        <p:spPr>
          <a:xfrm>
            <a:off x="2706624" y="4727448"/>
            <a:ext cx="768096" cy="768096"/>
          </a:xfrm>
          <a:prstGeom prst="rect">
            <a:avLst/>
          </a:prstGeom>
          <a:solidFill>
            <a:srgbClr val="F3F4F6"/>
          </a:solidFill>
          <a:ln/>
        </p:spPr>
      </p:sp>
      <p:sp>
        <p:nvSpPr>
          <p:cNvPr id="37" name="Shape 34"/>
          <p:cNvSpPr/>
          <p:nvPr/>
        </p:nvSpPr>
        <p:spPr>
          <a:xfrm>
            <a:off x="3511296" y="4727448"/>
            <a:ext cx="768096" cy="768096"/>
          </a:xfrm>
          <a:prstGeom prst="rect">
            <a:avLst/>
          </a:prstGeom>
          <a:solidFill>
            <a:srgbClr val="F3F4F6"/>
          </a:solidFill>
          <a:ln/>
        </p:spPr>
      </p:sp>
      <p:sp>
        <p:nvSpPr>
          <p:cNvPr id="38" name="Shape 35"/>
          <p:cNvSpPr/>
          <p:nvPr/>
        </p:nvSpPr>
        <p:spPr>
          <a:xfrm>
            <a:off x="4315968" y="4727448"/>
            <a:ext cx="768096" cy="768096"/>
          </a:xfrm>
          <a:prstGeom prst="rect">
            <a:avLst/>
          </a:prstGeom>
          <a:solidFill>
            <a:srgbClr val="F3F4F6"/>
          </a:solidFill>
          <a:ln/>
        </p:spPr>
      </p:sp>
      <p:sp>
        <p:nvSpPr>
          <p:cNvPr id="39" name="Text 36"/>
          <p:cNvSpPr txBox="1"/>
          <p:nvPr/>
        </p:nvSpPr>
        <p:spPr>
          <a:xfrm rot="16200000">
            <a:off x="45720" y="3337560"/>
            <a:ext cx="1463040" cy="27432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Probabilidad ↑</a:t>
            </a:r>
            <a:endParaRPr lang="en-US" sz="1000" dirty="0"/>
          </a:p>
        </p:txBody>
      </p:sp>
      <p:sp>
        <p:nvSpPr>
          <p:cNvPr id="40" name="Text 37"/>
          <p:cNvSpPr txBox="1"/>
          <p:nvPr/>
        </p:nvSpPr>
        <p:spPr>
          <a:xfrm>
            <a:off x="1097280" y="5577840"/>
            <a:ext cx="4023360" cy="274320"/>
          </a:xfrm>
          <a:prstGeom prst="rect">
            <a:avLst/>
          </a:prstGeom>
          <a:noFill/>
          <a:ln/>
        </p:spPr>
        <p:txBody>
          <a:bodyPr wrap="square" lIns="0" tIns="0" rIns="0" bIns="0" rtlCol="0" anchor="t"/>
          <a:lstStyle/>
          <a:p>
            <a:pPr algn="ctr" indent="0" marL="0">
              <a:buNone/>
            </a:pPr>
            <a:r>
              <a:rPr lang="en-US" sz="1000" dirty="0">
                <a:solidFill>
                  <a:srgbClr val="6B7280"/>
                </a:solidFill>
                <a:latin typeface="Arial" pitchFamily="34" charset="0"/>
                <a:ea typeface="Arial" pitchFamily="34" charset="-122"/>
                <a:cs typeface="Arial" pitchFamily="34" charset="-120"/>
              </a:rPr>
              <a:t>Impacto →</a:t>
            </a:r>
            <a:endParaRPr lang="en-US" sz="1000" dirty="0"/>
          </a:p>
        </p:txBody>
      </p:sp>
      <p:sp>
        <p:nvSpPr>
          <p:cNvPr id="41" name="Shape 38"/>
          <p:cNvSpPr/>
          <p:nvPr/>
        </p:nvSpPr>
        <p:spPr>
          <a:xfrm>
            <a:off x="5394960" y="1508760"/>
            <a:ext cx="6248095" cy="1005840"/>
          </a:xfrm>
          <a:prstGeom prst="roundRect">
            <a:avLst>
              <a:gd name="adj" fmla="val 7273"/>
            </a:avLst>
          </a:prstGeom>
          <a:solidFill>
            <a:srgbClr val="6D28D9"/>
          </a:solidFill>
          <a:ln/>
        </p:spPr>
      </p:sp>
      <p:sp>
        <p:nvSpPr>
          <p:cNvPr id="42" name="Text 39"/>
          <p:cNvSpPr txBox="1"/>
          <p:nvPr/>
        </p:nvSpPr>
        <p:spPr>
          <a:xfrm>
            <a:off x="5577840" y="1581912"/>
            <a:ext cx="2377440" cy="274320"/>
          </a:xfrm>
          <a:prstGeom prst="rect">
            <a:avLst/>
          </a:prstGeom>
          <a:noFill/>
          <a:ln/>
        </p:spPr>
        <p:txBody>
          <a:bodyPr wrap="square" lIns="0" tIns="0" rIns="0" bIns="0" rtlCol="0" anchor="t"/>
          <a:lstStyle/>
          <a:p>
            <a:pPr indent="0" marL="0">
              <a:buNone/>
            </a:pPr>
            <a:r>
              <a:rPr lang="en-US" sz="1100" b="1" dirty="0">
                <a:solidFill>
                  <a:srgbClr val="EDE4FB"/>
                </a:solidFill>
                <a:latin typeface="Arial" pitchFamily="34" charset="0"/>
                <a:ea typeface="Arial" pitchFamily="34" charset="-122"/>
                <a:cs typeface="Arial" pitchFamily="34" charset="-120"/>
              </a:rPr>
              <a:t>R-01 · P×I = 16</a:t>
            </a:r>
            <a:endParaRPr lang="en-US" sz="1100" dirty="0"/>
          </a:p>
        </p:txBody>
      </p:sp>
      <p:sp>
        <p:nvSpPr>
          <p:cNvPr id="43" name="Text 40"/>
          <p:cNvSpPr txBox="1"/>
          <p:nvPr/>
        </p:nvSpPr>
        <p:spPr>
          <a:xfrm>
            <a:off x="5577840" y="1837944"/>
            <a:ext cx="5943600" cy="29260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Especificaciones técnicas incompletas o no verificadas</a:t>
            </a:r>
            <a:endParaRPr lang="en-US" sz="1350" dirty="0"/>
          </a:p>
        </p:txBody>
      </p:sp>
      <p:sp>
        <p:nvSpPr>
          <p:cNvPr id="44" name="Text 41"/>
          <p:cNvSpPr txBox="1"/>
          <p:nvPr/>
        </p:nvSpPr>
        <p:spPr>
          <a:xfrm>
            <a:off x="5577840" y="2130552"/>
            <a:ext cx="5943600" cy="365760"/>
          </a:xfrm>
          <a:prstGeom prst="rect">
            <a:avLst/>
          </a:prstGeom>
          <a:noFill/>
          <a:ln/>
        </p:spPr>
        <p:txBody>
          <a:bodyPr wrap="square" lIns="0" tIns="0" rIns="0" bIns="0" rtlCol="0" anchor="t"/>
          <a:lstStyle/>
          <a:p>
            <a:pPr indent="0" marL="0">
              <a:buNone/>
            </a:pPr>
            <a:r>
              <a:rPr lang="en-US" sz="1050" dirty="0">
                <a:solidFill>
                  <a:srgbClr val="EDE4FB"/>
                </a:solidFill>
                <a:latin typeface="Arial" pitchFamily="34" charset="0"/>
                <a:ea typeface="Arial" pitchFamily="34" charset="-122"/>
                <a:cs typeface="Arial" pitchFamily="34" charset="-120"/>
              </a:rPr>
              <a:t>Estado de verificación por atributo; publicar «Pendiente de verificación»; validar con el área técnica de la marca.</a:t>
            </a:r>
            <a:endParaRPr lang="en-US" sz="1050" dirty="0"/>
          </a:p>
        </p:txBody>
      </p:sp>
      <p:sp>
        <p:nvSpPr>
          <p:cNvPr id="45" name="Shape 42"/>
          <p:cNvSpPr/>
          <p:nvPr/>
        </p:nvSpPr>
        <p:spPr>
          <a:xfrm>
            <a:off x="5394960" y="2624328"/>
            <a:ext cx="6248095" cy="1005840"/>
          </a:xfrm>
          <a:prstGeom prst="roundRect">
            <a:avLst>
              <a:gd name="adj" fmla="val 7273"/>
            </a:avLst>
          </a:prstGeom>
          <a:solidFill>
            <a:srgbClr val="F5F5F7"/>
          </a:solidFill>
          <a:ln/>
        </p:spPr>
      </p:sp>
      <p:sp>
        <p:nvSpPr>
          <p:cNvPr id="46" name="Text 43"/>
          <p:cNvSpPr txBox="1"/>
          <p:nvPr/>
        </p:nvSpPr>
        <p:spPr>
          <a:xfrm>
            <a:off x="5577840" y="2697480"/>
            <a:ext cx="2377440" cy="274320"/>
          </a:xfrm>
          <a:prstGeom prst="rect">
            <a:avLst/>
          </a:prstGeom>
          <a:noFill/>
          <a:ln/>
        </p:spPr>
        <p:txBody>
          <a:bodyPr wrap="square" lIns="0" tIns="0" rIns="0" bIns="0" rtlCol="0" anchor="t"/>
          <a:lstStyle/>
          <a:p>
            <a:pPr indent="0" marL="0">
              <a:buNone/>
            </a:pPr>
            <a:r>
              <a:rPr lang="en-US" sz="1100" b="1" dirty="0">
                <a:solidFill>
                  <a:srgbClr val="6D28D9"/>
                </a:solidFill>
                <a:latin typeface="Arial" pitchFamily="34" charset="0"/>
                <a:ea typeface="Arial" pitchFamily="34" charset="-122"/>
                <a:cs typeface="Arial" pitchFamily="34" charset="-120"/>
              </a:rPr>
              <a:t>R-07 · P×I = 15</a:t>
            </a:r>
            <a:endParaRPr lang="en-US" sz="1100" dirty="0"/>
          </a:p>
        </p:txBody>
      </p:sp>
      <p:sp>
        <p:nvSpPr>
          <p:cNvPr id="47" name="Text 44"/>
          <p:cNvSpPr txBox="1"/>
          <p:nvPr/>
        </p:nvSpPr>
        <p:spPr>
          <a:xfrm>
            <a:off x="5577840" y="2953512"/>
            <a:ext cx="5943600" cy="292608"/>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Vulnerabilidades de seguridad en WordPress</a:t>
            </a:r>
            <a:endParaRPr lang="en-US" sz="1350" dirty="0"/>
          </a:p>
        </p:txBody>
      </p:sp>
      <p:sp>
        <p:nvSpPr>
          <p:cNvPr id="48" name="Text 45"/>
          <p:cNvSpPr txBox="1"/>
          <p:nvPr/>
        </p:nvSpPr>
        <p:spPr>
          <a:xfrm>
            <a:off x="5577840" y="3246120"/>
            <a:ext cx="5943600" cy="365760"/>
          </a:xfrm>
          <a:prstGeom prst="rect">
            <a:avLst/>
          </a:prstGeom>
          <a:noFill/>
          <a:ln/>
        </p:spPr>
        <p:txBody>
          <a:bodyPr wrap="square" lIns="0" tIns="0" rIns="0" bIns="0" rtlCol="0" anchor="t"/>
          <a:lstStyle/>
          <a:p>
            <a:pPr indent="0" marL="0">
              <a:buNone/>
            </a:pPr>
            <a:r>
              <a:rPr lang="en-US" sz="1050" dirty="0">
                <a:solidFill>
                  <a:srgbClr val="6B7280"/>
                </a:solidFill>
                <a:latin typeface="Arial" pitchFamily="34" charset="0"/>
                <a:ea typeface="Arial" pitchFamily="34" charset="-122"/>
                <a:cs typeface="Arial" pitchFamily="34" charset="-120"/>
              </a:rPr>
              <a:t>Actualizaciones controladas, segundo factor, privilegio mínimo, WAF, auditoría y respaldos.</a:t>
            </a:r>
            <a:endParaRPr lang="en-US" sz="1050" dirty="0"/>
          </a:p>
        </p:txBody>
      </p:sp>
      <p:sp>
        <p:nvSpPr>
          <p:cNvPr id="49" name="Shape 46"/>
          <p:cNvSpPr/>
          <p:nvPr/>
        </p:nvSpPr>
        <p:spPr>
          <a:xfrm>
            <a:off x="5394960" y="3739896"/>
            <a:ext cx="6248095" cy="1005840"/>
          </a:xfrm>
          <a:prstGeom prst="roundRect">
            <a:avLst>
              <a:gd name="adj" fmla="val 7273"/>
            </a:avLst>
          </a:prstGeom>
          <a:solidFill>
            <a:srgbClr val="F5F5F7"/>
          </a:solidFill>
          <a:ln/>
        </p:spPr>
      </p:sp>
      <p:sp>
        <p:nvSpPr>
          <p:cNvPr id="50" name="Text 47"/>
          <p:cNvSpPr txBox="1"/>
          <p:nvPr/>
        </p:nvSpPr>
        <p:spPr>
          <a:xfrm>
            <a:off x="5577840" y="3813048"/>
            <a:ext cx="2377440" cy="274320"/>
          </a:xfrm>
          <a:prstGeom prst="rect">
            <a:avLst/>
          </a:prstGeom>
          <a:noFill/>
          <a:ln/>
        </p:spPr>
        <p:txBody>
          <a:bodyPr wrap="square" lIns="0" tIns="0" rIns="0" bIns="0" rtlCol="0" anchor="t"/>
          <a:lstStyle/>
          <a:p>
            <a:pPr indent="0" marL="0">
              <a:buNone/>
            </a:pPr>
            <a:r>
              <a:rPr lang="en-US" sz="1100" b="1" dirty="0">
                <a:solidFill>
                  <a:srgbClr val="6D28D9"/>
                </a:solidFill>
                <a:latin typeface="Arial" pitchFamily="34" charset="0"/>
                <a:ea typeface="Arial" pitchFamily="34" charset="-122"/>
                <a:cs typeface="Arial" pitchFamily="34" charset="-120"/>
              </a:rPr>
              <a:t>R-02 · P×I = 12</a:t>
            </a:r>
            <a:endParaRPr lang="en-US" sz="1100" dirty="0"/>
          </a:p>
        </p:txBody>
      </p:sp>
      <p:sp>
        <p:nvSpPr>
          <p:cNvPr id="51" name="Text 48"/>
          <p:cNvSpPr txBox="1"/>
          <p:nvPr/>
        </p:nvSpPr>
        <p:spPr>
          <a:xfrm>
            <a:off x="5577840" y="4069080"/>
            <a:ext cx="5943600" cy="292608"/>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Actualización incompatible de plugins de terceros</a:t>
            </a:r>
            <a:endParaRPr lang="en-US" sz="1350" dirty="0"/>
          </a:p>
        </p:txBody>
      </p:sp>
      <p:sp>
        <p:nvSpPr>
          <p:cNvPr id="52" name="Text 49"/>
          <p:cNvSpPr txBox="1"/>
          <p:nvPr/>
        </p:nvSpPr>
        <p:spPr>
          <a:xfrm>
            <a:off x="5577840" y="4361688"/>
            <a:ext cx="5943600" cy="365760"/>
          </a:xfrm>
          <a:prstGeom prst="rect">
            <a:avLst/>
          </a:prstGeom>
          <a:noFill/>
          <a:ln/>
        </p:spPr>
        <p:txBody>
          <a:bodyPr wrap="square" lIns="0" tIns="0" rIns="0" bIns="0" rtlCol="0" anchor="t"/>
          <a:lstStyle/>
          <a:p>
            <a:pPr indent="0" marL="0">
              <a:buNone/>
            </a:pPr>
            <a:r>
              <a:rPr lang="en-US" sz="1050" dirty="0">
                <a:solidFill>
                  <a:srgbClr val="6B7280"/>
                </a:solidFill>
                <a:latin typeface="Arial" pitchFamily="34" charset="0"/>
                <a:ea typeface="Arial" pitchFamily="34" charset="-122"/>
                <a:cs typeface="Arial" pitchFamily="34" charset="-120"/>
              </a:rPr>
              <a:t>Plugin propio desacoplado; staging previo a cada actualización; versiones fijadas y reversión.</a:t>
            </a:r>
            <a:endParaRPr lang="en-US" sz="1050" dirty="0"/>
          </a:p>
        </p:txBody>
      </p:sp>
      <p:sp>
        <p:nvSpPr>
          <p:cNvPr id="53" name="Shape 50"/>
          <p:cNvSpPr/>
          <p:nvPr/>
        </p:nvSpPr>
        <p:spPr>
          <a:xfrm>
            <a:off x="5394960" y="4855464"/>
            <a:ext cx="6248095" cy="1005840"/>
          </a:xfrm>
          <a:prstGeom prst="roundRect">
            <a:avLst>
              <a:gd name="adj" fmla="val 7273"/>
            </a:avLst>
          </a:prstGeom>
          <a:solidFill>
            <a:srgbClr val="F5F5F7"/>
          </a:solidFill>
          <a:ln/>
        </p:spPr>
      </p:sp>
      <p:sp>
        <p:nvSpPr>
          <p:cNvPr id="54" name="Text 51"/>
          <p:cNvSpPr txBox="1"/>
          <p:nvPr/>
        </p:nvSpPr>
        <p:spPr>
          <a:xfrm>
            <a:off x="5577840" y="4928616"/>
            <a:ext cx="2377440" cy="274320"/>
          </a:xfrm>
          <a:prstGeom prst="rect">
            <a:avLst/>
          </a:prstGeom>
          <a:noFill/>
          <a:ln/>
        </p:spPr>
        <p:txBody>
          <a:bodyPr wrap="square" lIns="0" tIns="0" rIns="0" bIns="0" rtlCol="0" anchor="t"/>
          <a:lstStyle/>
          <a:p>
            <a:pPr indent="0" marL="0">
              <a:buNone/>
            </a:pPr>
            <a:r>
              <a:rPr lang="en-US" sz="1100" b="1" dirty="0">
                <a:solidFill>
                  <a:srgbClr val="6D28D9"/>
                </a:solidFill>
                <a:latin typeface="Arial" pitchFamily="34" charset="0"/>
                <a:ea typeface="Arial" pitchFamily="34" charset="-122"/>
                <a:cs typeface="Arial" pitchFamily="34" charset="-120"/>
              </a:rPr>
              <a:t>R-04 · P×I = 12</a:t>
            </a:r>
            <a:endParaRPr lang="en-US" sz="1100" dirty="0"/>
          </a:p>
        </p:txBody>
      </p:sp>
      <p:sp>
        <p:nvSpPr>
          <p:cNvPr id="55" name="Text 52"/>
          <p:cNvSpPr txBox="1"/>
          <p:nvPr/>
        </p:nvSpPr>
        <p:spPr>
          <a:xfrm>
            <a:off x="5577840" y="5184648"/>
            <a:ext cx="5943600" cy="292608"/>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Datos de distribuidores desactualizados</a:t>
            </a:r>
            <a:endParaRPr lang="en-US" sz="1350" dirty="0"/>
          </a:p>
        </p:txBody>
      </p:sp>
      <p:sp>
        <p:nvSpPr>
          <p:cNvPr id="56" name="Text 53"/>
          <p:cNvSpPr txBox="1"/>
          <p:nvPr/>
        </p:nvSpPr>
        <p:spPr>
          <a:xfrm>
            <a:off x="5577840" y="5477256"/>
            <a:ext cx="5943600" cy="365760"/>
          </a:xfrm>
          <a:prstGeom prst="rect">
            <a:avLst/>
          </a:prstGeom>
          <a:noFill/>
          <a:ln/>
        </p:spPr>
        <p:txBody>
          <a:bodyPr wrap="square" lIns="0" tIns="0" rIns="0" bIns="0" rtlCol="0" anchor="t"/>
          <a:lstStyle/>
          <a:p>
            <a:pPr indent="0" marL="0">
              <a:buNone/>
            </a:pPr>
            <a:r>
              <a:rPr lang="en-US" sz="1050" dirty="0">
                <a:solidFill>
                  <a:srgbClr val="6B7280"/>
                </a:solidFill>
                <a:latin typeface="Arial" pitchFamily="34" charset="0"/>
                <a:ea typeface="Arial" pitchFamily="34" charset="-122"/>
                <a:cs typeface="Arial" pitchFamily="34" charset="-120"/>
              </a:rPr>
              <a:t>Fecha de última verificación y revisión trimestral; estado SUSPENDIDO.</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05 · GESTIÓN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Una cadena por cada necesidad del negocio</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40</a:t>
            </a:r>
            <a:endParaRPr lang="en-US" sz="900" dirty="0"/>
          </a:p>
        </p:txBody>
      </p:sp>
      <p:sp>
        <p:nvSpPr>
          <p:cNvPr id="6" name="Shape 3"/>
          <p:cNvSpPr/>
          <p:nvPr/>
        </p:nvSpPr>
        <p:spPr>
          <a:xfrm>
            <a:off x="548640" y="1554480"/>
            <a:ext cx="1999427" cy="1920240"/>
          </a:xfrm>
          <a:prstGeom prst="roundRect">
            <a:avLst>
              <a:gd name="adj" fmla="val 3810"/>
            </a:avLst>
          </a:prstGeom>
          <a:solidFill>
            <a:srgbClr val="0B0B0D"/>
          </a:solidFill>
          <a:ln/>
        </p:spPr>
      </p:sp>
      <p:sp>
        <p:nvSpPr>
          <p:cNvPr id="7" name="Text 4"/>
          <p:cNvSpPr txBox="1"/>
          <p:nvPr/>
        </p:nvSpPr>
        <p:spPr>
          <a:xfrm>
            <a:off x="731520" y="1691640"/>
            <a:ext cx="1725107" cy="274320"/>
          </a:xfrm>
          <a:prstGeom prst="rect">
            <a:avLst/>
          </a:prstGeom>
          <a:noFill/>
          <a:ln/>
        </p:spPr>
        <p:txBody>
          <a:bodyPr wrap="square" lIns="0" tIns="0" rIns="0" bIns="0" rtlCol="0" anchor="t"/>
          <a:lstStyle/>
          <a:p>
            <a:pPr indent="0" marL="0">
              <a:buNone/>
            </a:pPr>
            <a:r>
              <a:rPr lang="en-US" sz="1000" b="1" spc="150" kern="0" dirty="0">
                <a:solidFill>
                  <a:srgbClr val="EDE4FB"/>
                </a:solidFill>
                <a:latin typeface="Arial" pitchFamily="34" charset="0"/>
                <a:ea typeface="Arial" pitchFamily="34" charset="-122"/>
                <a:cs typeface="Arial" pitchFamily="34" charset="-120"/>
              </a:rPr>
              <a:t>NECESIDAD</a:t>
            </a:r>
            <a:endParaRPr lang="en-US" sz="1000" dirty="0"/>
          </a:p>
        </p:txBody>
      </p:sp>
      <p:sp>
        <p:nvSpPr>
          <p:cNvPr id="8" name="Text 5"/>
          <p:cNvSpPr txBox="1"/>
          <p:nvPr/>
        </p:nvSpPr>
        <p:spPr>
          <a:xfrm>
            <a:off x="731520" y="2011680"/>
            <a:ext cx="1725107" cy="5486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NB-06</a:t>
            </a:r>
            <a:endParaRPr lang="en-US" sz="2400" dirty="0"/>
          </a:p>
        </p:txBody>
      </p:sp>
      <p:sp>
        <p:nvSpPr>
          <p:cNvPr id="9" name="Text 6"/>
          <p:cNvSpPr txBox="1"/>
          <p:nvPr/>
        </p:nvSpPr>
        <p:spPr>
          <a:xfrm>
            <a:off x="731520" y="2606040"/>
            <a:ext cx="1725107" cy="731520"/>
          </a:xfrm>
          <a:prstGeom prst="rect">
            <a:avLst/>
          </a:prstGeom>
          <a:noFill/>
          <a:ln/>
        </p:spPr>
        <p:txBody>
          <a:bodyPr wrap="square" lIns="0" tIns="0" rIns="0" bIns="0" rtlCol="0" anchor="t"/>
          <a:lstStyle/>
          <a:p>
            <a:pPr indent="0" marL="0">
              <a:buNone/>
            </a:pPr>
            <a:r>
              <a:rPr lang="en-US" sz="1250" dirty="0">
                <a:solidFill>
                  <a:srgbClr val="9CA3AF"/>
                </a:solidFill>
                <a:latin typeface="Arial" pitchFamily="34" charset="0"/>
                <a:ea typeface="Arial" pitchFamily="34" charset="-122"/>
                <a:cs typeface="Arial" pitchFamily="34" charset="-120"/>
              </a:rPr>
              <a:t>Trazabilidad de consultas</a:t>
            </a:r>
            <a:endParaRPr lang="en-US" sz="1250" dirty="0"/>
          </a:p>
        </p:txBody>
      </p:sp>
      <p:sp>
        <p:nvSpPr>
          <p:cNvPr id="10" name="Text 7"/>
          <p:cNvSpPr txBox="1"/>
          <p:nvPr/>
        </p:nvSpPr>
        <p:spPr>
          <a:xfrm>
            <a:off x="2548067" y="2194560"/>
            <a:ext cx="274320" cy="548640"/>
          </a:xfrm>
          <a:prstGeom prst="rect">
            <a:avLst/>
          </a:prstGeom>
          <a:noFill/>
          <a:ln/>
        </p:spPr>
        <p:txBody>
          <a:bodyPr wrap="square" lIns="0" tIns="0" rIns="0" bIns="0" rtlCol="0" anchor="t"/>
          <a:lstStyle/>
          <a:p>
            <a:pPr algn="ctr" indent="0" marL="0">
              <a:buNone/>
            </a:pPr>
            <a:r>
              <a:rPr lang="en-US" sz="2000" b="1" dirty="0">
                <a:solidFill>
                  <a:srgbClr val="6D28D9"/>
                </a:solidFill>
                <a:latin typeface="Arial" pitchFamily="34" charset="0"/>
                <a:ea typeface="Arial" pitchFamily="34" charset="-122"/>
                <a:cs typeface="Arial" pitchFamily="34" charset="-120"/>
              </a:rPr>
              <a:t>→</a:t>
            </a:r>
            <a:endParaRPr lang="en-US" sz="2000" dirty="0"/>
          </a:p>
        </p:txBody>
      </p:sp>
      <p:sp>
        <p:nvSpPr>
          <p:cNvPr id="11" name="Shape 8"/>
          <p:cNvSpPr/>
          <p:nvPr/>
        </p:nvSpPr>
        <p:spPr>
          <a:xfrm>
            <a:off x="2822387" y="1554480"/>
            <a:ext cx="1999427" cy="1920240"/>
          </a:xfrm>
          <a:prstGeom prst="roundRect">
            <a:avLst>
              <a:gd name="adj" fmla="val 3810"/>
            </a:avLst>
          </a:prstGeom>
          <a:solidFill>
            <a:srgbClr val="0B0B0D"/>
          </a:solidFill>
          <a:ln/>
        </p:spPr>
      </p:sp>
      <p:sp>
        <p:nvSpPr>
          <p:cNvPr id="12" name="Text 9"/>
          <p:cNvSpPr txBox="1"/>
          <p:nvPr/>
        </p:nvSpPr>
        <p:spPr>
          <a:xfrm>
            <a:off x="3005267" y="1691640"/>
            <a:ext cx="1725107" cy="274320"/>
          </a:xfrm>
          <a:prstGeom prst="rect">
            <a:avLst/>
          </a:prstGeom>
          <a:noFill/>
          <a:ln/>
        </p:spPr>
        <p:txBody>
          <a:bodyPr wrap="square" lIns="0" tIns="0" rIns="0" bIns="0" rtlCol="0" anchor="t"/>
          <a:lstStyle/>
          <a:p>
            <a:pPr indent="0" marL="0">
              <a:buNone/>
            </a:pPr>
            <a:r>
              <a:rPr lang="en-US" sz="1000" b="1" spc="150" kern="0" dirty="0">
                <a:solidFill>
                  <a:srgbClr val="EDE4FB"/>
                </a:solidFill>
                <a:latin typeface="Arial" pitchFamily="34" charset="0"/>
                <a:ea typeface="Arial" pitchFamily="34" charset="-122"/>
                <a:cs typeface="Arial" pitchFamily="34" charset="-120"/>
              </a:rPr>
              <a:t>REQUISITO</a:t>
            </a:r>
            <a:endParaRPr lang="en-US" sz="1000" dirty="0"/>
          </a:p>
        </p:txBody>
      </p:sp>
      <p:sp>
        <p:nvSpPr>
          <p:cNvPr id="13" name="Text 10"/>
          <p:cNvSpPr txBox="1"/>
          <p:nvPr/>
        </p:nvSpPr>
        <p:spPr>
          <a:xfrm>
            <a:off x="3005267" y="2011680"/>
            <a:ext cx="1725107" cy="5486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RF-014</a:t>
            </a:r>
            <a:endParaRPr lang="en-US" sz="2400" dirty="0"/>
          </a:p>
        </p:txBody>
      </p:sp>
      <p:sp>
        <p:nvSpPr>
          <p:cNvPr id="14" name="Text 11"/>
          <p:cNvSpPr txBox="1"/>
          <p:nvPr/>
        </p:nvSpPr>
        <p:spPr>
          <a:xfrm>
            <a:off x="3005267" y="2606040"/>
            <a:ext cx="1725107" cy="731520"/>
          </a:xfrm>
          <a:prstGeom prst="rect">
            <a:avLst/>
          </a:prstGeom>
          <a:noFill/>
          <a:ln/>
        </p:spPr>
        <p:txBody>
          <a:bodyPr wrap="square" lIns="0" tIns="0" rIns="0" bIns="0" rtlCol="0" anchor="t"/>
          <a:lstStyle/>
          <a:p>
            <a:pPr indent="0" marL="0">
              <a:buNone/>
            </a:pPr>
            <a:r>
              <a:rPr lang="en-US" sz="1250" dirty="0">
                <a:solidFill>
                  <a:srgbClr val="9CA3AF"/>
                </a:solidFill>
                <a:latin typeface="Arial" pitchFamily="34" charset="0"/>
                <a:ea typeface="Arial" pitchFamily="34" charset="-122"/>
                <a:cs typeface="Arial" pitchFamily="34" charset="-120"/>
              </a:rPr>
              <a:t>Registrar consulta comercial</a:t>
            </a:r>
            <a:endParaRPr lang="en-US" sz="1250" dirty="0"/>
          </a:p>
        </p:txBody>
      </p:sp>
      <p:sp>
        <p:nvSpPr>
          <p:cNvPr id="15" name="Text 12"/>
          <p:cNvSpPr txBox="1"/>
          <p:nvPr/>
        </p:nvSpPr>
        <p:spPr>
          <a:xfrm>
            <a:off x="4821814" y="2194560"/>
            <a:ext cx="274320" cy="548640"/>
          </a:xfrm>
          <a:prstGeom prst="rect">
            <a:avLst/>
          </a:prstGeom>
          <a:noFill/>
          <a:ln/>
        </p:spPr>
        <p:txBody>
          <a:bodyPr wrap="square" lIns="0" tIns="0" rIns="0" bIns="0" rtlCol="0" anchor="t"/>
          <a:lstStyle/>
          <a:p>
            <a:pPr algn="ctr" indent="0" marL="0">
              <a:buNone/>
            </a:pPr>
            <a:r>
              <a:rPr lang="en-US" sz="2000" b="1" dirty="0">
                <a:solidFill>
                  <a:srgbClr val="6D28D9"/>
                </a:solidFill>
                <a:latin typeface="Arial" pitchFamily="34" charset="0"/>
                <a:ea typeface="Arial" pitchFamily="34" charset="-122"/>
                <a:cs typeface="Arial" pitchFamily="34" charset="-120"/>
              </a:rPr>
              <a:t>→</a:t>
            </a:r>
            <a:endParaRPr lang="en-US" sz="2000" dirty="0"/>
          </a:p>
        </p:txBody>
      </p:sp>
      <p:sp>
        <p:nvSpPr>
          <p:cNvPr id="16" name="Shape 13"/>
          <p:cNvSpPr/>
          <p:nvPr/>
        </p:nvSpPr>
        <p:spPr>
          <a:xfrm>
            <a:off x="5096134" y="1554480"/>
            <a:ext cx="1999427" cy="1920240"/>
          </a:xfrm>
          <a:prstGeom prst="roundRect">
            <a:avLst>
              <a:gd name="adj" fmla="val 3810"/>
            </a:avLst>
          </a:prstGeom>
          <a:solidFill>
            <a:srgbClr val="6D28D9"/>
          </a:solidFill>
          <a:ln/>
        </p:spPr>
      </p:sp>
      <p:sp>
        <p:nvSpPr>
          <p:cNvPr id="17" name="Text 14"/>
          <p:cNvSpPr txBox="1"/>
          <p:nvPr/>
        </p:nvSpPr>
        <p:spPr>
          <a:xfrm>
            <a:off x="5279014" y="1691640"/>
            <a:ext cx="1725107" cy="274320"/>
          </a:xfrm>
          <a:prstGeom prst="rect">
            <a:avLst/>
          </a:prstGeom>
          <a:noFill/>
          <a:ln/>
        </p:spPr>
        <p:txBody>
          <a:bodyPr wrap="square" lIns="0" tIns="0" rIns="0" bIns="0" rtlCol="0" anchor="t"/>
          <a:lstStyle/>
          <a:p>
            <a:pPr indent="0" marL="0">
              <a:buNone/>
            </a:pPr>
            <a:r>
              <a:rPr lang="en-US" sz="1000" b="1" spc="150" kern="0" dirty="0">
                <a:solidFill>
                  <a:srgbClr val="EDE4FB"/>
                </a:solidFill>
                <a:latin typeface="Arial" pitchFamily="34" charset="0"/>
                <a:ea typeface="Arial" pitchFamily="34" charset="-122"/>
                <a:cs typeface="Arial" pitchFamily="34" charset="-120"/>
              </a:rPr>
              <a:t>CASO DE USO</a:t>
            </a:r>
            <a:endParaRPr lang="en-US" sz="1000" dirty="0"/>
          </a:p>
        </p:txBody>
      </p:sp>
      <p:sp>
        <p:nvSpPr>
          <p:cNvPr id="18" name="Text 15"/>
          <p:cNvSpPr txBox="1"/>
          <p:nvPr/>
        </p:nvSpPr>
        <p:spPr>
          <a:xfrm>
            <a:off x="5279014" y="2011680"/>
            <a:ext cx="1725107" cy="5486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CU-09</a:t>
            </a:r>
            <a:endParaRPr lang="en-US" sz="2400" dirty="0"/>
          </a:p>
        </p:txBody>
      </p:sp>
      <p:sp>
        <p:nvSpPr>
          <p:cNvPr id="19" name="Text 16"/>
          <p:cNvSpPr txBox="1"/>
          <p:nvPr/>
        </p:nvSpPr>
        <p:spPr>
          <a:xfrm>
            <a:off x="5279014" y="2606040"/>
            <a:ext cx="1725107" cy="731520"/>
          </a:xfrm>
          <a:prstGeom prst="rect">
            <a:avLst/>
          </a:prstGeom>
          <a:noFill/>
          <a:ln/>
        </p:spPr>
        <p:txBody>
          <a:bodyPr wrap="square" lIns="0" tIns="0" rIns="0" bIns="0" rtlCol="0" anchor="t"/>
          <a:lstStyle/>
          <a:p>
            <a:pPr indent="0" marL="0">
              <a:buNone/>
            </a:pPr>
            <a:r>
              <a:rPr lang="en-US" sz="1250" dirty="0">
                <a:solidFill>
                  <a:srgbClr val="9CA3AF"/>
                </a:solidFill>
                <a:latin typeface="Arial" pitchFamily="34" charset="0"/>
                <a:ea typeface="Arial" pitchFamily="34" charset="-122"/>
                <a:cs typeface="Arial" pitchFamily="34" charset="-120"/>
              </a:rPr>
              <a:t>Registrar consulta comercial</a:t>
            </a:r>
            <a:endParaRPr lang="en-US" sz="1250" dirty="0"/>
          </a:p>
        </p:txBody>
      </p:sp>
      <p:sp>
        <p:nvSpPr>
          <p:cNvPr id="20" name="Text 17"/>
          <p:cNvSpPr txBox="1"/>
          <p:nvPr/>
        </p:nvSpPr>
        <p:spPr>
          <a:xfrm>
            <a:off x="7095561" y="2194560"/>
            <a:ext cx="274320" cy="548640"/>
          </a:xfrm>
          <a:prstGeom prst="rect">
            <a:avLst/>
          </a:prstGeom>
          <a:noFill/>
          <a:ln/>
        </p:spPr>
        <p:txBody>
          <a:bodyPr wrap="square" lIns="0" tIns="0" rIns="0" bIns="0" rtlCol="0" anchor="t"/>
          <a:lstStyle/>
          <a:p>
            <a:pPr algn="ctr" indent="0" marL="0">
              <a:buNone/>
            </a:pPr>
            <a:r>
              <a:rPr lang="en-US" sz="2000" b="1" dirty="0">
                <a:solidFill>
                  <a:srgbClr val="6D28D9"/>
                </a:solidFill>
                <a:latin typeface="Arial" pitchFamily="34" charset="0"/>
                <a:ea typeface="Arial" pitchFamily="34" charset="-122"/>
                <a:cs typeface="Arial" pitchFamily="34" charset="-120"/>
              </a:rPr>
              <a:t>→</a:t>
            </a:r>
            <a:endParaRPr lang="en-US" sz="2000" dirty="0"/>
          </a:p>
        </p:txBody>
      </p:sp>
      <p:sp>
        <p:nvSpPr>
          <p:cNvPr id="21" name="Shape 18"/>
          <p:cNvSpPr/>
          <p:nvPr/>
        </p:nvSpPr>
        <p:spPr>
          <a:xfrm>
            <a:off x="7369881" y="1554480"/>
            <a:ext cx="1999427" cy="1920240"/>
          </a:xfrm>
          <a:prstGeom prst="roundRect">
            <a:avLst>
              <a:gd name="adj" fmla="val 3810"/>
            </a:avLst>
          </a:prstGeom>
          <a:solidFill>
            <a:srgbClr val="0B0B0D"/>
          </a:solidFill>
          <a:ln/>
        </p:spPr>
      </p:sp>
      <p:sp>
        <p:nvSpPr>
          <p:cNvPr id="22" name="Text 19"/>
          <p:cNvSpPr txBox="1"/>
          <p:nvPr/>
        </p:nvSpPr>
        <p:spPr>
          <a:xfrm>
            <a:off x="7552761" y="1691640"/>
            <a:ext cx="1725107" cy="274320"/>
          </a:xfrm>
          <a:prstGeom prst="rect">
            <a:avLst/>
          </a:prstGeom>
          <a:noFill/>
          <a:ln/>
        </p:spPr>
        <p:txBody>
          <a:bodyPr wrap="square" lIns="0" tIns="0" rIns="0" bIns="0" rtlCol="0" anchor="t"/>
          <a:lstStyle/>
          <a:p>
            <a:pPr indent="0" marL="0">
              <a:buNone/>
            </a:pPr>
            <a:r>
              <a:rPr lang="en-US" sz="1000" b="1" spc="150" kern="0" dirty="0">
                <a:solidFill>
                  <a:srgbClr val="EDE4FB"/>
                </a:solidFill>
                <a:latin typeface="Arial" pitchFamily="34" charset="0"/>
                <a:ea typeface="Arial" pitchFamily="34" charset="-122"/>
                <a:cs typeface="Arial" pitchFamily="34" charset="-120"/>
              </a:rPr>
              <a:t>COMPONENTE</a:t>
            </a:r>
            <a:endParaRPr lang="en-US" sz="1000" dirty="0"/>
          </a:p>
        </p:txBody>
      </p:sp>
      <p:sp>
        <p:nvSpPr>
          <p:cNvPr id="23" name="Text 20"/>
          <p:cNvSpPr txBox="1"/>
          <p:nvPr/>
        </p:nvSpPr>
        <p:spPr>
          <a:xfrm>
            <a:off x="7552761" y="2011680"/>
            <a:ext cx="1725107" cy="5486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COMP-06</a:t>
            </a:r>
            <a:endParaRPr lang="en-US" sz="2400" dirty="0"/>
          </a:p>
        </p:txBody>
      </p:sp>
      <p:sp>
        <p:nvSpPr>
          <p:cNvPr id="24" name="Text 21"/>
          <p:cNvSpPr txBox="1"/>
          <p:nvPr/>
        </p:nvSpPr>
        <p:spPr>
          <a:xfrm>
            <a:off x="7552761" y="2606040"/>
            <a:ext cx="1725107" cy="731520"/>
          </a:xfrm>
          <a:prstGeom prst="rect">
            <a:avLst/>
          </a:prstGeom>
          <a:noFill/>
          <a:ln/>
        </p:spPr>
        <p:txBody>
          <a:bodyPr wrap="square" lIns="0" tIns="0" rIns="0" bIns="0" rtlCol="0" anchor="t"/>
          <a:lstStyle/>
          <a:p>
            <a:pPr indent="0" marL="0">
              <a:buNone/>
            </a:pPr>
            <a:r>
              <a:rPr lang="en-US" sz="1250" dirty="0">
                <a:solidFill>
                  <a:srgbClr val="9CA3AF"/>
                </a:solidFill>
                <a:latin typeface="Arial" pitchFamily="34" charset="0"/>
                <a:ea typeface="Arial" pitchFamily="34" charset="-122"/>
                <a:cs typeface="Arial" pitchFamily="34" charset="-120"/>
              </a:rPr>
              <a:t>Consultas WhatsApp</a:t>
            </a:r>
            <a:endParaRPr lang="en-US" sz="1250" dirty="0"/>
          </a:p>
        </p:txBody>
      </p:sp>
      <p:sp>
        <p:nvSpPr>
          <p:cNvPr id="25" name="Text 22"/>
          <p:cNvSpPr txBox="1"/>
          <p:nvPr/>
        </p:nvSpPr>
        <p:spPr>
          <a:xfrm>
            <a:off x="9369308" y="2194560"/>
            <a:ext cx="274320" cy="548640"/>
          </a:xfrm>
          <a:prstGeom prst="rect">
            <a:avLst/>
          </a:prstGeom>
          <a:noFill/>
          <a:ln/>
        </p:spPr>
        <p:txBody>
          <a:bodyPr wrap="square" lIns="0" tIns="0" rIns="0" bIns="0" rtlCol="0" anchor="t"/>
          <a:lstStyle/>
          <a:p>
            <a:pPr algn="ctr" indent="0" marL="0">
              <a:buNone/>
            </a:pPr>
            <a:r>
              <a:rPr lang="en-US" sz="2000" b="1" dirty="0">
                <a:solidFill>
                  <a:srgbClr val="6D28D9"/>
                </a:solidFill>
                <a:latin typeface="Arial" pitchFamily="34" charset="0"/>
                <a:ea typeface="Arial" pitchFamily="34" charset="-122"/>
                <a:cs typeface="Arial" pitchFamily="34" charset="-120"/>
              </a:rPr>
              <a:t>→</a:t>
            </a:r>
            <a:endParaRPr lang="en-US" sz="2000" dirty="0"/>
          </a:p>
        </p:txBody>
      </p:sp>
      <p:sp>
        <p:nvSpPr>
          <p:cNvPr id="26" name="Shape 23"/>
          <p:cNvSpPr/>
          <p:nvPr/>
        </p:nvSpPr>
        <p:spPr>
          <a:xfrm>
            <a:off x="9643628" y="1554480"/>
            <a:ext cx="1999427" cy="1920240"/>
          </a:xfrm>
          <a:prstGeom prst="roundRect">
            <a:avLst>
              <a:gd name="adj" fmla="val 3810"/>
            </a:avLst>
          </a:prstGeom>
          <a:solidFill>
            <a:srgbClr val="0B0B0D"/>
          </a:solidFill>
          <a:ln/>
        </p:spPr>
      </p:sp>
      <p:sp>
        <p:nvSpPr>
          <p:cNvPr id="27" name="Text 24"/>
          <p:cNvSpPr txBox="1"/>
          <p:nvPr/>
        </p:nvSpPr>
        <p:spPr>
          <a:xfrm>
            <a:off x="9826508" y="1691640"/>
            <a:ext cx="1725107" cy="274320"/>
          </a:xfrm>
          <a:prstGeom prst="rect">
            <a:avLst/>
          </a:prstGeom>
          <a:noFill/>
          <a:ln/>
        </p:spPr>
        <p:txBody>
          <a:bodyPr wrap="square" lIns="0" tIns="0" rIns="0" bIns="0" rtlCol="0" anchor="t"/>
          <a:lstStyle/>
          <a:p>
            <a:pPr indent="0" marL="0">
              <a:buNone/>
            </a:pPr>
            <a:r>
              <a:rPr lang="en-US" sz="1000" b="1" spc="150" kern="0" dirty="0">
                <a:solidFill>
                  <a:srgbClr val="EDE4FB"/>
                </a:solidFill>
                <a:latin typeface="Arial" pitchFamily="34" charset="0"/>
                <a:ea typeface="Arial" pitchFamily="34" charset="-122"/>
                <a:cs typeface="Arial" pitchFamily="34" charset="-120"/>
              </a:rPr>
              <a:t>PRUEBA</a:t>
            </a:r>
            <a:endParaRPr lang="en-US" sz="1000" dirty="0"/>
          </a:p>
        </p:txBody>
      </p:sp>
      <p:sp>
        <p:nvSpPr>
          <p:cNvPr id="28" name="Text 25"/>
          <p:cNvSpPr txBox="1"/>
          <p:nvPr/>
        </p:nvSpPr>
        <p:spPr>
          <a:xfrm>
            <a:off x="9826508" y="2011680"/>
            <a:ext cx="1725107" cy="5486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CP-014</a:t>
            </a:r>
            <a:endParaRPr lang="en-US" sz="2400" dirty="0"/>
          </a:p>
        </p:txBody>
      </p:sp>
      <p:sp>
        <p:nvSpPr>
          <p:cNvPr id="29" name="Text 26"/>
          <p:cNvSpPr txBox="1"/>
          <p:nvPr/>
        </p:nvSpPr>
        <p:spPr>
          <a:xfrm>
            <a:off x="9826508" y="2606040"/>
            <a:ext cx="1725107" cy="731520"/>
          </a:xfrm>
          <a:prstGeom prst="rect">
            <a:avLst/>
          </a:prstGeom>
          <a:noFill/>
          <a:ln/>
        </p:spPr>
        <p:txBody>
          <a:bodyPr wrap="square" lIns="0" tIns="0" rIns="0" bIns="0" rtlCol="0" anchor="t"/>
          <a:lstStyle/>
          <a:p>
            <a:pPr indent="0" marL="0">
              <a:buNone/>
            </a:pPr>
            <a:r>
              <a:rPr lang="en-US" sz="1250" dirty="0">
                <a:solidFill>
                  <a:srgbClr val="9CA3AF"/>
                </a:solidFill>
                <a:latin typeface="Arial" pitchFamily="34" charset="0"/>
                <a:ea typeface="Arial" pitchFamily="34" charset="-122"/>
                <a:cs typeface="Arial" pitchFamily="34" charset="-120"/>
              </a:rPr>
              <a:t>Registro previo a la redirección</a:t>
            </a:r>
            <a:endParaRPr lang="en-US" sz="12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3749040"/>
          <a:ext cx="11094415" cy="914400"/>
        </p:xfrm>
        <a:graphic>
          <a:graphicData uri="http://schemas.openxmlformats.org/drawingml/2006/table">
            <a:tbl>
              <a:tblPr/>
              <a:tblGrid>
                <a:gridCol w="4206240"/>
                <a:gridCol w="2651760"/>
                <a:gridCol w="2011680"/>
                <a:gridCol w="2221992"/>
              </a:tblGrid>
              <a:tr h="329184">
                <a:tc>
                  <a:txBody>
                    <a:bodyPr/>
                    <a:lstStyle/>
                    <a:p>
                      <a:pPr indent="0" marL="0">
                        <a:buNone/>
                      </a:pPr>
                      <a:r>
                        <a:rPr lang="en-US" sz="1100" b="1" dirty="0">
                          <a:solidFill>
                            <a:srgbClr val="FFFFFF"/>
                          </a:solidFill>
                          <a:latin typeface="Arial" pitchFamily="34" charset="0"/>
                          <a:ea typeface="Arial" pitchFamily="34" charset="-122"/>
                          <a:cs typeface="Arial" pitchFamily="34" charset="-120"/>
                        </a:rPr>
                        <a:t>Necesidad</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Requisitos</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Casos de uso</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Pruebas</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r>
              <a:tr h="329184">
                <a:tc>
                  <a:txBody>
                    <a:bodyPr/>
                    <a:lstStyle/>
                    <a:p>
                      <a:pPr indent="0" marL="0">
                        <a:buNone/>
                      </a:pPr>
                      <a:r>
                        <a:rPr lang="en-US" sz="1100" dirty="0">
                          <a:solidFill>
                            <a:srgbClr val="000000"/>
                          </a:solidFill>
                          <a:latin typeface="Arial" pitchFamily="34" charset="0"/>
                          <a:ea typeface="Arial" pitchFamily="34" charset="-122"/>
                          <a:cs typeface="Arial" pitchFamily="34" charset="-120"/>
                        </a:rPr>
                        <a:t>NB-03 Encontrar productos con rapidez (búsqueda y clasificación)</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RF-001, RF-002, RF-003</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CU-01, CU-02, CU-03</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CP-001, CP-002, CP-003</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329184">
                <a:tc>
                  <a:txBody>
                    <a:bodyPr/>
                    <a:lstStyle/>
                    <a:p>
                      <a:pPr indent="0" marL="0">
                        <a:buNone/>
                      </a:pPr>
                      <a:r>
                        <a:rPr lang="en-US" sz="1100" dirty="0">
                          <a:solidFill>
                            <a:srgbClr val="000000"/>
                          </a:solidFill>
                          <a:latin typeface="Arial" pitchFamily="34" charset="0"/>
                          <a:ea typeface="Arial" pitchFamily="34" charset="-122"/>
                          <a:cs typeface="Arial" pitchFamily="34" charset="-120"/>
                        </a:rPr>
                        <a:t>NB-04 Comparar modelos con datos visibles</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RF-007, RF-008, RF-009</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CU-05</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CP-007, CP-008, CP-009</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329184">
                <a:tc>
                  <a:txBody>
                    <a:bodyPr/>
                    <a:lstStyle/>
                    <a:p>
                      <a:pPr indent="0" marL="0">
                        <a:buNone/>
                      </a:pPr>
                      <a:r>
                        <a:rPr lang="en-US" sz="1100" dirty="0">
                          <a:solidFill>
                            <a:srgbClr val="000000"/>
                          </a:solidFill>
                          <a:latin typeface="Arial" pitchFamily="34" charset="0"/>
                          <a:ea typeface="Arial" pitchFamily="34" charset="-122"/>
                          <a:cs typeface="Arial" pitchFamily="34" charset="-120"/>
                        </a:rPr>
                        <a:t>NB-05 Conectar compradores con distribuidores</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RF-006, RF-011, RF-012, RF-013</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CU-07, CU-08</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CP-006, CP-011, CP-012, CP-013</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329184">
                <a:tc>
                  <a:txBody>
                    <a:bodyPr/>
                    <a:lstStyle/>
                    <a:p>
                      <a:pPr indent="0" marL="0">
                        <a:buNone/>
                      </a:pPr>
                      <a:r>
                        <a:rPr lang="en-US" sz="1100" dirty="0">
                          <a:solidFill>
                            <a:srgbClr val="000000"/>
                          </a:solidFill>
                          <a:latin typeface="Arial" pitchFamily="34" charset="0"/>
                          <a:ea typeface="Arial" pitchFamily="34" charset="-122"/>
                          <a:cs typeface="Arial" pitchFamily="34" charset="-120"/>
                        </a:rPr>
                        <a:t>NB-06 Dar trazabilidad a las consultas comerciales</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RF-014, RF-023, RF-025</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CU-09, CU-18, CU-20</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CP-014, CP-023, CP-025</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r>
              <a:tr h="329184">
                <a:tc>
                  <a:txBody>
                    <a:bodyPr/>
                    <a:lstStyle/>
                    <a:p>
                      <a:pPr indent="0" marL="0">
                        <a:buNone/>
                      </a:pPr>
                      <a:r>
                        <a:rPr lang="en-US" sz="1100" dirty="0">
                          <a:solidFill>
                            <a:srgbClr val="000000"/>
                          </a:solidFill>
                          <a:latin typeface="Arial" pitchFamily="34" charset="0"/>
                          <a:ea typeface="Arial" pitchFamily="34" charset="-122"/>
                          <a:cs typeface="Arial" pitchFamily="34" charset="-120"/>
                        </a:rPr>
                        <a:t>NB-07 Actualizar el catálogo y los contenidos de forma autónoma y controlada</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RF-010, RF-017, RF-019, RF-020, RF-022</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CU-06, CU-12, CU-14, CU-15, CU-17</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CP-010, CP-017, CP-019, CP-020, CP-022</a:t>
                      </a:r>
                      <a:endParaRPr lang="en-US" sz="11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bl>
          </a:graphicData>
        </a:graphic>
      </p:graphicFrame>
      <p:sp>
        <p:nvSpPr>
          <p:cNvPr id="31" name="Text 27"/>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Extracto (5 de 9 necesidades). Matriz completa: monografía, Tabla 28, y el libro de anexos.</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05 · RESULTADOS</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Documentado, diseñado y esperado: tres cosas distintas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41</a:t>
            </a:r>
            <a:endParaRPr lang="en-US" sz="900" dirty="0"/>
          </a:p>
        </p:txBody>
      </p:sp>
      <p:sp>
        <p:nvSpPr>
          <p:cNvPr id="6" name="Shape 3"/>
          <p:cNvSpPr/>
          <p:nvPr/>
        </p:nvSpPr>
        <p:spPr>
          <a:xfrm>
            <a:off x="548640" y="1508760"/>
            <a:ext cx="3566160" cy="4480560"/>
          </a:xfrm>
          <a:prstGeom prst="roundRect">
            <a:avLst>
              <a:gd name="adj" fmla="val 2051"/>
            </a:avLst>
          </a:prstGeom>
          <a:solidFill>
            <a:srgbClr val="F5F5F7"/>
          </a:solidFill>
          <a:ln/>
        </p:spPr>
      </p:sp>
      <p:sp>
        <p:nvSpPr>
          <p:cNvPr id="7" name="Text 4"/>
          <p:cNvSpPr txBox="1"/>
          <p:nvPr/>
        </p:nvSpPr>
        <p:spPr>
          <a:xfrm>
            <a:off x="822960" y="1691640"/>
            <a:ext cx="3017520" cy="320040"/>
          </a:xfrm>
          <a:prstGeom prst="rect">
            <a:avLst/>
          </a:prstGeom>
          <a:noFill/>
          <a:ln/>
        </p:spPr>
        <p:txBody>
          <a:bodyPr wrap="square" lIns="0" tIns="0" rIns="0" bIns="0" rtlCol="0" anchor="t"/>
          <a:lstStyle/>
          <a:p>
            <a:pPr indent="0" marL="0">
              <a:buNone/>
            </a:pPr>
            <a:r>
              <a:rPr lang="en-US" sz="1200" b="1" spc="200" kern="0" dirty="0">
                <a:solidFill>
                  <a:srgbClr val="6D28D9"/>
                </a:solidFill>
                <a:latin typeface="Arial" pitchFamily="34" charset="0"/>
                <a:ea typeface="Arial" pitchFamily="34" charset="-122"/>
                <a:cs typeface="Arial" pitchFamily="34" charset="-120"/>
              </a:rPr>
              <a:t>DOCUMENTADO</a:t>
            </a:r>
            <a:endParaRPr lang="en-US" sz="1200" dirty="0"/>
          </a:p>
        </p:txBody>
      </p:sp>
      <p:sp>
        <p:nvSpPr>
          <p:cNvPr id="8" name="Text 5"/>
          <p:cNvSpPr txBox="1"/>
          <p:nvPr/>
        </p:nvSpPr>
        <p:spPr>
          <a:xfrm>
            <a:off x="822960" y="2011680"/>
            <a:ext cx="3017520" cy="32004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Evidencia archivada</a:t>
            </a:r>
            <a:endParaRPr lang="en-US" sz="1250" dirty="0"/>
          </a:p>
        </p:txBody>
      </p:sp>
      <p:sp>
        <p:nvSpPr>
          <p:cNvPr id="9" name="Text 6"/>
          <p:cNvSpPr txBox="1"/>
          <p:nvPr/>
        </p:nvSpPr>
        <p:spPr>
          <a:xfrm>
            <a:off x="822960" y="2560320"/>
            <a:ext cx="3017520" cy="3291840"/>
          </a:xfrm>
          <a:prstGeom prst="rect">
            <a:avLst/>
          </a:prstGeom>
          <a:noFill/>
          <a:ln/>
        </p:spPr>
        <p:txBody>
          <a:bodyPr wrap="square" lIns="0" tIns="0" rIns="0" bIns="0" rtlCol="0" anchor="t"/>
          <a:lstStyle/>
          <a:p>
            <a:pPr indent="0" marL="0">
              <a:spcAft>
                <a:spcPts val="1400"/>
              </a:spcAft>
              <a:buNone/>
            </a:pPr>
            <a:r>
              <a:rPr lang="en-US" sz="1600" b="1" dirty="0">
                <a:solidFill>
                  <a:srgbClr val="0B0B0D"/>
                </a:solidFill>
                <a:latin typeface="Arial" pitchFamily="34" charset="0"/>
                <a:ea typeface="Arial" pitchFamily="34" charset="-122"/>
                <a:cs typeface="Arial" pitchFamily="34" charset="-120"/>
              </a:rPr>
              <a:t>118 productos en 12 categorías</a:t>
            </a:r>
            <a:endParaRPr lang="en-US" sz="1600" dirty="0"/>
          </a:p>
          <a:p>
            <a:pPr indent="0" marL="0">
              <a:spcAft>
                <a:spcPts val="1400"/>
              </a:spcAft>
              <a:buNone/>
            </a:pPr>
            <a:r>
              <a:rPr lang="en-US" sz="1600" b="1" dirty="0">
                <a:solidFill>
                  <a:srgbClr val="0B0B0D"/>
                </a:solidFill>
                <a:latin typeface="Arial" pitchFamily="34" charset="0"/>
                <a:ea typeface="Arial" pitchFamily="34" charset="-122"/>
                <a:cs typeface="Arial" pitchFamily="34" charset="-120"/>
              </a:rPr>
              <a:t>Comparador de hasta 3 modelos</a:t>
            </a:r>
            <a:endParaRPr lang="en-US" sz="1600" dirty="0"/>
          </a:p>
          <a:p>
            <a:pPr indent="0" marL="0">
              <a:spcAft>
                <a:spcPts val="1400"/>
              </a:spcAft>
              <a:buNone/>
            </a:pPr>
            <a:r>
              <a:rPr lang="en-US" sz="1600" b="1" dirty="0">
                <a:solidFill>
                  <a:srgbClr val="0B0B0D"/>
                </a:solidFill>
                <a:latin typeface="Arial" pitchFamily="34" charset="0"/>
                <a:ea typeface="Arial" pitchFamily="34" charset="-122"/>
                <a:cs typeface="Arial" pitchFamily="34" charset="-120"/>
              </a:rPr>
              <a:t>«Cotizar» con el modelo escrito</a:t>
            </a:r>
            <a:endParaRPr lang="en-US" sz="1600" dirty="0"/>
          </a:p>
          <a:p>
            <a:pPr indent="0" marL="0">
              <a:spcAft>
                <a:spcPts val="1400"/>
              </a:spcAft>
              <a:buNone/>
            </a:pPr>
            <a:r>
              <a:rPr lang="en-US" sz="1600" b="1" dirty="0">
                <a:solidFill>
                  <a:srgbClr val="0B0B0D"/>
                </a:solidFill>
                <a:latin typeface="Arial" pitchFamily="34" charset="0"/>
                <a:ea typeface="Arial" pitchFamily="34" charset="-122"/>
                <a:cs typeface="Arial" pitchFamily="34" charset="-120"/>
              </a:rPr>
              <a:t>Sin directorio de distribuidores</a:t>
            </a:r>
            <a:endParaRPr lang="en-US" sz="1600" dirty="0"/>
          </a:p>
        </p:txBody>
      </p:sp>
      <p:sp>
        <p:nvSpPr>
          <p:cNvPr id="10" name="Shape 7"/>
          <p:cNvSpPr/>
          <p:nvPr/>
        </p:nvSpPr>
        <p:spPr>
          <a:xfrm>
            <a:off x="4297680" y="1508760"/>
            <a:ext cx="3566160" cy="4480560"/>
          </a:xfrm>
          <a:prstGeom prst="roundRect">
            <a:avLst>
              <a:gd name="adj" fmla="val 2051"/>
            </a:avLst>
          </a:prstGeom>
          <a:solidFill>
            <a:srgbClr val="0B0B0D"/>
          </a:solidFill>
          <a:ln/>
        </p:spPr>
      </p:sp>
      <p:sp>
        <p:nvSpPr>
          <p:cNvPr id="11" name="Text 8"/>
          <p:cNvSpPr txBox="1"/>
          <p:nvPr/>
        </p:nvSpPr>
        <p:spPr>
          <a:xfrm>
            <a:off x="4572000" y="1691640"/>
            <a:ext cx="3017520" cy="320040"/>
          </a:xfrm>
          <a:prstGeom prst="rect">
            <a:avLst/>
          </a:prstGeom>
          <a:noFill/>
          <a:ln/>
        </p:spPr>
        <p:txBody>
          <a:bodyPr wrap="square" lIns="0" tIns="0" rIns="0" bIns="0" rtlCol="0" anchor="t"/>
          <a:lstStyle/>
          <a:p>
            <a:pPr indent="0" marL="0">
              <a:buNone/>
            </a:pPr>
            <a:r>
              <a:rPr lang="en-US" sz="1200" b="1" spc="200" kern="0" dirty="0">
                <a:solidFill>
                  <a:srgbClr val="A78BFA"/>
                </a:solidFill>
                <a:latin typeface="Arial" pitchFamily="34" charset="0"/>
                <a:ea typeface="Arial" pitchFamily="34" charset="-122"/>
                <a:cs typeface="Arial" pitchFamily="34" charset="-120"/>
              </a:rPr>
              <a:t>DISEÑADO</a:t>
            </a:r>
            <a:endParaRPr lang="en-US" sz="1200" dirty="0"/>
          </a:p>
        </p:txBody>
      </p:sp>
      <p:sp>
        <p:nvSpPr>
          <p:cNvPr id="12" name="Text 9"/>
          <p:cNvSpPr txBox="1"/>
          <p:nvPr/>
        </p:nvSpPr>
        <p:spPr>
          <a:xfrm>
            <a:off x="4572000" y="2011680"/>
            <a:ext cx="3017520" cy="320040"/>
          </a:xfrm>
          <a:prstGeom prst="rect">
            <a:avLst/>
          </a:prstGeom>
          <a:noFill/>
          <a:ln/>
        </p:spPr>
        <p:txBody>
          <a:bodyPr wrap="square" lIns="0" tIns="0" rIns="0" bIns="0" rtlCol="0" anchor="t"/>
          <a:lstStyle/>
          <a:p>
            <a:pPr indent="0" marL="0">
              <a:buNone/>
            </a:pPr>
            <a:r>
              <a:rPr lang="en-US" sz="1250" dirty="0">
                <a:solidFill>
                  <a:srgbClr val="9CA3AF"/>
                </a:solidFill>
                <a:latin typeface="Arial" pitchFamily="34" charset="0"/>
                <a:ea typeface="Arial" pitchFamily="34" charset="-122"/>
                <a:cs typeface="Arial" pitchFamily="34" charset="-120"/>
              </a:rPr>
              <a:t>Producto de este proyecto</a:t>
            </a:r>
            <a:endParaRPr lang="en-US" sz="1250" dirty="0"/>
          </a:p>
        </p:txBody>
      </p:sp>
      <p:sp>
        <p:nvSpPr>
          <p:cNvPr id="13" name="Text 10"/>
          <p:cNvSpPr txBox="1"/>
          <p:nvPr/>
        </p:nvSpPr>
        <p:spPr>
          <a:xfrm>
            <a:off x="4572000" y="2560320"/>
            <a:ext cx="3017520" cy="3291840"/>
          </a:xfrm>
          <a:prstGeom prst="rect">
            <a:avLst/>
          </a:prstGeom>
          <a:noFill/>
          <a:ln/>
        </p:spPr>
        <p:txBody>
          <a:bodyPr wrap="square" lIns="0" tIns="0" rIns="0" bIns="0" rtlCol="0" anchor="t"/>
          <a:lstStyle/>
          <a:p>
            <a:pPr indent="0" marL="0">
              <a:spcAft>
                <a:spcPts val="1400"/>
              </a:spcAft>
              <a:buNone/>
            </a:pPr>
            <a:r>
              <a:rPr lang="en-US" sz="1600" b="1" dirty="0">
                <a:solidFill>
                  <a:srgbClr val="FFFFFF"/>
                </a:solidFill>
                <a:latin typeface="Arial" pitchFamily="34" charset="0"/>
                <a:ea typeface="Arial" pitchFamily="34" charset="-122"/>
                <a:cs typeface="Arial" pitchFamily="34" charset="-120"/>
              </a:rPr>
              <a:t>27 RF + 13 RNF</a:t>
            </a:r>
            <a:endParaRPr lang="en-US" sz="1600" dirty="0"/>
          </a:p>
          <a:p>
            <a:pPr indent="0" marL="0">
              <a:spcAft>
                <a:spcPts val="1400"/>
              </a:spcAft>
              <a:buNone/>
            </a:pPr>
            <a:r>
              <a:rPr lang="en-US" sz="1600" b="1" dirty="0">
                <a:solidFill>
                  <a:srgbClr val="FFFFFF"/>
                </a:solidFill>
                <a:latin typeface="Arial" pitchFamily="34" charset="0"/>
                <a:ea typeface="Arial" pitchFamily="34" charset="-122"/>
                <a:cs typeface="Arial" pitchFamily="34" charset="-120"/>
              </a:rPr>
              <a:t>22 casos de uso</a:t>
            </a:r>
            <a:endParaRPr lang="en-US" sz="1600" dirty="0"/>
          </a:p>
          <a:p>
            <a:pPr indent="0" marL="0">
              <a:spcAft>
                <a:spcPts val="1400"/>
              </a:spcAft>
              <a:buNone/>
            </a:pPr>
            <a:r>
              <a:rPr lang="en-US" sz="1600" b="1" dirty="0">
                <a:solidFill>
                  <a:srgbClr val="FFFFFF"/>
                </a:solidFill>
                <a:latin typeface="Arial" pitchFamily="34" charset="0"/>
                <a:ea typeface="Arial" pitchFamily="34" charset="-122"/>
                <a:cs typeface="Arial" pitchFamily="34" charset="-120"/>
              </a:rPr>
              <a:t>22 diagramas UML</a:t>
            </a:r>
            <a:endParaRPr lang="en-US" sz="1600" dirty="0"/>
          </a:p>
          <a:p>
            <a:pPr indent="0" marL="0">
              <a:spcAft>
                <a:spcPts val="1400"/>
              </a:spcAft>
              <a:buNone/>
            </a:pPr>
            <a:r>
              <a:rPr lang="en-US" sz="1600" b="1" dirty="0">
                <a:solidFill>
                  <a:srgbClr val="FFFFFF"/>
                </a:solidFill>
                <a:latin typeface="Arial" pitchFamily="34" charset="0"/>
                <a:ea typeface="Arial" pitchFamily="34" charset="-122"/>
                <a:cs typeface="Arial" pitchFamily="34" charset="-120"/>
              </a:rPr>
              <a:t>15 tablas · 32 pruebas</a:t>
            </a:r>
            <a:endParaRPr lang="en-US" sz="1600" dirty="0"/>
          </a:p>
        </p:txBody>
      </p:sp>
      <p:sp>
        <p:nvSpPr>
          <p:cNvPr id="14" name="Shape 11"/>
          <p:cNvSpPr/>
          <p:nvPr/>
        </p:nvSpPr>
        <p:spPr>
          <a:xfrm>
            <a:off x="8046720" y="1508760"/>
            <a:ext cx="3566160" cy="4480560"/>
          </a:xfrm>
          <a:prstGeom prst="roundRect">
            <a:avLst>
              <a:gd name="adj" fmla="val 2051"/>
            </a:avLst>
          </a:prstGeom>
          <a:solidFill>
            <a:srgbClr val="EDE4FB"/>
          </a:solidFill>
          <a:ln/>
        </p:spPr>
      </p:sp>
      <p:sp>
        <p:nvSpPr>
          <p:cNvPr id="15" name="Text 12"/>
          <p:cNvSpPr txBox="1"/>
          <p:nvPr/>
        </p:nvSpPr>
        <p:spPr>
          <a:xfrm>
            <a:off x="8321040" y="1691640"/>
            <a:ext cx="3017520" cy="320040"/>
          </a:xfrm>
          <a:prstGeom prst="rect">
            <a:avLst/>
          </a:prstGeom>
          <a:noFill/>
          <a:ln/>
        </p:spPr>
        <p:txBody>
          <a:bodyPr wrap="square" lIns="0" tIns="0" rIns="0" bIns="0" rtlCol="0" anchor="t"/>
          <a:lstStyle/>
          <a:p>
            <a:pPr indent="0" marL="0">
              <a:buNone/>
            </a:pPr>
            <a:r>
              <a:rPr lang="en-US" sz="1200" b="1" spc="200" kern="0" dirty="0">
                <a:solidFill>
                  <a:srgbClr val="6D28D9"/>
                </a:solidFill>
                <a:latin typeface="Arial" pitchFamily="34" charset="0"/>
                <a:ea typeface="Arial" pitchFamily="34" charset="-122"/>
                <a:cs typeface="Arial" pitchFamily="34" charset="-120"/>
              </a:rPr>
              <a:t>ESPERADO</a:t>
            </a:r>
            <a:endParaRPr lang="en-US" sz="1200" dirty="0"/>
          </a:p>
        </p:txBody>
      </p:sp>
      <p:sp>
        <p:nvSpPr>
          <p:cNvPr id="16" name="Text 13"/>
          <p:cNvSpPr txBox="1"/>
          <p:nvPr/>
        </p:nvSpPr>
        <p:spPr>
          <a:xfrm>
            <a:off x="8321040" y="2011680"/>
            <a:ext cx="3017520" cy="32004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Hipótesis con indicador</a:t>
            </a:r>
            <a:endParaRPr lang="en-US" sz="1250" dirty="0"/>
          </a:p>
        </p:txBody>
      </p:sp>
      <p:sp>
        <p:nvSpPr>
          <p:cNvPr id="17" name="Text 14"/>
          <p:cNvSpPr txBox="1"/>
          <p:nvPr/>
        </p:nvSpPr>
        <p:spPr>
          <a:xfrm>
            <a:off x="8321040" y="2560320"/>
            <a:ext cx="3017520" cy="3291840"/>
          </a:xfrm>
          <a:prstGeom prst="rect">
            <a:avLst/>
          </a:prstGeom>
          <a:noFill/>
          <a:ln/>
        </p:spPr>
        <p:txBody>
          <a:bodyPr wrap="square" lIns="0" tIns="0" rIns="0" bIns="0" rtlCol="0" anchor="t"/>
          <a:lstStyle/>
          <a:p>
            <a:pPr indent="0" marL="0">
              <a:spcAft>
                <a:spcPts val="1400"/>
              </a:spcAft>
              <a:buNone/>
            </a:pPr>
            <a:r>
              <a:rPr lang="en-US" sz="1600" b="1" dirty="0">
                <a:solidFill>
                  <a:srgbClr val="0B0B0D"/>
                </a:solidFill>
                <a:latin typeface="Arial" pitchFamily="34" charset="0"/>
                <a:ea typeface="Arial" pitchFamily="34" charset="-122"/>
                <a:cs typeface="Arial" pitchFamily="34" charset="-120"/>
              </a:rPr>
              <a:t>% de fichas con datos VERIFICADOS</a:t>
            </a:r>
            <a:endParaRPr lang="en-US" sz="1600" dirty="0"/>
          </a:p>
          <a:p>
            <a:pPr indent="0" marL="0">
              <a:spcAft>
                <a:spcPts val="1400"/>
              </a:spcAft>
              <a:buNone/>
            </a:pPr>
            <a:r>
              <a:rPr lang="en-US" sz="1600" b="1" dirty="0">
                <a:solidFill>
                  <a:srgbClr val="0B0B0D"/>
                </a:solidFill>
                <a:latin typeface="Arial" pitchFamily="34" charset="0"/>
                <a:ea typeface="Arial" pitchFamily="34" charset="-122"/>
                <a:cs typeface="Arial" pitchFamily="34" charset="-120"/>
              </a:rPr>
              <a:t>% de consultas con el producto identificado</a:t>
            </a:r>
            <a:endParaRPr lang="en-US" sz="1600" dirty="0"/>
          </a:p>
          <a:p>
            <a:pPr indent="0" marL="0">
              <a:spcAft>
                <a:spcPts val="1400"/>
              </a:spcAft>
              <a:buNone/>
            </a:pPr>
            <a:r>
              <a:rPr lang="en-US" sz="1600" b="1" dirty="0">
                <a:solidFill>
                  <a:srgbClr val="0B0B0D"/>
                </a:solidFill>
                <a:latin typeface="Arial" pitchFamily="34" charset="0"/>
                <a:ea typeface="Arial" pitchFamily="34" charset="-122"/>
                <a:cs typeface="Arial" pitchFamily="34" charset="-120"/>
              </a:rPr>
              <a:t>Consultas por producto y mes</a:t>
            </a:r>
            <a:endParaRPr lang="en-US" sz="1600" dirty="0"/>
          </a:p>
          <a:p>
            <a:pPr indent="0" marL="0">
              <a:spcAft>
                <a:spcPts val="1400"/>
              </a:spcAft>
              <a:buNone/>
            </a:pPr>
            <a:r>
              <a:rPr lang="en-US" sz="1600" b="1" dirty="0">
                <a:solidFill>
                  <a:srgbClr val="0B0B0D"/>
                </a:solidFill>
                <a:latin typeface="Arial" pitchFamily="34" charset="0"/>
                <a:ea typeface="Arial" pitchFamily="34" charset="-122"/>
                <a:cs typeface="Arial" pitchFamily="34" charset="-120"/>
              </a:rPr>
              <a:t>% derivadas o cerradas en 7 días</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0B0D"/>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A78BFA"/>
                </a:solidFill>
                <a:latin typeface="Arial" pitchFamily="34" charset="0"/>
                <a:ea typeface="Arial" pitchFamily="34" charset="-122"/>
                <a:cs typeface="Arial" pitchFamily="34" charset="-120"/>
              </a:rPr>
              <a:t>05 · RESULTADOS</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Conclusiones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SGCD-BH · RUP   42</a:t>
            </a:r>
            <a:endParaRPr lang="en-US" sz="900" dirty="0"/>
          </a:p>
        </p:txBody>
      </p:sp>
      <p:sp>
        <p:nvSpPr>
          <p:cNvPr id="6" name="Text 3"/>
          <p:cNvSpPr txBox="1"/>
          <p:nvPr/>
        </p:nvSpPr>
        <p:spPr>
          <a:xfrm>
            <a:off x="548640" y="1600200"/>
            <a:ext cx="914400" cy="640080"/>
          </a:xfrm>
          <a:prstGeom prst="rect">
            <a:avLst/>
          </a:prstGeom>
          <a:noFill/>
          <a:ln/>
        </p:spPr>
        <p:txBody>
          <a:bodyPr wrap="square" lIns="0" tIns="0" rIns="0" bIns="0" rtlCol="0" anchor="t"/>
          <a:lstStyle/>
          <a:p>
            <a:pPr indent="0" marL="0">
              <a:buNone/>
            </a:pPr>
            <a:r>
              <a:rPr lang="en-US" sz="3200" b="1" dirty="0">
                <a:solidFill>
                  <a:srgbClr val="A78BFA"/>
                </a:solidFill>
                <a:latin typeface="Arial" pitchFamily="34" charset="0"/>
                <a:ea typeface="Arial" pitchFamily="34" charset="-122"/>
                <a:cs typeface="Arial" pitchFamily="34" charset="-120"/>
              </a:rPr>
              <a:t>01</a:t>
            </a:r>
            <a:endParaRPr lang="en-US" sz="3200" dirty="0"/>
          </a:p>
        </p:txBody>
      </p:sp>
      <p:sp>
        <p:nvSpPr>
          <p:cNvPr id="7" name="Text 4"/>
          <p:cNvSpPr txBox="1"/>
          <p:nvPr/>
        </p:nvSpPr>
        <p:spPr>
          <a:xfrm>
            <a:off x="1508760" y="1645920"/>
            <a:ext cx="4434840" cy="1920240"/>
          </a:xfrm>
          <a:prstGeom prst="rect">
            <a:avLst/>
          </a:prstGeom>
          <a:noFill/>
          <a:ln/>
        </p:spPr>
        <p:txBody>
          <a:bodyPr wrap="square" lIns="0" tIns="0" rIns="0" bIns="0" rtlCol="0" anchor="t"/>
          <a:lstStyle/>
          <a:p>
            <a:pPr indent="0" marL="0">
              <a:buNone/>
            </a:pPr>
            <a:r>
              <a:rPr lang="en-US" sz="1700" dirty="0">
                <a:solidFill>
                  <a:srgbClr val="FFFFFF"/>
                </a:solidFill>
                <a:latin typeface="Arial" pitchFamily="34" charset="0"/>
                <a:ea typeface="Arial" pitchFamily="34" charset="-122"/>
                <a:cs typeface="Arial" pitchFamily="34" charset="-120"/>
              </a:rPr>
              <a:t>RUP convirtió «mejorar la web» en 22 casos de uso con el alcance protegido por reglas: sin checkout, sin inventario, sin ERP.</a:t>
            </a:r>
            <a:endParaRPr lang="en-US" sz="1700" dirty="0"/>
          </a:p>
        </p:txBody>
      </p:sp>
      <p:sp>
        <p:nvSpPr>
          <p:cNvPr id="8" name="Text 5"/>
          <p:cNvSpPr txBox="1"/>
          <p:nvPr/>
        </p:nvSpPr>
        <p:spPr>
          <a:xfrm>
            <a:off x="6172200" y="1600200"/>
            <a:ext cx="914400" cy="640080"/>
          </a:xfrm>
          <a:prstGeom prst="rect">
            <a:avLst/>
          </a:prstGeom>
          <a:noFill/>
          <a:ln/>
        </p:spPr>
        <p:txBody>
          <a:bodyPr wrap="square" lIns="0" tIns="0" rIns="0" bIns="0" rtlCol="0" anchor="t"/>
          <a:lstStyle/>
          <a:p>
            <a:pPr indent="0" marL="0">
              <a:buNone/>
            </a:pPr>
            <a:r>
              <a:rPr lang="en-US" sz="3200" b="1" dirty="0">
                <a:solidFill>
                  <a:srgbClr val="A78BFA"/>
                </a:solidFill>
                <a:latin typeface="Arial" pitchFamily="34" charset="0"/>
                <a:ea typeface="Arial" pitchFamily="34" charset="-122"/>
                <a:cs typeface="Arial" pitchFamily="34" charset="-120"/>
              </a:rPr>
              <a:t>02</a:t>
            </a:r>
            <a:endParaRPr lang="en-US" sz="3200" dirty="0"/>
          </a:p>
        </p:txBody>
      </p:sp>
      <p:sp>
        <p:nvSpPr>
          <p:cNvPr id="9" name="Text 6"/>
          <p:cNvSpPr txBox="1"/>
          <p:nvPr/>
        </p:nvSpPr>
        <p:spPr>
          <a:xfrm>
            <a:off x="7132320" y="1645920"/>
            <a:ext cx="4434840" cy="1920240"/>
          </a:xfrm>
          <a:prstGeom prst="rect">
            <a:avLst/>
          </a:prstGeom>
          <a:noFill/>
          <a:ln/>
        </p:spPr>
        <p:txBody>
          <a:bodyPr wrap="square" lIns="0" tIns="0" rIns="0" bIns="0" rtlCol="0" anchor="t"/>
          <a:lstStyle/>
          <a:p>
            <a:pPr indent="0" marL="0">
              <a:buNone/>
            </a:pPr>
            <a:r>
              <a:rPr lang="en-US" sz="1700" dirty="0">
                <a:solidFill>
                  <a:srgbClr val="FFFFFF"/>
                </a:solidFill>
                <a:latin typeface="Arial" pitchFamily="34" charset="0"/>
                <a:ea typeface="Arial" pitchFamily="34" charset="-122"/>
                <a:cs typeface="Arial" pitchFamily="34" charset="-120"/>
              </a:rPr>
              <a:t>El valor está entre la ficha y el distribuidor: CU-04, CU-05 y CU-08/09 son los casos críticos.</a:t>
            </a:r>
            <a:endParaRPr lang="en-US" sz="1700" dirty="0"/>
          </a:p>
        </p:txBody>
      </p:sp>
      <p:sp>
        <p:nvSpPr>
          <p:cNvPr id="10" name="Text 7"/>
          <p:cNvSpPr txBox="1"/>
          <p:nvPr/>
        </p:nvSpPr>
        <p:spPr>
          <a:xfrm>
            <a:off x="548640" y="3840480"/>
            <a:ext cx="914400" cy="640080"/>
          </a:xfrm>
          <a:prstGeom prst="rect">
            <a:avLst/>
          </a:prstGeom>
          <a:noFill/>
          <a:ln/>
        </p:spPr>
        <p:txBody>
          <a:bodyPr wrap="square" lIns="0" tIns="0" rIns="0" bIns="0" rtlCol="0" anchor="t"/>
          <a:lstStyle/>
          <a:p>
            <a:pPr indent="0" marL="0">
              <a:buNone/>
            </a:pPr>
            <a:r>
              <a:rPr lang="en-US" sz="3200" b="1" dirty="0">
                <a:solidFill>
                  <a:srgbClr val="A78BFA"/>
                </a:solidFill>
                <a:latin typeface="Arial" pitchFamily="34" charset="0"/>
                <a:ea typeface="Arial" pitchFamily="34" charset="-122"/>
                <a:cs typeface="Arial" pitchFamily="34" charset="-120"/>
              </a:rPr>
              <a:t>03</a:t>
            </a:r>
            <a:endParaRPr lang="en-US" sz="3200" dirty="0"/>
          </a:p>
        </p:txBody>
      </p:sp>
      <p:sp>
        <p:nvSpPr>
          <p:cNvPr id="11" name="Text 8"/>
          <p:cNvSpPr txBox="1"/>
          <p:nvPr/>
        </p:nvSpPr>
        <p:spPr>
          <a:xfrm>
            <a:off x="1508760" y="3886200"/>
            <a:ext cx="4434840" cy="1920240"/>
          </a:xfrm>
          <a:prstGeom prst="rect">
            <a:avLst/>
          </a:prstGeom>
          <a:noFill/>
          <a:ln/>
        </p:spPr>
        <p:txBody>
          <a:bodyPr wrap="square" lIns="0" tIns="0" rIns="0" bIns="0" rtlCol="0" anchor="t"/>
          <a:lstStyle/>
          <a:p>
            <a:pPr indent="0" marL="0">
              <a:buNone/>
            </a:pPr>
            <a:r>
              <a:rPr lang="en-US" sz="1700" dirty="0">
                <a:solidFill>
                  <a:srgbClr val="FFFFFF"/>
                </a:solidFill>
                <a:latin typeface="Arial" pitchFamily="34" charset="0"/>
                <a:ea typeface="Arial" pitchFamily="34" charset="-122"/>
                <a:cs typeface="Arial" pitchFamily="34" charset="-120"/>
              </a:rPr>
              <a:t>La arquitectura extiende la plataforma existente con un plugin propio: menor costo y menor riesgo.</a:t>
            </a:r>
            <a:endParaRPr lang="en-US" sz="1700" dirty="0"/>
          </a:p>
        </p:txBody>
      </p:sp>
      <p:sp>
        <p:nvSpPr>
          <p:cNvPr id="12" name="Text 9"/>
          <p:cNvSpPr txBox="1"/>
          <p:nvPr/>
        </p:nvSpPr>
        <p:spPr>
          <a:xfrm>
            <a:off x="6172200" y="3840480"/>
            <a:ext cx="914400" cy="640080"/>
          </a:xfrm>
          <a:prstGeom prst="rect">
            <a:avLst/>
          </a:prstGeom>
          <a:noFill/>
          <a:ln/>
        </p:spPr>
        <p:txBody>
          <a:bodyPr wrap="square" lIns="0" tIns="0" rIns="0" bIns="0" rtlCol="0" anchor="t"/>
          <a:lstStyle/>
          <a:p>
            <a:pPr indent="0" marL="0">
              <a:buNone/>
            </a:pPr>
            <a:r>
              <a:rPr lang="en-US" sz="3200" b="1" dirty="0">
                <a:solidFill>
                  <a:srgbClr val="A78BFA"/>
                </a:solidFill>
                <a:latin typeface="Arial" pitchFamily="34" charset="0"/>
                <a:ea typeface="Arial" pitchFamily="34" charset="-122"/>
                <a:cs typeface="Arial" pitchFamily="34" charset="-120"/>
              </a:rPr>
              <a:t>04</a:t>
            </a:r>
            <a:endParaRPr lang="en-US" sz="3200" dirty="0"/>
          </a:p>
        </p:txBody>
      </p:sp>
      <p:sp>
        <p:nvSpPr>
          <p:cNvPr id="13" name="Text 10"/>
          <p:cNvSpPr txBox="1"/>
          <p:nvPr/>
        </p:nvSpPr>
        <p:spPr>
          <a:xfrm>
            <a:off x="7132320" y="3886200"/>
            <a:ext cx="4434840" cy="1920240"/>
          </a:xfrm>
          <a:prstGeom prst="rect">
            <a:avLst/>
          </a:prstGeom>
          <a:noFill/>
          <a:ln/>
        </p:spPr>
        <p:txBody>
          <a:bodyPr wrap="square" lIns="0" tIns="0" rIns="0" bIns="0" rtlCol="0" anchor="t"/>
          <a:lstStyle/>
          <a:p>
            <a:pPr indent="0" marL="0">
              <a:buNone/>
            </a:pPr>
            <a:r>
              <a:rPr lang="en-US" sz="1700" dirty="0">
                <a:solidFill>
                  <a:srgbClr val="FFFFFF"/>
                </a:solidFill>
                <a:latin typeface="Arial" pitchFamily="34" charset="0"/>
                <a:ea typeface="Arial" pitchFamily="34" charset="-122"/>
                <a:cs typeface="Arial" pitchFamily="34" charset="-120"/>
              </a:rPr>
              <a:t>La trazabilidad une todos los entregables, y lo propuesto queda separado de lo existente.</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05 · RESULTADOS</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Recomendaciones, en orden de prioridad</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43</a:t>
            </a:r>
            <a:endParaRPr lang="en-US" sz="900" dirty="0"/>
          </a:p>
        </p:txBody>
      </p:sp>
      <p:sp>
        <p:nvSpPr>
          <p:cNvPr id="6" name="Shape 3"/>
          <p:cNvSpPr/>
          <p:nvPr/>
        </p:nvSpPr>
        <p:spPr>
          <a:xfrm>
            <a:off x="548640" y="1673352"/>
            <a:ext cx="603504" cy="603504"/>
          </a:xfrm>
          <a:prstGeom prst="ellipse">
            <a:avLst/>
          </a:prstGeom>
          <a:solidFill>
            <a:srgbClr val="EDE4FB"/>
          </a:solidFill>
          <a:ln/>
        </p:spPr>
      </p:sp>
      <p:pic>
        <p:nvPicPr>
          <p:cNvPr id="7" name="Image 0" descr="preencoded.png">    </p:cNvPr>
          <p:cNvPicPr>
            <a:picLocks noChangeAspect="1"/>
          </p:cNvPicPr>
          <p:nvPr/>
        </p:nvPicPr>
        <p:blipFill>
          <a:blip r:embed="rId1"/>
          <a:stretch>
            <a:fillRect/>
          </a:stretch>
        </p:blipFill>
        <p:spPr>
          <a:xfrm>
            <a:off x="693481" y="1818193"/>
            <a:ext cx="313822" cy="313822"/>
          </a:xfrm>
          <a:prstGeom prst="rect">
            <a:avLst/>
          </a:prstGeom>
        </p:spPr>
      </p:pic>
      <p:sp>
        <p:nvSpPr>
          <p:cNvPr id="8" name="Text 4"/>
          <p:cNvSpPr txBox="1"/>
          <p:nvPr/>
        </p:nvSpPr>
        <p:spPr>
          <a:xfrm>
            <a:off x="1417320" y="1600200"/>
            <a:ext cx="10241280" cy="749808"/>
          </a:xfrm>
          <a:prstGeom prst="rect">
            <a:avLst/>
          </a:prstGeom>
          <a:noFill/>
          <a:ln/>
        </p:spPr>
        <p:txBody>
          <a:bodyPr wrap="square" lIns="0" tIns="0" rIns="0" bIns="0" rtlCol="0" anchor="ctr"/>
          <a:lstStyle/>
          <a:p>
            <a:pPr indent="0" marL="0">
              <a:buNone/>
            </a:pPr>
            <a:r>
              <a:rPr lang="en-US" sz="1700" dirty="0">
                <a:solidFill>
                  <a:srgbClr val="0B0B0D"/>
                </a:solidFill>
                <a:latin typeface="Arial" pitchFamily="34" charset="0"/>
                <a:ea typeface="Arial" pitchFamily="34" charset="-122"/>
                <a:cs typeface="Arial" pitchFamily="34" charset="-120"/>
              </a:rPr>
              <a:t>Obtener la documentación técnica oficial antes de publicar especificaciones.</a:t>
            </a:r>
            <a:endParaRPr lang="en-US" sz="1700" dirty="0"/>
          </a:p>
        </p:txBody>
      </p:sp>
      <p:sp>
        <p:nvSpPr>
          <p:cNvPr id="9" name="Shape 5"/>
          <p:cNvSpPr/>
          <p:nvPr/>
        </p:nvSpPr>
        <p:spPr>
          <a:xfrm>
            <a:off x="548640" y="2606040"/>
            <a:ext cx="603504" cy="603504"/>
          </a:xfrm>
          <a:prstGeom prst="ellipse">
            <a:avLst/>
          </a:prstGeom>
          <a:solidFill>
            <a:srgbClr val="6D28D9"/>
          </a:solidFill>
          <a:ln/>
        </p:spPr>
      </p:sp>
      <p:pic>
        <p:nvPicPr>
          <p:cNvPr id="10" name="Image 1" descr="preencoded.png">    </p:cNvPr>
          <p:cNvPicPr>
            <a:picLocks noChangeAspect="1"/>
          </p:cNvPicPr>
          <p:nvPr/>
        </p:nvPicPr>
        <p:blipFill>
          <a:blip r:embed="rId2"/>
          <a:stretch>
            <a:fillRect/>
          </a:stretch>
        </p:blipFill>
        <p:spPr>
          <a:xfrm>
            <a:off x="693481" y="2750881"/>
            <a:ext cx="313822" cy="313822"/>
          </a:xfrm>
          <a:prstGeom prst="rect">
            <a:avLst/>
          </a:prstGeom>
        </p:spPr>
      </p:pic>
      <p:sp>
        <p:nvSpPr>
          <p:cNvPr id="11" name="Text 6"/>
          <p:cNvSpPr txBox="1"/>
          <p:nvPr/>
        </p:nvSpPr>
        <p:spPr>
          <a:xfrm>
            <a:off x="1417320" y="2532888"/>
            <a:ext cx="10241280" cy="749808"/>
          </a:xfrm>
          <a:prstGeom prst="rect">
            <a:avLst/>
          </a:prstGeom>
          <a:noFill/>
          <a:ln/>
        </p:spPr>
        <p:txBody>
          <a:bodyPr wrap="square" lIns="0" tIns="0" rIns="0" bIns="0" rtlCol="0" anchor="ctr"/>
          <a:lstStyle/>
          <a:p>
            <a:pPr indent="0" marL="0">
              <a:buNone/>
            </a:pPr>
            <a:r>
              <a:rPr lang="en-US" sz="1700" b="1" dirty="0">
                <a:solidFill>
                  <a:srgbClr val="0B0B0D"/>
                </a:solidFill>
                <a:latin typeface="Arial" pitchFamily="34" charset="0"/>
                <a:ea typeface="Arial" pitchFamily="34" charset="-122"/>
                <a:cs typeface="Arial" pitchFamily="34" charset="-120"/>
              </a:rPr>
              <a:t>Implementar primero el registro de consultas (CU-09): bajo costo, dato nuevo.</a:t>
            </a:r>
            <a:endParaRPr lang="en-US" sz="1700" dirty="0"/>
          </a:p>
        </p:txBody>
      </p:sp>
      <p:sp>
        <p:nvSpPr>
          <p:cNvPr id="12" name="Shape 7"/>
          <p:cNvSpPr/>
          <p:nvPr/>
        </p:nvSpPr>
        <p:spPr>
          <a:xfrm>
            <a:off x="548640" y="3538728"/>
            <a:ext cx="603504" cy="603504"/>
          </a:xfrm>
          <a:prstGeom prst="ellipse">
            <a:avLst/>
          </a:prstGeom>
          <a:solidFill>
            <a:srgbClr val="EDE4FB"/>
          </a:solidFill>
          <a:ln/>
        </p:spPr>
      </p:sp>
      <p:pic>
        <p:nvPicPr>
          <p:cNvPr id="13" name="Image 2" descr="preencoded.png">    </p:cNvPr>
          <p:cNvPicPr>
            <a:picLocks noChangeAspect="1"/>
          </p:cNvPicPr>
          <p:nvPr/>
        </p:nvPicPr>
        <p:blipFill>
          <a:blip r:embed="rId3"/>
          <a:stretch>
            <a:fillRect/>
          </a:stretch>
        </p:blipFill>
        <p:spPr>
          <a:xfrm>
            <a:off x="693481" y="3683569"/>
            <a:ext cx="313822" cy="313822"/>
          </a:xfrm>
          <a:prstGeom prst="rect">
            <a:avLst/>
          </a:prstGeom>
        </p:spPr>
      </p:pic>
      <p:sp>
        <p:nvSpPr>
          <p:cNvPr id="14" name="Text 8"/>
          <p:cNvSpPr txBox="1"/>
          <p:nvPr/>
        </p:nvSpPr>
        <p:spPr>
          <a:xfrm>
            <a:off x="1417320" y="3465576"/>
            <a:ext cx="10241280" cy="749808"/>
          </a:xfrm>
          <a:prstGeom prst="rect">
            <a:avLst/>
          </a:prstGeom>
          <a:noFill/>
          <a:ln/>
        </p:spPr>
        <p:txBody>
          <a:bodyPr wrap="square" lIns="0" tIns="0" rIns="0" bIns="0" rtlCol="0" anchor="ctr"/>
          <a:lstStyle/>
          <a:p>
            <a:pPr indent="0" marL="0">
              <a:buNone/>
            </a:pPr>
            <a:r>
              <a:rPr lang="en-US" sz="1700" dirty="0">
                <a:solidFill>
                  <a:srgbClr val="0B0B0D"/>
                </a:solidFill>
                <a:latin typeface="Arial" pitchFamily="34" charset="0"/>
                <a:ea typeface="Arial" pitchFamily="34" charset="-122"/>
                <a:cs typeface="Arial" pitchFamily="34" charset="-120"/>
              </a:rPr>
              <a:t>Validar con el área comercial la lista inicial de distribuidores.</a:t>
            </a:r>
            <a:endParaRPr lang="en-US" sz="1700" dirty="0"/>
          </a:p>
        </p:txBody>
      </p:sp>
      <p:sp>
        <p:nvSpPr>
          <p:cNvPr id="15" name="Shape 9"/>
          <p:cNvSpPr/>
          <p:nvPr/>
        </p:nvSpPr>
        <p:spPr>
          <a:xfrm>
            <a:off x="548640" y="4471416"/>
            <a:ext cx="603504" cy="603504"/>
          </a:xfrm>
          <a:prstGeom prst="ellipse">
            <a:avLst/>
          </a:prstGeom>
          <a:solidFill>
            <a:srgbClr val="EDE4FB"/>
          </a:solidFill>
          <a:ln/>
        </p:spPr>
      </p:sp>
      <p:pic>
        <p:nvPicPr>
          <p:cNvPr id="16" name="Image 3" descr="preencoded.png">    </p:cNvPr>
          <p:cNvPicPr>
            <a:picLocks noChangeAspect="1"/>
          </p:cNvPicPr>
          <p:nvPr/>
        </p:nvPicPr>
        <p:blipFill>
          <a:blip r:embed="rId4"/>
          <a:stretch>
            <a:fillRect/>
          </a:stretch>
        </p:blipFill>
        <p:spPr>
          <a:xfrm>
            <a:off x="693481" y="4616257"/>
            <a:ext cx="313822" cy="313822"/>
          </a:xfrm>
          <a:prstGeom prst="rect">
            <a:avLst/>
          </a:prstGeom>
        </p:spPr>
      </p:pic>
      <p:sp>
        <p:nvSpPr>
          <p:cNvPr id="17" name="Text 10"/>
          <p:cNvSpPr txBox="1"/>
          <p:nvPr/>
        </p:nvSpPr>
        <p:spPr>
          <a:xfrm>
            <a:off x="1417320" y="4398264"/>
            <a:ext cx="10241280" cy="749808"/>
          </a:xfrm>
          <a:prstGeom prst="rect">
            <a:avLst/>
          </a:prstGeom>
          <a:noFill/>
          <a:ln/>
        </p:spPr>
        <p:txBody>
          <a:bodyPr wrap="square" lIns="0" tIns="0" rIns="0" bIns="0" rtlCol="0" anchor="ctr"/>
          <a:lstStyle/>
          <a:p>
            <a:pPr indent="0" marL="0">
              <a:buNone/>
            </a:pPr>
            <a:r>
              <a:rPr lang="en-US" sz="1700" dirty="0">
                <a:solidFill>
                  <a:srgbClr val="0B0B0D"/>
                </a:solidFill>
                <a:latin typeface="Arial" pitchFamily="34" charset="0"/>
                <a:ea typeface="Arial" pitchFamily="34" charset="-122"/>
                <a:cs typeface="Arial" pitchFamily="34" charset="-120"/>
              </a:rPr>
              <a:t>Medir el rendimiento en producción y retirar el noindex al publicar.</a:t>
            </a:r>
            <a:endParaRPr lang="en-US" sz="1700" dirty="0"/>
          </a:p>
        </p:txBody>
      </p:sp>
      <p:sp>
        <p:nvSpPr>
          <p:cNvPr id="18" name="Shape 11"/>
          <p:cNvSpPr/>
          <p:nvPr/>
        </p:nvSpPr>
        <p:spPr>
          <a:xfrm>
            <a:off x="548640" y="5404104"/>
            <a:ext cx="603504" cy="603504"/>
          </a:xfrm>
          <a:prstGeom prst="ellipse">
            <a:avLst/>
          </a:prstGeom>
          <a:solidFill>
            <a:srgbClr val="EDE4FB"/>
          </a:solidFill>
          <a:ln/>
        </p:spPr>
      </p:sp>
      <p:pic>
        <p:nvPicPr>
          <p:cNvPr id="19" name="Image 4" descr="preencoded.png">    </p:cNvPr>
          <p:cNvPicPr>
            <a:picLocks noChangeAspect="1"/>
          </p:cNvPicPr>
          <p:nvPr/>
        </p:nvPicPr>
        <p:blipFill>
          <a:blip r:embed="rId5"/>
          <a:stretch>
            <a:fillRect/>
          </a:stretch>
        </p:blipFill>
        <p:spPr>
          <a:xfrm>
            <a:off x="693481" y="5548945"/>
            <a:ext cx="313822" cy="313822"/>
          </a:xfrm>
          <a:prstGeom prst="rect">
            <a:avLst/>
          </a:prstGeom>
        </p:spPr>
      </p:pic>
      <p:sp>
        <p:nvSpPr>
          <p:cNvPr id="20" name="Text 12"/>
          <p:cNvSpPr txBox="1"/>
          <p:nvPr/>
        </p:nvSpPr>
        <p:spPr>
          <a:xfrm>
            <a:off x="1417320" y="5330952"/>
            <a:ext cx="10241280" cy="749808"/>
          </a:xfrm>
          <a:prstGeom prst="rect">
            <a:avLst/>
          </a:prstGeom>
          <a:noFill/>
          <a:ln/>
        </p:spPr>
        <p:txBody>
          <a:bodyPr wrap="square" lIns="0" tIns="0" rIns="0" bIns="0" rtlCol="0" anchor="ctr"/>
          <a:lstStyle/>
          <a:p>
            <a:pPr indent="0" marL="0">
              <a:buNone/>
            </a:pPr>
            <a:r>
              <a:rPr lang="en-US" sz="1700" dirty="0">
                <a:solidFill>
                  <a:srgbClr val="0B0B0D"/>
                </a:solidFill>
                <a:latin typeface="Arial" pitchFamily="34" charset="0"/>
                <a:ea typeface="Arial" pitchFamily="34" charset="-122"/>
                <a:cs typeface="Arial" pitchFamily="34" charset="-120"/>
              </a:rPr>
              <a:t>Evaluar la API de WhatsApp Business solo si el volumen lo justifica.</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FUENTES</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Referencias principales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ctr"/>
          <a:lstStyle/>
          <a:p>
            <a:pPr algn="r" indent="0" marL="0">
              <a:buNone/>
            </a:pPr>
            <a:r>
              <a:rPr lang="en-US" sz="900" dirty="0">
                <a:solidFill>
                  <a:srgbClr val="9CA3AF"/>
                </a:solidFill>
                <a:latin typeface="Arial" pitchFamily="34" charset="0"/>
                <a:ea typeface="Arial" pitchFamily="34" charset="-122"/>
                <a:cs typeface="Arial" pitchFamily="34" charset="-120"/>
              </a:rPr>
              <a:t>SGCD-BH · RUP   44</a:t>
            </a:r>
            <a:endParaRPr lang="en-US" sz="900" dirty="0"/>
          </a:p>
        </p:txBody>
      </p:sp>
      <p:sp>
        <p:nvSpPr>
          <p:cNvPr id="6" name="Text 3"/>
          <p:cNvSpPr txBox="1"/>
          <p:nvPr/>
        </p:nvSpPr>
        <p:spPr>
          <a:xfrm>
            <a:off x="548640" y="1463040"/>
            <a:ext cx="11094415" cy="4480560"/>
          </a:xfrm>
          <a:prstGeom prst="rect">
            <a:avLst/>
          </a:prstGeom>
          <a:noFill/>
          <a:ln/>
        </p:spPr>
        <p:txBody>
          <a:bodyPr wrap="square" lIns="0" tIns="0" rIns="0" bIns="0" rtlCol="0" anchor="t"/>
          <a:lstStyle/>
          <a:p>
            <a:pPr indent="0" marL="0">
              <a:spcAft>
                <a:spcPts val="700"/>
              </a:spcAft>
              <a:buNone/>
            </a:pPr>
            <a:r>
              <a:rPr lang="en-US" sz="1250" dirty="0">
                <a:solidFill>
                  <a:srgbClr val="0B0B0D"/>
                </a:solidFill>
                <a:latin typeface="Arial" pitchFamily="34" charset="0"/>
                <a:ea typeface="Arial" pitchFamily="34" charset="-122"/>
                <a:cs typeface="Arial" pitchFamily="34" charset="-120"/>
              </a:rPr>
              <a:t>Bass, L., Clements, P., &amp; Kazman, R. (2012). Software architecture in practice (3rd ed.). Addison-Wesley.</a:t>
            </a:r>
            <a:endParaRPr lang="en-US" sz="1250" dirty="0"/>
          </a:p>
          <a:p>
            <a:pPr indent="0" marL="0">
              <a:spcAft>
                <a:spcPts val="700"/>
              </a:spcAft>
              <a:buNone/>
            </a:pPr>
            <a:r>
              <a:rPr lang="en-US" sz="1250" dirty="0">
                <a:solidFill>
                  <a:srgbClr val="0B0B0D"/>
                </a:solidFill>
                <a:latin typeface="Arial" pitchFamily="34" charset="0"/>
                <a:ea typeface="Arial" pitchFamily="34" charset="-122"/>
                <a:cs typeface="Arial" pitchFamily="34" charset="-120"/>
              </a:rPr>
              <a:t>Booch, G., Rumbaugh, J., &amp; Jacobson, I. (2005). The Unified Modeling Language user guide (2nd ed.). Addison-Wesley.</a:t>
            </a:r>
            <a:endParaRPr lang="en-US" sz="1250" dirty="0"/>
          </a:p>
          <a:p>
            <a:pPr indent="0" marL="0">
              <a:spcAft>
                <a:spcPts val="700"/>
              </a:spcAft>
              <a:buNone/>
            </a:pPr>
            <a:r>
              <a:rPr lang="en-US" sz="1250" dirty="0">
                <a:solidFill>
                  <a:srgbClr val="0B0B0D"/>
                </a:solidFill>
                <a:latin typeface="Arial" pitchFamily="34" charset="0"/>
                <a:ea typeface="Arial" pitchFamily="34" charset="-122"/>
                <a:cs typeface="Arial" pitchFamily="34" charset="-120"/>
              </a:rPr>
              <a:t>Jacobson, I., Booch, G., &amp; Rumbaugh, J. (1999). The unified software development process. Addison-Wesley.</a:t>
            </a:r>
            <a:endParaRPr lang="en-US" sz="1250" dirty="0"/>
          </a:p>
          <a:p>
            <a:pPr indent="0" marL="0">
              <a:spcAft>
                <a:spcPts val="700"/>
              </a:spcAft>
              <a:buNone/>
            </a:pPr>
            <a:r>
              <a:rPr lang="en-US" sz="1250" dirty="0">
                <a:solidFill>
                  <a:srgbClr val="0B0B0D"/>
                </a:solidFill>
                <a:latin typeface="Arial" pitchFamily="34" charset="0"/>
                <a:ea typeface="Arial" pitchFamily="34" charset="-122"/>
                <a:cs typeface="Arial" pitchFamily="34" charset="-120"/>
              </a:rPr>
              <a:t>Kroll, P., &amp; Kruchten, P. (2003). The Rational Unified Process made easy: A practitioner's guide to the RUP. Addison-Wesley.</a:t>
            </a:r>
            <a:endParaRPr lang="en-US" sz="1250" dirty="0"/>
          </a:p>
          <a:p>
            <a:pPr indent="0" marL="0">
              <a:spcAft>
                <a:spcPts val="700"/>
              </a:spcAft>
              <a:buNone/>
            </a:pPr>
            <a:r>
              <a:rPr lang="en-US" sz="1250" dirty="0">
                <a:solidFill>
                  <a:srgbClr val="0B0B0D"/>
                </a:solidFill>
                <a:latin typeface="Arial" pitchFamily="34" charset="0"/>
                <a:ea typeface="Arial" pitchFamily="34" charset="-122"/>
                <a:cs typeface="Arial" pitchFamily="34" charset="-120"/>
              </a:rPr>
              <a:t>Kruchten, P. (1995). Architectural blueprints—The "4+1" view model of software architecture. IEEE Software, 12(6), 42–50. https://doi.org/10.1109/52.469759</a:t>
            </a:r>
            <a:endParaRPr lang="en-US" sz="1250" dirty="0"/>
          </a:p>
          <a:p>
            <a:pPr indent="0" marL="0">
              <a:spcAft>
                <a:spcPts val="700"/>
              </a:spcAft>
              <a:buNone/>
            </a:pPr>
            <a:r>
              <a:rPr lang="en-US" sz="1250" dirty="0">
                <a:solidFill>
                  <a:srgbClr val="0B0B0D"/>
                </a:solidFill>
                <a:latin typeface="Arial" pitchFamily="34" charset="0"/>
                <a:ea typeface="Arial" pitchFamily="34" charset="-122"/>
                <a:cs typeface="Arial" pitchFamily="34" charset="-120"/>
              </a:rPr>
              <a:t>Kruchten, P. (2004). The Rational Unified Process: An introduction (3rd ed.). Addison-Wesley.</a:t>
            </a:r>
            <a:endParaRPr lang="en-US" sz="1250" dirty="0"/>
          </a:p>
          <a:p>
            <a:pPr indent="0" marL="0">
              <a:spcAft>
                <a:spcPts val="700"/>
              </a:spcAft>
              <a:buNone/>
            </a:pPr>
            <a:r>
              <a:rPr lang="en-US" sz="1250" dirty="0">
                <a:solidFill>
                  <a:srgbClr val="0B0B0D"/>
                </a:solidFill>
                <a:latin typeface="Arial" pitchFamily="34" charset="0"/>
                <a:ea typeface="Arial" pitchFamily="34" charset="-122"/>
                <a:cs typeface="Arial" pitchFamily="34" charset="-120"/>
              </a:rPr>
              <a:t>Larman, C. (2004). Applying UML and patterns: An introduction to object-oriented analysis and design and iterative development (3rd ed.). Prentice Hall.</a:t>
            </a:r>
            <a:endParaRPr lang="en-US" sz="1250" dirty="0"/>
          </a:p>
          <a:p>
            <a:pPr indent="0" marL="0">
              <a:spcAft>
                <a:spcPts val="700"/>
              </a:spcAft>
              <a:buNone/>
            </a:pPr>
            <a:r>
              <a:rPr lang="en-US" sz="1250" dirty="0">
                <a:solidFill>
                  <a:srgbClr val="0B0B0D"/>
                </a:solidFill>
                <a:latin typeface="Arial" pitchFamily="34" charset="0"/>
                <a:ea typeface="Arial" pitchFamily="34" charset="-122"/>
                <a:cs typeface="Arial" pitchFamily="34" charset="-120"/>
              </a:rPr>
              <a:t>Object Management Group. (2017). OMG Unified Modeling Language (OMG UML), version 2.5.1. https://www.omg.org/spec/UML/2.5.1</a:t>
            </a:r>
            <a:endParaRPr lang="en-US" sz="1250" dirty="0"/>
          </a:p>
          <a:p>
            <a:pPr indent="0" marL="0">
              <a:spcAft>
                <a:spcPts val="700"/>
              </a:spcAft>
              <a:buNone/>
            </a:pPr>
            <a:r>
              <a:rPr lang="en-US" sz="1250" dirty="0">
                <a:solidFill>
                  <a:srgbClr val="0B0B0D"/>
                </a:solidFill>
                <a:latin typeface="Arial" pitchFamily="34" charset="0"/>
                <a:ea typeface="Arial" pitchFamily="34" charset="-122"/>
                <a:cs typeface="Arial" pitchFamily="34" charset="-120"/>
              </a:rPr>
              <a:t>Pressman, R. S., &amp; Maxim, B. R. (2015). Software engineering: A practitioner's approach (8th ed.). McGraw-Hill Education.</a:t>
            </a:r>
            <a:endParaRPr lang="en-US" sz="1250" dirty="0"/>
          </a:p>
          <a:p>
            <a:pPr indent="0" marL="0">
              <a:spcAft>
                <a:spcPts val="700"/>
              </a:spcAft>
              <a:buNone/>
            </a:pPr>
            <a:r>
              <a:rPr lang="en-US" sz="1250" dirty="0">
                <a:solidFill>
                  <a:srgbClr val="0B0B0D"/>
                </a:solidFill>
                <a:latin typeface="Arial" pitchFamily="34" charset="0"/>
                <a:ea typeface="Arial" pitchFamily="34" charset="-122"/>
                <a:cs typeface="Arial" pitchFamily="34" charset="-120"/>
              </a:rPr>
              <a:t>Quatrani, T. (2002). Visual modeling with Rational Rose 2002 and UML (3rd ed.). Addison-Wesley.</a:t>
            </a:r>
            <a:endParaRPr lang="en-US" sz="1250" dirty="0"/>
          </a:p>
          <a:p>
            <a:pPr indent="0" marL="0">
              <a:spcAft>
                <a:spcPts val="700"/>
              </a:spcAft>
              <a:buNone/>
            </a:pPr>
            <a:r>
              <a:rPr lang="en-US" sz="1250" dirty="0">
                <a:solidFill>
                  <a:srgbClr val="0B0B0D"/>
                </a:solidFill>
                <a:latin typeface="Arial" pitchFamily="34" charset="0"/>
                <a:ea typeface="Arial" pitchFamily="34" charset="-122"/>
                <a:cs typeface="Arial" pitchFamily="34" charset="-120"/>
              </a:rPr>
              <a:t>Sommerville, I. (2016). Software engineering (10th ed.). Pearson.</a:t>
            </a:r>
            <a:endParaRPr lang="en-US" sz="1250" dirty="0"/>
          </a:p>
        </p:txBody>
      </p:sp>
      <p:sp>
        <p:nvSpPr>
          <p:cNvPr id="7" name="Text 4"/>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Lista completa en APA 7: monografía, sección Referencias. Caso: sitio oficial de Black Hawk (consultado el 29-09-2026) y evidencia archivada del rediseño.</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0B0D"/>
        </a:solidFill>
      </p:bgPr>
    </p:bg>
    <p:spTree>
      <p:nvGrpSpPr>
        <p:cNvPr id="1" name=""/>
        <p:cNvGrpSpPr/>
        <p:nvPr/>
      </p:nvGrpSpPr>
      <p:grpSpPr>
        <a:xfrm>
          <a:off x="0" y="0"/>
          <a:ext cx="0" cy="0"/>
          <a:chOff x="0" y="0"/>
          <a:chExt cx="0" cy="0"/>
        </a:xfrm>
      </p:grpSpPr>
      <p:pic>
        <p:nvPicPr>
          <p:cNvPr id="3" name="Image 0" descr="research/logo-w-t.png">    </p:cNvPr>
          <p:cNvPicPr>
            <a:picLocks noChangeAspect="1"/>
          </p:cNvPicPr>
          <p:nvPr/>
        </p:nvPicPr>
        <p:blipFill>
          <a:blip r:embed="rId1"/>
          <a:stretch>
            <a:fillRect/>
          </a:stretch>
        </p:blipFill>
        <p:spPr>
          <a:xfrm>
            <a:off x="5090008" y="1463040"/>
            <a:ext cx="2011680" cy="1069848"/>
          </a:xfrm>
          <a:prstGeom prst="rect">
            <a:avLst/>
          </a:prstGeom>
        </p:spPr>
      </p:pic>
      <p:sp>
        <p:nvSpPr>
          <p:cNvPr id="4" name="Text 0"/>
          <p:cNvSpPr txBox="1"/>
          <p:nvPr/>
        </p:nvSpPr>
        <p:spPr>
          <a:xfrm>
            <a:off x="0" y="2926080"/>
            <a:ext cx="12191695" cy="1097280"/>
          </a:xfrm>
          <a:prstGeom prst="rect">
            <a:avLst/>
          </a:prstGeom>
          <a:noFill/>
          <a:ln/>
        </p:spPr>
        <p:txBody>
          <a:bodyPr wrap="square" lIns="0" tIns="0" rIns="0" bIns="0" rtlCol="0" anchor="t"/>
          <a:lstStyle/>
          <a:p>
            <a:pPr algn="ctr" indent="0" marL="0">
              <a:buNone/>
            </a:pPr>
            <a:r>
              <a:rPr lang="en-US" sz="5400" b="1" dirty="0">
                <a:solidFill>
                  <a:srgbClr val="FFFFFF"/>
                </a:solidFill>
                <a:latin typeface="Arial" pitchFamily="34" charset="0"/>
                <a:ea typeface="Arial" pitchFamily="34" charset="-122"/>
                <a:cs typeface="Arial" pitchFamily="34" charset="-120"/>
              </a:rPr>
              <a:t>¿Preguntas?</a:t>
            </a:r>
            <a:endParaRPr lang="en-US" sz="5400" dirty="0"/>
          </a:p>
        </p:txBody>
      </p:sp>
      <p:sp>
        <p:nvSpPr>
          <p:cNvPr id="5" name="Text 1"/>
          <p:cNvSpPr txBox="1"/>
          <p:nvPr/>
        </p:nvSpPr>
        <p:spPr>
          <a:xfrm>
            <a:off x="0" y="4114800"/>
            <a:ext cx="12191695" cy="457200"/>
          </a:xfrm>
          <a:prstGeom prst="rect">
            <a:avLst/>
          </a:prstGeom>
          <a:noFill/>
          <a:ln/>
        </p:spPr>
        <p:txBody>
          <a:bodyPr wrap="square" lIns="0" tIns="0" rIns="0" bIns="0" rtlCol="0" anchor="t"/>
          <a:lstStyle/>
          <a:p>
            <a:pPr algn="ctr" indent="0" marL="0">
              <a:buNone/>
            </a:pPr>
            <a:r>
              <a:rPr lang="en-US" sz="1600" dirty="0">
                <a:solidFill>
                  <a:srgbClr val="9CA3AF"/>
                </a:solidFill>
                <a:latin typeface="Arial" pitchFamily="34" charset="0"/>
                <a:ea typeface="Arial" pitchFamily="34" charset="-122"/>
                <a:cs typeface="Arial" pitchFamily="34" charset="-120"/>
              </a:rPr>
              <a:t>SGCD-BH · Aplicación de RUP a Black Hawk Car Audio</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Aplicación de RUP — SGCD-BH Black Hawk</dc:title>
  <dc:subject>PptxGenJS Presentation</dc:subject>
  <dc:creator>Equipo del proyecto SGCD-BH</dc:creator>
  <cp:lastModifiedBy>Equipo del proyecto SGCD-BH</cp:lastModifiedBy>
  <cp:revision>1</cp:revision>
  <dcterms:created xsi:type="dcterms:W3CDTF">2026-09-29T20:19:29Z</dcterms:created>
  <dcterms:modified xsi:type="dcterms:W3CDTF">2026-09-29T20:19:29Z</dcterms:modified>
</cp:coreProperties>
</file>