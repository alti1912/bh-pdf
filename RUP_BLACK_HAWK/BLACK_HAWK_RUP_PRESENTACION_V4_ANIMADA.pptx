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88" r:id="rId39"/>
    <p:sldId id="289" r:id="rId40"/>
    <p:sldId id="290" r:id="rId41"/>
    <p:sldId id="291" r:id="rId42"/>
    <p:sldId id="292" r:id="rId43"/>
    <p:sldId id="293" r:id="rId44"/>
    <p:sldId id="260" r:id="rId6"/>
    <p:sldId id="261" r:id="rId7"/>
    <p:sldId id="262" r:id="rId8"/>
    <p:sldId id="263" r:id="rId9"/>
    <p:sldId id="294" r:id="rId45"/>
    <p:sldId id="295" r:id="rId46"/>
    <p:sldId id="296" r:id="rId47"/>
    <p:sldId id="297" r:id="rId48"/>
    <p:sldId id="264" r:id="rId10"/>
    <p:sldId id="265" r:id="rId11"/>
    <p:sldId id="266" r:id="rId12"/>
    <p:sldId id="267" r:id="rId13"/>
    <p:sldId id="268" r:id="rId14"/>
    <p:sldId id="269" r:id="rId15"/>
    <p:sldId id="270" r:id="rId16"/>
    <p:sldId id="271" r:id="rId17"/>
    <p:sldId id="300" r:id="rId51"/>
    <p:sldId id="301" r:id="rId52"/>
    <p:sldId id="302" r:id="rId53"/>
    <p:sldId id="272" r:id="rId18"/>
    <p:sldId id="273" r:id="rId19"/>
    <p:sldId id="274" r:id="rId20"/>
    <p:sldId id="275" r:id="rId21"/>
    <p:sldId id="303" r:id="rId54"/>
    <p:sldId id="304" r:id="rId55"/>
    <p:sldId id="305" r:id="rId56"/>
    <p:sldId id="276" r:id="rId22"/>
    <p:sldId id="277" r:id="rId23"/>
    <p:sldId id="278" r:id="rId24"/>
    <p:sldId id="279" r:id="rId25"/>
    <p:sldId id="298" r:id="rId49"/>
    <p:sldId id="280" r:id="rId26"/>
    <p:sldId id="299" r:id="rId50"/>
    <p:sldId id="281" r:id="rId27"/>
    <p:sldId id="306" r:id="rId57"/>
    <p:sldId id="307" r:id="rId58"/>
    <p:sldId id="308" r:id="rId59"/>
    <p:sldId id="309" r:id="rId60"/>
    <p:sldId id="310" r:id="rId61"/>
    <p:sldId id="311" r:id="rId62"/>
    <p:sldId id="312" r:id="rId63"/>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  <Relationship Id="rId39" Type="http://schemas.openxmlformats.org/officeDocument/2006/relationships/slide" Target="slides/slide33.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 Id="rId43" Type="http://schemas.openxmlformats.org/officeDocument/2006/relationships/slide" Target="slides/slide37.xml"/>
  <Relationship Id="rId44" Type="http://schemas.openxmlformats.org/officeDocument/2006/relationships/slide" Target="slides/slide38.xml"/>
  <Relationship Id="rId45" Type="http://schemas.openxmlformats.org/officeDocument/2006/relationships/slide" Target="slides/slide39.xml"/>
  <Relationship Id="rId46" Type="http://schemas.openxmlformats.org/officeDocument/2006/relationships/slide" Target="slides/slide40.xml"/>
  <Relationship Id="rId47" Type="http://schemas.openxmlformats.org/officeDocument/2006/relationships/slide" Target="slides/slide41.xml"/>
  <Relationship Id="rId48" Type="http://schemas.openxmlformats.org/officeDocument/2006/relationships/slide" Target="slides/slide42.xml"/>
  <Relationship Id="rId49" Type="http://schemas.openxmlformats.org/officeDocument/2006/relationships/slide" Target="slides/slide43.xml"/>
  <Relationship Id="rId50" Type="http://schemas.openxmlformats.org/officeDocument/2006/relationships/slide" Target="slides/slide44.xml"/>
  <Relationship Id="rId51" Type="http://schemas.openxmlformats.org/officeDocument/2006/relationships/slide" Target="slides/slide45.xml"/>
  <Relationship Id="rId52" Type="http://schemas.openxmlformats.org/officeDocument/2006/relationships/slide" Target="slides/slide46.xml"/>
  <Relationship Id="rId53" Type="http://schemas.openxmlformats.org/officeDocument/2006/relationships/slide" Target="slides/slide47.xml"/>
  <Relationship Id="rId54" Type="http://schemas.openxmlformats.org/officeDocument/2006/relationships/slide" Target="slides/slide48.xml"/>
  <Relationship Id="rId55" Type="http://schemas.openxmlformats.org/officeDocument/2006/relationships/slide" Target="slides/slide49.xml"/>
  <Relationship Id="rId56" Type="http://schemas.openxmlformats.org/officeDocument/2006/relationships/slide" Target="slides/slide50.xml"/>
  <Relationship Id="rId57" Type="http://schemas.openxmlformats.org/officeDocument/2006/relationships/slide" Target="slides/slide51.xml"/>
  <Relationship Id="rId58" Type="http://schemas.openxmlformats.org/officeDocument/2006/relationships/slide" Target="slides/slide52.xml"/>
  <Relationship Id="rId59" Type="http://schemas.openxmlformats.org/officeDocument/2006/relationships/slide" Target="slides/slide53.xml"/>
  <Relationship Id="rId60" Type="http://schemas.openxmlformats.org/officeDocument/2006/relationships/slide" Target="slides/slide54.xml"/>
  <Relationship Id="rId61" Type="http://schemas.openxmlformats.org/officeDocument/2006/relationships/slide" Target="slides/slide55.xml"/>
  <Relationship Id="rId62" Type="http://schemas.openxmlformats.org/officeDocument/2006/relationships/slide" Target="slides/slide56.xml"/>
  <Relationship Id="rId63" Type="http://schemas.openxmlformats.org/officeDocument/2006/relationships/slide" Target="slides/slide57.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Presento cómo apliqué RUP para renovar la plataforma web de Black Hawk.
Es un proyecto sobre una empresa real: parto de su web original, desarrollo una versión renovada y uso RUP para organizar y justificar el proceso.
Ejemplo: Black Hawk es una marca peruana de car audio: amplificadores, subwoofers, procesadores.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Hawk es una marca de car audio que usa su web como catálogo, no como tienda.
Vende a través de su área comercial y de distribuidores. La web muestra los productos y orienta la compra; no cobra ni tiene carrito.
Ejemplo: Su sitio original publica 110 productos en 11 categorías, como el subwoofer BH-SW12XXG o el procesador BH-4.8DSP.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Hawk ya tiene un sistema web: no partimos de cero.
El sitio original funciona sobre WordPress y WooCommerce, tiene catálogo por categorías, buscador y fichas. Es la base que se busca mejorar.
Ejemplo: Estas tres capturas son del sitio original, tomadas el 29-09-2026: home, tienda y ficha del BH-SW12XXG.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Hallazgos observables, clasificados: qué no existe, qué existe pero está oculto y qué recorrido se puede mejorar.
Cada número está marcado sobre una captura real. No digo que al sitio le falte algo que sí tiene: por ejemplo, WhatsApp existe, pero solo en la página de ventas al mayor.
Ejemplo: Al pulsar «Productos» se abre una tienda sin productos (1); la ficha del BH-SW12XXG no tiene botón de consulta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plataforma informa, pero no guía hacia una acción comercial.
De los hallazgos salen tres necesidades: llevar al cliente del interés al contacto, tener un catálogo claro y comparable, y mostrar una marca moderna que funcione en el celular.
Ejemplo: Un cliente que llega a la ficha del BH-SW12XXG no tiene un botón para consultar: debe buscar el contacto por su cuenta.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es desarrollar la web renovada aplicando RUP; el alcance separa lo desarrollado de lo propuesto.
Los cuatro objetivos específicos siguen el orden del trabajo: analizar, especificar y modelar, desarrollar, y validar. El alcance tiene cinco grupos: los cuatro primeros forman el rediseño; el quinto son las ampliaciones.
Ejemplo: Se excluye la venta en línea porque Black Hawk vende a través de distribuidores.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RUP es una metodología iterativa, dirigida por casos de uso y centrada en la arquitectura; encaja con un proyecto que se construye por partes.
La web renovada no se hizo de una vez: primero la home y la identidad, luego el catálogo y la ficha, después el recorrido de cotización. Cada parte se diseñó, construyó y verificó.
Ejemplo: El caso de uso «Cotizar por WhatsApp» guió el diseño de la ficha, del mensaje y de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RUP tiene dos dimensiones: en el tiempo, fases e iteraciones; en el contenido, disciplinas.
Las columnas son las fases, con sus iteraciones. Las filas son las disciplinas. La barra indica cuánto trabajo tiene cada disciplina en cada fase: requisitos pesa más al inicio, implementación en construcción. Todas conviven: no es una cascada.
Ejemplo: En Elaboración ya se programó un prototipo, y en Construcción se ajustaron requisitos.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Inicio entendí el negocio y acordé qué construir. Está realizada.
Analicé el sitio original con capturas, identifiqué a los interesados y las necesidades, y fijé el alcance y las exclusiones. El hito LCO significa que los objetivos y el alcance quedan acordados.
Ejemplo: La tienda vacía y la ficha sin consulta se documentaron en esta fase.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Elaboración definí requisitos, modelé con UML y validé la arquitectura. Está realizada.
Aquí se decide cómo será el sistema antes de construirlo: requisitos, casos de uso, diagramas, arquitectura y prototipos. La decisión clave fue rediseñar sobre la misma plataforma con un tema hijo. El hito LCA indica que la arquitectura está validada.
Ejemplo: Antes de construir se definió cómo serían la home, el catálogo, la ficha y el comparador, y cómo se conectarían con WooCommerce.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Construcción desarrollé la web renovada por incrementos. Está en curso: el rediseño funciona; las ampliaciones están planificadas.
C1: identidad y home. C2: catálogo, fichas, búsqueda y comparador. C3: el recorrido de cotización con WhatsApp, Dónde comprar, Mayoristas y Soporte. Verifiqué cada incremento y lo documenté con capturas; las pruebas formales están planificadas.
Ejemplo: Se verificó que el comparador rechaza un cuarto producto y conserva la selección al cambiar de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es la entrega a Black Hawk: validar, publicar, capacitar y mantener. Está planificada.
La web renovada funciona en un entorno de prueba; falta validarla con la empresa, publicarla en su dominio con respaldo previo y capacitar al gestor. El hito PR es la publicación del producto.
Ejemplo: Al publicarla en blackhawkcaraudio.com se podrá medir su uso con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matriz muestra qué se produjo en cada iteración y qué está realizado, en curso o planificado.
Las columnas son las siete iteraciones; las filas, las disciplinas de ingeniería. Cada celda es el entregable principal. Se ve el carácter iterativo: requisitos y diseño aparecen varias veces, y la implementación empieza con un prototipo en Elaboración.
Ejemplo: C2 produjo el catálogo, la ficha y el comparador; C3 está en curso por las ampliaciones.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RUP ataca los riesgos temprano: estos son los principales del proyecto y la respuesta a cada uno.
La matriz cruza probabilidad e impacto; la tabla dice qué se hizo con cada riesgo. Los dos primeros se atacaron en Inicio y Elaboración: el alcance quedó acordado y el tema hijo aísla el rediseño de las actualizaciones. El rendimiento se midió. Siguen abiertos o planificados los que dependen de la publicación.
Ejemplo: El riesgo 3 se midió: la ficha del BH-SW12XXG pasó de 5,28 MB a 0,38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requisitos dicen qué hace la web renovada y con qué calidad; cada uno se enlaza con el catálogo completo.
Funcionales: explorar, buscar, ver la ficha, comparar, cotizar y consultar dónde comprar ya están desarrollados; registrar la consulta, el directorio y los reportes son propuestos. No funcionales: celular, usabilidad, peso de página, idioma y datos personales.
Ejemplo: Requisito no funcional medido: la ficha del BH-SW12XXG pasó de 5,28 MB a 0,38 MB transferidos en escritorio.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puede hacer cada actor con la web renovada.
Los actores externos están a la izquierda y el gestor a la derecha; WhatsApp es un sistema externo. El cliente interesado hereda lo que hace el visitante. «Cotizar por WhatsApp» incluiría registrar la consulta, que es una ampliación propuesta.
Ejemplo: CU-05 Comparar productos y CU-08 Cotizar por WhatsApp ya funcionan en la web renovada.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avanza el recorrido comercial, paso a paso, y quién hace cada paso.
Tres calles: el cliente, la web renovada y el área comercial o distribuidor. Las decisiones son rombos: si conoce el modelo, si quiere comparar, si tiene intención de compra. La acción en morado (registrar la consulta) es la ampliación.
Ejemplo: Si el cliente no conoce el modelo, explora y filtra el catálogo; si lo conoce, lo busca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interactúan los componentes cuando el cliente consulta un producto por WhatsApp.
Se lee de arriba hacia abajo, en el orden de los mensajes. La ficha pide el producto a WooCommerce, arma el mensaje con el modelo y abre WhatsApp. El recuadro morado es la ampliación: registrar el inicio de la consulta sin demorar la apertura.
Ejemplo: El mensaje 8 arma «quiero cotizar el modelo BH-SW12XXG».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se estructura la información del sistema.
El producto es el centro: pertenece a una o más categorías y se compone de especificaciones e imágenes. Las clases en morado son propuestas: el evento de consulta registra que se inició una consulta, y el distribuidor forma el directorio.
Ejemplo: Si se elimina el producto BH-SW12XXG, sus especificaciones desaparecen con él: eso es la composición.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Dónde se guardan realmente los datos de la web renovada: las tablas de MySQL que usan WordPress y WooCommerce.
El diagrama de clases es el modelo conceptual; este es el físico. WooCommerce guarda cada producto como una fila de wp_posts y sus datos adicionales en wp_postmeta; las categorías están en wp_terms y wp_term_taxonomy, y wp_term_relationships une productos y categorías (muchos a muchos). La tabla morada, wp_bh_consulta, es la ampliación propuesta. WordPress no declara claves foráneas en el motor: la integridad la controla la aplicación.
Ejemplo: El BH-SW12XXG es una fila de wp_posts con post_type = product; su categoría Subwoofer se enlaza mediante wp_term_relationships.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está organizado técnicamente el sistema.
El rediseño vive en el tema hijo: plantillas, páginas y el botón de WhatsApp. WooCommerce maneja los productos; YITH Catalog Mode oculta precio y carrito; todo corre sobre WordPress y MySQL. El módulo propio en morado alojaría las ampliaciones.
Ejemplo: Como el rediseño está en el tema hijo, actualizar WooCommerce no borra los cambios.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Dónde se ejecuta el sistema: nodos físicos y cómo se conectan.
El cliente y el gestor acceden por HTTPS al servidor de producción, que corre WordPress con WooCommerce, YITH Catalog Mode y el tema hijo sobre LiteSpeed y PHP, con la base de datos local. Hoy la web renovada está en un entorno de prueba; en la Transición se publica en producción. El módulo propio y el respaldo externo son propuestos.
Ejemplo: «Cotizar» abre WhatsApp desde el navegador del cliente con un enlace wa.me: el servidor no se conecta con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entrego a Black Hawk es la web renovada: rediseño, catálogo y recorrido comercial sobre la misma plataforma.
Hay que separar tres cosas: el sitio original (punto de partida), la web renovada que desarrollo (la solución) y las ampliaciones que propongo (lo que viene después).
Ejemplo: La web renovada está construida como tema hijo sobre WordPress y WooCommerce y ya funciona en un entorno de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Comparo pantallas equivalentes: qué había, qué necesidad detecté, qué cambié y qué espero lograr.
Home: la marca ahora tiene jerarquía y el encabezado siempre ofrece buscar y cotizar. Catálogo: «Productos» ya no lleva a una tienda vacía; muestra los 118 productos con pestañas, contador y filtros.
Ejemplo: En el sitio original, al pulsar «Productos» aparecía «Tienda» sin productos; en la web renovada, el catálogo muestra 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ficha pasa de mostrar datos a llevar a una consulta, también en el celular.
Antes la ficha terminaba en las especificaciones. Ahora tiene «Cotizar» junto al modelo, «Comparar» y, en el celular, una barra fija con el botón de cotización.
Ejemplo: En el celular, la ficha renovada del BH-SW12XXG muestra abajo «Cotizar · BH-SW12XXG» todo el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recorrido completo, desde el catálogo hasta la atención comercial, separando lo desarrollado de lo propuesto.
La fila negra es lo que ya funciona en la web renovada. Debajo, en morado punteado, las ampliaciones: registrar el inicio de la consulta, un directorio estructurado y el seguimiento, que requiere un mecanismo adicional.
Ejemplo: El mensaje dice: «Hola Black Hawk, vengo de la web y quiero cotizar el modelo BH-SW12XXG».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grupos de funciones: cuatro desarrollados en el rediseño y uno propuesto.
No enumero módulos sueltos: agrupo por lo que resuelven. La administración usa el panel de WordPress y WooCommerce, que ya existía, sin programar uno nuevo.
Ejemplo: El comparador admite hasta 3 modelos y guarda la selección en el navegador durante 24 horas.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función principal se verificó en la web renovada; las pruebas de aceptación quedan para la Transición.
Cada fila es una prueba funcional: qué se hizo, qué debía pasar y su estado. Las siete primeras se ejecutaron y se documentaron con capturas. La aceptación con Black Hawk y las pruebas en el dominio oficial están planificadas: no las presento como hechas.
Ejemplo: Al agregar un cuarto modelo al comparador aparece «Puedes comparar hasta 3 productos»: es el criterio de aceptación del requisito.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web renovada ya resuelve las tres necesidades iniciales; las ampliaciones las completarían.
Guiar al contacto: «Cotizar» en encabezado y ficha. Catálogo claro: 118 productos con filtros y comparador. Marca moderna: identidad nueva y diseño adaptable. Además, las páginas son más livianas.
Ejemplo: La ficha del BH-SW12XXG transfiere 0,38 MB en lugar de 5,28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se cierra el proyecto: la web se publica de forma segura y cada rol sabe usarla. Es el camino al hito PR.
A la izquierda, los cinco pasos de la puesta en producción: aceptación, respaldo, publicación, verificación y, si algo falla, reversión. A la derecha, la capacitación según lo que hace cada rol: quien edita el catálogo, quien atiende las consultas y quien mantiene el sitio. Todo está planificado.
Ejemplo: El área comercial aprende que el mensaje ya llega con el modelo, por ejemplo «quiero cotizar el modelo BH-SW12XXG», y lo deriva al distribuidor.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Comprendí el negocio, desarrollé una solución real y la organicé con RUP y UML.
Punto de partida: había plataforma, pero no guiaba a la venta. Solución: la web renovada rediseña marca, catálogo y recorrido. Metodología: RUP con Inicio y Elaboración realizados, Construcción avanzada y Transición planificada.
Ejemplo: Próximo paso inmediato: validar la web renovada con Black Hawk y publicarla en su dominio.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Abrimos la ronda de preguntas.
Escuchar la pregunta completa antes de responder.
Ejemplo: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jp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D"/>
        </a:solidFill>
      </p:bgPr>
    </p:bg>
    <p:spTree>
      <p:nvGrpSpPr>
        <p:cNvPr id="1" name=""/>
        <p:cNvGrpSpPr/>
        <p:nvPr/>
      </p:nvGrpSpPr>
      <p:grpSpPr>
        <a:xfrm>
          <a:off x="0" y="0"/>
          <a:ext cx="0" cy="0"/>
          <a:chOff x="0" y="0"/>
          <a:chExt cx="0" cy="0"/>
        </a:xfrm>
      </p:grpSpPr>
      <p:pic>
        <p:nvPicPr>
          <p:cNvPr id="3" name="Image 0" descr="../../assets/images/brand/subwoofer-960.jpg">    </p:cNvPr>
          <p:cNvPicPr>
            <a:picLocks noChangeAspect="1"/>
          </p:cNvPicPr>
          <p:nvPr/>
        </p:nvPicPr>
        <p:blipFill>
          <a:blip r:embed="rId1"/>
          <a:srcRect l="0" r="0" t="0" b="0"/>
          <a:stretch/>
        </p:blipFill>
        <p:spPr>
          <a:xfrm>
            <a:off x="5495544" y="0"/>
            <a:ext cx="6693408" cy="6858000"/>
          </a:xfrm>
          <a:prstGeom prst="rect">
            <a:avLst/>
          </a:prstGeom>
        </p:spPr>
      </p:pic>
      <p:sp>
        <p:nvSpPr>
          <p:cNvPr id="4" name="Shape 0"/>
          <p:cNvSpPr/>
          <p:nvPr/>
        </p:nvSpPr>
        <p:spPr>
          <a:xfrm>
            <a:off x="5495544" y="0"/>
            <a:ext cx="6693408" cy="6858000"/>
          </a:xfrm>
          <a:prstGeom prst="rect">
            <a:avLst/>
          </a:prstGeom>
          <a:solidFill>
            <a:srgbClr val="0B0B0D">
              <a:alpha val="60000"/>
            </a:srgbClr>
          </a:solidFill>
          <a:ln/>
        </p:spPr>
      </p:sp>
      <p:pic>
        <p:nvPicPr>
          <p:cNvPr id="5" name="Image 1" descr="research/logo-w-t.png">    </p:cNvPr>
          <p:cNvPicPr>
            <a:picLocks noChangeAspect="1"/>
          </p:cNvPicPr>
          <p:nvPr/>
        </p:nvPicPr>
        <p:blipFill>
          <a:blip r:embed="rId2"/>
          <a:stretch>
            <a:fillRect/>
          </a:stretch>
        </p:blipFill>
        <p:spPr>
          <a:xfrm>
            <a:off x="548640" y="548640"/>
            <a:ext cx="1371600" cy="731520"/>
          </a:xfrm>
          <a:prstGeom prst="rect">
            <a:avLst/>
          </a:prstGeom>
        </p:spPr>
      </p:pic>
      <p:sp>
        <p:nvSpPr>
          <p:cNvPr id="6" name="Text 1"/>
          <p:cNvSpPr txBox="1"/>
          <p:nvPr/>
        </p:nvSpPr>
        <p:spPr>
          <a:xfrm>
            <a:off x="548640" y="1691640"/>
            <a:ext cx="5120640" cy="274320"/>
          </a:xfrm>
          <a:prstGeom prst="rect">
            <a:avLst/>
          </a:prstGeom>
          <a:noFill/>
          <a:ln/>
        </p:spPr>
        <p:txBody>
          <a:bodyPr wrap="square" lIns="0" tIns="0" rIns="0" bIns="0" rtlCol="0" anchor="t"/>
          <a:lstStyle/>
          <a:p>
            <a:pPr indent="0" marL="0">
              <a:buNone/>
            </a:pPr>
            <a:r>
              <a:rPr lang="en-US" sz="1100" b="1" spc="300" kern="0" dirty="0">
                <a:solidFill>
                  <a:srgbClr val="A78BFA"/>
                </a:solidFill>
                <a:latin typeface="Arial" pitchFamily="34" charset="0"/>
                <a:ea typeface="Arial" pitchFamily="34" charset="-122"/>
                <a:cs typeface="Arial" pitchFamily="34" charset="-120"/>
              </a:rPr>
              <a:t>DISEÑO DE SISTEMAS DE INFORMACIÓN</a:t>
            </a:r>
            <a:endParaRPr lang="en-US" sz="1100" dirty="0"/>
          </a:p>
        </p:txBody>
      </p:sp>
      <p:sp>
        <p:nvSpPr>
          <p:cNvPr id="7" name="Text 2"/>
          <p:cNvSpPr txBox="1"/>
          <p:nvPr/>
        </p:nvSpPr>
        <p:spPr>
          <a:xfrm>
            <a:off x="548640" y="2057400"/>
            <a:ext cx="5120640" cy="2103120"/>
          </a:xfrm>
          <a:prstGeom prst="rect">
            <a:avLst/>
          </a:prstGeom>
          <a:noFill/>
          <a:ln/>
        </p:spPr>
        <p:txBody>
          <a:bodyPr wrap="square" lIns="0" tIns="0" rIns="0" bIns="0" rtlCol="0" anchor="t"/>
          <a:lstStyle/>
          <a:p>
            <a:pPr indent="0" marL="0">
              <a:buNone/>
            </a:pPr>
            <a:r>
              <a:rPr lang="en-US" sz="2700" b="1" dirty="0">
                <a:solidFill>
                  <a:srgbClr val="FFFFFF"/>
                </a:solidFill>
                <a:latin typeface="Arial" pitchFamily="34" charset="0"/>
                <a:ea typeface="Arial" pitchFamily="34" charset="-122"/>
                <a:cs typeface="Arial" pitchFamily="34" charset="-120"/>
              </a:rPr>
              <a:t>Aplicación de la metodología RUP en el análisis, diseño y desarrollo de la web renovada de Black Hawk</a:t>
            </a:r>
            <a:endParaRPr lang="en-US" sz="2700" dirty="0"/>
          </a:p>
        </p:txBody>
      </p:sp>
      <p:sp>
        <p:nvSpPr>
          <p:cNvPr id="8" name="Text 3"/>
          <p:cNvSpPr txBox="1"/>
          <p:nvPr/>
        </p:nvSpPr>
        <p:spPr>
          <a:xfrm>
            <a:off x="548640" y="4206240"/>
            <a:ext cx="4937760" cy="640080"/>
          </a:xfrm>
          <a:prstGeom prst="rect">
            <a:avLst/>
          </a:prstGeom>
          <a:noFill/>
          <a:ln/>
        </p:spPr>
        <p:txBody>
          <a:bodyPr wrap="square" lIns="0" tIns="0" rIns="0" bIns="0" rtlCol="0" anchor="t"/>
          <a:lstStyle/>
          <a:p>
            <a:pPr indent="0" marL="0">
              <a:buNone/>
            </a:pPr>
            <a:r>
              <a:rPr lang="en-US" sz="1400" dirty="0">
                <a:solidFill>
                  <a:srgbClr val="9CA3AF"/>
                </a:solidFill>
                <a:latin typeface="Arial" pitchFamily="34" charset="0"/>
                <a:ea typeface="Arial" pitchFamily="34" charset="-122"/>
                <a:cs typeface="Arial" pitchFamily="34" charset="-120"/>
              </a:rPr>
              <a:t>Del sitio original a una plataforma que guía al cliente hasta la consulta comercial</a:t>
            </a:r>
            <a:endParaRPr lang="en-US" sz="1400" dirty="0"/>
          </a:p>
        </p:txBody>
      </p:sp>
      <p:sp>
        <p:nvSpPr>
          <p:cNvPr id="9" name="Text 4"/>
          <p:cNvSpPr txBox="1"/>
          <p:nvPr/>
        </p:nvSpPr>
        <p:spPr>
          <a:xfrm>
            <a:off x="548640" y="5257800"/>
            <a:ext cx="5029200" cy="914400"/>
          </a:xfrm>
          <a:prstGeom prst="rect">
            <a:avLst/>
          </a:prstGeom>
          <a:noFill/>
          <a:ln/>
        </p:spPr>
        <p:txBody>
          <a:bodyPr wrap="square" lIns="0" tIns="0" rIns="0" bIns="0" rtlCol="0" anchor="t"/>
          <a:lstStyle/>
          <a:p>
            <a:pPr indent="0" marL="0">
              <a:spcAft>
                <a:spcPts val="400"/>
              </a:spcAft>
              <a:buNone/>
            </a:pPr>
            <a:r>
              <a:rPr lang="en-US" sz="1200" dirty="0">
                <a:solidFill>
                  <a:srgbClr val="9CA3AF"/>
                </a:solidFill>
                <a:latin typeface="Arial" pitchFamily="34" charset="0"/>
                <a:ea typeface="Arial" pitchFamily="34" charset="-122"/>
                <a:cs typeface="Arial" pitchFamily="34" charset="-120"/>
              </a:rPr>
              <a:t>Nils Alexander Tovar Pinzón</a:t>
            </a:r>
            <a:endParaRPr lang="en-US" sz="1200" dirty="0"/>
          </a:p>
          <a:p>
            <a:pPr indent="0" marL="0">
              <a:spcAft>
                <a:spcPts val="400"/>
              </a:spcAft>
              <a:buNone/>
            </a:pPr>
            <a:r>
              <a:rPr lang="en-US" sz="1200" dirty="0">
                <a:solidFill>
                  <a:srgbClr val="9CA3AF"/>
                </a:solidFill>
                <a:latin typeface="Arial" pitchFamily="34" charset="0"/>
                <a:ea typeface="Arial" pitchFamily="34" charset="-122"/>
                <a:cs typeface="Arial" pitchFamily="34" charset="-120"/>
              </a:rPr>
              <a:t>Diseño de Sistemas de Información - José Rojas</a:t>
            </a:r>
            <a:endParaRPr lang="en-US" sz="1200" dirty="0"/>
          </a:p>
          <a:p>
            <a:pPr indent="0" marL="0">
              <a:spcAft>
                <a:spcPts val="400"/>
              </a:spcAft>
              <a:buNone/>
            </a:pPr>
            <a:r>
              <a:rPr lang="en-US" sz="1200" dirty="0">
                <a:solidFill>
                  <a:srgbClr val="9CA3AF"/>
                </a:solidFill>
                <a:latin typeface="Arial" pitchFamily="34" charset="0"/>
                <a:ea typeface="Arial" pitchFamily="34" charset="-122"/>
                <a:cs typeface="Arial" pitchFamily="34" charset="-120"/>
              </a:rPr>
              <a:t>IESTP José Pardo · 2026</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LA EMPRESA</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Black Hawk Car Audio</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a:t>
            </a:r>
            <a:endParaRPr lang="en-US" sz="900" dirty="0"/>
          </a:p>
        </p:txBody>
      </p:sp>
      <p:sp>
        <p:nvSpPr>
          <p:cNvPr id="6" name="Shape 3"/>
          <p:cNvSpPr/>
          <p:nvPr/>
        </p:nvSpPr>
        <p:spPr>
          <a:xfrm>
            <a:off x="548640" y="1554480"/>
            <a:ext cx="603504" cy="603504"/>
          </a:xfrm>
          <a:prstGeom prst="ellipse">
            <a:avLst/>
          </a:prstGeom>
          <a:solidFill>
            <a:srgbClr val="EDE4FB"/>
          </a:solidFill>
          <a:ln/>
        </p:spPr>
      </p:sp>
      <p:pic>
        <p:nvPicPr>
          <p:cNvPr id="7" name="Image 0" descr="preencoded.png">    </p:cNvPr>
          <p:cNvPicPr>
            <a:picLocks noChangeAspect="1"/>
          </p:cNvPicPr>
          <p:nvPr/>
        </p:nvPicPr>
        <p:blipFill>
          <a:blip r:embed="rId1"/>
          <a:stretch>
            <a:fillRect/>
          </a:stretch>
        </p:blipFill>
        <p:spPr>
          <a:xfrm>
            <a:off x="693481" y="1699321"/>
            <a:ext cx="313822" cy="313822"/>
          </a:xfrm>
          <a:prstGeom prst="rect">
            <a:avLst/>
          </a:prstGeom>
        </p:spPr>
      </p:pic>
      <p:sp>
        <p:nvSpPr>
          <p:cNvPr id="8" name="Text 4"/>
          <p:cNvSpPr txBox="1"/>
          <p:nvPr/>
        </p:nvSpPr>
        <p:spPr>
          <a:xfrm>
            <a:off x="1371600" y="1554480"/>
            <a:ext cx="4937760" cy="32004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Sector</a:t>
            </a:r>
            <a:endParaRPr lang="en-US" sz="1600" dirty="0"/>
          </a:p>
        </p:txBody>
      </p:sp>
      <p:sp>
        <p:nvSpPr>
          <p:cNvPr id="9" name="Text 5"/>
          <p:cNvSpPr txBox="1"/>
          <p:nvPr/>
        </p:nvSpPr>
        <p:spPr>
          <a:xfrm>
            <a:off x="1371600" y="1883664"/>
            <a:ext cx="4937760" cy="59436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Audio automotriz en el Perú.</a:t>
            </a:r>
            <a:endParaRPr lang="en-US" sz="1350" dirty="0"/>
          </a:p>
        </p:txBody>
      </p:sp>
      <p:sp>
        <p:nvSpPr>
          <p:cNvPr id="10" name="Shape 6"/>
          <p:cNvSpPr/>
          <p:nvPr/>
        </p:nvSpPr>
        <p:spPr>
          <a:xfrm>
            <a:off x="548640" y="2578608"/>
            <a:ext cx="603504" cy="603504"/>
          </a:xfrm>
          <a:prstGeom prst="ellipse">
            <a:avLst/>
          </a:prstGeom>
          <a:solidFill>
            <a:srgbClr val="EDE4FB"/>
          </a:solidFill>
          <a:ln/>
        </p:spPr>
      </p:sp>
      <p:pic>
        <p:nvPicPr>
          <p:cNvPr id="11" name="Image 1" descr="preencoded.png">    </p:cNvPr>
          <p:cNvPicPr>
            <a:picLocks noChangeAspect="1"/>
          </p:cNvPicPr>
          <p:nvPr/>
        </p:nvPicPr>
        <p:blipFill>
          <a:blip r:embed="rId2"/>
          <a:stretch>
            <a:fillRect/>
          </a:stretch>
        </p:blipFill>
        <p:spPr>
          <a:xfrm>
            <a:off x="693481" y="2723449"/>
            <a:ext cx="313822" cy="313822"/>
          </a:xfrm>
          <a:prstGeom prst="rect">
            <a:avLst/>
          </a:prstGeom>
        </p:spPr>
      </p:pic>
      <p:sp>
        <p:nvSpPr>
          <p:cNvPr id="12" name="Text 7"/>
          <p:cNvSpPr txBox="1"/>
          <p:nvPr/>
        </p:nvSpPr>
        <p:spPr>
          <a:xfrm>
            <a:off x="1371600" y="2578608"/>
            <a:ext cx="4937760" cy="32004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Productos</a:t>
            </a:r>
            <a:endParaRPr lang="en-US" sz="1600" dirty="0"/>
          </a:p>
        </p:txBody>
      </p:sp>
      <p:sp>
        <p:nvSpPr>
          <p:cNvPr id="13" name="Text 8"/>
          <p:cNvSpPr txBox="1"/>
          <p:nvPr/>
        </p:nvSpPr>
        <p:spPr>
          <a:xfrm>
            <a:off x="1371600" y="2907792"/>
            <a:ext cx="4937760" cy="59436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Amplificadores, subwoofers, procesadores, parlantes y más.</a:t>
            </a:r>
            <a:endParaRPr lang="en-US" sz="1350" dirty="0"/>
          </a:p>
        </p:txBody>
      </p:sp>
      <p:sp>
        <p:nvSpPr>
          <p:cNvPr id="14" name="Shape 9"/>
          <p:cNvSpPr/>
          <p:nvPr/>
        </p:nvSpPr>
        <p:spPr>
          <a:xfrm>
            <a:off x="548640" y="3602736"/>
            <a:ext cx="603504" cy="603504"/>
          </a:xfrm>
          <a:prstGeom prst="ellipse">
            <a:avLst/>
          </a:prstGeom>
          <a:solidFill>
            <a:srgbClr val="EDE4FB"/>
          </a:solidFill>
          <a:ln/>
        </p:spPr>
      </p:sp>
      <p:pic>
        <p:nvPicPr>
          <p:cNvPr id="15" name="Image 2" descr="preencoded.png">    </p:cNvPr>
          <p:cNvPicPr>
            <a:picLocks noChangeAspect="1"/>
          </p:cNvPicPr>
          <p:nvPr/>
        </p:nvPicPr>
        <p:blipFill>
          <a:blip r:embed="rId3"/>
          <a:stretch>
            <a:fillRect/>
          </a:stretch>
        </p:blipFill>
        <p:spPr>
          <a:xfrm>
            <a:off x="693481" y="3747577"/>
            <a:ext cx="313822" cy="313822"/>
          </a:xfrm>
          <a:prstGeom prst="rect">
            <a:avLst/>
          </a:prstGeom>
        </p:spPr>
      </p:pic>
      <p:sp>
        <p:nvSpPr>
          <p:cNvPr id="16" name="Text 10"/>
          <p:cNvSpPr txBox="1"/>
          <p:nvPr/>
        </p:nvSpPr>
        <p:spPr>
          <a:xfrm>
            <a:off x="1371600" y="3602736"/>
            <a:ext cx="4937760" cy="32004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Público</a:t>
            </a:r>
            <a:endParaRPr lang="en-US" sz="1600" dirty="0"/>
          </a:p>
        </p:txBody>
      </p:sp>
      <p:sp>
        <p:nvSpPr>
          <p:cNvPr id="17" name="Text 11"/>
          <p:cNvSpPr txBox="1"/>
          <p:nvPr/>
        </p:nvSpPr>
        <p:spPr>
          <a:xfrm>
            <a:off x="1371600" y="3931920"/>
            <a:ext cx="4937760" cy="59436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Quien equipa su vehículo y las tiendas que venden la marca.</a:t>
            </a:r>
            <a:endParaRPr lang="en-US" sz="1350" dirty="0"/>
          </a:p>
        </p:txBody>
      </p:sp>
      <p:sp>
        <p:nvSpPr>
          <p:cNvPr id="18" name="Shape 12"/>
          <p:cNvSpPr/>
          <p:nvPr/>
        </p:nvSpPr>
        <p:spPr>
          <a:xfrm>
            <a:off x="548640" y="4626864"/>
            <a:ext cx="603504" cy="603504"/>
          </a:xfrm>
          <a:prstGeom prst="ellipse">
            <a:avLst/>
          </a:prstGeom>
          <a:solidFill>
            <a:srgbClr val="EDE4FB"/>
          </a:solidFill>
          <a:ln/>
        </p:spPr>
      </p:sp>
      <p:pic>
        <p:nvPicPr>
          <p:cNvPr id="19" name="Image 3" descr="preencoded.png">    </p:cNvPr>
          <p:cNvPicPr>
            <a:picLocks noChangeAspect="1"/>
          </p:cNvPicPr>
          <p:nvPr/>
        </p:nvPicPr>
        <p:blipFill>
          <a:blip r:embed="rId4"/>
          <a:stretch>
            <a:fillRect/>
          </a:stretch>
        </p:blipFill>
        <p:spPr>
          <a:xfrm>
            <a:off x="693481" y="4771705"/>
            <a:ext cx="313822" cy="313822"/>
          </a:xfrm>
          <a:prstGeom prst="rect">
            <a:avLst/>
          </a:prstGeom>
        </p:spPr>
      </p:pic>
      <p:sp>
        <p:nvSpPr>
          <p:cNvPr id="20" name="Text 13"/>
          <p:cNvSpPr txBox="1"/>
          <p:nvPr/>
        </p:nvSpPr>
        <p:spPr>
          <a:xfrm>
            <a:off x="1371600" y="4626864"/>
            <a:ext cx="4937760" cy="32004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Modelo comercial</a:t>
            </a:r>
            <a:endParaRPr lang="en-US" sz="1600" dirty="0"/>
          </a:p>
        </p:txBody>
      </p:sp>
      <p:sp>
        <p:nvSpPr>
          <p:cNvPr id="21" name="Text 14"/>
          <p:cNvSpPr txBox="1"/>
          <p:nvPr/>
        </p:nvSpPr>
        <p:spPr>
          <a:xfrm>
            <a:off x="1371600" y="4956048"/>
            <a:ext cx="4937760" cy="59436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La web es un catálogo: la compra se cierra con el área comercial o un distribuidor.</a:t>
            </a:r>
            <a:endParaRPr lang="en-US" sz="1350" dirty="0"/>
          </a:p>
        </p:txBody>
      </p:sp>
      <p:pic>
        <p:nvPicPr>
          <p:cNvPr id="22" name="Image 4" descr="../../assets/images/brand/amplificadores-960.jpg">    </p:cNvPr>
          <p:cNvPicPr>
            <a:picLocks noChangeAspect="1"/>
          </p:cNvPicPr>
          <p:nvPr/>
        </p:nvPicPr>
        <p:blipFill>
          <a:blip r:embed="rId5"/>
          <a:stretch>
            <a:fillRect/>
          </a:stretch>
        </p:blipFill>
        <p:spPr>
          <a:xfrm>
            <a:off x="6492240" y="1508760"/>
            <a:ext cx="5148072" cy="2871216"/>
          </a:xfrm>
          <a:prstGeom prst="rect">
            <a:avLst/>
          </a:prstGeom>
        </p:spPr>
      </p:pic>
      <p:sp>
        <p:nvSpPr>
          <p:cNvPr id="23" name="Text 15"/>
          <p:cNvSpPr txBox="1"/>
          <p:nvPr/>
        </p:nvSpPr>
        <p:spPr>
          <a:xfrm>
            <a:off x="6492240" y="4617720"/>
            <a:ext cx="2560320" cy="731520"/>
          </a:xfrm>
          <a:prstGeom prst="rect">
            <a:avLst/>
          </a:prstGeom>
          <a:noFill/>
          <a:ln/>
        </p:spPr>
        <p:txBody>
          <a:bodyPr wrap="square" lIns="0" tIns="0" rIns="0" bIns="0" rtlCol="0" anchor="ctr"/>
          <a:lstStyle/>
          <a:p>
            <a:pPr indent="0" marL="0">
              <a:buNone/>
            </a:pPr>
            <a:r>
              <a:rPr lang="en-US" sz="3800" b="1" dirty="0">
                <a:solidFill>
                  <a:srgbClr val="0B0B0D"/>
                </a:solidFill>
                <a:latin typeface="Arial" pitchFamily="34" charset="0"/>
                <a:ea typeface="Arial" pitchFamily="34" charset="-122"/>
                <a:cs typeface="Arial" pitchFamily="34" charset="-120"/>
              </a:rPr>
              <a:t>110</a:t>
            </a:r>
            <a:pPr indent="0" marL="0">
              <a:buNone/>
            </a:pPr>
            <a:r>
              <a:rPr lang="en-US" sz="1400" dirty="0">
                <a:solidFill>
                  <a:srgbClr val="6B7280"/>
                </a:solidFill>
                <a:latin typeface="Arial" pitchFamily="34" charset="0"/>
                <a:ea typeface="Arial" pitchFamily="34" charset="-122"/>
                <a:cs typeface="Arial" pitchFamily="34" charset="-120"/>
              </a:rPr>
              <a:t>  productos</a:t>
            </a:r>
            <a:endParaRPr lang="en-US" sz="1500" dirty="0"/>
          </a:p>
        </p:txBody>
      </p:sp>
      <p:sp>
        <p:nvSpPr>
          <p:cNvPr id="24" name="Text 16"/>
          <p:cNvSpPr txBox="1"/>
          <p:nvPr/>
        </p:nvSpPr>
        <p:spPr>
          <a:xfrm>
            <a:off x="9098280" y="4617720"/>
            <a:ext cx="2560320" cy="731520"/>
          </a:xfrm>
          <a:prstGeom prst="rect">
            <a:avLst/>
          </a:prstGeom>
          <a:noFill/>
          <a:ln/>
        </p:spPr>
        <p:txBody>
          <a:bodyPr wrap="square" lIns="0" tIns="0" rIns="0" bIns="0" rtlCol="0" anchor="ctr"/>
          <a:lstStyle/>
          <a:p>
            <a:pPr indent="0" marL="0">
              <a:buNone/>
            </a:pPr>
            <a:r>
              <a:rPr lang="en-US" sz="3800" b="1" dirty="0">
                <a:solidFill>
                  <a:srgbClr val="6D28D9"/>
                </a:solidFill>
                <a:latin typeface="Arial" pitchFamily="34" charset="0"/>
                <a:ea typeface="Arial" pitchFamily="34" charset="-122"/>
                <a:cs typeface="Arial" pitchFamily="34" charset="-120"/>
              </a:rPr>
              <a:t>11</a:t>
            </a:r>
            <a:pPr indent="0" marL="0">
              <a:buNone/>
            </a:pPr>
            <a:r>
              <a:rPr lang="en-US" sz="1400" dirty="0">
                <a:solidFill>
                  <a:srgbClr val="6B7280"/>
                </a:solidFill>
                <a:latin typeface="Arial" pitchFamily="34" charset="0"/>
                <a:ea typeface="Arial" pitchFamily="34" charset="-122"/>
                <a:cs typeface="Arial" pitchFamily="34" charset="-120"/>
              </a:rPr>
              <a:t>  categorías</a:t>
            </a:r>
            <a:endParaRPr lang="en-US" sz="1500" dirty="0"/>
          </a:p>
        </p:txBody>
      </p:sp>
      <p:sp>
        <p:nvSpPr>
          <p:cNvPr id="25" name="Text 17"/>
          <p:cNvSpPr txBox="1"/>
          <p:nvPr/>
        </p:nvSpPr>
        <p:spPr>
          <a:xfrm>
            <a:off x="548640" y="6446520"/>
            <a:ext cx="896112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Cifras del sitemap del sitio original (29-09-2026). Imagen: sitio oficial de Black Hawk.</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SITUACIÓN ORIGINAL</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La plataforma original: una base que ya funciona</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3</a:t>
            </a:r>
            <a:endParaRPr lang="en-US" sz="900" dirty="0"/>
          </a:p>
        </p:txBody>
      </p:sp>
      <p:pic>
        <p:nvPicPr>
          <p:cNvPr id="6" name="!!cap-home#1" descr="img/v3-A-home.png">    </p:cNvPr>
          <p:cNvPicPr>
            <a:picLocks noChangeAspect="1"/>
          </p:cNvPicPr>
          <p:nvPr/>
        </p:nvPicPr>
        <p:blipFill>
          <a:blip r:embed="rId1"/>
          <a:stretch>
            <a:fillRect/>
          </a:stretch>
        </p:blipFill>
        <p:spPr>
          <a:xfrm>
            <a:off x="548640" y="1465326"/>
            <a:ext cx="2377440" cy="1485900"/>
          </a:xfrm>
          <a:prstGeom prst="rect">
            <a:avLst/>
          </a:prstGeom>
        </p:spPr>
      </p:pic>
      <p:sp>
        <p:nvSpPr>
          <p:cNvPr id="7" name="!!cap-home#2"/>
          <p:cNvSpPr/>
          <p:nvPr/>
        </p:nvSpPr>
        <p:spPr>
          <a:xfrm>
            <a:off x="548640" y="1465326"/>
            <a:ext cx="2377440" cy="1485900"/>
          </a:xfrm>
          <a:prstGeom prst="rect">
            <a:avLst/>
          </a:prstGeom>
          <a:ln w="12700">
            <a:solidFill>
              <a:srgbClr val="E3E4E8"/>
            </a:solidFill>
            <a:prstDash val="solid"/>
          </a:ln>
        </p:spPr>
      </p:sp>
      <p:sp>
        <p:nvSpPr>
          <p:cNvPr id="8" name="!!lbl-home#1"/>
          <p:cNvSpPr txBox="1"/>
          <p:nvPr/>
        </p:nvSpPr>
        <p:spPr>
          <a:xfrm>
            <a:off x="548640" y="3017520"/>
            <a:ext cx="2377440" cy="2743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Home</a:t>
            </a:r>
            <a:endParaRPr lang="en-US" sz="1100" dirty="0"/>
          </a:p>
        </p:txBody>
      </p:sp>
      <p:pic>
        <p:nvPicPr>
          <p:cNvPr id="9" name="!!cap-shop#1" descr="img/v3-A-shop.png">    </p:cNvPr>
          <p:cNvPicPr>
            <a:picLocks noChangeAspect="1"/>
          </p:cNvPicPr>
          <p:nvPr/>
        </p:nvPicPr>
        <p:blipFill>
          <a:blip r:embed="rId2"/>
          <a:stretch>
            <a:fillRect/>
          </a:stretch>
        </p:blipFill>
        <p:spPr>
          <a:xfrm>
            <a:off x="3035808" y="1465326"/>
            <a:ext cx="2377440" cy="1485900"/>
          </a:xfrm>
          <a:prstGeom prst="rect">
            <a:avLst/>
          </a:prstGeom>
        </p:spPr>
      </p:pic>
      <p:sp>
        <p:nvSpPr>
          <p:cNvPr id="10" name="!!cap-shop#2"/>
          <p:cNvSpPr/>
          <p:nvPr/>
        </p:nvSpPr>
        <p:spPr>
          <a:xfrm>
            <a:off x="3035808" y="1465326"/>
            <a:ext cx="2377440" cy="1485900"/>
          </a:xfrm>
          <a:prstGeom prst="rect">
            <a:avLst/>
          </a:prstGeom>
          <a:ln w="12700">
            <a:solidFill>
              <a:srgbClr val="E3E4E8"/>
            </a:solidFill>
            <a:prstDash val="solid"/>
          </a:ln>
        </p:spPr>
      </p:sp>
      <p:sp>
        <p:nvSpPr>
          <p:cNvPr id="11" name="!!lbl-shop#1"/>
          <p:cNvSpPr txBox="1"/>
          <p:nvPr/>
        </p:nvSpPr>
        <p:spPr>
          <a:xfrm>
            <a:off x="3035808" y="3017520"/>
            <a:ext cx="2377440" cy="2743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Tienda (/shop/)</a:t>
            </a:r>
            <a:endParaRPr lang="en-US" sz="1100" dirty="0"/>
          </a:p>
        </p:txBody>
      </p:sp>
      <p:pic>
        <p:nvPicPr>
          <p:cNvPr id="12" name="!!cap-ficha#1" descr="img/v3-A-ficha.png">    </p:cNvPr>
          <p:cNvPicPr>
            <a:picLocks noChangeAspect="1"/>
          </p:cNvPicPr>
          <p:nvPr/>
        </p:nvPicPr>
        <p:blipFill>
          <a:blip r:embed="rId3"/>
          <a:stretch>
            <a:fillRect/>
          </a:stretch>
        </p:blipFill>
        <p:spPr>
          <a:xfrm>
            <a:off x="5522976" y="1465326"/>
            <a:ext cx="2377440" cy="1485900"/>
          </a:xfrm>
          <a:prstGeom prst="rect">
            <a:avLst/>
          </a:prstGeom>
        </p:spPr>
      </p:pic>
      <p:sp>
        <p:nvSpPr>
          <p:cNvPr id="13" name="!!cap-ficha#2"/>
          <p:cNvSpPr/>
          <p:nvPr/>
        </p:nvSpPr>
        <p:spPr>
          <a:xfrm>
            <a:off x="5522976" y="1465326"/>
            <a:ext cx="2377440" cy="1485900"/>
          </a:xfrm>
          <a:prstGeom prst="rect">
            <a:avLst/>
          </a:prstGeom>
          <a:ln w="12700">
            <a:solidFill>
              <a:srgbClr val="E3E4E8"/>
            </a:solidFill>
            <a:prstDash val="solid"/>
          </a:ln>
        </p:spPr>
      </p:sp>
      <p:sp>
        <p:nvSpPr>
          <p:cNvPr id="14" name="!!lbl-ficha#1"/>
          <p:cNvSpPr txBox="1"/>
          <p:nvPr/>
        </p:nvSpPr>
        <p:spPr>
          <a:xfrm>
            <a:off x="5522976" y="3017520"/>
            <a:ext cx="2377440" cy="2743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Ficha BH-SW12XXG</a:t>
            </a:r>
            <a:endParaRPr lang="en-US" sz="1100" dirty="0"/>
          </a:p>
        </p:txBody>
      </p:sp>
      <p:sp>
        <p:nvSpPr>
          <p:cNvPr id="15" name="Shape 9"/>
          <p:cNvSpPr/>
          <p:nvPr/>
        </p:nvSpPr>
        <p:spPr>
          <a:xfrm>
            <a:off x="548640" y="3383280"/>
            <a:ext cx="625221" cy="256032"/>
          </a:xfrm>
          <a:prstGeom prst="roundRect">
            <a:avLst>
              <a:gd name="adj" fmla="val 50000"/>
            </a:avLst>
          </a:prstGeom>
          <a:solidFill>
            <a:srgbClr val="FFFFFF"/>
          </a:solidFill>
          <a:ln w="9525">
            <a:solidFill>
              <a:srgbClr val="0B0B0D"/>
            </a:solidFill>
            <a:prstDash val="solid"/>
          </a:ln>
        </p:spPr>
      </p:sp>
      <p:sp>
        <p:nvSpPr>
          <p:cNvPr id="16" name="Text 10"/>
          <p:cNvSpPr txBox="1"/>
          <p:nvPr/>
        </p:nvSpPr>
        <p:spPr>
          <a:xfrm>
            <a:off x="548640" y="3383280"/>
            <a:ext cx="625221"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ANTES</a:t>
            </a:r>
            <a:endParaRPr lang="en-US" sz="950" dirty="0"/>
          </a:p>
        </p:txBody>
      </p:sp>
      <p:sp>
        <p:nvSpPr>
          <p:cNvPr id="17" name="Text 11"/>
          <p:cNvSpPr txBox="1"/>
          <p:nvPr/>
        </p:nvSpPr>
        <p:spPr>
          <a:xfrm>
            <a:off x="1371600" y="3401568"/>
            <a:ext cx="5486400" cy="228600"/>
          </a:xfrm>
          <a:prstGeom prst="rect">
            <a:avLst/>
          </a:prstGeom>
          <a:noFill/>
          <a:ln/>
        </p:spPr>
        <p:txBody>
          <a:bodyPr wrap="square" lIns="0" tIns="0" rIns="0" bIns="0" rtlCol="0" anchor="t"/>
          <a:lstStyle/>
          <a:p>
            <a:pPr indent="0" marL="0">
              <a:buNone/>
            </a:pPr>
            <a:r>
              <a:rPr lang="en-US" sz="1050" dirty="0">
                <a:solidFill>
                  <a:srgbClr val="6B7280"/>
                </a:solidFill>
                <a:latin typeface="Arial" pitchFamily="34" charset="0"/>
                <a:ea typeface="Arial" pitchFamily="34" charset="-122"/>
                <a:cs typeface="Arial" pitchFamily="34" charset="-120"/>
              </a:rPr>
              <a:t>Capturas reales del sitio original, 20-09-2026</a:t>
            </a:r>
            <a:endParaRPr lang="en-US" sz="1050" dirty="0"/>
          </a:p>
        </p:txBody>
      </p:sp>
      <p:sp>
        <p:nvSpPr>
          <p:cNvPr id="18" name="Shape 12"/>
          <p:cNvSpPr/>
          <p:nvPr/>
        </p:nvSpPr>
        <p:spPr>
          <a:xfrm>
            <a:off x="8183880" y="1463040"/>
            <a:ext cx="3459175" cy="4526280"/>
          </a:xfrm>
          <a:prstGeom prst="roundRect">
            <a:avLst>
              <a:gd name="adj" fmla="val 2115"/>
            </a:avLst>
          </a:prstGeom>
          <a:solidFill>
            <a:srgbClr val="F5F5F7"/>
          </a:solidFill>
          <a:ln/>
        </p:spPr>
      </p:sp>
      <p:sp>
        <p:nvSpPr>
          <p:cNvPr id="19" name="Text 13"/>
          <p:cNvSpPr txBox="1"/>
          <p:nvPr/>
        </p:nvSpPr>
        <p:spPr>
          <a:xfrm>
            <a:off x="8412480" y="1645920"/>
            <a:ext cx="3200400" cy="274320"/>
          </a:xfrm>
          <a:prstGeom prst="rect">
            <a:avLst/>
          </a:prstGeom>
          <a:noFill/>
          <a:ln/>
        </p:spPr>
        <p:txBody>
          <a:bodyPr wrap="square" lIns="0" tIns="0" rIns="0" bIns="0" rtlCol="0" anchor="t"/>
          <a:lstStyle/>
          <a:p>
            <a:pPr indent="0" marL="0">
              <a:buNone/>
            </a:pPr>
            <a:r>
              <a:rPr lang="en-US" sz="1050" b="1" spc="200" kern="0" dirty="0">
                <a:solidFill>
                  <a:srgbClr val="6D28D9"/>
                </a:solidFill>
                <a:latin typeface="Arial" pitchFamily="34" charset="0"/>
                <a:ea typeface="Arial" pitchFamily="34" charset="-122"/>
                <a:cs typeface="Arial" pitchFamily="34" charset="-120"/>
              </a:rPr>
              <a:t>LO QUE YA TIENE</a:t>
            </a:r>
            <a:endParaRPr lang="en-US" sz="1050" dirty="0"/>
          </a:p>
        </p:txBody>
      </p:sp>
      <p:sp>
        <p:nvSpPr>
          <p:cNvPr id="20" name="Text 14"/>
          <p:cNvSpPr txBox="1"/>
          <p:nvPr/>
        </p:nvSpPr>
        <p:spPr>
          <a:xfrm>
            <a:off x="8412480" y="2011680"/>
            <a:ext cx="3063240" cy="38404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WordPress + WooCommerce con tema propio y modo catálogo (sin carrito ni pago)</a:t>
            </a:r>
            <a:endParaRPr lang="en-US" sz="1250" dirty="0"/>
          </a:p>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110 productos en 11 categorías, con menú «Productos»</a:t>
            </a:r>
            <a:endParaRPr lang="en-US" sz="1250" dirty="0"/>
          </a:p>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Buscador con sugerencias en escritorio</a:t>
            </a:r>
            <a:endParaRPr lang="en-US" sz="1250" dirty="0"/>
          </a:p>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Fichas con imagen, breadcrumb y productos relacionados</a:t>
            </a:r>
            <a:endParaRPr lang="en-US" sz="1250" dirty="0"/>
          </a:p>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Galería de fotos y enlaces a redes sociales</a:t>
            </a:r>
            <a:endParaRPr lang="en-US" sz="1250" dirty="0"/>
          </a:p>
        </p:txBody>
      </p:sp>
      <p:sp>
        <p:nvSpPr>
          <p:cNvPr id="21" name="Shape 15"/>
          <p:cNvSpPr/>
          <p:nvPr/>
        </p:nvSpPr>
        <p:spPr>
          <a:xfrm>
            <a:off x="548640" y="3886200"/>
            <a:ext cx="7360920" cy="2103120"/>
          </a:xfrm>
          <a:prstGeom prst="roundRect">
            <a:avLst>
              <a:gd name="adj" fmla="val 3478"/>
            </a:avLst>
          </a:prstGeom>
          <a:solidFill>
            <a:srgbClr val="0B0B0D"/>
          </a:solidFill>
          <a:ln/>
        </p:spPr>
      </p:sp>
      <p:sp>
        <p:nvSpPr>
          <p:cNvPr id="22" name="Text 16"/>
          <p:cNvSpPr txBox="1"/>
          <p:nvPr/>
        </p:nvSpPr>
        <p:spPr>
          <a:xfrm>
            <a:off x="822960" y="4069080"/>
            <a:ext cx="67665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Punto de partida</a:t>
            </a:r>
            <a:endParaRPr lang="en-US" sz="1700" dirty="0"/>
          </a:p>
        </p:txBody>
      </p:sp>
      <p:sp>
        <p:nvSpPr>
          <p:cNvPr id="23" name="Text 17"/>
          <p:cNvSpPr txBox="1"/>
          <p:nvPr/>
        </p:nvSpPr>
        <p:spPr>
          <a:xfrm>
            <a:off x="822960" y="4526280"/>
            <a:ext cx="6766560" cy="1280160"/>
          </a:xfrm>
          <a:prstGeom prst="rect">
            <a:avLst/>
          </a:prstGeom>
          <a:noFill/>
          <a:ln/>
        </p:spPr>
        <p:txBody>
          <a:bodyPr wrap="square" lIns="0" tIns="0" rIns="0" bIns="0" rtlCol="0" anchor="t"/>
          <a:lstStyle/>
          <a:p>
            <a:pPr indent="0" marL="0">
              <a:buNone/>
            </a:pPr>
            <a:r>
              <a:rPr lang="en-US" sz="1400" dirty="0">
                <a:solidFill>
                  <a:srgbClr val="9CA3AF"/>
                </a:solidFill>
                <a:latin typeface="Arial" pitchFamily="34" charset="0"/>
                <a:ea typeface="Arial" pitchFamily="34" charset="-122"/>
                <a:cs typeface="Arial" pitchFamily="34" charset="-120"/>
              </a:rPr>
              <a:t>El sitio original informa sobre los productos. El proyecto no lo reemplaza: rediseña su presentación, su catálogo y el camino que sigue el cliente hasta el contacto comercial.</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SITUACIÓN ORIGINAL</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Análisis del sitio original: qué se observa</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4</a:t>
            </a:r>
            <a:endParaRPr lang="en-US" sz="900" dirty="0"/>
          </a:p>
        </p:txBody>
      </p:sp>
      <p:pic>
        <p:nvPicPr>
          <p:cNvPr id="6" name="!!cap-shop#1" descr="img/v3-A-shop.png">    </p:cNvPr>
          <p:cNvPicPr>
            <a:picLocks noChangeAspect="1"/>
          </p:cNvPicPr>
          <p:nvPr/>
        </p:nvPicPr>
        <p:blipFill>
          <a:blip r:embed="rId1"/>
          <a:stretch>
            <a:fillRect/>
          </a:stretch>
        </p:blipFill>
        <p:spPr>
          <a:xfrm>
            <a:off x="548640" y="1418463"/>
            <a:ext cx="3566160" cy="2228850"/>
          </a:xfrm>
          <a:prstGeom prst="rect">
            <a:avLst/>
          </a:prstGeom>
        </p:spPr>
      </p:pic>
      <p:sp>
        <p:nvSpPr>
          <p:cNvPr id="7" name="!!cap-shop#2"/>
          <p:cNvSpPr/>
          <p:nvPr/>
        </p:nvSpPr>
        <p:spPr>
          <a:xfrm>
            <a:off x="548640" y="1418463"/>
            <a:ext cx="3566160" cy="2228850"/>
          </a:xfrm>
          <a:prstGeom prst="rect">
            <a:avLst/>
          </a:prstGeom>
          <a:ln w="12700">
            <a:solidFill>
              <a:srgbClr val="E3E4E8"/>
            </a:solidFill>
            <a:prstDash val="solid"/>
          </a:ln>
        </p:spPr>
      </p:sp>
      <p:sp>
        <p:nvSpPr>
          <p:cNvPr id="12" name="!!lbl-shop#1"/>
          <p:cNvSpPr txBox="1"/>
          <p:nvPr/>
        </p:nvSpPr>
        <p:spPr>
          <a:xfrm>
            <a:off x="54864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Tienda (/shop/)</a:t>
            </a:r>
            <a:endParaRPr lang="en-US" sz="1000" dirty="0"/>
          </a:p>
        </p:txBody>
      </p:sp>
      <p:pic>
        <p:nvPicPr>
          <p:cNvPr id="13" name="!!cap-ficha#1" descr="img/v3-A-ficha.png">    </p:cNvPr>
          <p:cNvPicPr>
            <a:picLocks noChangeAspect="1"/>
          </p:cNvPicPr>
          <p:nvPr/>
        </p:nvPicPr>
        <p:blipFill>
          <a:blip r:embed="rId2"/>
          <a:stretch>
            <a:fillRect/>
          </a:stretch>
        </p:blipFill>
        <p:spPr>
          <a:xfrm>
            <a:off x="4251960" y="1418463"/>
            <a:ext cx="3566160" cy="2228850"/>
          </a:xfrm>
          <a:prstGeom prst="rect">
            <a:avLst/>
          </a:prstGeom>
        </p:spPr>
      </p:pic>
      <p:sp>
        <p:nvSpPr>
          <p:cNvPr id="14" name="!!cap-ficha#2"/>
          <p:cNvSpPr/>
          <p:nvPr/>
        </p:nvSpPr>
        <p:spPr>
          <a:xfrm>
            <a:off x="4251960" y="1418463"/>
            <a:ext cx="3566160" cy="2228850"/>
          </a:xfrm>
          <a:prstGeom prst="rect">
            <a:avLst/>
          </a:prstGeom>
          <a:ln w="12700">
            <a:solidFill>
              <a:srgbClr val="E3E4E8"/>
            </a:solidFill>
            <a:prstDash val="solid"/>
          </a:ln>
        </p:spPr>
      </p:sp>
      <p:sp>
        <p:nvSpPr>
          <p:cNvPr id="17" name="!!lbl-ficha#1"/>
          <p:cNvSpPr txBox="1"/>
          <p:nvPr/>
        </p:nvSpPr>
        <p:spPr>
          <a:xfrm>
            <a:off x="425196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Ficha BH-SW12XXG</a:t>
            </a:r>
            <a:endParaRPr lang="en-US" sz="1000" dirty="0"/>
          </a:p>
        </p:txBody>
      </p:sp>
      <p:pic>
        <p:nvPicPr>
          <p:cNvPr id="18" name="!!cap-may#1" descr="img/v3-A-mayoristas.png">    </p:cNvPr>
          <p:cNvPicPr>
            <a:picLocks noChangeAspect="1"/>
          </p:cNvPicPr>
          <p:nvPr/>
        </p:nvPicPr>
        <p:blipFill>
          <a:blip r:embed="rId3"/>
          <a:stretch>
            <a:fillRect/>
          </a:stretch>
        </p:blipFill>
        <p:spPr>
          <a:xfrm>
            <a:off x="722376" y="4023360"/>
            <a:ext cx="3218688" cy="2011680"/>
          </a:xfrm>
          <a:prstGeom prst="rect">
            <a:avLst/>
          </a:prstGeom>
        </p:spPr>
      </p:pic>
      <p:sp>
        <p:nvSpPr>
          <p:cNvPr id="19" name="!!cap-may#2"/>
          <p:cNvSpPr/>
          <p:nvPr/>
        </p:nvSpPr>
        <p:spPr>
          <a:xfrm>
            <a:off x="722376" y="4023360"/>
            <a:ext cx="3218688" cy="2011680"/>
          </a:xfrm>
          <a:prstGeom prst="rect">
            <a:avLst/>
          </a:prstGeom>
          <a:ln w="12700">
            <a:solidFill>
              <a:srgbClr val="E3E4E8"/>
            </a:solidFill>
            <a:prstDash val="solid"/>
          </a:ln>
        </p:spPr>
      </p:sp>
      <p:sp>
        <p:nvSpPr>
          <p:cNvPr id="22" name="!!lbl-may#1"/>
          <p:cNvSpPr txBox="1"/>
          <p:nvPr/>
        </p:nvSpPr>
        <p:spPr>
          <a:xfrm>
            <a:off x="54864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«Ventas al mayor»</a:t>
            </a:r>
            <a:endParaRPr lang="en-US" sz="1000" dirty="0"/>
          </a:p>
        </p:txBody>
      </p:sp>
      <p:pic>
        <p:nvPicPr>
          <p:cNvPr id="23" name="!!cap-cat#1" descr="../../evidence/screens/A-cat-sub-d-view.png">    </p:cNvPr>
          <p:cNvPicPr>
            <a:picLocks noChangeAspect="1"/>
          </p:cNvPicPr>
          <p:nvPr/>
        </p:nvPicPr>
        <p:blipFill>
          <a:blip r:embed="rId4"/>
          <a:stretch>
            <a:fillRect/>
          </a:stretch>
        </p:blipFill>
        <p:spPr>
          <a:xfrm>
            <a:off x="4425696" y="4023360"/>
            <a:ext cx="3218688" cy="2011680"/>
          </a:xfrm>
          <a:prstGeom prst="rect">
            <a:avLst/>
          </a:prstGeom>
        </p:spPr>
      </p:pic>
      <p:sp>
        <p:nvSpPr>
          <p:cNvPr id="24" name="!!cap-cat#2"/>
          <p:cNvSpPr/>
          <p:nvPr/>
        </p:nvSpPr>
        <p:spPr>
          <a:xfrm>
            <a:off x="4425696" y="4023360"/>
            <a:ext cx="3218688" cy="2011680"/>
          </a:xfrm>
          <a:prstGeom prst="rect">
            <a:avLst/>
          </a:prstGeom>
          <a:ln w="12700">
            <a:solidFill>
              <a:srgbClr val="E3E4E8"/>
            </a:solidFill>
            <a:prstDash val="solid"/>
          </a:ln>
        </p:spPr>
      </p:sp>
      <p:sp>
        <p:nvSpPr>
          <p:cNvPr id="27" name="!!lbl-cat#1"/>
          <p:cNvSpPr txBox="1"/>
          <p:nvPr/>
        </p:nvSpPr>
        <p:spPr>
          <a:xfrm>
            <a:off x="425196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Categoría Subwoofer</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700">
        <p159:morph option="byObject"/>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NECESIDAD</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El problema</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5</a:t>
            </a:r>
            <a:endParaRPr lang="en-US" sz="900" dirty="0"/>
          </a:p>
        </p:txBody>
      </p:sp>
      <p:sp>
        <p:nvSpPr>
          <p:cNvPr id="6" name="Shape 3"/>
          <p:cNvSpPr/>
          <p:nvPr/>
        </p:nvSpPr>
        <p:spPr>
          <a:xfrm>
            <a:off x="548640" y="1463040"/>
            <a:ext cx="11094415" cy="1097280"/>
          </a:xfrm>
          <a:prstGeom prst="roundRect">
            <a:avLst>
              <a:gd name="adj" fmla="val 6667"/>
            </a:avLst>
          </a:prstGeom>
          <a:solidFill>
            <a:srgbClr val="6D28D9"/>
          </a:solidFill>
          <a:ln/>
        </p:spPr>
      </p:sp>
      <p:sp>
        <p:nvSpPr>
          <p:cNvPr id="7" name="Text 4"/>
          <p:cNvSpPr txBox="1"/>
          <p:nvPr/>
        </p:nvSpPr>
        <p:spPr>
          <a:xfrm>
            <a:off x="868680" y="1463040"/>
            <a:ext cx="10454335" cy="10972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La plataforma original muestra el catálogo, pero no guía al usuario desde el interés en un producto hasta el contacto comercial.</a:t>
            </a:r>
            <a:endParaRPr lang="en-US" sz="2000" dirty="0"/>
          </a:p>
        </p:txBody>
      </p:sp>
      <p:sp>
        <p:nvSpPr>
          <p:cNvPr id="8" name="Text 5"/>
          <p:cNvSpPr txBox="1"/>
          <p:nvPr/>
        </p:nvSpPr>
        <p:spPr>
          <a:xfrm>
            <a:off x="548640" y="2743200"/>
            <a:ext cx="11094415" cy="365760"/>
          </a:xfrm>
          <a:prstGeom prst="rect">
            <a:avLst/>
          </a:prstGeom>
          <a:noFill/>
          <a:ln/>
        </p:spPr>
        <p:txBody>
          <a:bodyPr wrap="square" lIns="0" tIns="0" rIns="0" bIns="0" rtlCol="0" anchor="t"/>
          <a:lstStyle/>
          <a:p>
            <a:pPr indent="0" marL="0">
              <a:buNone/>
            </a:pPr>
            <a:r>
              <a:rPr lang="en-US" sz="1400" i="1" dirty="0">
                <a:solidFill>
                  <a:srgbClr val="6B7280"/>
                </a:solidFill>
                <a:latin typeface="Arial" pitchFamily="34" charset="0"/>
                <a:ea typeface="Arial" pitchFamily="34" charset="-122"/>
                <a:cs typeface="Arial" pitchFamily="34" charset="-120"/>
              </a:rPr>
              <a:t>Necesidad central: transformar una plataforma informativa en una herramienta que oriente a una acción comercial concreta.</a:t>
            </a:r>
            <a:endParaRPr lang="en-US" sz="1400" dirty="0"/>
          </a:p>
        </p:txBody>
      </p:sp>
      <p:sp>
        <p:nvSpPr>
          <p:cNvPr id="9" name="Shape 6"/>
          <p:cNvSpPr/>
          <p:nvPr/>
        </p:nvSpPr>
        <p:spPr>
          <a:xfrm>
            <a:off x="548640" y="3291840"/>
            <a:ext cx="3566160" cy="2697480"/>
          </a:xfrm>
          <a:prstGeom prst="roundRect">
            <a:avLst>
              <a:gd name="adj" fmla="val 2712"/>
            </a:avLst>
          </a:prstGeom>
          <a:solidFill>
            <a:srgbClr val="0B0B0D"/>
          </a:solidFill>
          <a:ln/>
        </p:spPr>
      </p:sp>
      <p:sp>
        <p:nvSpPr>
          <p:cNvPr id="10" name="Text 7"/>
          <p:cNvSpPr txBox="1"/>
          <p:nvPr/>
        </p:nvSpPr>
        <p:spPr>
          <a:xfrm>
            <a:off x="822960" y="3474720"/>
            <a:ext cx="914400" cy="457200"/>
          </a:xfrm>
          <a:prstGeom prst="rect">
            <a:avLst/>
          </a:prstGeom>
          <a:noFill/>
          <a:ln/>
        </p:spPr>
        <p:txBody>
          <a:bodyPr wrap="square" lIns="0" tIns="0" rIns="0" bIns="0" rtlCol="0" anchor="t"/>
          <a:lstStyle/>
          <a:p>
            <a:pPr indent="0" marL="0">
              <a:buNone/>
            </a:pPr>
            <a:r>
              <a:rPr lang="en-US" sz="2400" b="1" dirty="0">
                <a:solidFill>
                  <a:srgbClr val="A78BFA"/>
                </a:solidFill>
                <a:latin typeface="Arial" pitchFamily="34" charset="0"/>
                <a:ea typeface="Arial" pitchFamily="34" charset="-122"/>
                <a:cs typeface="Arial" pitchFamily="34" charset="-120"/>
              </a:rPr>
              <a:t>01</a:t>
            </a:r>
            <a:endParaRPr lang="en-US" sz="2400" dirty="0"/>
          </a:p>
        </p:txBody>
      </p:sp>
      <p:sp>
        <p:nvSpPr>
          <p:cNvPr id="11" name="Text 8"/>
          <p:cNvSpPr txBox="1"/>
          <p:nvPr/>
        </p:nvSpPr>
        <p:spPr>
          <a:xfrm>
            <a:off x="822960" y="3977640"/>
            <a:ext cx="3017520" cy="64008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Guiar del interés al contacto</a:t>
            </a:r>
            <a:endParaRPr lang="en-US" sz="1700" dirty="0"/>
          </a:p>
        </p:txBody>
      </p:sp>
      <p:sp>
        <p:nvSpPr>
          <p:cNvPr id="12" name="Text 9"/>
          <p:cNvSpPr txBox="1"/>
          <p:nvPr/>
        </p:nvSpPr>
        <p:spPr>
          <a:xfrm>
            <a:off x="822960" y="4663440"/>
            <a:ext cx="3017520" cy="822960"/>
          </a:xfrm>
          <a:prstGeom prst="rect">
            <a:avLst/>
          </a:prstGeom>
          <a:noFill/>
          <a:ln/>
        </p:spPr>
        <p:txBody>
          <a:bodyPr wrap="square" lIns="0" tIns="0" rIns="0" bIns="0" rtlCol="0" anchor="t"/>
          <a:lstStyle/>
          <a:p>
            <a:pPr indent="0" marL="0">
              <a:buNone/>
            </a:pPr>
            <a:r>
              <a:rPr lang="en-US" sz="1250" dirty="0">
                <a:solidFill>
                  <a:srgbClr val="9CA3AF"/>
                </a:solidFill>
                <a:latin typeface="Arial" pitchFamily="34" charset="0"/>
                <a:ea typeface="Arial" pitchFamily="34" charset="-122"/>
                <a:cs typeface="Arial" pitchFamily="34" charset="-120"/>
              </a:rPr>
              <a:t>Llamadas a la acción visibles y una consulta que ya incluya el modelo.</a:t>
            </a:r>
            <a:endParaRPr lang="en-US" sz="1250" dirty="0"/>
          </a:p>
        </p:txBody>
      </p:sp>
      <p:sp>
        <p:nvSpPr>
          <p:cNvPr id="13" name="Text 10"/>
          <p:cNvSpPr txBox="1"/>
          <p:nvPr/>
        </p:nvSpPr>
        <p:spPr>
          <a:xfrm>
            <a:off x="822960" y="5577840"/>
            <a:ext cx="3017520" cy="274320"/>
          </a:xfrm>
          <a:prstGeom prst="rect">
            <a:avLst/>
          </a:prstGeom>
          <a:noFill/>
          <a:ln/>
        </p:spPr>
        <p:txBody>
          <a:bodyPr wrap="square" lIns="0" tIns="0" rIns="0" bIns="0" rtlCol="0" anchor="t"/>
          <a:lstStyle/>
          <a:p>
            <a:pPr indent="0" marL="0">
              <a:buNone/>
            </a:pPr>
            <a:r>
              <a:rPr lang="en-US" sz="1050" b="1" dirty="0">
                <a:solidFill>
                  <a:srgbClr val="A78BFA"/>
                </a:solidFill>
                <a:latin typeface="Arial" pitchFamily="34" charset="0"/>
                <a:ea typeface="Arial" pitchFamily="34" charset="-122"/>
                <a:cs typeface="Arial" pitchFamily="34" charset="-120"/>
              </a:rPr>
              <a:t>Hallazgos: 2, 3, 4</a:t>
            </a:r>
            <a:endParaRPr lang="en-US" sz="1050" dirty="0"/>
          </a:p>
        </p:txBody>
      </p:sp>
      <p:sp>
        <p:nvSpPr>
          <p:cNvPr id="14" name="Shape 11"/>
          <p:cNvSpPr/>
          <p:nvPr/>
        </p:nvSpPr>
        <p:spPr>
          <a:xfrm>
            <a:off x="4297680" y="3291840"/>
            <a:ext cx="3566160" cy="2697480"/>
          </a:xfrm>
          <a:prstGeom prst="roundRect">
            <a:avLst>
              <a:gd name="adj" fmla="val 2712"/>
            </a:avLst>
          </a:prstGeom>
          <a:solidFill>
            <a:srgbClr val="F5F5F7"/>
          </a:solidFill>
          <a:ln/>
        </p:spPr>
      </p:sp>
      <p:sp>
        <p:nvSpPr>
          <p:cNvPr id="15" name="Text 12"/>
          <p:cNvSpPr txBox="1"/>
          <p:nvPr/>
        </p:nvSpPr>
        <p:spPr>
          <a:xfrm>
            <a:off x="4572000" y="3474720"/>
            <a:ext cx="914400" cy="457200"/>
          </a:xfrm>
          <a:prstGeom prst="rect">
            <a:avLst/>
          </a:prstGeom>
          <a:noFill/>
          <a:ln/>
        </p:spPr>
        <p:txBody>
          <a:bodyPr wrap="square" lIns="0" tIns="0" rIns="0" bIns="0" rtlCol="0" anchor="t"/>
          <a:lstStyle/>
          <a:p>
            <a:pPr indent="0" marL="0">
              <a:buNone/>
            </a:pPr>
            <a:r>
              <a:rPr lang="en-US" sz="2400" b="1" dirty="0">
                <a:solidFill>
                  <a:srgbClr val="6D28D9"/>
                </a:solidFill>
                <a:latin typeface="Arial" pitchFamily="34" charset="0"/>
                <a:ea typeface="Arial" pitchFamily="34" charset="-122"/>
                <a:cs typeface="Arial" pitchFamily="34" charset="-120"/>
              </a:rPr>
              <a:t>02</a:t>
            </a:r>
            <a:endParaRPr lang="en-US" sz="2400" dirty="0"/>
          </a:p>
        </p:txBody>
      </p:sp>
      <p:sp>
        <p:nvSpPr>
          <p:cNvPr id="16" name="Text 13"/>
          <p:cNvSpPr txBox="1"/>
          <p:nvPr/>
        </p:nvSpPr>
        <p:spPr>
          <a:xfrm>
            <a:off x="4572000" y="3977640"/>
            <a:ext cx="3017520" cy="6400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Un catálogo claro y comparable</a:t>
            </a:r>
            <a:endParaRPr lang="en-US" sz="1700" dirty="0"/>
          </a:p>
        </p:txBody>
      </p:sp>
      <p:sp>
        <p:nvSpPr>
          <p:cNvPr id="17" name="Text 14"/>
          <p:cNvSpPr txBox="1"/>
          <p:nvPr/>
        </p:nvSpPr>
        <p:spPr>
          <a:xfrm>
            <a:off x="4572000" y="4663440"/>
            <a:ext cx="3017520" cy="82296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Catálogo que se pueda recorrer, tarjetas con información útil y comparación entre modelos.</a:t>
            </a:r>
            <a:endParaRPr lang="en-US" sz="1250" dirty="0"/>
          </a:p>
        </p:txBody>
      </p:sp>
      <p:sp>
        <p:nvSpPr>
          <p:cNvPr id="18" name="Text 15"/>
          <p:cNvSpPr txBox="1"/>
          <p:nvPr/>
        </p:nvSpPr>
        <p:spPr>
          <a:xfrm>
            <a:off x="4572000" y="5577840"/>
            <a:ext cx="3017520" cy="27432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Hallazgos: 1, 5, 6</a:t>
            </a:r>
            <a:endParaRPr lang="en-US" sz="1050" dirty="0"/>
          </a:p>
        </p:txBody>
      </p:sp>
      <p:sp>
        <p:nvSpPr>
          <p:cNvPr id="19" name="Shape 16"/>
          <p:cNvSpPr/>
          <p:nvPr/>
        </p:nvSpPr>
        <p:spPr>
          <a:xfrm>
            <a:off x="8046720" y="3291840"/>
            <a:ext cx="3566160" cy="2697480"/>
          </a:xfrm>
          <a:prstGeom prst="roundRect">
            <a:avLst>
              <a:gd name="adj" fmla="val 2712"/>
            </a:avLst>
          </a:prstGeom>
          <a:solidFill>
            <a:srgbClr val="F5F5F7"/>
          </a:solidFill>
          <a:ln/>
        </p:spPr>
      </p:sp>
      <p:sp>
        <p:nvSpPr>
          <p:cNvPr id="20" name="Text 17"/>
          <p:cNvSpPr txBox="1"/>
          <p:nvPr/>
        </p:nvSpPr>
        <p:spPr>
          <a:xfrm>
            <a:off x="8321040" y="3474720"/>
            <a:ext cx="914400" cy="457200"/>
          </a:xfrm>
          <a:prstGeom prst="rect">
            <a:avLst/>
          </a:prstGeom>
          <a:noFill/>
          <a:ln/>
        </p:spPr>
        <p:txBody>
          <a:bodyPr wrap="square" lIns="0" tIns="0" rIns="0" bIns="0" rtlCol="0" anchor="t"/>
          <a:lstStyle/>
          <a:p>
            <a:pPr indent="0" marL="0">
              <a:buNone/>
            </a:pPr>
            <a:r>
              <a:rPr lang="en-US" sz="2400" b="1" dirty="0">
                <a:solidFill>
                  <a:srgbClr val="6D28D9"/>
                </a:solidFill>
                <a:latin typeface="Arial" pitchFamily="34" charset="0"/>
                <a:ea typeface="Arial" pitchFamily="34" charset="-122"/>
                <a:cs typeface="Arial" pitchFamily="34" charset="-120"/>
              </a:rPr>
              <a:t>03</a:t>
            </a:r>
            <a:endParaRPr lang="en-US" sz="2400" dirty="0"/>
          </a:p>
        </p:txBody>
      </p:sp>
      <p:sp>
        <p:nvSpPr>
          <p:cNvPr id="21" name="Text 18"/>
          <p:cNvSpPr txBox="1"/>
          <p:nvPr/>
        </p:nvSpPr>
        <p:spPr>
          <a:xfrm>
            <a:off x="8321040" y="3977640"/>
            <a:ext cx="3017520" cy="6400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Una marca moderna, también en el celular</a:t>
            </a:r>
            <a:endParaRPr lang="en-US" sz="1700" dirty="0"/>
          </a:p>
        </p:txBody>
      </p:sp>
      <p:sp>
        <p:nvSpPr>
          <p:cNvPr id="22" name="Text 19"/>
          <p:cNvSpPr txBox="1"/>
          <p:nvPr/>
        </p:nvSpPr>
        <p:spPr>
          <a:xfrm>
            <a:off x="8321040" y="4663440"/>
            <a:ext cx="3017520" cy="82296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Identidad coherente, jerarquía visual y acceso claro para compradores y distribuidores.</a:t>
            </a:r>
            <a:endParaRPr lang="en-US" sz="1250" dirty="0"/>
          </a:p>
        </p:txBody>
      </p:sp>
      <p:sp>
        <p:nvSpPr>
          <p:cNvPr id="23" name="Text 20"/>
          <p:cNvSpPr txBox="1"/>
          <p:nvPr/>
        </p:nvSpPr>
        <p:spPr>
          <a:xfrm>
            <a:off x="8321040" y="5577840"/>
            <a:ext cx="3017520" cy="27432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Hallazgos: 3, 4</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NECESIDAD</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Objetivos y alcance</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6</a:t>
            </a:r>
            <a:endParaRPr lang="en-US" sz="900" dirty="0"/>
          </a:p>
        </p:txBody>
      </p:sp>
      <p:sp>
        <p:nvSpPr>
          <p:cNvPr id="6" name="Shape 3"/>
          <p:cNvSpPr/>
          <p:nvPr/>
        </p:nvSpPr>
        <p:spPr>
          <a:xfrm>
            <a:off x="548640" y="1417320"/>
            <a:ext cx="5760720" cy="4617720"/>
          </a:xfrm>
          <a:prstGeom prst="roundRect">
            <a:avLst>
              <a:gd name="adj" fmla="val 1584"/>
            </a:avLst>
          </a:prstGeom>
          <a:solidFill>
            <a:srgbClr val="F5F5F7"/>
          </a:solidFill>
          <a:ln/>
        </p:spPr>
      </p:sp>
      <p:sp>
        <p:nvSpPr>
          <p:cNvPr id="7" name="Text 4"/>
          <p:cNvSpPr txBox="1"/>
          <p:nvPr/>
        </p:nvSpPr>
        <p:spPr>
          <a:xfrm>
            <a:off x="822960" y="1600200"/>
            <a:ext cx="4572000" cy="274320"/>
          </a:xfrm>
          <a:prstGeom prst="rect">
            <a:avLst/>
          </a:prstGeom>
          <a:noFill/>
          <a:ln/>
        </p:spPr>
        <p:txBody>
          <a:bodyPr wrap="square" lIns="0" tIns="0" rIns="0" bIns="0" rtlCol="0" anchor="t"/>
          <a:lstStyle/>
          <a:p>
            <a:pPr indent="0" marL="0">
              <a:buNone/>
            </a:pPr>
            <a:r>
              <a:rPr lang="en-US" sz="1050" b="1" spc="200" kern="0" dirty="0">
                <a:solidFill>
                  <a:srgbClr val="6D28D9"/>
                </a:solidFill>
                <a:latin typeface="Arial" pitchFamily="34" charset="0"/>
                <a:ea typeface="Arial" pitchFamily="34" charset="-122"/>
                <a:cs typeface="Arial" pitchFamily="34" charset="-120"/>
              </a:rPr>
              <a:t>OBJETIVO GENERAL</a:t>
            </a:r>
            <a:endParaRPr lang="en-US" sz="1050" dirty="0"/>
          </a:p>
        </p:txBody>
      </p:sp>
      <p:sp>
        <p:nvSpPr>
          <p:cNvPr id="8" name="Text 5"/>
          <p:cNvSpPr txBox="1"/>
          <p:nvPr/>
        </p:nvSpPr>
        <p:spPr>
          <a:xfrm>
            <a:off x="822960" y="1920240"/>
            <a:ext cx="5212080" cy="1554480"/>
          </a:xfrm>
          <a:prstGeom prst="rect">
            <a:avLst/>
          </a:prstGeom>
          <a:noFill/>
          <a:ln/>
        </p:spPr>
        <p:txBody>
          <a:bodyPr wrap="square" lIns="0" tIns="0" rIns="0" bIns="0" rtlCol="0" anchor="t"/>
          <a:lstStyle/>
          <a:p>
            <a:pPr indent="0" marL="0">
              <a:buNone/>
            </a:pPr>
            <a:r>
              <a:rPr lang="en-US" sz="1300" b="1" dirty="0">
                <a:solidFill>
                  <a:srgbClr val="0B0B0D"/>
                </a:solidFill>
                <a:latin typeface="Arial" pitchFamily="34" charset="0"/>
                <a:ea typeface="Arial" pitchFamily="34" charset="-122"/>
                <a:cs typeface="Arial" pitchFamily="34" charset="-120"/>
              </a:rPr>
              <a:t>Analizar, diseñar y desarrollar, aplicando la metodología RUP, una versión renovada del sitio web de Black Hawk que modernice la presentación de la marca, facilite la consulta del catálogo y guíe al usuario hasta el contacto con el área comercial o un distribuidor.</a:t>
            </a:r>
            <a:endParaRPr lang="en-US" sz="1300" dirty="0"/>
          </a:p>
        </p:txBody>
      </p:sp>
      <p:sp>
        <p:nvSpPr>
          <p:cNvPr id="9" name="Text 6"/>
          <p:cNvSpPr txBox="1"/>
          <p:nvPr/>
        </p:nvSpPr>
        <p:spPr>
          <a:xfrm>
            <a:off x="822960" y="3611880"/>
            <a:ext cx="4572000" cy="274320"/>
          </a:xfrm>
          <a:prstGeom prst="rect">
            <a:avLst/>
          </a:prstGeom>
          <a:noFill/>
          <a:ln/>
        </p:spPr>
        <p:txBody>
          <a:bodyPr wrap="square" lIns="0" tIns="0" rIns="0" bIns="0" rtlCol="0" anchor="t"/>
          <a:lstStyle/>
          <a:p>
            <a:pPr indent="0" marL="0">
              <a:buNone/>
            </a:pPr>
            <a:r>
              <a:rPr lang="en-US" sz="1050" b="1" spc="200" kern="0" dirty="0">
                <a:solidFill>
                  <a:srgbClr val="6D28D9"/>
                </a:solidFill>
                <a:latin typeface="Arial" pitchFamily="34" charset="0"/>
                <a:ea typeface="Arial" pitchFamily="34" charset="-122"/>
                <a:cs typeface="Arial" pitchFamily="34" charset="-120"/>
              </a:rPr>
              <a:t>OBJETIVOS ESPECÍFICOS</a:t>
            </a:r>
            <a:endParaRPr lang="en-US" sz="1050" dirty="0"/>
          </a:p>
        </p:txBody>
      </p:sp>
      <p:sp>
        <p:nvSpPr>
          <p:cNvPr id="10" name="Text 7"/>
          <p:cNvSpPr txBox="1"/>
          <p:nvPr/>
        </p:nvSpPr>
        <p:spPr>
          <a:xfrm>
            <a:off x="822960" y="3931920"/>
            <a:ext cx="5212080" cy="20116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50" dirty="0">
                <a:solidFill>
                  <a:srgbClr val="0B0B0D"/>
                </a:solidFill>
                <a:latin typeface="Arial" pitchFamily="34" charset="0"/>
                <a:ea typeface="Arial" pitchFamily="34" charset="-122"/>
                <a:cs typeface="Arial" pitchFamily="34" charset="-120"/>
              </a:rPr>
              <a:t>Analizar la plataforma original e identificar sus oportunidades de mejora.</a:t>
            </a:r>
            <a:endParaRPr lang="en-US" sz="1250" dirty="0"/>
          </a:p>
          <a:p>
            <a:pPr marL="342900" indent="-342900">
              <a:spcAft>
                <a:spcPts val="500"/>
              </a:spcAft>
              <a:buSzPct val="100000"/>
              <a:buFont typeface="+mj-lt"/>
              <a:buAutoNum type="arabicPeriod" startAt="1"/>
            </a:pPr>
            <a:r>
              <a:rPr lang="en-US" sz="1250" dirty="0">
                <a:solidFill>
                  <a:srgbClr val="0B0B0D"/>
                </a:solidFill>
                <a:latin typeface="Arial" pitchFamily="34" charset="0"/>
                <a:ea typeface="Arial" pitchFamily="34" charset="-122"/>
                <a:cs typeface="Arial" pitchFamily="34" charset="-120"/>
              </a:rPr>
              <a:t>Especificar los requisitos y modelar el sistema con UML.</a:t>
            </a:r>
            <a:endParaRPr lang="en-US" sz="1250" dirty="0"/>
          </a:p>
          <a:p>
            <a:pPr marL="342900" indent="-342900">
              <a:spcAft>
                <a:spcPts val="500"/>
              </a:spcAft>
              <a:buSzPct val="100000"/>
              <a:buFont typeface="+mj-lt"/>
              <a:buAutoNum type="arabicPeriod" startAt="1"/>
            </a:pPr>
            <a:r>
              <a:rPr lang="en-US" sz="1250" dirty="0">
                <a:solidFill>
                  <a:srgbClr val="0B0B0D"/>
                </a:solidFill>
                <a:latin typeface="Arial" pitchFamily="34" charset="0"/>
                <a:ea typeface="Arial" pitchFamily="34" charset="-122"/>
                <a:cs typeface="Arial" pitchFamily="34" charset="-120"/>
              </a:rPr>
              <a:t>Desarrollar el rediseño: identidad visual, catálogo, fichas, comparador y recorrido de consulta.</a:t>
            </a:r>
            <a:endParaRPr lang="en-US" sz="1250" dirty="0"/>
          </a:p>
          <a:p>
            <a:pPr marL="342900" indent="-342900">
              <a:spcAft>
                <a:spcPts val="500"/>
              </a:spcAft>
              <a:buSzPct val="100000"/>
              <a:buFont typeface="+mj-lt"/>
              <a:buAutoNum type="arabicPeriod" startAt="1"/>
            </a:pPr>
            <a:r>
              <a:rPr lang="en-US" sz="1250" dirty="0">
                <a:solidFill>
                  <a:srgbClr val="0B0B0D"/>
                </a:solidFill>
                <a:latin typeface="Arial" pitchFamily="34" charset="0"/>
                <a:ea typeface="Arial" pitchFamily="34" charset="-122"/>
                <a:cs typeface="Arial" pitchFamily="34" charset="-120"/>
              </a:rPr>
              <a:t>Validar la solución y planificar su publicación y las ampliaciones.</a:t>
            </a:r>
            <a:endParaRPr lang="en-US" sz="1250" dirty="0"/>
          </a:p>
        </p:txBody>
      </p:sp>
      <p:sp>
        <p:nvSpPr>
          <p:cNvPr id="11" name="Text 8"/>
          <p:cNvSpPr txBox="1"/>
          <p:nvPr/>
        </p:nvSpPr>
        <p:spPr>
          <a:xfrm>
            <a:off x="6629400" y="1417320"/>
            <a:ext cx="4572000" cy="274320"/>
          </a:xfrm>
          <a:prstGeom prst="rect">
            <a:avLst/>
          </a:prstGeom>
          <a:noFill/>
          <a:ln/>
        </p:spPr>
        <p:txBody>
          <a:bodyPr wrap="square" lIns="0" tIns="0" rIns="0" bIns="0" rtlCol="0" anchor="t"/>
          <a:lstStyle/>
          <a:p>
            <a:pPr indent="0" marL="0">
              <a:buNone/>
            </a:pPr>
            <a:r>
              <a:rPr lang="en-US" sz="1050" b="1" spc="200" kern="0" dirty="0">
                <a:solidFill>
                  <a:srgbClr val="6D28D9"/>
                </a:solidFill>
                <a:latin typeface="Arial" pitchFamily="34" charset="0"/>
                <a:ea typeface="Arial" pitchFamily="34" charset="-122"/>
                <a:cs typeface="Arial" pitchFamily="34" charset="-120"/>
              </a:rPr>
              <a:t>ALCANCE</a:t>
            </a:r>
            <a:endParaRPr lang="en-US" sz="1050" dirty="0"/>
          </a:p>
        </p:txBody>
      </p:sp>
      <p:sp>
        <p:nvSpPr>
          <p:cNvPr id="12" name="Shape 9"/>
          <p:cNvSpPr/>
          <p:nvPr/>
        </p:nvSpPr>
        <p:spPr>
          <a:xfrm>
            <a:off x="6629400" y="1737360"/>
            <a:ext cx="5013655" cy="566928"/>
          </a:xfrm>
          <a:prstGeom prst="roundRect">
            <a:avLst>
              <a:gd name="adj" fmla="val 12903"/>
            </a:avLst>
          </a:prstGeom>
          <a:solidFill>
            <a:srgbClr val="F5F5F7"/>
          </a:solidFill>
          <a:ln/>
        </p:spPr>
      </p:sp>
      <p:sp>
        <p:nvSpPr>
          <p:cNvPr id="13" name="Text 10"/>
          <p:cNvSpPr txBox="1"/>
          <p:nvPr/>
        </p:nvSpPr>
        <p:spPr>
          <a:xfrm>
            <a:off x="6812280" y="1737360"/>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A · Rediseño visual</a:t>
            </a:r>
            <a:endParaRPr lang="en-US" sz="1350" dirty="0"/>
          </a:p>
        </p:txBody>
      </p:sp>
      <p:sp>
        <p:nvSpPr>
          <p:cNvPr id="14" name="Shape 11"/>
          <p:cNvSpPr/>
          <p:nvPr/>
        </p:nvSpPr>
        <p:spPr>
          <a:xfrm>
            <a:off x="10058400" y="1892808"/>
            <a:ext cx="1142086" cy="256032"/>
          </a:xfrm>
          <a:prstGeom prst="roundRect">
            <a:avLst>
              <a:gd name="adj" fmla="val 50000"/>
            </a:avLst>
          </a:prstGeom>
          <a:solidFill>
            <a:srgbClr val="FFFFFF"/>
          </a:solidFill>
          <a:ln w="9525">
            <a:solidFill>
              <a:srgbClr val="0B0B0D"/>
            </a:solidFill>
            <a:prstDash val="solid"/>
          </a:ln>
        </p:spPr>
      </p:sp>
      <p:sp>
        <p:nvSpPr>
          <p:cNvPr id="15" name="Text 12"/>
          <p:cNvSpPr txBox="1"/>
          <p:nvPr/>
        </p:nvSpPr>
        <p:spPr>
          <a:xfrm>
            <a:off x="10058400" y="1892808"/>
            <a:ext cx="114208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Desarrollado</a:t>
            </a:r>
            <a:endParaRPr lang="en-US" sz="950" dirty="0"/>
          </a:p>
        </p:txBody>
      </p:sp>
      <p:sp>
        <p:nvSpPr>
          <p:cNvPr id="16" name="Shape 13"/>
          <p:cNvSpPr/>
          <p:nvPr/>
        </p:nvSpPr>
        <p:spPr>
          <a:xfrm>
            <a:off x="6629400" y="2395728"/>
            <a:ext cx="5013655" cy="566928"/>
          </a:xfrm>
          <a:prstGeom prst="roundRect">
            <a:avLst>
              <a:gd name="adj" fmla="val 12903"/>
            </a:avLst>
          </a:prstGeom>
          <a:solidFill>
            <a:srgbClr val="F5F5F7"/>
          </a:solidFill>
          <a:ln/>
        </p:spPr>
      </p:sp>
      <p:sp>
        <p:nvSpPr>
          <p:cNvPr id="17" name="Text 14"/>
          <p:cNvSpPr txBox="1"/>
          <p:nvPr/>
        </p:nvSpPr>
        <p:spPr>
          <a:xfrm>
            <a:off x="6812280" y="2395728"/>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B · Catálogo y consulta</a:t>
            </a:r>
            <a:endParaRPr lang="en-US" sz="1350" dirty="0"/>
          </a:p>
        </p:txBody>
      </p:sp>
      <p:sp>
        <p:nvSpPr>
          <p:cNvPr id="18" name="Shape 15"/>
          <p:cNvSpPr/>
          <p:nvPr/>
        </p:nvSpPr>
        <p:spPr>
          <a:xfrm>
            <a:off x="10058400" y="2551176"/>
            <a:ext cx="1142086" cy="256032"/>
          </a:xfrm>
          <a:prstGeom prst="roundRect">
            <a:avLst>
              <a:gd name="adj" fmla="val 50000"/>
            </a:avLst>
          </a:prstGeom>
          <a:solidFill>
            <a:srgbClr val="FFFFFF"/>
          </a:solidFill>
          <a:ln w="9525">
            <a:solidFill>
              <a:srgbClr val="0B0B0D"/>
            </a:solidFill>
            <a:prstDash val="solid"/>
          </a:ln>
        </p:spPr>
      </p:sp>
      <p:sp>
        <p:nvSpPr>
          <p:cNvPr id="19" name="Text 16"/>
          <p:cNvSpPr txBox="1"/>
          <p:nvPr/>
        </p:nvSpPr>
        <p:spPr>
          <a:xfrm>
            <a:off x="10058400" y="2551176"/>
            <a:ext cx="114208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Desarrollado</a:t>
            </a:r>
            <a:endParaRPr lang="en-US" sz="950" dirty="0"/>
          </a:p>
        </p:txBody>
      </p:sp>
      <p:sp>
        <p:nvSpPr>
          <p:cNvPr id="20" name="Shape 17"/>
          <p:cNvSpPr/>
          <p:nvPr/>
        </p:nvSpPr>
        <p:spPr>
          <a:xfrm>
            <a:off x="6629400" y="3054096"/>
            <a:ext cx="5013655" cy="566928"/>
          </a:xfrm>
          <a:prstGeom prst="roundRect">
            <a:avLst>
              <a:gd name="adj" fmla="val 12903"/>
            </a:avLst>
          </a:prstGeom>
          <a:solidFill>
            <a:srgbClr val="F5F5F7"/>
          </a:solidFill>
          <a:ln/>
        </p:spPr>
      </p:sp>
      <p:sp>
        <p:nvSpPr>
          <p:cNvPr id="21" name="Text 18"/>
          <p:cNvSpPr txBox="1"/>
          <p:nvPr/>
        </p:nvSpPr>
        <p:spPr>
          <a:xfrm>
            <a:off x="6812280" y="3054096"/>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C · Recorrido comercial</a:t>
            </a:r>
            <a:endParaRPr lang="en-US" sz="1350" dirty="0"/>
          </a:p>
        </p:txBody>
      </p:sp>
      <p:sp>
        <p:nvSpPr>
          <p:cNvPr id="22" name="Shape 19"/>
          <p:cNvSpPr/>
          <p:nvPr/>
        </p:nvSpPr>
        <p:spPr>
          <a:xfrm>
            <a:off x="10058400" y="3209544"/>
            <a:ext cx="1142086" cy="256032"/>
          </a:xfrm>
          <a:prstGeom prst="roundRect">
            <a:avLst>
              <a:gd name="adj" fmla="val 50000"/>
            </a:avLst>
          </a:prstGeom>
          <a:solidFill>
            <a:srgbClr val="FFFFFF"/>
          </a:solidFill>
          <a:ln w="9525">
            <a:solidFill>
              <a:srgbClr val="0B0B0D"/>
            </a:solidFill>
            <a:prstDash val="solid"/>
          </a:ln>
        </p:spPr>
      </p:sp>
      <p:sp>
        <p:nvSpPr>
          <p:cNvPr id="23" name="Text 20"/>
          <p:cNvSpPr txBox="1"/>
          <p:nvPr/>
        </p:nvSpPr>
        <p:spPr>
          <a:xfrm>
            <a:off x="10058400" y="3209544"/>
            <a:ext cx="114208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Desarrollado</a:t>
            </a:r>
            <a:endParaRPr lang="en-US" sz="950" dirty="0"/>
          </a:p>
        </p:txBody>
      </p:sp>
      <p:sp>
        <p:nvSpPr>
          <p:cNvPr id="24" name="Shape 21"/>
          <p:cNvSpPr/>
          <p:nvPr/>
        </p:nvSpPr>
        <p:spPr>
          <a:xfrm>
            <a:off x="6629400" y="3712464"/>
            <a:ext cx="5013655" cy="566928"/>
          </a:xfrm>
          <a:prstGeom prst="roundRect">
            <a:avLst>
              <a:gd name="adj" fmla="val 12903"/>
            </a:avLst>
          </a:prstGeom>
          <a:solidFill>
            <a:srgbClr val="F5F5F7"/>
          </a:solidFill>
          <a:ln/>
        </p:spPr>
      </p:sp>
      <p:sp>
        <p:nvSpPr>
          <p:cNvPr id="25" name="Text 22"/>
          <p:cNvSpPr txBox="1"/>
          <p:nvPr/>
        </p:nvSpPr>
        <p:spPr>
          <a:xfrm>
            <a:off x="6812280" y="3712464"/>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D · Administración</a:t>
            </a:r>
            <a:endParaRPr lang="en-US" sz="1350" dirty="0"/>
          </a:p>
        </p:txBody>
      </p:sp>
      <p:sp>
        <p:nvSpPr>
          <p:cNvPr id="26" name="Shape 23"/>
          <p:cNvSpPr/>
          <p:nvPr/>
        </p:nvSpPr>
        <p:spPr>
          <a:xfrm>
            <a:off x="10058400" y="3867912"/>
            <a:ext cx="1289761" cy="256032"/>
          </a:xfrm>
          <a:prstGeom prst="roundRect">
            <a:avLst>
              <a:gd name="adj" fmla="val 50000"/>
            </a:avLst>
          </a:prstGeom>
          <a:solidFill>
            <a:srgbClr val="FFFFFF"/>
          </a:solidFill>
          <a:ln w="9525">
            <a:solidFill>
              <a:srgbClr val="6B7280"/>
            </a:solidFill>
            <a:prstDash val="solid"/>
          </a:ln>
        </p:spPr>
      </p:sp>
      <p:sp>
        <p:nvSpPr>
          <p:cNvPr id="27" name="Text 24"/>
          <p:cNvSpPr txBox="1"/>
          <p:nvPr/>
        </p:nvSpPr>
        <p:spPr>
          <a:xfrm>
            <a:off x="10058400" y="3867912"/>
            <a:ext cx="1289761" cy="256032"/>
          </a:xfrm>
          <a:prstGeom prst="rect">
            <a:avLst/>
          </a:prstGeom>
          <a:noFill/>
          <a:ln/>
        </p:spPr>
        <p:txBody>
          <a:bodyPr wrap="square" lIns="0" tIns="0" rIns="0" bIns="0" rtlCol="0" anchor="ctr"/>
          <a:lstStyle/>
          <a:p>
            <a:pPr algn="ctr" indent="0" marL="0">
              <a:buNone/>
            </a:pPr>
            <a:r>
              <a:rPr lang="en-US" sz="950" b="1" dirty="0">
                <a:solidFill>
                  <a:srgbClr val="6B7280"/>
                </a:solidFill>
                <a:latin typeface="Arial" pitchFamily="34" charset="0"/>
                <a:ea typeface="Arial" pitchFamily="34" charset="-122"/>
                <a:cs typeface="Arial" pitchFamily="34" charset="-120"/>
              </a:rPr>
              <a:t>Base WordPress</a:t>
            </a:r>
            <a:endParaRPr lang="en-US" sz="950" dirty="0"/>
          </a:p>
        </p:txBody>
      </p:sp>
      <p:sp>
        <p:nvSpPr>
          <p:cNvPr id="28" name="Shape 25"/>
          <p:cNvSpPr/>
          <p:nvPr/>
        </p:nvSpPr>
        <p:spPr>
          <a:xfrm>
            <a:off x="6629400" y="4370832"/>
            <a:ext cx="5013655" cy="566928"/>
          </a:xfrm>
          <a:prstGeom prst="roundRect">
            <a:avLst>
              <a:gd name="adj" fmla="val 12903"/>
            </a:avLst>
          </a:prstGeom>
          <a:solidFill>
            <a:srgbClr val="EDE4FB"/>
          </a:solidFill>
          <a:ln/>
        </p:spPr>
      </p:sp>
      <p:sp>
        <p:nvSpPr>
          <p:cNvPr id="29" name="Text 26"/>
          <p:cNvSpPr txBox="1"/>
          <p:nvPr/>
        </p:nvSpPr>
        <p:spPr>
          <a:xfrm>
            <a:off x="6812280" y="4370832"/>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E · Mejoras complementarias</a:t>
            </a:r>
            <a:endParaRPr lang="en-US" sz="1350" dirty="0"/>
          </a:p>
        </p:txBody>
      </p:sp>
      <p:sp>
        <p:nvSpPr>
          <p:cNvPr id="30" name="Shape 27"/>
          <p:cNvSpPr/>
          <p:nvPr/>
        </p:nvSpPr>
        <p:spPr>
          <a:xfrm>
            <a:off x="10058400" y="4526280"/>
            <a:ext cx="920572" cy="256032"/>
          </a:xfrm>
          <a:prstGeom prst="roundRect">
            <a:avLst>
              <a:gd name="adj" fmla="val 50000"/>
            </a:avLst>
          </a:prstGeom>
          <a:solidFill>
            <a:srgbClr val="6D28D9"/>
          </a:solidFill>
          <a:ln w="9525">
            <a:solidFill>
              <a:srgbClr val="6D28D9"/>
            </a:solidFill>
            <a:prstDash val="solid"/>
          </a:ln>
        </p:spPr>
      </p:sp>
      <p:sp>
        <p:nvSpPr>
          <p:cNvPr id="31" name="Text 28"/>
          <p:cNvSpPr txBox="1"/>
          <p:nvPr/>
        </p:nvSpPr>
        <p:spPr>
          <a:xfrm>
            <a:off x="10058400" y="4526280"/>
            <a:ext cx="92057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Propuesto</a:t>
            </a:r>
            <a:endParaRPr lang="en-US" sz="950" dirty="0"/>
          </a:p>
        </p:txBody>
      </p:sp>
      <p:sp>
        <p:nvSpPr>
          <p:cNvPr id="32" name="Shape 29"/>
          <p:cNvSpPr/>
          <p:nvPr/>
        </p:nvSpPr>
        <p:spPr>
          <a:xfrm>
            <a:off x="6629400" y="5120640"/>
            <a:ext cx="5013655" cy="914400"/>
          </a:xfrm>
          <a:prstGeom prst="roundRect">
            <a:avLst>
              <a:gd name="adj" fmla="val 8000"/>
            </a:avLst>
          </a:prstGeom>
          <a:solidFill>
            <a:srgbClr val="0B0B0D"/>
          </a:solidFill>
          <a:ln/>
        </p:spPr>
      </p:sp>
      <p:sp>
        <p:nvSpPr>
          <p:cNvPr id="33" name="Text 30"/>
          <p:cNvSpPr txBox="1"/>
          <p:nvPr/>
        </p:nvSpPr>
        <p:spPr>
          <a:xfrm>
            <a:off x="6812280" y="5120640"/>
            <a:ext cx="4647895" cy="914400"/>
          </a:xfrm>
          <a:prstGeom prst="rect">
            <a:avLst/>
          </a:prstGeom>
          <a:noFill/>
          <a:ln/>
        </p:spPr>
        <p:txBody>
          <a:bodyPr wrap="square" lIns="0" tIns="0" rIns="0" bIns="0" rtlCol="0" anchor="ctr"/>
          <a:lstStyle/>
          <a:p>
            <a:pPr indent="0" marL="0">
              <a:buNone/>
            </a:pPr>
            <a:r>
              <a:rPr lang="en-US" sz="1200" b="1" dirty="0">
                <a:solidFill>
                  <a:srgbClr val="A78BFA"/>
                </a:solidFill>
                <a:latin typeface="Arial" pitchFamily="34" charset="0"/>
                <a:ea typeface="Arial" pitchFamily="34" charset="-122"/>
                <a:cs typeface="Arial" pitchFamily="34" charset="-120"/>
              </a:rPr>
              <a:t>No incluye: </a:t>
            </a:r>
            <a:pPr indent="0" marL="0">
              <a:buNone/>
            </a:pPr>
            <a:r>
              <a:rPr lang="en-US" sz="1200" dirty="0">
                <a:solidFill>
                  <a:srgbClr val="FFFFFF"/>
                </a:solidFill>
                <a:latin typeface="Arial" pitchFamily="34" charset="0"/>
                <a:ea typeface="Arial" pitchFamily="34" charset="-122"/>
                <a:cs typeface="Arial" pitchFamily="34" charset="-120"/>
              </a:rPr>
              <a:t>Venta en línea (carrito, pagos) · ERP e inventario · CRM o API de WhatsApp Business · Aplicación móvil</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¿Qué es RUP y por qué lo utilizo?</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7</a:t>
            </a:r>
            <a:endParaRPr lang="en-US" sz="900" dirty="0"/>
          </a:p>
        </p:txBody>
      </p:sp>
      <p:sp>
        <p:nvSpPr>
          <p:cNvPr id="6" name="Text 3"/>
          <p:cNvSpPr txBox="1"/>
          <p:nvPr/>
        </p:nvSpPr>
        <p:spPr>
          <a:xfrm>
            <a:off x="548640" y="1371600"/>
            <a:ext cx="10515600" cy="640080"/>
          </a:xfrm>
          <a:prstGeom prst="rect">
            <a:avLst/>
          </a:prstGeom>
          <a:noFill/>
          <a:ln/>
        </p:spPr>
        <p:txBody>
          <a:bodyPr wrap="square" lIns="0" tIns="0" rIns="0" bIns="0" rtlCol="0" anchor="t"/>
          <a:lstStyle/>
          <a:p>
            <a:pPr indent="0" marL="0">
              <a:buNone/>
            </a:pPr>
            <a:r>
              <a:rPr lang="en-US" sz="1500" dirty="0">
                <a:solidFill>
                  <a:srgbClr val="6B7280"/>
                </a:solidFill>
                <a:latin typeface="Arial" pitchFamily="34" charset="0"/>
                <a:ea typeface="Arial" pitchFamily="34" charset="-122"/>
                <a:cs typeface="Arial" pitchFamily="34" charset="-120"/>
              </a:rPr>
              <a:t>Rational Unified Process: metodología de desarrollo de software que organiza el trabajo en fases e iteraciones, con disciplinas, artefactos e hitos definidos (Kruchten, 2004).</a:t>
            </a:r>
            <a:endParaRPr lang="en-US" sz="1500" dirty="0"/>
          </a:p>
        </p:txBody>
      </p:sp>
      <p:sp>
        <p:nvSpPr>
          <p:cNvPr id="7" name="Shape 4"/>
          <p:cNvSpPr/>
          <p:nvPr/>
        </p:nvSpPr>
        <p:spPr>
          <a:xfrm>
            <a:off x="548640" y="2194560"/>
            <a:ext cx="3566160" cy="2743200"/>
          </a:xfrm>
          <a:prstGeom prst="roundRect">
            <a:avLst>
              <a:gd name="adj" fmla="val 2667"/>
            </a:avLst>
          </a:prstGeom>
          <a:solidFill>
            <a:srgbClr val="0B0B0D"/>
          </a:solidFill>
          <a:ln/>
        </p:spPr>
      </p:sp>
      <p:sp>
        <p:nvSpPr>
          <p:cNvPr id="8" name="Shape 5"/>
          <p:cNvSpPr/>
          <p:nvPr/>
        </p:nvSpPr>
        <p:spPr>
          <a:xfrm>
            <a:off x="822960" y="2377440"/>
            <a:ext cx="603504" cy="603504"/>
          </a:xfrm>
          <a:prstGeom prst="ellipse">
            <a:avLst/>
          </a:prstGeom>
          <a:solidFill>
            <a:srgbClr val="6D28D9"/>
          </a:solidFill>
          <a:ln/>
        </p:spPr>
      </p:sp>
      <p:pic>
        <p:nvPicPr>
          <p:cNvPr id="9" name="Image 0" descr="preencoded.png">    </p:cNvPr>
          <p:cNvPicPr>
            <a:picLocks noChangeAspect="1"/>
          </p:cNvPicPr>
          <p:nvPr/>
        </p:nvPicPr>
        <p:blipFill>
          <a:blip r:embed="rId1"/>
          <a:stretch>
            <a:fillRect/>
          </a:stretch>
        </p:blipFill>
        <p:spPr>
          <a:xfrm>
            <a:off x="967801" y="2522281"/>
            <a:ext cx="313822" cy="313822"/>
          </a:xfrm>
          <a:prstGeom prst="rect">
            <a:avLst/>
          </a:prstGeom>
        </p:spPr>
      </p:pic>
      <p:sp>
        <p:nvSpPr>
          <p:cNvPr id="10" name="Text 6"/>
          <p:cNvSpPr txBox="1"/>
          <p:nvPr/>
        </p:nvSpPr>
        <p:spPr>
          <a:xfrm>
            <a:off x="822960" y="3108960"/>
            <a:ext cx="3108960" cy="41148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Iterativo e incremental</a:t>
            </a:r>
            <a:endParaRPr lang="en-US" sz="1700" dirty="0"/>
          </a:p>
        </p:txBody>
      </p:sp>
      <p:sp>
        <p:nvSpPr>
          <p:cNvPr id="11" name="Text 7"/>
          <p:cNvSpPr txBox="1"/>
          <p:nvPr/>
        </p:nvSpPr>
        <p:spPr>
          <a:xfrm>
            <a:off x="822960" y="3566160"/>
            <a:ext cx="3108960" cy="502920"/>
          </a:xfrm>
          <a:prstGeom prst="rect">
            <a:avLst/>
          </a:prstGeom>
          <a:noFill/>
          <a:ln/>
        </p:spPr>
        <p:txBody>
          <a:bodyPr wrap="square" lIns="0" tIns="0" rIns="0" bIns="0" rtlCol="0" anchor="t"/>
          <a:lstStyle/>
          <a:p>
            <a:pPr indent="0" marL="0">
              <a:buNone/>
            </a:pPr>
            <a:r>
              <a:rPr lang="en-US" sz="1250" dirty="0">
                <a:solidFill>
                  <a:srgbClr val="9CA3AF"/>
                </a:solidFill>
                <a:latin typeface="Arial" pitchFamily="34" charset="0"/>
                <a:ea typeface="Arial" pitchFamily="34" charset="-122"/>
                <a:cs typeface="Arial" pitchFamily="34" charset="-120"/>
              </a:rPr>
              <a:t>El sistema crece por partes que se prueban.</a:t>
            </a:r>
            <a:endParaRPr lang="en-US" sz="1250" dirty="0"/>
          </a:p>
        </p:txBody>
      </p:sp>
      <p:sp>
        <p:nvSpPr>
          <p:cNvPr id="12" name="Text 8"/>
          <p:cNvSpPr txBox="1"/>
          <p:nvPr/>
        </p:nvSpPr>
        <p:spPr>
          <a:xfrm>
            <a:off x="822960" y="4160520"/>
            <a:ext cx="3108960" cy="640080"/>
          </a:xfrm>
          <a:prstGeom prst="rect">
            <a:avLst/>
          </a:prstGeom>
          <a:noFill/>
          <a:ln/>
        </p:spPr>
        <p:txBody>
          <a:bodyPr wrap="square" lIns="0" tIns="0" rIns="0" bIns="0" rtlCol="0" anchor="t"/>
          <a:lstStyle/>
          <a:p>
            <a:pPr indent="0" marL="0">
              <a:buNone/>
            </a:pPr>
            <a:r>
              <a:rPr lang="en-US" sz="1300" b="1" dirty="0">
                <a:solidFill>
                  <a:srgbClr val="A78BFA"/>
                </a:solidFill>
                <a:latin typeface="Arial" pitchFamily="34" charset="0"/>
                <a:ea typeface="Arial" pitchFamily="34" charset="-122"/>
                <a:cs typeface="Arial" pitchFamily="34" charset="-120"/>
              </a:rPr>
              <a:t>Home → catálogo → ficha → recorrido de cotización.</a:t>
            </a:r>
            <a:endParaRPr lang="en-US" sz="1300" dirty="0"/>
          </a:p>
        </p:txBody>
      </p:sp>
      <p:sp>
        <p:nvSpPr>
          <p:cNvPr id="13" name="Shape 9"/>
          <p:cNvSpPr/>
          <p:nvPr/>
        </p:nvSpPr>
        <p:spPr>
          <a:xfrm>
            <a:off x="4297680" y="2194560"/>
            <a:ext cx="3566160" cy="2743200"/>
          </a:xfrm>
          <a:prstGeom prst="roundRect">
            <a:avLst>
              <a:gd name="adj" fmla="val 2667"/>
            </a:avLst>
          </a:prstGeom>
          <a:solidFill>
            <a:srgbClr val="F5F5F7"/>
          </a:solidFill>
          <a:ln/>
        </p:spPr>
      </p:sp>
      <p:sp>
        <p:nvSpPr>
          <p:cNvPr id="14" name="Shape 10"/>
          <p:cNvSpPr/>
          <p:nvPr/>
        </p:nvSpPr>
        <p:spPr>
          <a:xfrm>
            <a:off x="4572000" y="2377440"/>
            <a:ext cx="603504" cy="603504"/>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4716841" y="2522281"/>
            <a:ext cx="313822" cy="313822"/>
          </a:xfrm>
          <a:prstGeom prst="rect">
            <a:avLst/>
          </a:prstGeom>
        </p:spPr>
      </p:pic>
      <p:sp>
        <p:nvSpPr>
          <p:cNvPr id="16" name="Text 11"/>
          <p:cNvSpPr txBox="1"/>
          <p:nvPr/>
        </p:nvSpPr>
        <p:spPr>
          <a:xfrm>
            <a:off x="4572000" y="3108960"/>
            <a:ext cx="3108960" cy="4114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Dirigido por casos de uso</a:t>
            </a:r>
            <a:endParaRPr lang="en-US" sz="1700" dirty="0"/>
          </a:p>
        </p:txBody>
      </p:sp>
      <p:sp>
        <p:nvSpPr>
          <p:cNvPr id="17" name="Text 12"/>
          <p:cNvSpPr txBox="1"/>
          <p:nvPr/>
        </p:nvSpPr>
        <p:spPr>
          <a:xfrm>
            <a:off x="4572000" y="3566160"/>
            <a:ext cx="3108960" cy="50292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Los casos de uso guían diseño, código y pruebas.</a:t>
            </a:r>
            <a:endParaRPr lang="en-US" sz="1250" dirty="0"/>
          </a:p>
        </p:txBody>
      </p:sp>
      <p:sp>
        <p:nvSpPr>
          <p:cNvPr id="18" name="Text 13"/>
          <p:cNvSpPr txBox="1"/>
          <p:nvPr/>
        </p:nvSpPr>
        <p:spPr>
          <a:xfrm>
            <a:off x="4572000" y="4160520"/>
            <a:ext cx="3108960" cy="64008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«Cotizar por WhatsApp» definió la ficha y el mensaje.</a:t>
            </a:r>
            <a:endParaRPr lang="en-US" sz="1300" dirty="0"/>
          </a:p>
        </p:txBody>
      </p:sp>
      <p:sp>
        <p:nvSpPr>
          <p:cNvPr id="19" name="Shape 14"/>
          <p:cNvSpPr/>
          <p:nvPr/>
        </p:nvSpPr>
        <p:spPr>
          <a:xfrm>
            <a:off x="8046720" y="2194560"/>
            <a:ext cx="3566160" cy="2743200"/>
          </a:xfrm>
          <a:prstGeom prst="roundRect">
            <a:avLst>
              <a:gd name="adj" fmla="val 2667"/>
            </a:avLst>
          </a:prstGeom>
          <a:solidFill>
            <a:srgbClr val="F5F5F7"/>
          </a:solidFill>
          <a:ln/>
        </p:spPr>
      </p:sp>
      <p:sp>
        <p:nvSpPr>
          <p:cNvPr id="20" name="Shape 15"/>
          <p:cNvSpPr/>
          <p:nvPr/>
        </p:nvSpPr>
        <p:spPr>
          <a:xfrm>
            <a:off x="8321040" y="2377440"/>
            <a:ext cx="603504" cy="603504"/>
          </a:xfrm>
          <a:prstGeom prst="ellipse">
            <a:avLst/>
          </a:prstGeom>
          <a:solidFill>
            <a:srgbClr val="FFFFFF"/>
          </a:solidFill>
          <a:ln/>
        </p:spPr>
      </p:sp>
      <p:pic>
        <p:nvPicPr>
          <p:cNvPr id="21" name="Image 2" descr="preencoded.png">    </p:cNvPr>
          <p:cNvPicPr>
            <a:picLocks noChangeAspect="1"/>
          </p:cNvPicPr>
          <p:nvPr/>
        </p:nvPicPr>
        <p:blipFill>
          <a:blip r:embed="rId3"/>
          <a:stretch>
            <a:fillRect/>
          </a:stretch>
        </p:blipFill>
        <p:spPr>
          <a:xfrm>
            <a:off x="8465881" y="2522281"/>
            <a:ext cx="313822" cy="313822"/>
          </a:xfrm>
          <a:prstGeom prst="rect">
            <a:avLst/>
          </a:prstGeom>
        </p:spPr>
      </p:pic>
      <p:sp>
        <p:nvSpPr>
          <p:cNvPr id="22" name="Text 16"/>
          <p:cNvSpPr txBox="1"/>
          <p:nvPr/>
        </p:nvSpPr>
        <p:spPr>
          <a:xfrm>
            <a:off x="8321040" y="3108960"/>
            <a:ext cx="3108960" cy="4114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Centrado en la arquitectura</a:t>
            </a:r>
            <a:endParaRPr lang="en-US" sz="1700" dirty="0"/>
          </a:p>
        </p:txBody>
      </p:sp>
      <p:sp>
        <p:nvSpPr>
          <p:cNvPr id="23" name="Text 17"/>
          <p:cNvSpPr txBox="1"/>
          <p:nvPr/>
        </p:nvSpPr>
        <p:spPr>
          <a:xfrm>
            <a:off x="8321040" y="3566160"/>
            <a:ext cx="3108960" cy="50292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Se valida la estructura antes de construir.</a:t>
            </a:r>
            <a:endParaRPr lang="en-US" sz="1250" dirty="0"/>
          </a:p>
        </p:txBody>
      </p:sp>
      <p:sp>
        <p:nvSpPr>
          <p:cNvPr id="24" name="Text 18"/>
          <p:cNvSpPr txBox="1"/>
          <p:nvPr/>
        </p:nvSpPr>
        <p:spPr>
          <a:xfrm>
            <a:off x="8321040" y="4160520"/>
            <a:ext cx="3108960" cy="64008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Tema hijo sobre WooCommerce, sin tocar su núcleo.</a:t>
            </a:r>
            <a:endParaRPr lang="en-US" sz="1300" dirty="0"/>
          </a:p>
        </p:txBody>
      </p:sp>
      <p:sp>
        <p:nvSpPr>
          <p:cNvPr id="25" name="Shape 19"/>
          <p:cNvSpPr/>
          <p:nvPr/>
        </p:nvSpPr>
        <p:spPr>
          <a:xfrm>
            <a:off x="548640" y="5166360"/>
            <a:ext cx="11094415" cy="822960"/>
          </a:xfrm>
          <a:prstGeom prst="roundRect">
            <a:avLst>
              <a:gd name="adj" fmla="val 8889"/>
            </a:avLst>
          </a:prstGeom>
          <a:solidFill>
            <a:srgbClr val="EDE4FB"/>
          </a:solidFill>
          <a:ln/>
        </p:spPr>
      </p:sp>
      <p:sp>
        <p:nvSpPr>
          <p:cNvPr id="26" name="Text 20"/>
          <p:cNvSpPr txBox="1"/>
          <p:nvPr/>
        </p:nvSpPr>
        <p:spPr>
          <a:xfrm>
            <a:off x="822960" y="5166360"/>
            <a:ext cx="10545775" cy="822960"/>
          </a:xfrm>
          <a:prstGeom prst="rect">
            <a:avLst/>
          </a:prstGeom>
          <a:noFill/>
          <a:ln/>
        </p:spPr>
        <p:txBody>
          <a:bodyPr wrap="square" lIns="0" tIns="0" rIns="0" bIns="0" rtlCol="0" anchor="ctr"/>
          <a:lstStyle/>
          <a:p>
            <a:pPr indent="0" marL="0">
              <a:buNone/>
            </a:pPr>
            <a:r>
              <a:rPr lang="en-US" sz="1400" b="1" dirty="0">
                <a:solidFill>
                  <a:srgbClr val="6D28D9"/>
                </a:solidFill>
                <a:latin typeface="Arial" pitchFamily="34" charset="0"/>
                <a:ea typeface="Arial" pitchFamily="34" charset="-122"/>
                <a:cs typeface="Arial" pitchFamily="34" charset="-120"/>
              </a:rPr>
              <a:t>Por qué RUP: </a:t>
            </a:r>
            <a:pPr indent="0" marL="0">
              <a:buNone/>
            </a:pPr>
            <a:r>
              <a:rPr lang="en-US" sz="1400" dirty="0">
                <a:solidFill>
                  <a:srgbClr val="0B0B0D"/>
                </a:solidFill>
                <a:latin typeface="Arial" pitchFamily="34" charset="0"/>
                <a:ea typeface="Arial" pitchFamily="34" charset="-122"/>
                <a:cs typeface="Arial" pitchFamily="34" charset="-120"/>
              </a:rPr>
              <a:t>exige analizar y modelar antes de construir, ataca los riesgos temprano y cada fase cierra con un hito verificable.</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Estructura de RUP: fases, iteraciones y disciplinas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8</a:t>
            </a:r>
            <a:endParaRPr lang="en-US" sz="900" dirty="0"/>
          </a:p>
        </p:txBody>
      </p:sp>
      <p:sp>
        <p:nvSpPr>
          <p:cNvPr id="6" name="Shape 3"/>
          <p:cNvSpPr/>
          <p:nvPr/>
        </p:nvSpPr>
        <p:spPr>
          <a:xfrm>
            <a:off x="3319272" y="1417320"/>
            <a:ext cx="2032940" cy="411480"/>
          </a:xfrm>
          <a:prstGeom prst="rect">
            <a:avLst/>
          </a:prstGeom>
          <a:solidFill>
            <a:srgbClr val="9CA3AF"/>
          </a:solidFill>
          <a:ln/>
        </p:spPr>
      </p:sp>
      <p:sp>
        <p:nvSpPr>
          <p:cNvPr id="7" name="Text 4"/>
          <p:cNvSpPr txBox="1"/>
          <p:nvPr/>
        </p:nvSpPr>
        <p:spPr>
          <a:xfrm>
            <a:off x="3319272"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Inicio</a:t>
            </a:r>
            <a:endParaRPr lang="en-US" sz="1300" dirty="0"/>
          </a:p>
        </p:txBody>
      </p:sp>
      <p:sp>
        <p:nvSpPr>
          <p:cNvPr id="8" name="Shape 5"/>
          <p:cNvSpPr/>
          <p:nvPr/>
        </p:nvSpPr>
        <p:spPr>
          <a:xfrm>
            <a:off x="3337560" y="1892808"/>
            <a:ext cx="1996364" cy="292608"/>
          </a:xfrm>
          <a:prstGeom prst="roundRect">
            <a:avLst>
              <a:gd name="adj" fmla="val 25000"/>
            </a:avLst>
          </a:prstGeom>
          <a:solidFill>
            <a:srgbClr val="F5F5F7"/>
          </a:solidFill>
          <a:ln/>
        </p:spPr>
      </p:sp>
      <p:sp>
        <p:nvSpPr>
          <p:cNvPr id="9" name="Text 6"/>
          <p:cNvSpPr txBox="1"/>
          <p:nvPr/>
        </p:nvSpPr>
        <p:spPr>
          <a:xfrm>
            <a:off x="3319272"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I1</a:t>
            </a:r>
            <a:endParaRPr lang="en-US" sz="1000" dirty="0"/>
          </a:p>
        </p:txBody>
      </p:sp>
      <p:sp>
        <p:nvSpPr>
          <p:cNvPr id="10" name="Shape 7"/>
          <p:cNvSpPr/>
          <p:nvPr/>
        </p:nvSpPr>
        <p:spPr>
          <a:xfrm>
            <a:off x="5407076" y="1417320"/>
            <a:ext cx="2032940" cy="411480"/>
          </a:xfrm>
          <a:prstGeom prst="rect">
            <a:avLst/>
          </a:prstGeom>
          <a:solidFill>
            <a:srgbClr val="A78BFA"/>
          </a:solidFill>
          <a:ln/>
        </p:spPr>
      </p:sp>
      <p:sp>
        <p:nvSpPr>
          <p:cNvPr id="11" name="Text 8"/>
          <p:cNvSpPr txBox="1"/>
          <p:nvPr/>
        </p:nvSpPr>
        <p:spPr>
          <a:xfrm>
            <a:off x="5407076"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Elaboración</a:t>
            </a:r>
            <a:endParaRPr lang="en-US" sz="1300" dirty="0"/>
          </a:p>
        </p:txBody>
      </p:sp>
      <p:sp>
        <p:nvSpPr>
          <p:cNvPr id="12" name="Shape 9"/>
          <p:cNvSpPr/>
          <p:nvPr/>
        </p:nvSpPr>
        <p:spPr>
          <a:xfrm>
            <a:off x="5425364" y="1892808"/>
            <a:ext cx="979894" cy="292608"/>
          </a:xfrm>
          <a:prstGeom prst="roundRect">
            <a:avLst>
              <a:gd name="adj" fmla="val 25000"/>
            </a:avLst>
          </a:prstGeom>
          <a:solidFill>
            <a:srgbClr val="F5F5F7"/>
          </a:solidFill>
          <a:ln/>
        </p:spPr>
      </p:sp>
      <p:sp>
        <p:nvSpPr>
          <p:cNvPr id="13" name="Text 10"/>
          <p:cNvSpPr txBox="1"/>
          <p:nvPr/>
        </p:nvSpPr>
        <p:spPr>
          <a:xfrm>
            <a:off x="540707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E1</a:t>
            </a:r>
            <a:endParaRPr lang="en-US" sz="1000" dirty="0"/>
          </a:p>
        </p:txBody>
      </p:sp>
      <p:sp>
        <p:nvSpPr>
          <p:cNvPr id="14" name="Shape 11"/>
          <p:cNvSpPr/>
          <p:nvPr/>
        </p:nvSpPr>
        <p:spPr>
          <a:xfrm>
            <a:off x="6441834" y="1892808"/>
            <a:ext cx="979894" cy="292608"/>
          </a:xfrm>
          <a:prstGeom prst="roundRect">
            <a:avLst>
              <a:gd name="adj" fmla="val 25000"/>
            </a:avLst>
          </a:prstGeom>
          <a:solidFill>
            <a:srgbClr val="F5F5F7"/>
          </a:solidFill>
          <a:ln/>
        </p:spPr>
      </p:sp>
      <p:sp>
        <p:nvSpPr>
          <p:cNvPr id="15" name="Text 12"/>
          <p:cNvSpPr txBox="1"/>
          <p:nvPr/>
        </p:nvSpPr>
        <p:spPr>
          <a:xfrm>
            <a:off x="642354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E2</a:t>
            </a:r>
            <a:endParaRPr lang="en-US" sz="1000" dirty="0"/>
          </a:p>
        </p:txBody>
      </p:sp>
      <p:sp>
        <p:nvSpPr>
          <p:cNvPr id="16" name="Shape 13"/>
          <p:cNvSpPr/>
          <p:nvPr/>
        </p:nvSpPr>
        <p:spPr>
          <a:xfrm>
            <a:off x="7494880" y="1417320"/>
            <a:ext cx="2032940" cy="411480"/>
          </a:xfrm>
          <a:prstGeom prst="rect">
            <a:avLst/>
          </a:prstGeom>
          <a:solidFill>
            <a:srgbClr val="6D28D9"/>
          </a:solidFill>
          <a:ln/>
        </p:spPr>
      </p:sp>
      <p:sp>
        <p:nvSpPr>
          <p:cNvPr id="17" name="Text 14"/>
          <p:cNvSpPr txBox="1"/>
          <p:nvPr/>
        </p:nvSpPr>
        <p:spPr>
          <a:xfrm>
            <a:off x="7494880"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Construcción</a:t>
            </a:r>
            <a:endParaRPr lang="en-US" sz="1300" dirty="0"/>
          </a:p>
        </p:txBody>
      </p:sp>
      <p:sp>
        <p:nvSpPr>
          <p:cNvPr id="18" name="Shape 15"/>
          <p:cNvSpPr/>
          <p:nvPr/>
        </p:nvSpPr>
        <p:spPr>
          <a:xfrm>
            <a:off x="7513168" y="1892808"/>
            <a:ext cx="641071" cy="292608"/>
          </a:xfrm>
          <a:prstGeom prst="roundRect">
            <a:avLst>
              <a:gd name="adj" fmla="val 25000"/>
            </a:avLst>
          </a:prstGeom>
          <a:solidFill>
            <a:srgbClr val="F5F5F7"/>
          </a:solidFill>
          <a:ln/>
        </p:spPr>
      </p:sp>
      <p:sp>
        <p:nvSpPr>
          <p:cNvPr id="19" name="Text 16"/>
          <p:cNvSpPr txBox="1"/>
          <p:nvPr/>
        </p:nvSpPr>
        <p:spPr>
          <a:xfrm>
            <a:off x="7494880"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C1</a:t>
            </a:r>
            <a:endParaRPr lang="en-US" sz="1000" dirty="0"/>
          </a:p>
        </p:txBody>
      </p:sp>
      <p:sp>
        <p:nvSpPr>
          <p:cNvPr id="20" name="Shape 17"/>
          <p:cNvSpPr/>
          <p:nvPr/>
        </p:nvSpPr>
        <p:spPr>
          <a:xfrm>
            <a:off x="8190814" y="1892808"/>
            <a:ext cx="641071" cy="292608"/>
          </a:xfrm>
          <a:prstGeom prst="roundRect">
            <a:avLst>
              <a:gd name="adj" fmla="val 25000"/>
            </a:avLst>
          </a:prstGeom>
          <a:solidFill>
            <a:srgbClr val="F5F5F7"/>
          </a:solidFill>
          <a:ln/>
        </p:spPr>
      </p:sp>
      <p:sp>
        <p:nvSpPr>
          <p:cNvPr id="21" name="Text 18"/>
          <p:cNvSpPr txBox="1"/>
          <p:nvPr/>
        </p:nvSpPr>
        <p:spPr>
          <a:xfrm>
            <a:off x="8172526"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C2</a:t>
            </a:r>
            <a:endParaRPr lang="en-US" sz="1000" dirty="0"/>
          </a:p>
        </p:txBody>
      </p:sp>
      <p:sp>
        <p:nvSpPr>
          <p:cNvPr id="22" name="Shape 19"/>
          <p:cNvSpPr/>
          <p:nvPr/>
        </p:nvSpPr>
        <p:spPr>
          <a:xfrm>
            <a:off x="8868461" y="1892808"/>
            <a:ext cx="641071" cy="292608"/>
          </a:xfrm>
          <a:prstGeom prst="roundRect">
            <a:avLst>
              <a:gd name="adj" fmla="val 25000"/>
            </a:avLst>
          </a:prstGeom>
          <a:solidFill>
            <a:srgbClr val="F5F5F7"/>
          </a:solidFill>
          <a:ln/>
        </p:spPr>
      </p:sp>
      <p:sp>
        <p:nvSpPr>
          <p:cNvPr id="23" name="Text 20"/>
          <p:cNvSpPr txBox="1"/>
          <p:nvPr/>
        </p:nvSpPr>
        <p:spPr>
          <a:xfrm>
            <a:off x="8850173"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C3</a:t>
            </a:r>
            <a:endParaRPr lang="en-US" sz="1000" dirty="0"/>
          </a:p>
        </p:txBody>
      </p:sp>
      <p:sp>
        <p:nvSpPr>
          <p:cNvPr id="24" name="Shape 21"/>
          <p:cNvSpPr/>
          <p:nvPr/>
        </p:nvSpPr>
        <p:spPr>
          <a:xfrm>
            <a:off x="9582683" y="1417320"/>
            <a:ext cx="2032940" cy="411480"/>
          </a:xfrm>
          <a:prstGeom prst="rect">
            <a:avLst/>
          </a:prstGeom>
          <a:solidFill>
            <a:srgbClr val="0B0B0D"/>
          </a:solidFill>
          <a:ln/>
        </p:spPr>
      </p:sp>
      <p:sp>
        <p:nvSpPr>
          <p:cNvPr id="25" name="Text 22"/>
          <p:cNvSpPr txBox="1"/>
          <p:nvPr/>
        </p:nvSpPr>
        <p:spPr>
          <a:xfrm>
            <a:off x="9582683"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Transición</a:t>
            </a:r>
            <a:endParaRPr lang="en-US" sz="1300" dirty="0"/>
          </a:p>
        </p:txBody>
      </p:sp>
      <p:sp>
        <p:nvSpPr>
          <p:cNvPr id="26" name="Shape 23"/>
          <p:cNvSpPr/>
          <p:nvPr/>
        </p:nvSpPr>
        <p:spPr>
          <a:xfrm>
            <a:off x="9600971" y="1892808"/>
            <a:ext cx="1996364" cy="292608"/>
          </a:xfrm>
          <a:prstGeom prst="roundRect">
            <a:avLst>
              <a:gd name="adj" fmla="val 25000"/>
            </a:avLst>
          </a:prstGeom>
          <a:solidFill>
            <a:srgbClr val="F5F5F7"/>
          </a:solidFill>
          <a:ln/>
        </p:spPr>
      </p:sp>
      <p:sp>
        <p:nvSpPr>
          <p:cNvPr id="27" name="Text 24"/>
          <p:cNvSpPr txBox="1"/>
          <p:nvPr/>
        </p:nvSpPr>
        <p:spPr>
          <a:xfrm>
            <a:off x="9582683"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T1</a:t>
            </a:r>
            <a:endParaRPr lang="en-US" sz="1000" dirty="0"/>
          </a:p>
        </p:txBody>
      </p:sp>
      <p:sp>
        <p:nvSpPr>
          <p:cNvPr id="28" name="Text 25"/>
          <p:cNvSpPr txBox="1"/>
          <p:nvPr/>
        </p:nvSpPr>
        <p:spPr>
          <a:xfrm>
            <a:off x="548640" y="233172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Modelado del negocio</a:t>
            </a:r>
            <a:endParaRPr lang="en-US" sz="1100" dirty="0"/>
          </a:p>
        </p:txBody>
      </p:sp>
      <p:sp>
        <p:nvSpPr>
          <p:cNvPr id="29" name="Shape 26"/>
          <p:cNvSpPr/>
          <p:nvPr/>
        </p:nvSpPr>
        <p:spPr>
          <a:xfrm>
            <a:off x="548640" y="2715768"/>
            <a:ext cx="11094415" cy="0"/>
          </a:xfrm>
          <a:prstGeom prst="line">
            <a:avLst/>
          </a:prstGeom>
          <a:noFill/>
          <a:ln w="6350">
            <a:solidFill>
              <a:srgbClr val="E3E4E8"/>
            </a:solidFill>
            <a:prstDash val="solid"/>
          </a:ln>
        </p:spPr>
      </p:sp>
      <p:sp>
        <p:nvSpPr>
          <p:cNvPr id="30" name="Shape 27"/>
          <p:cNvSpPr/>
          <p:nvPr/>
        </p:nvSpPr>
        <p:spPr>
          <a:xfrm>
            <a:off x="3429000" y="2423160"/>
            <a:ext cx="1813484" cy="201168"/>
          </a:xfrm>
          <a:prstGeom prst="roundRect">
            <a:avLst>
              <a:gd name="adj" fmla="val 22727"/>
            </a:avLst>
          </a:prstGeom>
          <a:solidFill>
            <a:srgbClr val="6D28D9"/>
          </a:solidFill>
          <a:ln/>
        </p:spPr>
      </p:sp>
      <p:sp>
        <p:nvSpPr>
          <p:cNvPr id="31" name="Shape 28"/>
          <p:cNvSpPr/>
          <p:nvPr/>
        </p:nvSpPr>
        <p:spPr>
          <a:xfrm>
            <a:off x="5970175" y="2423160"/>
            <a:ext cx="906742" cy="201168"/>
          </a:xfrm>
          <a:prstGeom prst="roundRect">
            <a:avLst>
              <a:gd name="adj" fmla="val 22727"/>
            </a:avLst>
          </a:prstGeom>
          <a:solidFill>
            <a:srgbClr val="6D28D9"/>
          </a:solidFill>
          <a:ln/>
        </p:spPr>
      </p:sp>
      <p:sp>
        <p:nvSpPr>
          <p:cNvPr id="32" name="Shape 29"/>
          <p:cNvSpPr/>
          <p:nvPr/>
        </p:nvSpPr>
        <p:spPr>
          <a:xfrm>
            <a:off x="8284664" y="2423160"/>
            <a:ext cx="453371" cy="201168"/>
          </a:xfrm>
          <a:prstGeom prst="roundRect">
            <a:avLst>
              <a:gd name="adj" fmla="val 22727"/>
            </a:avLst>
          </a:prstGeom>
          <a:solidFill>
            <a:srgbClr val="6D28D9"/>
          </a:solidFill>
          <a:ln/>
        </p:spPr>
      </p:sp>
      <p:sp>
        <p:nvSpPr>
          <p:cNvPr id="33" name="Text 30"/>
          <p:cNvSpPr txBox="1"/>
          <p:nvPr/>
        </p:nvSpPr>
        <p:spPr>
          <a:xfrm>
            <a:off x="548640" y="2715768"/>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Requisitos</a:t>
            </a:r>
            <a:endParaRPr lang="en-US" sz="1100" dirty="0"/>
          </a:p>
        </p:txBody>
      </p:sp>
      <p:sp>
        <p:nvSpPr>
          <p:cNvPr id="34" name="Shape 31"/>
          <p:cNvSpPr/>
          <p:nvPr/>
        </p:nvSpPr>
        <p:spPr>
          <a:xfrm>
            <a:off x="548640" y="3099816"/>
            <a:ext cx="11094415" cy="0"/>
          </a:xfrm>
          <a:prstGeom prst="line">
            <a:avLst/>
          </a:prstGeom>
          <a:noFill/>
          <a:ln w="6350">
            <a:solidFill>
              <a:srgbClr val="E3E4E8"/>
            </a:solidFill>
            <a:prstDash val="solid"/>
          </a:ln>
        </p:spPr>
      </p:sp>
      <p:sp>
        <p:nvSpPr>
          <p:cNvPr id="35" name="Shape 32"/>
          <p:cNvSpPr/>
          <p:nvPr/>
        </p:nvSpPr>
        <p:spPr>
          <a:xfrm>
            <a:off x="3655685" y="2807208"/>
            <a:ext cx="1360113" cy="201168"/>
          </a:xfrm>
          <a:prstGeom prst="roundRect">
            <a:avLst>
              <a:gd name="adj" fmla="val 22727"/>
            </a:avLst>
          </a:prstGeom>
          <a:solidFill>
            <a:srgbClr val="6D28D9"/>
          </a:solidFill>
          <a:ln/>
        </p:spPr>
      </p:sp>
      <p:sp>
        <p:nvSpPr>
          <p:cNvPr id="36" name="Shape 33"/>
          <p:cNvSpPr/>
          <p:nvPr/>
        </p:nvSpPr>
        <p:spPr>
          <a:xfrm>
            <a:off x="5516804" y="2807208"/>
            <a:ext cx="1813484" cy="201168"/>
          </a:xfrm>
          <a:prstGeom prst="roundRect">
            <a:avLst>
              <a:gd name="adj" fmla="val 22727"/>
            </a:avLst>
          </a:prstGeom>
          <a:solidFill>
            <a:srgbClr val="6D28D9"/>
          </a:solidFill>
          <a:ln/>
        </p:spPr>
      </p:sp>
      <p:sp>
        <p:nvSpPr>
          <p:cNvPr id="37" name="Shape 34"/>
          <p:cNvSpPr/>
          <p:nvPr/>
        </p:nvSpPr>
        <p:spPr>
          <a:xfrm>
            <a:off x="8284664" y="2807208"/>
            <a:ext cx="453371" cy="201168"/>
          </a:xfrm>
          <a:prstGeom prst="roundRect">
            <a:avLst>
              <a:gd name="adj" fmla="val 22727"/>
            </a:avLst>
          </a:prstGeom>
          <a:solidFill>
            <a:srgbClr val="6D28D9"/>
          </a:solidFill>
          <a:ln/>
        </p:spPr>
      </p:sp>
      <p:sp>
        <p:nvSpPr>
          <p:cNvPr id="38" name="Text 35"/>
          <p:cNvSpPr txBox="1"/>
          <p:nvPr/>
        </p:nvSpPr>
        <p:spPr>
          <a:xfrm>
            <a:off x="548640" y="3099816"/>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Análisis y diseño</a:t>
            </a:r>
            <a:endParaRPr lang="en-US" sz="1100" dirty="0"/>
          </a:p>
        </p:txBody>
      </p:sp>
      <p:sp>
        <p:nvSpPr>
          <p:cNvPr id="39" name="Shape 36"/>
          <p:cNvSpPr/>
          <p:nvPr/>
        </p:nvSpPr>
        <p:spPr>
          <a:xfrm>
            <a:off x="548640" y="3483864"/>
            <a:ext cx="11094415" cy="0"/>
          </a:xfrm>
          <a:prstGeom prst="line">
            <a:avLst/>
          </a:prstGeom>
          <a:noFill/>
          <a:ln w="6350">
            <a:solidFill>
              <a:srgbClr val="E3E4E8"/>
            </a:solidFill>
            <a:prstDash val="solid"/>
          </a:ln>
        </p:spPr>
      </p:sp>
      <p:sp>
        <p:nvSpPr>
          <p:cNvPr id="40" name="Shape 37"/>
          <p:cNvSpPr/>
          <p:nvPr/>
        </p:nvSpPr>
        <p:spPr>
          <a:xfrm>
            <a:off x="4109056" y="3191256"/>
            <a:ext cx="453371" cy="201168"/>
          </a:xfrm>
          <a:prstGeom prst="roundRect">
            <a:avLst>
              <a:gd name="adj" fmla="val 22727"/>
            </a:avLst>
          </a:prstGeom>
          <a:solidFill>
            <a:srgbClr val="6D28D9"/>
          </a:solidFill>
          <a:ln/>
        </p:spPr>
      </p:sp>
      <p:sp>
        <p:nvSpPr>
          <p:cNvPr id="41" name="Shape 38"/>
          <p:cNvSpPr/>
          <p:nvPr/>
        </p:nvSpPr>
        <p:spPr>
          <a:xfrm>
            <a:off x="5516804" y="3191256"/>
            <a:ext cx="1813484" cy="201168"/>
          </a:xfrm>
          <a:prstGeom prst="roundRect">
            <a:avLst>
              <a:gd name="adj" fmla="val 22727"/>
            </a:avLst>
          </a:prstGeom>
          <a:solidFill>
            <a:srgbClr val="6D28D9"/>
          </a:solidFill>
          <a:ln/>
        </p:spPr>
      </p:sp>
      <p:sp>
        <p:nvSpPr>
          <p:cNvPr id="42" name="Shape 39"/>
          <p:cNvSpPr/>
          <p:nvPr/>
        </p:nvSpPr>
        <p:spPr>
          <a:xfrm>
            <a:off x="8057979" y="3191256"/>
            <a:ext cx="906742" cy="201168"/>
          </a:xfrm>
          <a:prstGeom prst="roundRect">
            <a:avLst>
              <a:gd name="adj" fmla="val 22727"/>
            </a:avLst>
          </a:prstGeom>
          <a:solidFill>
            <a:srgbClr val="6D28D9"/>
          </a:solidFill>
          <a:ln/>
        </p:spPr>
      </p:sp>
      <p:sp>
        <p:nvSpPr>
          <p:cNvPr id="43" name="Text 40"/>
          <p:cNvSpPr txBox="1"/>
          <p:nvPr/>
        </p:nvSpPr>
        <p:spPr>
          <a:xfrm>
            <a:off x="548640" y="3483864"/>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Implementación</a:t>
            </a:r>
            <a:endParaRPr lang="en-US" sz="1100" dirty="0"/>
          </a:p>
        </p:txBody>
      </p:sp>
      <p:sp>
        <p:nvSpPr>
          <p:cNvPr id="44" name="Shape 41"/>
          <p:cNvSpPr/>
          <p:nvPr/>
        </p:nvSpPr>
        <p:spPr>
          <a:xfrm>
            <a:off x="548640" y="3867912"/>
            <a:ext cx="11094415" cy="0"/>
          </a:xfrm>
          <a:prstGeom prst="line">
            <a:avLst/>
          </a:prstGeom>
          <a:noFill/>
          <a:ln w="6350">
            <a:solidFill>
              <a:srgbClr val="E3E4E8"/>
            </a:solidFill>
            <a:prstDash val="solid"/>
          </a:ln>
        </p:spPr>
      </p:sp>
      <p:sp>
        <p:nvSpPr>
          <p:cNvPr id="45" name="Shape 42"/>
          <p:cNvSpPr/>
          <p:nvPr/>
        </p:nvSpPr>
        <p:spPr>
          <a:xfrm>
            <a:off x="5970175" y="3575304"/>
            <a:ext cx="906742" cy="201168"/>
          </a:xfrm>
          <a:prstGeom prst="roundRect">
            <a:avLst>
              <a:gd name="adj" fmla="val 22727"/>
            </a:avLst>
          </a:prstGeom>
          <a:solidFill>
            <a:srgbClr val="6D28D9"/>
          </a:solidFill>
          <a:ln/>
        </p:spPr>
      </p:sp>
      <p:sp>
        <p:nvSpPr>
          <p:cNvPr id="46" name="Shape 43"/>
          <p:cNvSpPr/>
          <p:nvPr/>
        </p:nvSpPr>
        <p:spPr>
          <a:xfrm>
            <a:off x="7604608" y="3575304"/>
            <a:ext cx="1813484" cy="201168"/>
          </a:xfrm>
          <a:prstGeom prst="roundRect">
            <a:avLst>
              <a:gd name="adj" fmla="val 22727"/>
            </a:avLst>
          </a:prstGeom>
          <a:solidFill>
            <a:srgbClr val="6D28D9"/>
          </a:solidFill>
          <a:ln/>
        </p:spPr>
      </p:sp>
      <p:sp>
        <p:nvSpPr>
          <p:cNvPr id="47" name="Shape 44"/>
          <p:cNvSpPr/>
          <p:nvPr/>
        </p:nvSpPr>
        <p:spPr>
          <a:xfrm>
            <a:off x="10372468" y="3575304"/>
            <a:ext cx="453371" cy="201168"/>
          </a:xfrm>
          <a:prstGeom prst="roundRect">
            <a:avLst>
              <a:gd name="adj" fmla="val 22727"/>
            </a:avLst>
          </a:prstGeom>
          <a:solidFill>
            <a:srgbClr val="6D28D9"/>
          </a:solidFill>
          <a:ln/>
        </p:spPr>
      </p:sp>
      <p:sp>
        <p:nvSpPr>
          <p:cNvPr id="48" name="Text 45"/>
          <p:cNvSpPr txBox="1"/>
          <p:nvPr/>
        </p:nvSpPr>
        <p:spPr>
          <a:xfrm>
            <a:off x="548640" y="3867912"/>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Pruebas</a:t>
            </a:r>
            <a:endParaRPr lang="en-US" sz="1100" dirty="0"/>
          </a:p>
        </p:txBody>
      </p:sp>
      <p:sp>
        <p:nvSpPr>
          <p:cNvPr id="49" name="Shape 46"/>
          <p:cNvSpPr/>
          <p:nvPr/>
        </p:nvSpPr>
        <p:spPr>
          <a:xfrm>
            <a:off x="548640" y="4251960"/>
            <a:ext cx="11094415" cy="0"/>
          </a:xfrm>
          <a:prstGeom prst="line">
            <a:avLst/>
          </a:prstGeom>
          <a:noFill/>
          <a:ln w="6350">
            <a:solidFill>
              <a:srgbClr val="E3E4E8"/>
            </a:solidFill>
            <a:prstDash val="solid"/>
          </a:ln>
        </p:spPr>
      </p:sp>
      <p:sp>
        <p:nvSpPr>
          <p:cNvPr id="50" name="Shape 47"/>
          <p:cNvSpPr/>
          <p:nvPr/>
        </p:nvSpPr>
        <p:spPr>
          <a:xfrm>
            <a:off x="6196860" y="3959352"/>
            <a:ext cx="453371" cy="201168"/>
          </a:xfrm>
          <a:prstGeom prst="roundRect">
            <a:avLst>
              <a:gd name="adj" fmla="val 22727"/>
            </a:avLst>
          </a:prstGeom>
          <a:solidFill>
            <a:srgbClr val="6D28D9"/>
          </a:solidFill>
          <a:ln/>
        </p:spPr>
      </p:sp>
      <p:sp>
        <p:nvSpPr>
          <p:cNvPr id="51" name="Shape 48"/>
          <p:cNvSpPr/>
          <p:nvPr/>
        </p:nvSpPr>
        <p:spPr>
          <a:xfrm>
            <a:off x="7604608" y="3959352"/>
            <a:ext cx="1813484" cy="201168"/>
          </a:xfrm>
          <a:prstGeom prst="roundRect">
            <a:avLst>
              <a:gd name="adj" fmla="val 22727"/>
            </a:avLst>
          </a:prstGeom>
          <a:solidFill>
            <a:srgbClr val="6D28D9"/>
          </a:solidFill>
          <a:ln/>
        </p:spPr>
      </p:sp>
      <p:sp>
        <p:nvSpPr>
          <p:cNvPr id="52" name="Shape 49"/>
          <p:cNvSpPr/>
          <p:nvPr/>
        </p:nvSpPr>
        <p:spPr>
          <a:xfrm>
            <a:off x="9919097" y="3959352"/>
            <a:ext cx="1360113" cy="201168"/>
          </a:xfrm>
          <a:prstGeom prst="roundRect">
            <a:avLst>
              <a:gd name="adj" fmla="val 22727"/>
            </a:avLst>
          </a:prstGeom>
          <a:solidFill>
            <a:srgbClr val="6D28D9"/>
          </a:solidFill>
          <a:ln/>
        </p:spPr>
      </p:sp>
      <p:sp>
        <p:nvSpPr>
          <p:cNvPr id="53" name="Text 50"/>
          <p:cNvSpPr txBox="1"/>
          <p:nvPr/>
        </p:nvSpPr>
        <p:spPr>
          <a:xfrm>
            <a:off x="548640" y="425196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Despliegue</a:t>
            </a:r>
            <a:endParaRPr lang="en-US" sz="1100" dirty="0"/>
          </a:p>
        </p:txBody>
      </p:sp>
      <p:sp>
        <p:nvSpPr>
          <p:cNvPr id="54" name="Shape 51"/>
          <p:cNvSpPr/>
          <p:nvPr/>
        </p:nvSpPr>
        <p:spPr>
          <a:xfrm>
            <a:off x="548640" y="4636008"/>
            <a:ext cx="11094415" cy="0"/>
          </a:xfrm>
          <a:prstGeom prst="line">
            <a:avLst/>
          </a:prstGeom>
          <a:noFill/>
          <a:ln w="6350">
            <a:solidFill>
              <a:srgbClr val="E3E4E8"/>
            </a:solidFill>
            <a:prstDash val="solid"/>
          </a:ln>
        </p:spPr>
      </p:sp>
      <p:sp>
        <p:nvSpPr>
          <p:cNvPr id="55" name="Shape 52"/>
          <p:cNvSpPr/>
          <p:nvPr/>
        </p:nvSpPr>
        <p:spPr>
          <a:xfrm>
            <a:off x="8284664" y="4343400"/>
            <a:ext cx="453371" cy="201168"/>
          </a:xfrm>
          <a:prstGeom prst="roundRect">
            <a:avLst>
              <a:gd name="adj" fmla="val 22727"/>
            </a:avLst>
          </a:prstGeom>
          <a:solidFill>
            <a:srgbClr val="6D28D9"/>
          </a:solidFill>
          <a:ln/>
        </p:spPr>
      </p:sp>
      <p:sp>
        <p:nvSpPr>
          <p:cNvPr id="56" name="Shape 53"/>
          <p:cNvSpPr/>
          <p:nvPr/>
        </p:nvSpPr>
        <p:spPr>
          <a:xfrm>
            <a:off x="9692411" y="4343400"/>
            <a:ext cx="1813484" cy="201168"/>
          </a:xfrm>
          <a:prstGeom prst="roundRect">
            <a:avLst>
              <a:gd name="adj" fmla="val 22727"/>
            </a:avLst>
          </a:prstGeom>
          <a:solidFill>
            <a:srgbClr val="6D28D9"/>
          </a:solidFill>
          <a:ln/>
        </p:spPr>
      </p:sp>
      <p:sp>
        <p:nvSpPr>
          <p:cNvPr id="57" name="Text 54"/>
          <p:cNvSpPr txBox="1"/>
          <p:nvPr/>
        </p:nvSpPr>
        <p:spPr>
          <a:xfrm>
            <a:off x="548640" y="4636008"/>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 configuración y cambios</a:t>
            </a:r>
            <a:endParaRPr lang="en-US" sz="1100" dirty="0"/>
          </a:p>
        </p:txBody>
      </p:sp>
      <p:sp>
        <p:nvSpPr>
          <p:cNvPr id="58" name="Shape 55"/>
          <p:cNvSpPr/>
          <p:nvPr/>
        </p:nvSpPr>
        <p:spPr>
          <a:xfrm>
            <a:off x="548640" y="5020056"/>
            <a:ext cx="11094415" cy="0"/>
          </a:xfrm>
          <a:prstGeom prst="line">
            <a:avLst/>
          </a:prstGeom>
          <a:noFill/>
          <a:ln w="6350">
            <a:solidFill>
              <a:srgbClr val="E3E4E8"/>
            </a:solidFill>
            <a:prstDash val="solid"/>
          </a:ln>
        </p:spPr>
      </p:sp>
      <p:sp>
        <p:nvSpPr>
          <p:cNvPr id="59" name="Shape 56"/>
          <p:cNvSpPr/>
          <p:nvPr/>
        </p:nvSpPr>
        <p:spPr>
          <a:xfrm>
            <a:off x="4109056" y="4727448"/>
            <a:ext cx="453371" cy="201168"/>
          </a:xfrm>
          <a:prstGeom prst="roundRect">
            <a:avLst>
              <a:gd name="adj" fmla="val 22727"/>
            </a:avLst>
          </a:prstGeom>
          <a:solidFill>
            <a:srgbClr val="9CA3AF"/>
          </a:solidFill>
          <a:ln/>
        </p:spPr>
      </p:sp>
      <p:sp>
        <p:nvSpPr>
          <p:cNvPr id="60" name="Shape 57"/>
          <p:cNvSpPr/>
          <p:nvPr/>
        </p:nvSpPr>
        <p:spPr>
          <a:xfrm>
            <a:off x="5970175" y="4727448"/>
            <a:ext cx="906742" cy="201168"/>
          </a:xfrm>
          <a:prstGeom prst="roundRect">
            <a:avLst>
              <a:gd name="adj" fmla="val 22727"/>
            </a:avLst>
          </a:prstGeom>
          <a:solidFill>
            <a:srgbClr val="9CA3AF"/>
          </a:solidFill>
          <a:ln/>
        </p:spPr>
      </p:sp>
      <p:sp>
        <p:nvSpPr>
          <p:cNvPr id="61" name="Shape 58"/>
          <p:cNvSpPr/>
          <p:nvPr/>
        </p:nvSpPr>
        <p:spPr>
          <a:xfrm>
            <a:off x="7831293" y="4727448"/>
            <a:ext cx="1360113" cy="201168"/>
          </a:xfrm>
          <a:prstGeom prst="roundRect">
            <a:avLst>
              <a:gd name="adj" fmla="val 22727"/>
            </a:avLst>
          </a:prstGeom>
          <a:solidFill>
            <a:srgbClr val="9CA3AF"/>
          </a:solidFill>
          <a:ln/>
        </p:spPr>
      </p:sp>
      <p:sp>
        <p:nvSpPr>
          <p:cNvPr id="62" name="Shape 59"/>
          <p:cNvSpPr/>
          <p:nvPr/>
        </p:nvSpPr>
        <p:spPr>
          <a:xfrm>
            <a:off x="9919097" y="4727448"/>
            <a:ext cx="1360113" cy="201168"/>
          </a:xfrm>
          <a:prstGeom prst="roundRect">
            <a:avLst>
              <a:gd name="adj" fmla="val 22727"/>
            </a:avLst>
          </a:prstGeom>
          <a:solidFill>
            <a:srgbClr val="9CA3AF"/>
          </a:solidFill>
          <a:ln/>
        </p:spPr>
      </p:sp>
      <p:sp>
        <p:nvSpPr>
          <p:cNvPr id="63" name="Text 60"/>
          <p:cNvSpPr txBox="1"/>
          <p:nvPr/>
        </p:nvSpPr>
        <p:spPr>
          <a:xfrm>
            <a:off x="548640" y="5020056"/>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del proyecto</a:t>
            </a:r>
            <a:endParaRPr lang="en-US" sz="1100" dirty="0"/>
          </a:p>
        </p:txBody>
      </p:sp>
      <p:sp>
        <p:nvSpPr>
          <p:cNvPr id="64" name="Shape 61"/>
          <p:cNvSpPr/>
          <p:nvPr/>
        </p:nvSpPr>
        <p:spPr>
          <a:xfrm>
            <a:off x="548640" y="5404104"/>
            <a:ext cx="11094415" cy="0"/>
          </a:xfrm>
          <a:prstGeom prst="line">
            <a:avLst/>
          </a:prstGeom>
          <a:noFill/>
          <a:ln w="6350">
            <a:solidFill>
              <a:srgbClr val="E3E4E8"/>
            </a:solidFill>
            <a:prstDash val="solid"/>
          </a:ln>
        </p:spPr>
      </p:sp>
      <p:sp>
        <p:nvSpPr>
          <p:cNvPr id="65" name="Shape 62"/>
          <p:cNvSpPr/>
          <p:nvPr/>
        </p:nvSpPr>
        <p:spPr>
          <a:xfrm>
            <a:off x="3655685" y="5111496"/>
            <a:ext cx="1360113" cy="201168"/>
          </a:xfrm>
          <a:prstGeom prst="roundRect">
            <a:avLst>
              <a:gd name="adj" fmla="val 22727"/>
            </a:avLst>
          </a:prstGeom>
          <a:solidFill>
            <a:srgbClr val="9CA3AF"/>
          </a:solidFill>
          <a:ln/>
        </p:spPr>
      </p:sp>
      <p:sp>
        <p:nvSpPr>
          <p:cNvPr id="66" name="Shape 63"/>
          <p:cNvSpPr/>
          <p:nvPr/>
        </p:nvSpPr>
        <p:spPr>
          <a:xfrm>
            <a:off x="5743489" y="5111496"/>
            <a:ext cx="1360113" cy="201168"/>
          </a:xfrm>
          <a:prstGeom prst="roundRect">
            <a:avLst>
              <a:gd name="adj" fmla="val 22727"/>
            </a:avLst>
          </a:prstGeom>
          <a:solidFill>
            <a:srgbClr val="9CA3AF"/>
          </a:solidFill>
          <a:ln/>
        </p:spPr>
      </p:sp>
      <p:sp>
        <p:nvSpPr>
          <p:cNvPr id="67" name="Shape 64"/>
          <p:cNvSpPr/>
          <p:nvPr/>
        </p:nvSpPr>
        <p:spPr>
          <a:xfrm>
            <a:off x="8057979" y="5111496"/>
            <a:ext cx="906742" cy="201168"/>
          </a:xfrm>
          <a:prstGeom prst="roundRect">
            <a:avLst>
              <a:gd name="adj" fmla="val 22727"/>
            </a:avLst>
          </a:prstGeom>
          <a:solidFill>
            <a:srgbClr val="9CA3AF"/>
          </a:solidFill>
          <a:ln/>
        </p:spPr>
      </p:sp>
      <p:sp>
        <p:nvSpPr>
          <p:cNvPr id="68" name="Shape 65"/>
          <p:cNvSpPr/>
          <p:nvPr/>
        </p:nvSpPr>
        <p:spPr>
          <a:xfrm>
            <a:off x="10145782" y="5111496"/>
            <a:ext cx="906742" cy="201168"/>
          </a:xfrm>
          <a:prstGeom prst="roundRect">
            <a:avLst>
              <a:gd name="adj" fmla="val 22727"/>
            </a:avLst>
          </a:prstGeom>
          <a:solidFill>
            <a:srgbClr val="9CA3AF"/>
          </a:solidFill>
          <a:ln/>
        </p:spPr>
      </p:sp>
      <p:sp>
        <p:nvSpPr>
          <p:cNvPr id="69" name="Text 66"/>
          <p:cNvSpPr txBox="1"/>
          <p:nvPr/>
        </p:nvSpPr>
        <p:spPr>
          <a:xfrm>
            <a:off x="548640" y="5404104"/>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Entorno</a:t>
            </a:r>
            <a:endParaRPr lang="en-US" sz="1100" dirty="0"/>
          </a:p>
        </p:txBody>
      </p:sp>
      <p:sp>
        <p:nvSpPr>
          <p:cNvPr id="70" name="Shape 67"/>
          <p:cNvSpPr/>
          <p:nvPr/>
        </p:nvSpPr>
        <p:spPr>
          <a:xfrm>
            <a:off x="548640" y="5788152"/>
            <a:ext cx="11094415" cy="0"/>
          </a:xfrm>
          <a:prstGeom prst="line">
            <a:avLst/>
          </a:prstGeom>
          <a:noFill/>
          <a:ln w="6350">
            <a:solidFill>
              <a:srgbClr val="E3E4E8"/>
            </a:solidFill>
            <a:prstDash val="solid"/>
          </a:ln>
        </p:spPr>
      </p:sp>
      <p:sp>
        <p:nvSpPr>
          <p:cNvPr id="71" name="Shape 68"/>
          <p:cNvSpPr/>
          <p:nvPr/>
        </p:nvSpPr>
        <p:spPr>
          <a:xfrm>
            <a:off x="3882371" y="5495544"/>
            <a:ext cx="906742" cy="201168"/>
          </a:xfrm>
          <a:prstGeom prst="roundRect">
            <a:avLst>
              <a:gd name="adj" fmla="val 22727"/>
            </a:avLst>
          </a:prstGeom>
          <a:solidFill>
            <a:srgbClr val="9CA3AF"/>
          </a:solidFill>
          <a:ln/>
        </p:spPr>
      </p:sp>
      <p:sp>
        <p:nvSpPr>
          <p:cNvPr id="72" name="Shape 69"/>
          <p:cNvSpPr/>
          <p:nvPr/>
        </p:nvSpPr>
        <p:spPr>
          <a:xfrm>
            <a:off x="5970175" y="5495544"/>
            <a:ext cx="906742" cy="201168"/>
          </a:xfrm>
          <a:prstGeom prst="roundRect">
            <a:avLst>
              <a:gd name="adj" fmla="val 22727"/>
            </a:avLst>
          </a:prstGeom>
          <a:solidFill>
            <a:srgbClr val="9CA3AF"/>
          </a:solidFill>
          <a:ln/>
        </p:spPr>
      </p:sp>
      <p:sp>
        <p:nvSpPr>
          <p:cNvPr id="73" name="Shape 70"/>
          <p:cNvSpPr/>
          <p:nvPr/>
        </p:nvSpPr>
        <p:spPr>
          <a:xfrm>
            <a:off x="8284664" y="5495544"/>
            <a:ext cx="453371" cy="201168"/>
          </a:xfrm>
          <a:prstGeom prst="roundRect">
            <a:avLst>
              <a:gd name="adj" fmla="val 22727"/>
            </a:avLst>
          </a:prstGeom>
          <a:solidFill>
            <a:srgbClr val="9CA3AF"/>
          </a:solidFill>
          <a:ln/>
        </p:spPr>
      </p:sp>
      <p:sp>
        <p:nvSpPr>
          <p:cNvPr id="74" name="Shape 71"/>
          <p:cNvSpPr/>
          <p:nvPr/>
        </p:nvSpPr>
        <p:spPr>
          <a:xfrm>
            <a:off x="10372468" y="5495544"/>
            <a:ext cx="453371" cy="201168"/>
          </a:xfrm>
          <a:prstGeom prst="roundRect">
            <a:avLst>
              <a:gd name="adj" fmla="val 22727"/>
            </a:avLst>
          </a:prstGeom>
          <a:solidFill>
            <a:srgbClr val="9CA3AF"/>
          </a:solidFill>
          <a:ln/>
        </p:spPr>
      </p:sp>
      <p:sp>
        <p:nvSpPr>
          <p:cNvPr id="75" name="Text 72"/>
          <p:cNvSpPr txBox="1"/>
          <p:nvPr/>
        </p:nvSpPr>
        <p:spPr>
          <a:xfrm>
            <a:off x="3291840"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LCO</a:t>
            </a:r>
            <a:endParaRPr lang="en-US" sz="1200" dirty="0"/>
          </a:p>
        </p:txBody>
      </p:sp>
      <p:sp>
        <p:nvSpPr>
          <p:cNvPr id="76" name="Text 73"/>
          <p:cNvSpPr txBox="1"/>
          <p:nvPr/>
        </p:nvSpPr>
        <p:spPr>
          <a:xfrm>
            <a:off x="5379644"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LCA</a:t>
            </a:r>
            <a:endParaRPr lang="en-US" sz="1200" dirty="0"/>
          </a:p>
        </p:txBody>
      </p:sp>
      <p:sp>
        <p:nvSpPr>
          <p:cNvPr id="77" name="Text 74"/>
          <p:cNvSpPr txBox="1"/>
          <p:nvPr/>
        </p:nvSpPr>
        <p:spPr>
          <a:xfrm>
            <a:off x="7467448"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IOC</a:t>
            </a:r>
            <a:endParaRPr lang="en-US" sz="1200" dirty="0"/>
          </a:p>
        </p:txBody>
      </p:sp>
      <p:sp>
        <p:nvSpPr>
          <p:cNvPr id="78" name="Text 75"/>
          <p:cNvSpPr txBox="1"/>
          <p:nvPr/>
        </p:nvSpPr>
        <p:spPr>
          <a:xfrm>
            <a:off x="9555251"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PR</a:t>
            </a:r>
            <a:endParaRPr lang="en-US" sz="1200" dirty="0"/>
          </a:p>
        </p:txBody>
      </p:sp>
      <p:sp>
        <p:nvSpPr>
          <p:cNvPr id="79" name="Text 76"/>
          <p:cNvSpPr txBox="1"/>
          <p:nvPr/>
        </p:nvSpPr>
        <p:spPr>
          <a:xfrm>
            <a:off x="548640" y="6199632"/>
            <a:ext cx="1109441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Hitos: LCO objetivos acordados · LCA arquitectura validada · IOC versión operativa · PR producto publicado</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FASE 1 DE 4</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Fase de Inicio</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9</a:t>
            </a:r>
            <a:endParaRPr lang="en-US" sz="900" dirty="0"/>
          </a:p>
        </p:txBody>
      </p:sp>
      <p:sp>
        <p:nvSpPr>
          <p:cNvPr id="6" name="!!ph-tag#1"/>
          <p:cNvSpPr/>
          <p:nvPr/>
        </p:nvSpPr>
        <p:spPr>
          <a:xfrm>
            <a:off x="10271455" y="749808"/>
            <a:ext cx="1025500" cy="256032"/>
          </a:xfrm>
          <a:prstGeom prst="roundRect">
            <a:avLst>
              <a:gd name="adj" fmla="val 50000"/>
            </a:avLst>
          </a:prstGeom>
          <a:solidFill>
            <a:srgbClr val="0B0B0D"/>
          </a:solidFill>
          <a:ln w="9525">
            <a:solidFill>
              <a:srgbClr val="0B0B0D"/>
            </a:solidFill>
            <a:prstDash val="solid"/>
          </a:ln>
        </p:spPr>
      </p:sp>
      <p:sp>
        <p:nvSpPr>
          <p:cNvPr id="7" name="!!ph-tag#2"/>
          <p:cNvSpPr txBox="1"/>
          <p:nvPr/>
        </p:nvSpPr>
        <p:spPr>
          <a:xfrm>
            <a:off x="10271455" y="749808"/>
            <a:ext cx="10255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Realizado</a:t>
            </a:r>
            <a:endParaRPr lang="en-US" sz="1100" dirty="0"/>
          </a:p>
        </p:txBody>
      </p:sp>
      <p:sp>
        <p:nvSpPr>
          <p:cNvPr id="8" name="!!ph-obj#1"/>
          <p:cNvSpPr/>
          <p:nvPr/>
        </p:nvSpPr>
        <p:spPr>
          <a:xfrm>
            <a:off x="548640" y="1417320"/>
            <a:ext cx="5669280" cy="914400"/>
          </a:xfrm>
          <a:prstGeom prst="roundRect">
            <a:avLst>
              <a:gd name="adj" fmla="val 8000"/>
            </a:avLst>
          </a:prstGeom>
          <a:solidFill>
            <a:srgbClr val="0B0B0D"/>
          </a:solidFill>
          <a:ln/>
        </p:spPr>
      </p:sp>
      <p:sp>
        <p:nvSpPr>
          <p:cNvPr id="9" name="!!ph-obj#2"/>
          <p:cNvSpPr txBox="1"/>
          <p:nvPr/>
        </p:nvSpPr>
        <p:spPr>
          <a:xfrm>
            <a:off x="822960" y="1417320"/>
            <a:ext cx="5212080" cy="914400"/>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Objetivo  </a:t>
            </a:r>
            <a:pPr indent="0" marL="0">
              <a:buNone/>
            </a:pPr>
            <a:r>
              <a:rPr lang="en-US" sz="1500" dirty="0">
                <a:solidFill>
                  <a:srgbClr val="FFFFFF"/>
                </a:solidFill>
                <a:latin typeface="Arial" pitchFamily="34" charset="0"/>
                <a:ea typeface="Arial" pitchFamily="34" charset="-122"/>
                <a:cs typeface="Arial" pitchFamily="34" charset="-120"/>
              </a:rPr>
              <a:t>Entender el negocio y acordar qué se va a construir.</a:t>
            </a:r>
            <a:endParaRPr lang="en-US" sz="1500" dirty="0"/>
          </a:p>
        </p:txBody>
      </p:sp>
      <p:sp>
        <p:nvSpPr>
          <p:cNvPr id="10" name="!!ph-act#1"/>
          <p:cNvSpPr txBox="1"/>
          <p:nvPr/>
        </p:nvSpPr>
        <p:spPr>
          <a:xfrm>
            <a:off x="548640" y="251460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ACTIVIDADES PRINCIPALES</a:t>
            </a:r>
            <a:endParaRPr lang="en-US" sz="1050" dirty="0"/>
          </a:p>
        </p:txBody>
      </p:sp>
      <p:sp>
        <p:nvSpPr>
          <p:cNvPr id="11" name="!!ph-act#2"/>
          <p:cNvSpPr txBox="1"/>
          <p:nvPr/>
        </p:nvSpPr>
        <p:spPr>
          <a:xfrm>
            <a:off x="548640" y="2834640"/>
            <a:ext cx="5577840"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Análisis del sitio original con capturas y recorridos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Stakeholders, problema y necesidades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Alcance, exclusiones y viabilidad</a:t>
            </a:r>
            <a:endParaRPr lang="en-US" sz="1350" dirty="0"/>
          </a:p>
        </p:txBody>
      </p:sp>
      <p:sp>
        <p:nvSpPr>
          <p:cNvPr id="12" name="!!ph-artl#1"/>
          <p:cNvSpPr txBox="1"/>
          <p:nvPr/>
        </p:nvSpPr>
        <p:spPr>
          <a:xfrm>
            <a:off x="548640" y="489204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ARTEFACTOS</a:t>
            </a:r>
            <a:endParaRPr lang="en-US" sz="1050" dirty="0"/>
          </a:p>
        </p:txBody>
      </p:sp>
      <p:sp>
        <p:nvSpPr>
          <p:cNvPr id="13" name="!!ph-art0#1"/>
          <p:cNvSpPr/>
          <p:nvPr/>
        </p:nvSpPr>
        <p:spPr>
          <a:xfrm>
            <a:off x="548640" y="5212080"/>
            <a:ext cx="740664" cy="310896"/>
          </a:xfrm>
          <a:prstGeom prst="roundRect">
            <a:avLst>
              <a:gd name="adj" fmla="val 23529"/>
            </a:avLst>
          </a:prstGeom>
          <a:solidFill>
            <a:srgbClr val="F5F5F7"/>
          </a:solidFill>
          <a:ln w="12700">
            <a:solidFill>
              <a:srgbClr val="E3E4E8"/>
            </a:solidFill>
            <a:prstDash val="solid"/>
          </a:ln>
        </p:spPr>
      </p:sp>
      <p:sp>
        <p:nvSpPr>
          <p:cNvPr id="14" name="!!ph-art0#2"/>
          <p:cNvSpPr txBox="1"/>
          <p:nvPr/>
        </p:nvSpPr>
        <p:spPr>
          <a:xfrm>
            <a:off x="548640" y="5212080"/>
            <a:ext cx="740664"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Visión</a:t>
            </a:r>
            <a:endParaRPr lang="en-US" sz="1050" dirty="0"/>
          </a:p>
        </p:txBody>
      </p:sp>
      <p:sp>
        <p:nvSpPr>
          <p:cNvPr id="15" name="!!ph-art1#1"/>
          <p:cNvSpPr/>
          <p:nvPr/>
        </p:nvSpPr>
        <p:spPr>
          <a:xfrm>
            <a:off x="1399032" y="5212080"/>
            <a:ext cx="2372868" cy="310896"/>
          </a:xfrm>
          <a:prstGeom prst="roundRect">
            <a:avLst>
              <a:gd name="adj" fmla="val 23529"/>
            </a:avLst>
          </a:prstGeom>
          <a:solidFill>
            <a:srgbClr val="F5F5F7"/>
          </a:solidFill>
          <a:ln w="12700">
            <a:solidFill>
              <a:srgbClr val="E3E4E8"/>
            </a:solidFill>
            <a:prstDash val="solid"/>
          </a:ln>
        </p:spPr>
      </p:sp>
      <p:sp>
        <p:nvSpPr>
          <p:cNvPr id="16" name="!!ph-art1#2"/>
          <p:cNvSpPr txBox="1"/>
          <p:nvPr/>
        </p:nvSpPr>
        <p:spPr>
          <a:xfrm>
            <a:off x="1399032" y="5212080"/>
            <a:ext cx="237286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Análisis del sitio original</a:t>
            </a:r>
            <a:endParaRPr lang="en-US" sz="1050" dirty="0"/>
          </a:p>
        </p:txBody>
      </p:sp>
      <p:sp>
        <p:nvSpPr>
          <p:cNvPr id="17" name="!!ph-art2#1"/>
          <p:cNvSpPr/>
          <p:nvPr/>
        </p:nvSpPr>
        <p:spPr>
          <a:xfrm>
            <a:off x="3881628" y="5212080"/>
            <a:ext cx="1673352" cy="310896"/>
          </a:xfrm>
          <a:prstGeom prst="roundRect">
            <a:avLst>
              <a:gd name="adj" fmla="val 23529"/>
            </a:avLst>
          </a:prstGeom>
          <a:solidFill>
            <a:srgbClr val="F5F5F7"/>
          </a:solidFill>
          <a:ln w="12700">
            <a:solidFill>
              <a:srgbClr val="E3E4E8"/>
            </a:solidFill>
            <a:prstDash val="solid"/>
          </a:ln>
        </p:spPr>
      </p:sp>
      <p:sp>
        <p:nvSpPr>
          <p:cNvPr id="18" name="!!ph-art2#2"/>
          <p:cNvSpPr txBox="1"/>
          <p:nvPr/>
        </p:nvSpPr>
        <p:spPr>
          <a:xfrm>
            <a:off x="3881628" y="5212080"/>
            <a:ext cx="1673352"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Modelo del negocio</a:t>
            </a:r>
            <a:endParaRPr lang="en-US" sz="1050" dirty="0"/>
          </a:p>
        </p:txBody>
      </p:sp>
      <p:sp>
        <p:nvSpPr>
          <p:cNvPr id="19" name="!!ph-art3#1"/>
          <p:cNvSpPr/>
          <p:nvPr/>
        </p:nvSpPr>
        <p:spPr>
          <a:xfrm>
            <a:off x="548640" y="5596128"/>
            <a:ext cx="1595628" cy="310896"/>
          </a:xfrm>
          <a:prstGeom prst="roundRect">
            <a:avLst>
              <a:gd name="adj" fmla="val 23529"/>
            </a:avLst>
          </a:prstGeom>
          <a:solidFill>
            <a:srgbClr val="F5F5F7"/>
          </a:solidFill>
          <a:ln w="12700">
            <a:solidFill>
              <a:srgbClr val="E3E4E8"/>
            </a:solidFill>
            <a:prstDash val="solid"/>
          </a:ln>
        </p:spPr>
      </p:sp>
      <p:sp>
        <p:nvSpPr>
          <p:cNvPr id="20" name="!!ph-art3#2"/>
          <p:cNvSpPr txBox="1"/>
          <p:nvPr/>
        </p:nvSpPr>
        <p:spPr>
          <a:xfrm>
            <a:off x="548640" y="5596128"/>
            <a:ext cx="159562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Riesgos iniciales</a:t>
            </a:r>
            <a:endParaRPr lang="en-US" sz="1050" dirty="0"/>
          </a:p>
        </p:txBody>
      </p:sp>
      <p:sp>
        <p:nvSpPr>
          <p:cNvPr id="21" name="!!ph-bh#1"/>
          <p:cNvSpPr/>
          <p:nvPr/>
        </p:nvSpPr>
        <p:spPr>
          <a:xfrm>
            <a:off x="6583680" y="1417320"/>
            <a:ext cx="5059375" cy="1463040"/>
          </a:xfrm>
          <a:prstGeom prst="roundRect">
            <a:avLst>
              <a:gd name="adj" fmla="val 5000"/>
            </a:avLst>
          </a:prstGeom>
          <a:solidFill>
            <a:srgbClr val="EDE4FB"/>
          </a:solidFill>
          <a:ln/>
        </p:spPr>
      </p:sp>
      <p:sp>
        <p:nvSpPr>
          <p:cNvPr id="22" name="!!ph-bh#2"/>
          <p:cNvSpPr txBox="1"/>
          <p:nvPr/>
        </p:nvSpPr>
        <p:spPr>
          <a:xfrm>
            <a:off x="6812280" y="1554480"/>
            <a:ext cx="36576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EN BLACK HAWK</a:t>
            </a:r>
            <a:endParaRPr lang="en-US" sz="1050" dirty="0"/>
          </a:p>
        </p:txBody>
      </p:sp>
      <p:sp>
        <p:nvSpPr>
          <p:cNvPr id="23" name="!!ph-bh#3"/>
          <p:cNvSpPr txBox="1"/>
          <p:nvPr/>
        </p:nvSpPr>
        <p:spPr>
          <a:xfrm>
            <a:off x="6812280" y="1828800"/>
            <a:ext cx="4602175" cy="100584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Se documentaron la tienda vacía, la ficha sin consulta y el canal mayorista oculto.</a:t>
            </a:r>
            <a:endParaRPr lang="en-US" sz="1350" dirty="0"/>
          </a:p>
        </p:txBody>
      </p:sp>
      <p:sp>
        <p:nvSpPr>
          <p:cNvPr id="24" name="!!ph-box2#1"/>
          <p:cNvSpPr/>
          <p:nvPr/>
        </p:nvSpPr>
        <p:spPr>
          <a:xfrm>
            <a:off x="6583680" y="3017520"/>
            <a:ext cx="5059375" cy="1234440"/>
          </a:xfrm>
          <a:prstGeom prst="roundRect">
            <a:avLst>
              <a:gd name="adj" fmla="val 5926"/>
            </a:avLst>
          </a:prstGeom>
          <a:solidFill>
            <a:srgbClr val="F5F5F7"/>
          </a:solidFill>
          <a:ln/>
        </p:spPr>
      </p:sp>
      <p:sp>
        <p:nvSpPr>
          <p:cNvPr id="25" name="!!ph-box2#2"/>
          <p:cNvSpPr txBox="1"/>
          <p:nvPr/>
        </p:nvSpPr>
        <p:spPr>
          <a:xfrm>
            <a:off x="6812280" y="3127248"/>
            <a:ext cx="36576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STAKEHOLDERS</a:t>
            </a:r>
            <a:endParaRPr lang="en-US" sz="1000" dirty="0"/>
          </a:p>
        </p:txBody>
      </p:sp>
      <p:sp>
        <p:nvSpPr>
          <p:cNvPr id="26" name="!!ph-box2#3"/>
          <p:cNvSpPr txBox="1"/>
          <p:nvPr/>
        </p:nvSpPr>
        <p:spPr>
          <a:xfrm>
            <a:off x="6812280" y="3401568"/>
            <a:ext cx="4602175" cy="77724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Gerencia · Área comercial · Gestor de contenidos · Distribuidores · Clientes</a:t>
            </a:r>
            <a:endParaRPr lang="en-US" sz="1200" dirty="0"/>
          </a:p>
        </p:txBody>
      </p:sp>
      <p:sp>
        <p:nvSpPr>
          <p:cNvPr id="27" name="!!ph-box3#1"/>
          <p:cNvSpPr/>
          <p:nvPr/>
        </p:nvSpPr>
        <p:spPr>
          <a:xfrm>
            <a:off x="6583680" y="4389120"/>
            <a:ext cx="5059375" cy="1097280"/>
          </a:xfrm>
          <a:prstGeom prst="roundRect">
            <a:avLst>
              <a:gd name="adj" fmla="val 6667"/>
            </a:avLst>
          </a:prstGeom>
          <a:solidFill>
            <a:srgbClr val="F5F5F7"/>
          </a:solidFill>
          <a:ln/>
        </p:spPr>
      </p:sp>
      <p:sp>
        <p:nvSpPr>
          <p:cNvPr id="28" name="!!ph-box3#2"/>
          <p:cNvSpPr txBox="1"/>
          <p:nvPr/>
        </p:nvSpPr>
        <p:spPr>
          <a:xfrm>
            <a:off x="6812280" y="4480560"/>
            <a:ext cx="36576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VIABILIDAD</a:t>
            </a:r>
            <a:endParaRPr lang="en-US" sz="1000" dirty="0"/>
          </a:p>
        </p:txBody>
      </p:sp>
      <p:sp>
        <p:nvSpPr>
          <p:cNvPr id="29" name="!!ph-box3#3"/>
          <p:cNvSpPr txBox="1"/>
          <p:nvPr/>
        </p:nvSpPr>
        <p:spPr>
          <a:xfrm>
            <a:off x="6812280" y="4736592"/>
            <a:ext cx="4602175" cy="7315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Técnica: </a:t>
            </a:r>
            <a:pPr indent="0" marL="0">
              <a:buNone/>
            </a:pPr>
            <a:r>
              <a:rPr lang="en-US" sz="1100" dirty="0">
                <a:solidFill>
                  <a:srgbClr val="0B0B0D"/>
                </a:solidFill>
                <a:latin typeface="Arial" pitchFamily="34" charset="0"/>
                <a:ea typeface="Arial" pitchFamily="34" charset="-122"/>
                <a:cs typeface="Arial" pitchFamily="34" charset="-120"/>
              </a:rPr>
              <a:t>WordPress y WooCommerce ya existen</a:t>
            </a:r>
            <a:endParaRPr lang="en-US" sz="1100" dirty="0"/>
          </a:p>
          <a:p>
            <a:pPr indent="0" marL="0">
              <a:buNone/>
            </a:pPr>
            <a:r>
              <a:rPr lang="en-US" sz="1100" b="1" dirty="0">
                <a:solidFill>
                  <a:srgbClr val="0B0B0D"/>
                </a:solidFill>
                <a:latin typeface="Arial" pitchFamily="34" charset="0"/>
                <a:ea typeface="Arial" pitchFamily="34" charset="-122"/>
                <a:cs typeface="Arial" pitchFamily="34" charset="-120"/>
              </a:rPr>
              <a:t>Operativa: </a:t>
            </a:r>
            <a:pPr indent="0" marL="0">
              <a:buNone/>
            </a:pPr>
            <a:r>
              <a:rPr lang="en-US" sz="1100" dirty="0">
                <a:solidFill>
                  <a:srgbClr val="0B0B0D"/>
                </a:solidFill>
                <a:latin typeface="Arial" pitchFamily="34" charset="0"/>
                <a:ea typeface="Arial" pitchFamily="34" charset="-122"/>
                <a:cs typeface="Arial" pitchFamily="34" charset="-120"/>
              </a:rPr>
              <a:t>WhatsApp ya es el canal de venta</a:t>
            </a:r>
            <a:endParaRPr lang="en-US" sz="1100" dirty="0"/>
          </a:p>
          <a:p>
            <a:pPr indent="0" marL="0">
              <a:buNone/>
            </a:pPr>
            <a:r>
              <a:rPr lang="en-US" sz="1100" b="1" dirty="0">
                <a:solidFill>
                  <a:srgbClr val="0B0B0D"/>
                </a:solidFill>
                <a:latin typeface="Arial" pitchFamily="34" charset="0"/>
                <a:ea typeface="Arial" pitchFamily="34" charset="-122"/>
                <a:cs typeface="Arial" pitchFamily="34" charset="-120"/>
              </a:rPr>
              <a:t>Económica: </a:t>
            </a:r>
            <a:pPr indent="0" marL="0">
              <a:buNone/>
            </a:pPr>
            <a:r>
              <a:rPr lang="en-US" sz="1100" dirty="0">
                <a:solidFill>
                  <a:srgbClr val="0B0B0D"/>
                </a:solidFill>
                <a:latin typeface="Arial" pitchFamily="34" charset="0"/>
                <a:ea typeface="Arial" pitchFamily="34" charset="-122"/>
                <a:cs typeface="Arial" pitchFamily="34" charset="-120"/>
              </a:rPr>
              <a:t>Se reutilizan la plataforma y el contenido</a:t>
            </a:r>
            <a:endParaRPr lang="en-US" sz="1100" dirty="0"/>
          </a:p>
        </p:txBody>
      </p:sp>
      <p:sp>
        <p:nvSpPr>
          <p:cNvPr id="30" name="!!ph-hito#1"/>
          <p:cNvSpPr/>
          <p:nvPr/>
        </p:nvSpPr>
        <p:spPr>
          <a:xfrm>
            <a:off x="6583680" y="5623560"/>
            <a:ext cx="5059375" cy="457200"/>
          </a:xfrm>
          <a:prstGeom prst="roundRect">
            <a:avLst>
              <a:gd name="adj" fmla="val 16000"/>
            </a:avLst>
          </a:prstGeom>
          <a:solidFill>
            <a:srgbClr val="FFFFFF"/>
          </a:solidFill>
          <a:ln w="12700">
            <a:solidFill>
              <a:srgbClr val="0B0B0D"/>
            </a:solidFill>
            <a:prstDash val="solid"/>
          </a:ln>
        </p:spPr>
      </p:sp>
      <p:sp>
        <p:nvSpPr>
          <p:cNvPr id="31" name="!!ph-hito#2"/>
          <p:cNvSpPr txBox="1"/>
          <p:nvPr/>
        </p:nvSpPr>
        <p:spPr>
          <a:xfrm>
            <a:off x="6583680" y="5623560"/>
            <a:ext cx="5059375" cy="457200"/>
          </a:xfrm>
          <a:prstGeom prst="rect">
            <a:avLst/>
          </a:prstGeom>
          <a:noFill/>
          <a:ln/>
        </p:spPr>
        <p:txBody>
          <a:bodyPr wrap="square" lIns="0" tIns="0" rIns="0" bIns="0" rtlCol="0" anchor="ctr"/>
          <a:lstStyle/>
          <a:p>
            <a:pPr algn="ctr" indent="0" marL="0">
              <a:buNone/>
            </a:pPr>
            <a:r>
              <a:rPr lang="en-US" sz="1300" b="1" dirty="0">
                <a:solidFill>
                  <a:srgbClr val="6D28D9"/>
                </a:solidFill>
                <a:latin typeface="Arial" pitchFamily="34" charset="0"/>
                <a:ea typeface="Arial" pitchFamily="34" charset="-122"/>
                <a:cs typeface="Arial" pitchFamily="34" charset="-120"/>
              </a:rPr>
              <a:t>Hito LCO  </a:t>
            </a:r>
            <a:pPr algn="ctr" indent="0" marL="0">
              <a:buNone/>
            </a:pPr>
            <a:r>
              <a:rPr lang="en-US" sz="1300" dirty="0">
                <a:solidFill>
                  <a:srgbClr val="0B0B0D"/>
                </a:solidFill>
                <a:latin typeface="Arial" pitchFamily="34" charset="0"/>
                <a:ea typeface="Arial" pitchFamily="34" charset="-122"/>
                <a:cs typeface="Arial" pitchFamily="34" charset="-120"/>
              </a:rPr>
              <a:t>Objetivos y alcance acordados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FASE 2 DE 4</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Fase de Elaboración</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10</a:t>
            </a:r>
            <a:endParaRPr lang="en-US" sz="900" dirty="0"/>
          </a:p>
        </p:txBody>
      </p:sp>
      <p:sp>
        <p:nvSpPr>
          <p:cNvPr id="6" name="!!ph-tag#1"/>
          <p:cNvSpPr/>
          <p:nvPr/>
        </p:nvSpPr>
        <p:spPr>
          <a:xfrm>
            <a:off x="10271455" y="749808"/>
            <a:ext cx="1025500" cy="256032"/>
          </a:xfrm>
          <a:prstGeom prst="roundRect">
            <a:avLst>
              <a:gd name="adj" fmla="val 50000"/>
            </a:avLst>
          </a:prstGeom>
          <a:solidFill>
            <a:srgbClr val="0B0B0D"/>
          </a:solidFill>
          <a:ln w="9525">
            <a:solidFill>
              <a:srgbClr val="0B0B0D"/>
            </a:solidFill>
            <a:prstDash val="solid"/>
          </a:ln>
        </p:spPr>
      </p:sp>
      <p:sp>
        <p:nvSpPr>
          <p:cNvPr id="7" name="!!ph-tag#2"/>
          <p:cNvSpPr txBox="1"/>
          <p:nvPr/>
        </p:nvSpPr>
        <p:spPr>
          <a:xfrm>
            <a:off x="10271455" y="749808"/>
            <a:ext cx="10255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Realizado</a:t>
            </a:r>
            <a:endParaRPr lang="en-US" sz="1100" dirty="0"/>
          </a:p>
        </p:txBody>
      </p:sp>
      <p:sp>
        <p:nvSpPr>
          <p:cNvPr id="8" name="!!ph-obj#1"/>
          <p:cNvSpPr/>
          <p:nvPr/>
        </p:nvSpPr>
        <p:spPr>
          <a:xfrm>
            <a:off x="548640" y="1417320"/>
            <a:ext cx="5669280" cy="914400"/>
          </a:xfrm>
          <a:prstGeom prst="roundRect">
            <a:avLst>
              <a:gd name="adj" fmla="val 8000"/>
            </a:avLst>
          </a:prstGeom>
          <a:solidFill>
            <a:srgbClr val="0B0B0D"/>
          </a:solidFill>
          <a:ln/>
        </p:spPr>
      </p:sp>
      <p:sp>
        <p:nvSpPr>
          <p:cNvPr id="9" name="!!ph-obj#2"/>
          <p:cNvSpPr txBox="1"/>
          <p:nvPr/>
        </p:nvSpPr>
        <p:spPr>
          <a:xfrm>
            <a:off x="822960" y="1417320"/>
            <a:ext cx="5212080" cy="914400"/>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Objetivo  </a:t>
            </a:r>
            <a:pPr indent="0" marL="0">
              <a:buNone/>
            </a:pPr>
            <a:r>
              <a:rPr lang="en-US" sz="1500" dirty="0">
                <a:solidFill>
                  <a:srgbClr val="FFFFFF"/>
                </a:solidFill>
                <a:latin typeface="Arial" pitchFamily="34" charset="0"/>
                <a:ea typeface="Arial" pitchFamily="34" charset="-122"/>
                <a:cs typeface="Arial" pitchFamily="34" charset="-120"/>
              </a:rPr>
              <a:t>Definir los requisitos y validar la arquitectura antes de construir.</a:t>
            </a:r>
            <a:endParaRPr lang="en-US" sz="1500" dirty="0"/>
          </a:p>
        </p:txBody>
      </p:sp>
      <p:sp>
        <p:nvSpPr>
          <p:cNvPr id="10" name="!!ph-act#1"/>
          <p:cNvSpPr txBox="1"/>
          <p:nvPr/>
        </p:nvSpPr>
        <p:spPr>
          <a:xfrm>
            <a:off x="548640" y="251460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ACTIVIDADES PRINCIPALES</a:t>
            </a:r>
            <a:endParaRPr lang="en-US" sz="1050" dirty="0"/>
          </a:p>
        </p:txBody>
      </p:sp>
      <p:sp>
        <p:nvSpPr>
          <p:cNvPr id="11" name="!!ph-act#2"/>
          <p:cNvSpPr txBox="1"/>
          <p:nvPr/>
        </p:nvSpPr>
        <p:spPr>
          <a:xfrm>
            <a:off x="548640" y="2834640"/>
            <a:ext cx="5577840"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Requisitos funcionales y no funcionales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Casos de uso y modelos UML</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Arquitectura: tema hijo sobre WooCommerce</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Diseño de pantallas: home, catálogo, ficha y comparador</a:t>
            </a:r>
            <a:endParaRPr lang="en-US" sz="1350" dirty="0"/>
          </a:p>
        </p:txBody>
      </p:sp>
      <p:sp>
        <p:nvSpPr>
          <p:cNvPr id="12" name="!!ph-artl#1"/>
          <p:cNvSpPr txBox="1"/>
          <p:nvPr/>
        </p:nvSpPr>
        <p:spPr>
          <a:xfrm>
            <a:off x="548640" y="489204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ARTEFACTOS</a:t>
            </a:r>
            <a:endParaRPr lang="en-US" sz="1050" dirty="0"/>
          </a:p>
        </p:txBody>
      </p:sp>
      <p:sp>
        <p:nvSpPr>
          <p:cNvPr id="13" name="!!ph-art0#1"/>
          <p:cNvSpPr/>
          <p:nvPr/>
        </p:nvSpPr>
        <p:spPr>
          <a:xfrm>
            <a:off x="548640" y="5212080"/>
            <a:ext cx="2450592" cy="310896"/>
          </a:xfrm>
          <a:prstGeom prst="roundRect">
            <a:avLst>
              <a:gd name="adj" fmla="val 23529"/>
            </a:avLst>
          </a:prstGeom>
          <a:solidFill>
            <a:srgbClr val="F5F5F7"/>
          </a:solidFill>
          <a:ln w="12700">
            <a:solidFill>
              <a:srgbClr val="E3E4E8"/>
            </a:solidFill>
            <a:prstDash val="solid"/>
          </a:ln>
        </p:spPr>
      </p:sp>
      <p:sp>
        <p:nvSpPr>
          <p:cNvPr id="14" name="!!ph-art0#2"/>
          <p:cNvSpPr txBox="1"/>
          <p:nvPr/>
        </p:nvSpPr>
        <p:spPr>
          <a:xfrm>
            <a:off x="548640" y="5212080"/>
            <a:ext cx="2450592"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Especificación de requisitos</a:t>
            </a:r>
            <a:endParaRPr lang="en-US" sz="1050" dirty="0"/>
          </a:p>
        </p:txBody>
      </p:sp>
      <p:sp>
        <p:nvSpPr>
          <p:cNvPr id="15" name="!!ph-art1#1"/>
          <p:cNvSpPr/>
          <p:nvPr/>
        </p:nvSpPr>
        <p:spPr>
          <a:xfrm>
            <a:off x="3108960" y="5212080"/>
            <a:ext cx="1207008" cy="310896"/>
          </a:xfrm>
          <a:prstGeom prst="roundRect">
            <a:avLst>
              <a:gd name="adj" fmla="val 23529"/>
            </a:avLst>
          </a:prstGeom>
          <a:solidFill>
            <a:srgbClr val="F5F5F7"/>
          </a:solidFill>
          <a:ln w="12700">
            <a:solidFill>
              <a:srgbClr val="E3E4E8"/>
            </a:solidFill>
            <a:prstDash val="solid"/>
          </a:ln>
        </p:spPr>
      </p:sp>
      <p:sp>
        <p:nvSpPr>
          <p:cNvPr id="16" name="!!ph-art1#2"/>
          <p:cNvSpPr txBox="1"/>
          <p:nvPr/>
        </p:nvSpPr>
        <p:spPr>
          <a:xfrm>
            <a:off x="3108960" y="5212080"/>
            <a:ext cx="120700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Casos de uso</a:t>
            </a:r>
            <a:endParaRPr lang="en-US" sz="1050" dirty="0"/>
          </a:p>
        </p:txBody>
      </p:sp>
      <p:sp>
        <p:nvSpPr>
          <p:cNvPr id="17" name="!!ph-art2#1"/>
          <p:cNvSpPr/>
          <p:nvPr/>
        </p:nvSpPr>
        <p:spPr>
          <a:xfrm>
            <a:off x="4425696" y="5212080"/>
            <a:ext cx="1284732" cy="310896"/>
          </a:xfrm>
          <a:prstGeom prst="roundRect">
            <a:avLst>
              <a:gd name="adj" fmla="val 23529"/>
            </a:avLst>
          </a:prstGeom>
          <a:solidFill>
            <a:srgbClr val="F5F5F7"/>
          </a:solidFill>
          <a:ln w="12700">
            <a:solidFill>
              <a:srgbClr val="E3E4E8"/>
            </a:solidFill>
            <a:prstDash val="solid"/>
          </a:ln>
        </p:spPr>
      </p:sp>
      <p:sp>
        <p:nvSpPr>
          <p:cNvPr id="18" name="!!ph-art2#2"/>
          <p:cNvSpPr txBox="1"/>
          <p:nvPr/>
        </p:nvSpPr>
        <p:spPr>
          <a:xfrm>
            <a:off x="4425696" y="5212080"/>
            <a:ext cx="1284732"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Diagramas UML</a:t>
            </a:r>
            <a:endParaRPr lang="en-US" sz="1050" dirty="0"/>
          </a:p>
        </p:txBody>
      </p:sp>
      <p:sp>
        <p:nvSpPr>
          <p:cNvPr id="19" name="!!ph-art3#1"/>
          <p:cNvSpPr/>
          <p:nvPr/>
        </p:nvSpPr>
        <p:spPr>
          <a:xfrm>
            <a:off x="548640" y="5596128"/>
            <a:ext cx="2217420" cy="310896"/>
          </a:xfrm>
          <a:prstGeom prst="roundRect">
            <a:avLst>
              <a:gd name="adj" fmla="val 23529"/>
            </a:avLst>
          </a:prstGeom>
          <a:solidFill>
            <a:srgbClr val="F5F5F7"/>
          </a:solidFill>
          <a:ln w="12700">
            <a:solidFill>
              <a:srgbClr val="E3E4E8"/>
            </a:solidFill>
            <a:prstDash val="solid"/>
          </a:ln>
        </p:spPr>
      </p:sp>
      <p:sp>
        <p:nvSpPr>
          <p:cNvPr id="20" name="!!ph-art3#2"/>
          <p:cNvSpPr txBox="1"/>
          <p:nvPr/>
        </p:nvSpPr>
        <p:spPr>
          <a:xfrm>
            <a:off x="548640" y="5596128"/>
            <a:ext cx="2217420"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Documento de arquitectura</a:t>
            </a:r>
            <a:endParaRPr lang="en-US" sz="1050" dirty="0"/>
          </a:p>
        </p:txBody>
      </p:sp>
      <p:sp>
        <p:nvSpPr>
          <p:cNvPr id="21" name="!!ph-art4#1"/>
          <p:cNvSpPr/>
          <p:nvPr/>
        </p:nvSpPr>
        <p:spPr>
          <a:xfrm>
            <a:off x="2875788" y="5596128"/>
            <a:ext cx="1751076" cy="310896"/>
          </a:xfrm>
          <a:prstGeom prst="roundRect">
            <a:avLst>
              <a:gd name="adj" fmla="val 23529"/>
            </a:avLst>
          </a:prstGeom>
          <a:solidFill>
            <a:srgbClr val="F5F5F7"/>
          </a:solidFill>
          <a:ln w="12700">
            <a:solidFill>
              <a:srgbClr val="E3E4E8"/>
            </a:solidFill>
            <a:prstDash val="solid"/>
          </a:ln>
        </p:spPr>
      </p:sp>
      <p:sp>
        <p:nvSpPr>
          <p:cNvPr id="22" name="!!ph-art4#2"/>
          <p:cNvSpPr txBox="1"/>
          <p:nvPr/>
        </p:nvSpPr>
        <p:spPr>
          <a:xfrm>
            <a:off x="2875788" y="5596128"/>
            <a:ext cx="1751076"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Diseño de pantallas</a:t>
            </a:r>
            <a:endParaRPr lang="en-US" sz="1050" dirty="0"/>
          </a:p>
        </p:txBody>
      </p:sp>
      <p:sp>
        <p:nvSpPr>
          <p:cNvPr id="23" name="!!ph-bh#1"/>
          <p:cNvSpPr/>
          <p:nvPr/>
        </p:nvSpPr>
        <p:spPr>
          <a:xfrm>
            <a:off x="6583680" y="1417320"/>
            <a:ext cx="5059375" cy="1463040"/>
          </a:xfrm>
          <a:prstGeom prst="roundRect">
            <a:avLst>
              <a:gd name="adj" fmla="val 5000"/>
            </a:avLst>
          </a:prstGeom>
          <a:solidFill>
            <a:srgbClr val="EDE4FB"/>
          </a:solidFill>
          <a:ln/>
        </p:spPr>
      </p:sp>
      <p:sp>
        <p:nvSpPr>
          <p:cNvPr id="24" name="!!ph-bh#2"/>
          <p:cNvSpPr txBox="1"/>
          <p:nvPr/>
        </p:nvSpPr>
        <p:spPr>
          <a:xfrm>
            <a:off x="6812280" y="1554480"/>
            <a:ext cx="36576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EN BLACK HAWK</a:t>
            </a:r>
            <a:endParaRPr lang="en-US" sz="1050" dirty="0"/>
          </a:p>
        </p:txBody>
      </p:sp>
      <p:sp>
        <p:nvSpPr>
          <p:cNvPr id="25" name="!!ph-bh#3"/>
          <p:cNvSpPr txBox="1"/>
          <p:nvPr/>
        </p:nvSpPr>
        <p:spPr>
          <a:xfrm>
            <a:off x="6812280" y="1828800"/>
            <a:ext cx="4602175" cy="100584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Se decidió rediseñar sobre la misma plataforma, con un tema hijo, en lugar de reemplazarla.</a:t>
            </a:r>
            <a:endParaRPr lang="en-US" sz="1350" dirty="0"/>
          </a:p>
        </p:txBody>
      </p:sp>
      <p:sp>
        <p:nvSpPr>
          <p:cNvPr id="26" name="!!ph-box2#1"/>
          <p:cNvSpPr/>
          <p:nvPr/>
        </p:nvSpPr>
        <p:spPr>
          <a:xfrm>
            <a:off x="6583680" y="3017520"/>
            <a:ext cx="5059375" cy="2468880"/>
          </a:xfrm>
          <a:prstGeom prst="roundRect">
            <a:avLst>
              <a:gd name="adj" fmla="val 2963"/>
            </a:avLst>
          </a:prstGeom>
          <a:solidFill>
            <a:srgbClr val="F5F5F7"/>
          </a:solidFill>
          <a:ln/>
        </p:spPr>
      </p:sp>
      <p:sp>
        <p:nvSpPr>
          <p:cNvPr id="27" name="!!ph-box2#2"/>
          <p:cNvSpPr txBox="1"/>
          <p:nvPr/>
        </p:nvSpPr>
        <p:spPr>
          <a:xfrm>
            <a:off x="6812280" y="3127248"/>
            <a:ext cx="45720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DECISIÓN DE ARQUITECTURA</a:t>
            </a:r>
            <a:endParaRPr lang="en-US" sz="1000" dirty="0"/>
          </a:p>
        </p:txBody>
      </p:sp>
      <p:sp>
        <p:nvSpPr>
          <p:cNvPr id="28" name="!!ph-box2#3"/>
          <p:cNvSpPr txBox="1"/>
          <p:nvPr/>
        </p:nvSpPr>
        <p:spPr>
          <a:xfrm>
            <a:off x="6812280" y="3429000"/>
            <a:ext cx="4602175" cy="20116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Conservar WordPress + WooCommerce</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Rediseño como tema hijo: las actualizaciones no borran los cambios</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YITH Catalog Mode: sin carrito ni pago</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WhatsApp por enlace wa.me, sin API de pago</a:t>
            </a:r>
            <a:endParaRPr lang="en-US" sz="1250" dirty="0"/>
          </a:p>
        </p:txBody>
      </p:sp>
      <p:sp>
        <p:nvSpPr>
          <p:cNvPr id="29" name="!!ph-hito#1"/>
          <p:cNvSpPr/>
          <p:nvPr/>
        </p:nvSpPr>
        <p:spPr>
          <a:xfrm>
            <a:off x="6583680" y="5623560"/>
            <a:ext cx="5059375" cy="457200"/>
          </a:xfrm>
          <a:prstGeom prst="roundRect">
            <a:avLst>
              <a:gd name="adj" fmla="val 16000"/>
            </a:avLst>
          </a:prstGeom>
          <a:solidFill>
            <a:srgbClr val="FFFFFF"/>
          </a:solidFill>
          <a:ln w="12700">
            <a:solidFill>
              <a:srgbClr val="0B0B0D"/>
            </a:solidFill>
            <a:prstDash val="solid"/>
          </a:ln>
        </p:spPr>
      </p:sp>
      <p:sp>
        <p:nvSpPr>
          <p:cNvPr id="30" name="!!ph-hito#2"/>
          <p:cNvSpPr txBox="1"/>
          <p:nvPr/>
        </p:nvSpPr>
        <p:spPr>
          <a:xfrm>
            <a:off x="6583680" y="5623560"/>
            <a:ext cx="5059375" cy="457200"/>
          </a:xfrm>
          <a:prstGeom prst="rect">
            <a:avLst/>
          </a:prstGeom>
          <a:noFill/>
          <a:ln/>
        </p:spPr>
        <p:txBody>
          <a:bodyPr wrap="square" lIns="0" tIns="0" rIns="0" bIns="0" rtlCol="0" anchor="ctr"/>
          <a:lstStyle/>
          <a:p>
            <a:pPr algn="ctr" indent="0" marL="0">
              <a:buNone/>
            </a:pPr>
            <a:r>
              <a:rPr lang="en-US" sz="1300" b="1" dirty="0">
                <a:solidFill>
                  <a:srgbClr val="6D28D9"/>
                </a:solidFill>
                <a:latin typeface="Arial" pitchFamily="34" charset="0"/>
                <a:ea typeface="Arial" pitchFamily="34" charset="-122"/>
                <a:cs typeface="Arial" pitchFamily="34" charset="-120"/>
              </a:rPr>
              <a:t>Hito LCA  </a:t>
            </a:r>
            <a:pPr algn="ctr" indent="0" marL="0">
              <a:buNone/>
            </a:pPr>
            <a:r>
              <a:rPr lang="en-US" sz="1300" dirty="0">
                <a:solidFill>
                  <a:srgbClr val="0B0B0D"/>
                </a:solidFill>
                <a:latin typeface="Arial" pitchFamily="34" charset="0"/>
                <a:ea typeface="Arial" pitchFamily="34" charset="-122"/>
                <a:cs typeface="Arial" pitchFamily="34" charset="-120"/>
              </a:rPr>
              <a:t>Arquitectura validada</a:t>
            </a:r>
            <a:endParaRPr lang="en-US" sz="13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700">
        <p159:morph option="byObject"/>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FASE 3 DE 4</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Fase de Construcción</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11</a:t>
            </a:r>
            <a:endParaRPr lang="en-US" sz="900" dirty="0"/>
          </a:p>
        </p:txBody>
      </p:sp>
      <p:sp>
        <p:nvSpPr>
          <p:cNvPr id="6" name="!!ph-tag#1"/>
          <p:cNvSpPr/>
          <p:nvPr/>
        </p:nvSpPr>
        <p:spPr>
          <a:xfrm>
            <a:off x="10271455" y="749808"/>
            <a:ext cx="940003" cy="256032"/>
          </a:xfrm>
          <a:prstGeom prst="roundRect">
            <a:avLst>
              <a:gd name="adj" fmla="val 50000"/>
            </a:avLst>
          </a:prstGeom>
          <a:solidFill>
            <a:srgbClr val="EDE4FB"/>
          </a:solidFill>
          <a:ln w="9525">
            <a:solidFill>
              <a:srgbClr val="6D28D9"/>
            </a:solidFill>
            <a:prstDash val="solid"/>
          </a:ln>
        </p:spPr>
      </p:sp>
      <p:sp>
        <p:nvSpPr>
          <p:cNvPr id="7" name="!!ph-tag#2"/>
          <p:cNvSpPr txBox="1"/>
          <p:nvPr/>
        </p:nvSpPr>
        <p:spPr>
          <a:xfrm>
            <a:off x="10271455" y="749808"/>
            <a:ext cx="940003" cy="256032"/>
          </a:xfrm>
          <a:prstGeom prst="rect">
            <a:avLst/>
          </a:prstGeom>
          <a:noFill/>
          <a:ln/>
        </p:spPr>
        <p:txBody>
          <a:bodyPr wrap="square" lIns="0" tIns="0" rIns="0" bIns="0" rtlCol="0" anchor="ctr"/>
          <a:lstStyle/>
          <a:p>
            <a:pPr algn="ctr" indent="0" marL="0">
              <a:buNone/>
            </a:pPr>
            <a:r>
              <a:rPr lang="en-US" sz="1100" b="1" dirty="0">
                <a:solidFill>
                  <a:srgbClr val="6D28D9"/>
                </a:solidFill>
                <a:latin typeface="Arial" pitchFamily="34" charset="0"/>
                <a:ea typeface="Arial" pitchFamily="34" charset="-122"/>
                <a:cs typeface="Arial" pitchFamily="34" charset="-120"/>
              </a:rPr>
              <a:t>En curso</a:t>
            </a:r>
            <a:endParaRPr lang="en-US" sz="1100" dirty="0"/>
          </a:p>
        </p:txBody>
      </p:sp>
      <p:sp>
        <p:nvSpPr>
          <p:cNvPr id="8" name="!!ph-obj#1"/>
          <p:cNvSpPr/>
          <p:nvPr/>
        </p:nvSpPr>
        <p:spPr>
          <a:xfrm>
            <a:off x="548640" y="1417320"/>
            <a:ext cx="5669280" cy="914400"/>
          </a:xfrm>
          <a:prstGeom prst="roundRect">
            <a:avLst>
              <a:gd name="adj" fmla="val 8000"/>
            </a:avLst>
          </a:prstGeom>
          <a:solidFill>
            <a:srgbClr val="0B0B0D"/>
          </a:solidFill>
          <a:ln/>
        </p:spPr>
      </p:sp>
      <p:sp>
        <p:nvSpPr>
          <p:cNvPr id="9" name="!!ph-obj#2"/>
          <p:cNvSpPr txBox="1"/>
          <p:nvPr/>
        </p:nvSpPr>
        <p:spPr>
          <a:xfrm>
            <a:off x="822960" y="1417320"/>
            <a:ext cx="5212080" cy="914400"/>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Objetivo  </a:t>
            </a:r>
            <a:pPr indent="0" marL="0">
              <a:buNone/>
            </a:pPr>
            <a:r>
              <a:rPr lang="en-US" sz="1500" dirty="0">
                <a:solidFill>
                  <a:srgbClr val="FFFFFF"/>
                </a:solidFill>
                <a:latin typeface="Arial" pitchFamily="34" charset="0"/>
                <a:ea typeface="Arial" pitchFamily="34" charset="-122"/>
                <a:cs typeface="Arial" pitchFamily="34" charset="-120"/>
              </a:rPr>
              <a:t>Desarrollar e integrar el sistema por incrementos.</a:t>
            </a:r>
            <a:endParaRPr lang="en-US" sz="1500" dirty="0"/>
          </a:p>
        </p:txBody>
      </p:sp>
      <p:sp>
        <p:nvSpPr>
          <p:cNvPr id="10" name="!!ph-act#1"/>
          <p:cNvSpPr txBox="1"/>
          <p:nvPr/>
        </p:nvSpPr>
        <p:spPr>
          <a:xfrm>
            <a:off x="548640" y="251460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ACTIVIDADES PRINCIPALES</a:t>
            </a:r>
            <a:endParaRPr lang="en-US" sz="1050" dirty="0"/>
          </a:p>
        </p:txBody>
      </p:sp>
      <p:sp>
        <p:nvSpPr>
          <p:cNvPr id="11" name="!!ph-act#2"/>
          <p:cNvSpPr txBox="1"/>
          <p:nvPr/>
        </p:nvSpPr>
        <p:spPr>
          <a:xfrm>
            <a:off x="548640" y="2834640"/>
            <a:ext cx="5577840"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C1 · Rediseño visual y home</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C2 · Catálogo, fichas, búsqueda y comparador</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C3 · Recorrido de cotización: WhatsApp, Dónde comprar, Mayoristas y Soporte</a:t>
            </a:r>
            <a:endParaRPr lang="en-US" sz="1350" dirty="0"/>
          </a:p>
        </p:txBody>
      </p:sp>
      <p:sp>
        <p:nvSpPr>
          <p:cNvPr id="12" name="!!ph-artl#1"/>
          <p:cNvSpPr txBox="1"/>
          <p:nvPr/>
        </p:nvSpPr>
        <p:spPr>
          <a:xfrm>
            <a:off x="548640" y="489204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ARTEFACTOS</a:t>
            </a:r>
            <a:endParaRPr lang="en-US" sz="1050" dirty="0"/>
          </a:p>
        </p:txBody>
      </p:sp>
      <p:sp>
        <p:nvSpPr>
          <p:cNvPr id="13" name="!!ph-art0#1"/>
          <p:cNvSpPr/>
          <p:nvPr/>
        </p:nvSpPr>
        <p:spPr>
          <a:xfrm>
            <a:off x="548640" y="5212080"/>
            <a:ext cx="1906524" cy="310896"/>
          </a:xfrm>
          <a:prstGeom prst="roundRect">
            <a:avLst>
              <a:gd name="adj" fmla="val 23529"/>
            </a:avLst>
          </a:prstGeom>
          <a:solidFill>
            <a:srgbClr val="F5F5F7"/>
          </a:solidFill>
          <a:ln w="12700">
            <a:solidFill>
              <a:srgbClr val="E3E4E8"/>
            </a:solidFill>
            <a:prstDash val="solid"/>
          </a:ln>
        </p:spPr>
      </p:sp>
      <p:sp>
        <p:nvSpPr>
          <p:cNvPr id="14" name="!!ph-art0#2"/>
          <p:cNvSpPr txBox="1"/>
          <p:nvPr/>
        </p:nvSpPr>
        <p:spPr>
          <a:xfrm>
            <a:off x="548640" y="5212080"/>
            <a:ext cx="1906524"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Tema hijo rozer-child</a:t>
            </a:r>
            <a:endParaRPr lang="en-US" sz="1050" dirty="0"/>
          </a:p>
        </p:txBody>
      </p:sp>
      <p:sp>
        <p:nvSpPr>
          <p:cNvPr id="15" name="!!ph-art1#1"/>
          <p:cNvSpPr/>
          <p:nvPr/>
        </p:nvSpPr>
        <p:spPr>
          <a:xfrm>
            <a:off x="2564892" y="5212080"/>
            <a:ext cx="1984248" cy="310896"/>
          </a:xfrm>
          <a:prstGeom prst="roundRect">
            <a:avLst>
              <a:gd name="adj" fmla="val 23529"/>
            </a:avLst>
          </a:prstGeom>
          <a:solidFill>
            <a:srgbClr val="F5F5F7"/>
          </a:solidFill>
          <a:ln w="12700">
            <a:solidFill>
              <a:srgbClr val="E3E4E8"/>
            </a:solidFill>
            <a:prstDash val="solid"/>
          </a:ln>
        </p:spPr>
      </p:sp>
      <p:sp>
        <p:nvSpPr>
          <p:cNvPr id="16" name="!!ph-art1#2"/>
          <p:cNvSpPr txBox="1"/>
          <p:nvPr/>
        </p:nvSpPr>
        <p:spPr>
          <a:xfrm>
            <a:off x="2564892" y="5212080"/>
            <a:ext cx="198424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Incrementos integrados</a:t>
            </a:r>
            <a:endParaRPr lang="en-US" sz="1050" dirty="0"/>
          </a:p>
        </p:txBody>
      </p:sp>
      <p:sp>
        <p:nvSpPr>
          <p:cNvPr id="17" name="!!ph-art2#1"/>
          <p:cNvSpPr/>
          <p:nvPr/>
        </p:nvSpPr>
        <p:spPr>
          <a:xfrm>
            <a:off x="548640" y="5596128"/>
            <a:ext cx="1984248" cy="310896"/>
          </a:xfrm>
          <a:prstGeom prst="roundRect">
            <a:avLst>
              <a:gd name="adj" fmla="val 23529"/>
            </a:avLst>
          </a:prstGeom>
          <a:solidFill>
            <a:srgbClr val="F5F5F7"/>
          </a:solidFill>
          <a:ln w="12700">
            <a:solidFill>
              <a:srgbClr val="E3E4E8"/>
            </a:solidFill>
            <a:prstDash val="solid"/>
          </a:ln>
        </p:spPr>
      </p:sp>
      <p:sp>
        <p:nvSpPr>
          <p:cNvPr id="18" name="!!ph-art2#2"/>
          <p:cNvSpPr txBox="1"/>
          <p:nvPr/>
        </p:nvSpPr>
        <p:spPr>
          <a:xfrm>
            <a:off x="548640" y="5596128"/>
            <a:ext cx="198424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Verificación funcional</a:t>
            </a:r>
            <a:endParaRPr lang="en-US" sz="1050" dirty="0"/>
          </a:p>
        </p:txBody>
      </p:sp>
      <p:sp>
        <p:nvSpPr>
          <p:cNvPr id="19" name="!!ph-bh#1"/>
          <p:cNvSpPr/>
          <p:nvPr/>
        </p:nvSpPr>
        <p:spPr>
          <a:xfrm>
            <a:off x="6583680" y="1417320"/>
            <a:ext cx="5059375" cy="1463040"/>
          </a:xfrm>
          <a:prstGeom prst="roundRect">
            <a:avLst>
              <a:gd name="adj" fmla="val 5000"/>
            </a:avLst>
          </a:prstGeom>
          <a:solidFill>
            <a:srgbClr val="EDE4FB"/>
          </a:solidFill>
          <a:ln/>
        </p:spPr>
      </p:sp>
      <p:sp>
        <p:nvSpPr>
          <p:cNvPr id="20" name="!!ph-bh#2"/>
          <p:cNvSpPr txBox="1"/>
          <p:nvPr/>
        </p:nvSpPr>
        <p:spPr>
          <a:xfrm>
            <a:off x="6812280" y="1554480"/>
            <a:ext cx="36576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EN BLACK HAWK</a:t>
            </a:r>
            <a:endParaRPr lang="en-US" sz="1050" dirty="0"/>
          </a:p>
        </p:txBody>
      </p:sp>
      <p:sp>
        <p:nvSpPr>
          <p:cNvPr id="21" name="!!ph-bh#3"/>
          <p:cNvSpPr txBox="1"/>
          <p:nvPr/>
        </p:nvSpPr>
        <p:spPr>
          <a:xfrm>
            <a:off x="6812280" y="1828800"/>
            <a:ext cx="4602175" cy="100584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La web renovada ya funciona en un entorno de prueba. Las ampliaciones (registro, directorio, reportes) están planificadas.</a:t>
            </a:r>
            <a:endParaRPr lang="en-US" sz="1350" dirty="0"/>
          </a:p>
        </p:txBody>
      </p:sp>
      <p:sp>
        <p:nvSpPr>
          <p:cNvPr id="22" name="!!ph-box2#1"/>
          <p:cNvSpPr/>
          <p:nvPr/>
        </p:nvSpPr>
        <p:spPr>
          <a:xfrm>
            <a:off x="6583680" y="3017520"/>
            <a:ext cx="5059375" cy="2468880"/>
          </a:xfrm>
          <a:prstGeom prst="roundRect">
            <a:avLst>
              <a:gd name="adj" fmla="val 2963"/>
            </a:avLst>
          </a:prstGeom>
          <a:solidFill>
            <a:srgbClr val="F5F5F7"/>
          </a:solidFill>
          <a:ln/>
        </p:spPr>
      </p:sp>
      <p:sp>
        <p:nvSpPr>
          <p:cNvPr id="23" name="!!ph-box2#2"/>
          <p:cNvSpPr txBox="1"/>
          <p:nvPr/>
        </p:nvSpPr>
        <p:spPr>
          <a:xfrm>
            <a:off x="6812280" y="3127248"/>
            <a:ext cx="36576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PRUEBAS</a:t>
            </a:r>
            <a:endParaRPr lang="en-US" sz="1000" dirty="0"/>
          </a:p>
        </p:txBody>
      </p:sp>
      <p:sp>
        <p:nvSpPr>
          <p:cNvPr id="24" name="!!ph-box2#3"/>
          <p:cNvSpPr txBox="1"/>
          <p:nvPr/>
        </p:nvSpPr>
        <p:spPr>
          <a:xfrm>
            <a:off x="6812280" y="3429000"/>
            <a:ext cx="4602175" cy="2011680"/>
          </a:xfrm>
          <a:prstGeom prst="rect">
            <a:avLst/>
          </a:prstGeom>
          <a:noFill/>
          <a:ln/>
        </p:spPr>
        <p:txBody>
          <a:bodyPr wrap="square" lIns="0" tIns="0" rIns="0" bIns="0" rtlCol="0" anchor="t"/>
          <a:lstStyle/>
          <a:p>
            <a:pPr indent="0" marL="0">
              <a:buNone/>
            </a:pPr>
            <a:r>
              <a:rPr lang="en-US" sz="1250" dirty="0">
                <a:solidFill>
                  <a:srgbClr val="0B0B0D"/>
                </a:solidFill>
                <a:latin typeface="Arial" pitchFamily="34" charset="0"/>
                <a:ea typeface="Arial" pitchFamily="34" charset="-122"/>
                <a:cs typeface="Arial" pitchFamily="34" charset="-120"/>
              </a:rPr>
              <a:t>Verificación funcional documentada con capturas: búsqueda, límite de 3 en el comparador, persistencia de la selección, menú y ficha en móvil. Pruebas unitarias y de aceptación formales: planificadas.</a:t>
            </a:r>
            <a:endParaRPr lang="en-US" sz="1250" dirty="0"/>
          </a:p>
        </p:txBody>
      </p:sp>
      <p:sp>
        <p:nvSpPr>
          <p:cNvPr id="25" name="!!ph-hito#1"/>
          <p:cNvSpPr/>
          <p:nvPr/>
        </p:nvSpPr>
        <p:spPr>
          <a:xfrm>
            <a:off x="6583680" y="5623560"/>
            <a:ext cx="5059375" cy="457200"/>
          </a:xfrm>
          <a:prstGeom prst="roundRect">
            <a:avLst>
              <a:gd name="adj" fmla="val 16000"/>
            </a:avLst>
          </a:prstGeom>
          <a:solidFill>
            <a:srgbClr val="FFFFFF"/>
          </a:solidFill>
          <a:ln w="12700">
            <a:solidFill>
              <a:srgbClr val="0B0B0D"/>
            </a:solidFill>
            <a:prstDash val="solid"/>
          </a:ln>
        </p:spPr>
      </p:sp>
      <p:sp>
        <p:nvSpPr>
          <p:cNvPr id="26" name="!!ph-hito#2"/>
          <p:cNvSpPr txBox="1"/>
          <p:nvPr/>
        </p:nvSpPr>
        <p:spPr>
          <a:xfrm>
            <a:off x="6583680" y="5623560"/>
            <a:ext cx="5059375" cy="457200"/>
          </a:xfrm>
          <a:prstGeom prst="rect">
            <a:avLst/>
          </a:prstGeom>
          <a:noFill/>
          <a:ln/>
        </p:spPr>
        <p:txBody>
          <a:bodyPr wrap="square" lIns="0" tIns="0" rIns="0" bIns="0" rtlCol="0" anchor="ctr"/>
          <a:lstStyle/>
          <a:p>
            <a:pPr algn="ctr" indent="0" marL="0">
              <a:buNone/>
            </a:pPr>
            <a:r>
              <a:rPr lang="en-US" sz="1300" b="1" dirty="0">
                <a:solidFill>
                  <a:srgbClr val="6D28D9"/>
                </a:solidFill>
                <a:latin typeface="Arial" pitchFamily="34" charset="0"/>
                <a:ea typeface="Arial" pitchFamily="34" charset="-122"/>
                <a:cs typeface="Arial" pitchFamily="34" charset="-120"/>
              </a:rPr>
              <a:t>Hito IOC  </a:t>
            </a:r>
            <a:pPr algn="ctr" indent="0" marL="0">
              <a:buNone/>
            </a:pPr>
            <a:r>
              <a:rPr lang="en-US" sz="1300" dirty="0">
                <a:solidFill>
                  <a:srgbClr val="0B0B0D"/>
                </a:solidFill>
                <a:latin typeface="Arial" pitchFamily="34" charset="0"/>
                <a:ea typeface="Arial" pitchFamily="34" charset="-122"/>
                <a:cs typeface="Arial" pitchFamily="34" charset="-120"/>
              </a:rPr>
              <a:t>Versión operativa</a:t>
            </a:r>
            <a:endParaRPr lang="en-US" sz="13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700">
        <p159:morph option="byObject"/>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FASE 4 DE 4</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Fase de Transición</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12</a:t>
            </a:r>
            <a:endParaRPr lang="en-US" sz="900" dirty="0"/>
          </a:p>
        </p:txBody>
      </p:sp>
      <p:sp>
        <p:nvSpPr>
          <p:cNvPr id="6" name="!!ph-tag#1"/>
          <p:cNvSpPr/>
          <p:nvPr/>
        </p:nvSpPr>
        <p:spPr>
          <a:xfrm>
            <a:off x="10271455" y="749808"/>
            <a:ext cx="1196492" cy="256032"/>
          </a:xfrm>
          <a:prstGeom prst="roundRect">
            <a:avLst>
              <a:gd name="adj" fmla="val 50000"/>
            </a:avLst>
          </a:prstGeom>
          <a:solidFill>
            <a:srgbClr val="FFFFFF"/>
          </a:solidFill>
          <a:ln w="9525">
            <a:solidFill>
              <a:srgbClr val="9CA3AF"/>
            </a:solidFill>
            <a:prstDash val="solid"/>
          </a:ln>
        </p:spPr>
      </p:sp>
      <p:sp>
        <p:nvSpPr>
          <p:cNvPr id="7" name="!!ph-tag#2"/>
          <p:cNvSpPr txBox="1"/>
          <p:nvPr/>
        </p:nvSpPr>
        <p:spPr>
          <a:xfrm>
            <a:off x="10271455" y="749808"/>
            <a:ext cx="1196492" cy="256032"/>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Planificado</a:t>
            </a:r>
            <a:endParaRPr lang="en-US" sz="1100" dirty="0"/>
          </a:p>
        </p:txBody>
      </p:sp>
      <p:sp>
        <p:nvSpPr>
          <p:cNvPr id="8" name="!!ph-obj#1"/>
          <p:cNvSpPr/>
          <p:nvPr/>
        </p:nvSpPr>
        <p:spPr>
          <a:xfrm>
            <a:off x="548640" y="1417320"/>
            <a:ext cx="5669280" cy="914400"/>
          </a:xfrm>
          <a:prstGeom prst="roundRect">
            <a:avLst>
              <a:gd name="adj" fmla="val 8000"/>
            </a:avLst>
          </a:prstGeom>
          <a:solidFill>
            <a:srgbClr val="0B0B0D"/>
          </a:solidFill>
          <a:ln/>
        </p:spPr>
      </p:sp>
      <p:sp>
        <p:nvSpPr>
          <p:cNvPr id="9" name="!!ph-obj#2"/>
          <p:cNvSpPr txBox="1"/>
          <p:nvPr/>
        </p:nvSpPr>
        <p:spPr>
          <a:xfrm>
            <a:off x="822960" y="1417320"/>
            <a:ext cx="5212080" cy="914400"/>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Objetivo  </a:t>
            </a:r>
            <a:pPr indent="0" marL="0">
              <a:buNone/>
            </a:pPr>
            <a:r>
              <a:rPr lang="en-US" sz="1500" dirty="0">
                <a:solidFill>
                  <a:srgbClr val="FFFFFF"/>
                </a:solidFill>
                <a:latin typeface="Arial" pitchFamily="34" charset="0"/>
                <a:ea typeface="Arial" pitchFamily="34" charset="-122"/>
                <a:cs typeface="Arial" pitchFamily="34" charset="-120"/>
              </a:rPr>
              <a:t>Entregar el sistema a Black Hawk y ponerlo en producción.</a:t>
            </a:r>
            <a:endParaRPr lang="en-US" sz="1500" dirty="0"/>
          </a:p>
        </p:txBody>
      </p:sp>
      <p:sp>
        <p:nvSpPr>
          <p:cNvPr id="10" name="!!ph-act#1"/>
          <p:cNvSpPr txBox="1"/>
          <p:nvPr/>
        </p:nvSpPr>
        <p:spPr>
          <a:xfrm>
            <a:off x="548640" y="251460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ACTIVIDADES PRINCIPALES</a:t>
            </a:r>
            <a:endParaRPr lang="en-US" sz="1050" dirty="0"/>
          </a:p>
        </p:txBody>
      </p:sp>
      <p:sp>
        <p:nvSpPr>
          <p:cNvPr id="11" name="!!ph-act#2"/>
          <p:cNvSpPr txBox="1"/>
          <p:nvPr/>
        </p:nvSpPr>
        <p:spPr>
          <a:xfrm>
            <a:off x="548640" y="2834640"/>
            <a:ext cx="5577840"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Validación con Black Hawk y pruebas de aceptación</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Publicación en el dominio oficial con respaldo previo</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Capacitación del gestor de contenidos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Mantenimiento y mejora continua</a:t>
            </a:r>
            <a:endParaRPr lang="en-US" sz="1350" dirty="0"/>
          </a:p>
        </p:txBody>
      </p:sp>
      <p:sp>
        <p:nvSpPr>
          <p:cNvPr id="12" name="!!ph-artl#1"/>
          <p:cNvSpPr txBox="1"/>
          <p:nvPr/>
        </p:nvSpPr>
        <p:spPr>
          <a:xfrm>
            <a:off x="548640" y="489204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ARTEFACTOS</a:t>
            </a:r>
            <a:endParaRPr lang="en-US" sz="1050" dirty="0"/>
          </a:p>
        </p:txBody>
      </p:sp>
      <p:sp>
        <p:nvSpPr>
          <p:cNvPr id="13" name="!!ph-art0#1"/>
          <p:cNvSpPr/>
          <p:nvPr/>
        </p:nvSpPr>
        <p:spPr>
          <a:xfrm>
            <a:off x="548640" y="5212080"/>
            <a:ext cx="1673352" cy="310896"/>
          </a:xfrm>
          <a:prstGeom prst="roundRect">
            <a:avLst>
              <a:gd name="adj" fmla="val 23529"/>
            </a:avLst>
          </a:prstGeom>
          <a:solidFill>
            <a:srgbClr val="F5F5F7"/>
          </a:solidFill>
          <a:ln w="12700">
            <a:solidFill>
              <a:srgbClr val="E3E4E8"/>
            </a:solidFill>
            <a:prstDash val="solid"/>
          </a:ln>
        </p:spPr>
      </p:sp>
      <p:sp>
        <p:nvSpPr>
          <p:cNvPr id="14" name="!!ph-art0#2"/>
          <p:cNvSpPr txBox="1"/>
          <p:nvPr/>
        </p:nvSpPr>
        <p:spPr>
          <a:xfrm>
            <a:off x="548640" y="5212080"/>
            <a:ext cx="1673352"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Acta de aceptación</a:t>
            </a:r>
            <a:endParaRPr lang="en-US" sz="1050" dirty="0"/>
          </a:p>
        </p:txBody>
      </p:sp>
      <p:sp>
        <p:nvSpPr>
          <p:cNvPr id="15" name="!!ph-art1#1"/>
          <p:cNvSpPr/>
          <p:nvPr/>
        </p:nvSpPr>
        <p:spPr>
          <a:xfrm>
            <a:off x="2331720" y="5212080"/>
            <a:ext cx="1595628" cy="310896"/>
          </a:xfrm>
          <a:prstGeom prst="roundRect">
            <a:avLst>
              <a:gd name="adj" fmla="val 23529"/>
            </a:avLst>
          </a:prstGeom>
          <a:solidFill>
            <a:srgbClr val="F5F5F7"/>
          </a:solidFill>
          <a:ln w="12700">
            <a:solidFill>
              <a:srgbClr val="E3E4E8"/>
            </a:solidFill>
            <a:prstDash val="solid"/>
          </a:ln>
        </p:spPr>
      </p:sp>
      <p:sp>
        <p:nvSpPr>
          <p:cNvPr id="16" name="!!ph-art1#2"/>
          <p:cNvSpPr txBox="1"/>
          <p:nvPr/>
        </p:nvSpPr>
        <p:spPr>
          <a:xfrm>
            <a:off x="2331720" y="5212080"/>
            <a:ext cx="159562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Manual del gestor</a:t>
            </a:r>
            <a:endParaRPr lang="en-US" sz="1050" dirty="0"/>
          </a:p>
        </p:txBody>
      </p:sp>
      <p:sp>
        <p:nvSpPr>
          <p:cNvPr id="17" name="!!ph-art2#1"/>
          <p:cNvSpPr/>
          <p:nvPr/>
        </p:nvSpPr>
        <p:spPr>
          <a:xfrm>
            <a:off x="548640" y="5596128"/>
            <a:ext cx="2606040" cy="310896"/>
          </a:xfrm>
          <a:prstGeom prst="roundRect">
            <a:avLst>
              <a:gd name="adj" fmla="val 23529"/>
            </a:avLst>
          </a:prstGeom>
          <a:solidFill>
            <a:srgbClr val="F5F5F7"/>
          </a:solidFill>
          <a:ln w="12700">
            <a:solidFill>
              <a:srgbClr val="E3E4E8"/>
            </a:solidFill>
            <a:prstDash val="solid"/>
          </a:ln>
        </p:spPr>
      </p:sp>
      <p:sp>
        <p:nvSpPr>
          <p:cNvPr id="18" name="!!ph-art2#2"/>
          <p:cNvSpPr txBox="1"/>
          <p:nvPr/>
        </p:nvSpPr>
        <p:spPr>
          <a:xfrm>
            <a:off x="548640" y="5596128"/>
            <a:ext cx="2606040"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Plan de despliegue y reversión</a:t>
            </a:r>
            <a:endParaRPr lang="en-US" sz="1050" dirty="0"/>
          </a:p>
        </p:txBody>
      </p:sp>
      <p:sp>
        <p:nvSpPr>
          <p:cNvPr id="19" name="!!ph-bh#1"/>
          <p:cNvSpPr/>
          <p:nvPr/>
        </p:nvSpPr>
        <p:spPr>
          <a:xfrm>
            <a:off x="6583680" y="1417320"/>
            <a:ext cx="5059375" cy="1463040"/>
          </a:xfrm>
          <a:prstGeom prst="roundRect">
            <a:avLst>
              <a:gd name="adj" fmla="val 5000"/>
            </a:avLst>
          </a:prstGeom>
          <a:solidFill>
            <a:srgbClr val="EDE4FB"/>
          </a:solidFill>
          <a:ln/>
        </p:spPr>
      </p:sp>
      <p:sp>
        <p:nvSpPr>
          <p:cNvPr id="20" name="!!ph-bh#2"/>
          <p:cNvSpPr txBox="1"/>
          <p:nvPr/>
        </p:nvSpPr>
        <p:spPr>
          <a:xfrm>
            <a:off x="6812280" y="1554480"/>
            <a:ext cx="36576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EN BLACK HAWK</a:t>
            </a:r>
            <a:endParaRPr lang="en-US" sz="1050" dirty="0"/>
          </a:p>
        </p:txBody>
      </p:sp>
      <p:sp>
        <p:nvSpPr>
          <p:cNvPr id="21" name="!!ph-bh#3"/>
          <p:cNvSpPr txBox="1"/>
          <p:nvPr/>
        </p:nvSpPr>
        <p:spPr>
          <a:xfrm>
            <a:off x="6812280" y="1828800"/>
            <a:ext cx="4602175" cy="100584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Pasar del entorno de prueba a blackhawkcaraudio.com y medir con datos reales.</a:t>
            </a:r>
            <a:endParaRPr lang="en-US" sz="1350" dirty="0"/>
          </a:p>
        </p:txBody>
      </p:sp>
      <p:sp>
        <p:nvSpPr>
          <p:cNvPr id="22" name="!!ph-box2#1"/>
          <p:cNvSpPr/>
          <p:nvPr/>
        </p:nvSpPr>
        <p:spPr>
          <a:xfrm>
            <a:off x="6583680" y="3017520"/>
            <a:ext cx="5059375" cy="2468880"/>
          </a:xfrm>
          <a:prstGeom prst="roundRect">
            <a:avLst>
              <a:gd name="adj" fmla="val 2963"/>
            </a:avLst>
          </a:prstGeom>
          <a:solidFill>
            <a:srgbClr val="F5F5F7"/>
          </a:solidFill>
          <a:ln/>
        </p:spPr>
      </p:sp>
      <p:sp>
        <p:nvSpPr>
          <p:cNvPr id="23" name="!!ph-box2#2"/>
          <p:cNvSpPr txBox="1"/>
          <p:nvPr/>
        </p:nvSpPr>
        <p:spPr>
          <a:xfrm>
            <a:off x="6812280" y="3127248"/>
            <a:ext cx="45720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CRITERIOS PARA PUBLICAR</a:t>
            </a:r>
            <a:endParaRPr lang="en-US" sz="1000" dirty="0"/>
          </a:p>
        </p:txBody>
      </p:sp>
      <p:sp>
        <p:nvSpPr>
          <p:cNvPr id="24" name="!!ph-box2#3"/>
          <p:cNvSpPr txBox="1"/>
          <p:nvPr/>
        </p:nvSpPr>
        <p:spPr>
          <a:xfrm>
            <a:off x="6812280" y="3429000"/>
            <a:ext cx="4602175" cy="20116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Aceptación de Black Hawk</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Sin errores críticos abiertos</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Funciona en celular y escritorio</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Respaldo previo y plan de reversión</a:t>
            </a:r>
            <a:endParaRPr lang="en-US" sz="1250" dirty="0"/>
          </a:p>
        </p:txBody>
      </p:sp>
      <p:sp>
        <p:nvSpPr>
          <p:cNvPr id="25" name="!!ph-hito#1"/>
          <p:cNvSpPr/>
          <p:nvPr/>
        </p:nvSpPr>
        <p:spPr>
          <a:xfrm>
            <a:off x="6583680" y="5623560"/>
            <a:ext cx="5059375" cy="457200"/>
          </a:xfrm>
          <a:prstGeom prst="roundRect">
            <a:avLst>
              <a:gd name="adj" fmla="val 16000"/>
            </a:avLst>
          </a:prstGeom>
          <a:solidFill>
            <a:srgbClr val="FFFFFF"/>
          </a:solidFill>
          <a:ln w="12700">
            <a:solidFill>
              <a:srgbClr val="0B0B0D"/>
            </a:solidFill>
            <a:prstDash val="solid"/>
          </a:ln>
        </p:spPr>
      </p:sp>
      <p:sp>
        <p:nvSpPr>
          <p:cNvPr id="26" name="!!ph-hito#2"/>
          <p:cNvSpPr txBox="1"/>
          <p:nvPr/>
        </p:nvSpPr>
        <p:spPr>
          <a:xfrm>
            <a:off x="6583680" y="5623560"/>
            <a:ext cx="5059375" cy="457200"/>
          </a:xfrm>
          <a:prstGeom prst="rect">
            <a:avLst/>
          </a:prstGeom>
          <a:noFill/>
          <a:ln/>
        </p:spPr>
        <p:txBody>
          <a:bodyPr wrap="square" lIns="0" tIns="0" rIns="0" bIns="0" rtlCol="0" anchor="ctr"/>
          <a:lstStyle/>
          <a:p>
            <a:pPr algn="ctr" indent="0" marL="0">
              <a:buNone/>
            </a:pPr>
            <a:r>
              <a:rPr lang="en-US" sz="1300" b="1" dirty="0">
                <a:solidFill>
                  <a:srgbClr val="6D28D9"/>
                </a:solidFill>
                <a:latin typeface="Arial" pitchFamily="34" charset="0"/>
                <a:ea typeface="Arial" pitchFamily="34" charset="-122"/>
                <a:cs typeface="Arial" pitchFamily="34" charset="-120"/>
              </a:rPr>
              <a:t>Hito PR  </a:t>
            </a:r>
            <a:pPr algn="ctr" indent="0" marL="0">
              <a:buNone/>
            </a:pPr>
            <a:r>
              <a:rPr lang="en-US" sz="1300" dirty="0">
                <a:solidFill>
                  <a:srgbClr val="0B0B0D"/>
                </a:solidFill>
                <a:latin typeface="Arial" pitchFamily="34" charset="0"/>
                <a:ea typeface="Arial" pitchFamily="34" charset="-122"/>
                <a:cs typeface="Arial" pitchFamily="34" charset="-120"/>
              </a:rPr>
              <a:t>Publicación del producto</a:t>
            </a:r>
            <a:endParaRPr lang="en-US" sz="13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700">
        <p159:morph option="byObject"/>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Disciplinas × iteraciones: qué se entregó y qué falta</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1680"/>
                <a:gridCol w="1297534"/>
                <a:gridCol w="1297534"/>
                <a:gridCol w="1297534"/>
                <a:gridCol w="1297534"/>
                <a:gridCol w="1297534"/>
                <a:gridCol w="1297534"/>
                <a:gridCol w="1297534"/>
              </a:tblGrid>
              <a:tr h="475488">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Disciplina</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I1</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E1</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E2</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C1</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C2</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C3</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T1</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Modelado del negocio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Análisis del sitio original</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Modelo del negocio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Requisitos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Necesidades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Requisitos y casos de uso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Validación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Ajustes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Ajustes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Análisis y diseño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Modelo de dominio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Arquitectura y prototipos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Diseño de pantallas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Diseño de pantallas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Diseño de ampliaciones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Implementación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Prototipo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Rediseño y home</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Catálogo, ficha y comparador</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Cotizar, WhatsApp y páginas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r>
                        <a:rPr lang="en-US" sz="1000" dirty="0">
                          <a:solidFill>
                            <a:srgbClr val="6B7280"/>
                          </a:solidFill>
                          <a:latin typeface="Arial" pitchFamily="34" charset="0"/>
                          <a:ea typeface="Arial" pitchFamily="34" charset="-122"/>
                          <a:cs typeface="Arial" pitchFamily="34" charset="-120"/>
                        </a:rPr>
                        <a:t>Ajustes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Pruebas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Verificación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Verificación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Verificación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r>
                        <a:rPr lang="en-US" sz="1000" dirty="0">
                          <a:solidFill>
                            <a:srgbClr val="6B7280"/>
                          </a:solidFill>
                          <a:latin typeface="Arial" pitchFamily="34" charset="0"/>
                          <a:ea typeface="Arial" pitchFamily="34" charset="-122"/>
                          <a:cs typeface="Arial" pitchFamily="34" charset="-120"/>
                        </a:rPr>
                        <a:t>Aceptación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Despliegue</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6B7280"/>
                          </a:solidFill>
                          <a:latin typeface="Arial" pitchFamily="34" charset="0"/>
                          <a:ea typeface="Arial" pitchFamily="34" charset="-122"/>
                          <a:cs typeface="Arial" pitchFamily="34" charset="-120"/>
                        </a:rPr>
                        <a:t>Publicación y capacitación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6D28D9"/>
                          </a:solidFill>
                          <a:latin typeface="Arial" pitchFamily="34" charset="0"/>
                          <a:ea typeface="Arial" pitchFamily="34" charset="-122"/>
                          <a:cs typeface="Arial" pitchFamily="34" charset="-120"/>
                        </a:rPr>
                        <a:t>Estado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En curso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B7280"/>
                          </a:solidFill>
                          <a:latin typeface="Arial" pitchFamily="34" charset="0"/>
                          <a:ea typeface="Arial" pitchFamily="34" charset="-122"/>
                          <a:cs typeface="Arial" pitchFamily="34" charset="-120"/>
                        </a:rPr>
                        <a:t>Planificado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Gestión de riesgos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14</a:t>
            </a:r>
            <a:endParaRPr lang="en-US" sz="900" dirty="0"/>
          </a:p>
        </p:txBody>
      </p:sp>
      <p:sp>
        <p:nvSpPr>
          <p:cNvPr id="6" name="Text 3"/>
          <p:cNvSpPr txBox="1"/>
          <p:nvPr/>
        </p:nvSpPr>
        <p:spPr>
          <a:xfrm>
            <a:off x="548640" y="1463040"/>
            <a:ext cx="384048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PROBABILIDAD × IMPACTO</a:t>
            </a:r>
            <a:endParaRPr lang="en-US" sz="950" dirty="0"/>
          </a:p>
        </p:txBody>
      </p:sp>
      <p:sp>
        <p:nvSpPr>
          <p:cNvPr id="7" name="Text 4"/>
          <p:cNvSpPr txBox="1"/>
          <p:nvPr/>
        </p:nvSpPr>
        <p:spPr>
          <a:xfrm>
            <a:off x="548640" y="1783080"/>
            <a:ext cx="685800" cy="1024128"/>
          </a:xfrm>
          <a:prstGeom prst="rect">
            <a:avLst/>
          </a:prstGeom>
          <a:noFill/>
          <a:ln/>
        </p:spPr>
        <p:txBody>
          <a:bodyPr wrap="square" lIns="0" tIns="0" rIns="0" bIns="0" rtlCol="0" anchor="ctr"/>
          <a:lstStyle/>
          <a:p>
            <a:pPr algn="r" indent="0" marL="0">
              <a:buNone/>
            </a:pPr>
            <a:r>
              <a:rPr lang="en-US" sz="1050" dirty="0">
                <a:solidFill>
                  <a:srgbClr val="6B7280"/>
                </a:solidFill>
                <a:latin typeface="Arial" pitchFamily="34" charset="0"/>
                <a:ea typeface="Arial" pitchFamily="34" charset="-122"/>
                <a:cs typeface="Arial" pitchFamily="34" charset="-120"/>
              </a:rPr>
              <a:t>Alta</a:t>
            </a:r>
            <a:endParaRPr lang="en-US" sz="1050" dirty="0"/>
          </a:p>
        </p:txBody>
      </p:sp>
      <p:sp>
        <p:nvSpPr>
          <p:cNvPr id="8" name="Shape 5"/>
          <p:cNvSpPr/>
          <p:nvPr/>
        </p:nvSpPr>
        <p:spPr>
          <a:xfrm>
            <a:off x="1325880" y="1783080"/>
            <a:ext cx="1024128" cy="1024128"/>
          </a:xfrm>
          <a:prstGeom prst="rect">
            <a:avLst/>
          </a:prstGeom>
          <a:solidFill>
            <a:srgbClr val="F3EEFC"/>
          </a:solidFill>
          <a:ln w="25400">
            <a:solidFill>
              <a:srgbClr val="FFFFFF"/>
            </a:solidFill>
            <a:prstDash val="solid"/>
          </a:ln>
        </p:spPr>
      </p:sp>
      <p:sp>
        <p:nvSpPr>
          <p:cNvPr id="9" name="Shape 6"/>
          <p:cNvSpPr/>
          <p:nvPr/>
        </p:nvSpPr>
        <p:spPr>
          <a:xfrm>
            <a:off x="2350008" y="1783080"/>
            <a:ext cx="1024128" cy="1024128"/>
          </a:xfrm>
          <a:prstGeom prst="rect">
            <a:avLst/>
          </a:prstGeom>
          <a:solidFill>
            <a:srgbClr val="DDD0F7"/>
          </a:solidFill>
          <a:ln w="25400">
            <a:solidFill>
              <a:srgbClr val="FFFFFF"/>
            </a:solidFill>
            <a:prstDash val="solid"/>
          </a:ln>
        </p:spPr>
      </p:sp>
      <p:sp>
        <p:nvSpPr>
          <p:cNvPr id="10" name="Shape 7"/>
          <p:cNvSpPr/>
          <p:nvPr/>
        </p:nvSpPr>
        <p:spPr>
          <a:xfrm>
            <a:off x="3374136" y="1783080"/>
            <a:ext cx="1024128" cy="1024128"/>
          </a:xfrm>
          <a:prstGeom prst="rect">
            <a:avLst/>
          </a:prstGeom>
          <a:solidFill>
            <a:srgbClr val="C4B0F2"/>
          </a:solidFill>
          <a:ln w="25400">
            <a:solidFill>
              <a:srgbClr val="FFFFFF"/>
            </a:solidFill>
            <a:prstDash val="solid"/>
          </a:ln>
        </p:spPr>
      </p:sp>
      <p:sp>
        <p:nvSpPr>
          <p:cNvPr id="11" name="Text 8"/>
          <p:cNvSpPr txBox="1"/>
          <p:nvPr/>
        </p:nvSpPr>
        <p:spPr>
          <a:xfrm>
            <a:off x="548640" y="2807208"/>
            <a:ext cx="685800" cy="1024128"/>
          </a:xfrm>
          <a:prstGeom prst="rect">
            <a:avLst/>
          </a:prstGeom>
          <a:noFill/>
          <a:ln/>
        </p:spPr>
        <p:txBody>
          <a:bodyPr wrap="square" lIns="0" tIns="0" rIns="0" bIns="0" rtlCol="0" anchor="ctr"/>
          <a:lstStyle/>
          <a:p>
            <a:pPr algn="r" indent="0" marL="0">
              <a:buNone/>
            </a:pPr>
            <a:r>
              <a:rPr lang="en-US" sz="1050" dirty="0">
                <a:solidFill>
                  <a:srgbClr val="6B7280"/>
                </a:solidFill>
                <a:latin typeface="Arial" pitchFamily="34" charset="0"/>
                <a:ea typeface="Arial" pitchFamily="34" charset="-122"/>
                <a:cs typeface="Arial" pitchFamily="34" charset="-120"/>
              </a:rPr>
              <a:t>Media</a:t>
            </a:r>
            <a:endParaRPr lang="en-US" sz="1050" dirty="0"/>
          </a:p>
        </p:txBody>
      </p:sp>
      <p:sp>
        <p:nvSpPr>
          <p:cNvPr id="12" name="Shape 9"/>
          <p:cNvSpPr/>
          <p:nvPr/>
        </p:nvSpPr>
        <p:spPr>
          <a:xfrm>
            <a:off x="1325880" y="2807208"/>
            <a:ext cx="1024128" cy="1024128"/>
          </a:xfrm>
          <a:prstGeom prst="rect">
            <a:avLst/>
          </a:prstGeom>
          <a:solidFill>
            <a:srgbClr val="F9F7FE"/>
          </a:solidFill>
          <a:ln w="25400">
            <a:solidFill>
              <a:srgbClr val="FFFFFF"/>
            </a:solidFill>
            <a:prstDash val="solid"/>
          </a:ln>
        </p:spPr>
      </p:sp>
      <p:sp>
        <p:nvSpPr>
          <p:cNvPr id="13" name="Shape 10"/>
          <p:cNvSpPr/>
          <p:nvPr/>
        </p:nvSpPr>
        <p:spPr>
          <a:xfrm>
            <a:off x="2350008" y="2807208"/>
            <a:ext cx="1024128" cy="1024128"/>
          </a:xfrm>
          <a:prstGeom prst="rect">
            <a:avLst/>
          </a:prstGeom>
          <a:solidFill>
            <a:srgbClr val="EDE4FB"/>
          </a:solidFill>
          <a:ln w="25400">
            <a:solidFill>
              <a:srgbClr val="FFFFFF"/>
            </a:solidFill>
            <a:prstDash val="solid"/>
          </a:ln>
        </p:spPr>
      </p:sp>
      <p:sp>
        <p:nvSpPr>
          <p:cNvPr id="14" name="Shape 11"/>
          <p:cNvSpPr/>
          <p:nvPr/>
        </p:nvSpPr>
        <p:spPr>
          <a:xfrm>
            <a:off x="3374136" y="2807208"/>
            <a:ext cx="1024128" cy="1024128"/>
          </a:xfrm>
          <a:prstGeom prst="rect">
            <a:avLst/>
          </a:prstGeom>
          <a:solidFill>
            <a:srgbClr val="DDD0F7"/>
          </a:solidFill>
          <a:ln w="25400">
            <a:solidFill>
              <a:srgbClr val="FFFFFF"/>
            </a:solidFill>
            <a:prstDash val="solid"/>
          </a:ln>
        </p:spPr>
      </p:sp>
      <p:sp>
        <p:nvSpPr>
          <p:cNvPr id="15" name="Text 12"/>
          <p:cNvSpPr txBox="1"/>
          <p:nvPr/>
        </p:nvSpPr>
        <p:spPr>
          <a:xfrm>
            <a:off x="548640" y="3831336"/>
            <a:ext cx="685800" cy="1024128"/>
          </a:xfrm>
          <a:prstGeom prst="rect">
            <a:avLst/>
          </a:prstGeom>
          <a:noFill/>
          <a:ln/>
        </p:spPr>
        <p:txBody>
          <a:bodyPr wrap="square" lIns="0" tIns="0" rIns="0" bIns="0" rtlCol="0" anchor="ctr"/>
          <a:lstStyle/>
          <a:p>
            <a:pPr algn="r" indent="0" marL="0">
              <a:buNone/>
            </a:pPr>
            <a:r>
              <a:rPr lang="en-US" sz="1050" dirty="0">
                <a:solidFill>
                  <a:srgbClr val="6B7280"/>
                </a:solidFill>
                <a:latin typeface="Arial" pitchFamily="34" charset="0"/>
                <a:ea typeface="Arial" pitchFamily="34" charset="-122"/>
                <a:cs typeface="Arial" pitchFamily="34" charset="-120"/>
              </a:rPr>
              <a:t>Baja</a:t>
            </a:r>
            <a:endParaRPr lang="en-US" sz="1050" dirty="0"/>
          </a:p>
        </p:txBody>
      </p:sp>
      <p:sp>
        <p:nvSpPr>
          <p:cNvPr id="16" name="Shape 13"/>
          <p:cNvSpPr/>
          <p:nvPr/>
        </p:nvSpPr>
        <p:spPr>
          <a:xfrm>
            <a:off x="1325880" y="3831336"/>
            <a:ext cx="1024128" cy="1024128"/>
          </a:xfrm>
          <a:prstGeom prst="rect">
            <a:avLst/>
          </a:prstGeom>
          <a:solidFill>
            <a:srgbClr val="FFFFFF"/>
          </a:solidFill>
          <a:ln w="25400">
            <a:solidFill>
              <a:srgbClr val="FFFFFF"/>
            </a:solidFill>
            <a:prstDash val="solid"/>
          </a:ln>
        </p:spPr>
      </p:sp>
      <p:sp>
        <p:nvSpPr>
          <p:cNvPr id="17" name="Shape 14"/>
          <p:cNvSpPr/>
          <p:nvPr/>
        </p:nvSpPr>
        <p:spPr>
          <a:xfrm>
            <a:off x="2350008" y="3831336"/>
            <a:ext cx="1024128" cy="1024128"/>
          </a:xfrm>
          <a:prstGeom prst="rect">
            <a:avLst/>
          </a:prstGeom>
          <a:solidFill>
            <a:srgbClr val="F9F7FE"/>
          </a:solidFill>
          <a:ln w="25400">
            <a:solidFill>
              <a:srgbClr val="FFFFFF"/>
            </a:solidFill>
            <a:prstDash val="solid"/>
          </a:ln>
        </p:spPr>
      </p:sp>
      <p:sp>
        <p:nvSpPr>
          <p:cNvPr id="18" name="Shape 15"/>
          <p:cNvSpPr/>
          <p:nvPr/>
        </p:nvSpPr>
        <p:spPr>
          <a:xfrm>
            <a:off x="3374136" y="3831336"/>
            <a:ext cx="1024128" cy="1024128"/>
          </a:xfrm>
          <a:prstGeom prst="rect">
            <a:avLst/>
          </a:prstGeom>
          <a:solidFill>
            <a:srgbClr val="EDE4FB"/>
          </a:solidFill>
          <a:ln w="25400">
            <a:solidFill>
              <a:srgbClr val="FFFFFF"/>
            </a:solidFill>
            <a:prstDash val="solid"/>
          </a:ln>
        </p:spPr>
      </p:sp>
      <p:sp>
        <p:nvSpPr>
          <p:cNvPr id="19" name="Text 16"/>
          <p:cNvSpPr txBox="1"/>
          <p:nvPr/>
        </p:nvSpPr>
        <p:spPr>
          <a:xfrm>
            <a:off x="1325880" y="4910328"/>
            <a:ext cx="1024128" cy="228600"/>
          </a:xfrm>
          <a:prstGeom prst="rect">
            <a:avLst/>
          </a:prstGeom>
          <a:noFill/>
          <a:ln/>
        </p:spPr>
        <p:txBody>
          <a:bodyPr wrap="square" lIns="0" tIns="0" rIns="0" bIns="0" rtlCol="0" anchor="t"/>
          <a:lstStyle/>
          <a:p>
            <a:pPr algn="ctr" indent="0" marL="0">
              <a:buNone/>
            </a:pPr>
            <a:r>
              <a:rPr lang="en-US" sz="1050" dirty="0">
                <a:solidFill>
                  <a:srgbClr val="6B7280"/>
                </a:solidFill>
                <a:latin typeface="Arial" pitchFamily="34" charset="0"/>
                <a:ea typeface="Arial" pitchFamily="34" charset="-122"/>
                <a:cs typeface="Arial" pitchFamily="34" charset="-120"/>
              </a:rPr>
              <a:t>Bajo</a:t>
            </a:r>
            <a:endParaRPr lang="en-US" sz="1050" dirty="0"/>
          </a:p>
        </p:txBody>
      </p:sp>
      <p:sp>
        <p:nvSpPr>
          <p:cNvPr id="20" name="Text 17"/>
          <p:cNvSpPr txBox="1"/>
          <p:nvPr/>
        </p:nvSpPr>
        <p:spPr>
          <a:xfrm>
            <a:off x="2350008" y="4910328"/>
            <a:ext cx="1024128" cy="228600"/>
          </a:xfrm>
          <a:prstGeom prst="rect">
            <a:avLst/>
          </a:prstGeom>
          <a:noFill/>
          <a:ln/>
        </p:spPr>
        <p:txBody>
          <a:bodyPr wrap="square" lIns="0" tIns="0" rIns="0" bIns="0" rtlCol="0" anchor="t"/>
          <a:lstStyle/>
          <a:p>
            <a:pPr algn="ctr" indent="0" marL="0">
              <a:buNone/>
            </a:pPr>
            <a:r>
              <a:rPr lang="en-US" sz="1050" dirty="0">
                <a:solidFill>
                  <a:srgbClr val="6B7280"/>
                </a:solidFill>
                <a:latin typeface="Arial" pitchFamily="34" charset="0"/>
                <a:ea typeface="Arial" pitchFamily="34" charset="-122"/>
                <a:cs typeface="Arial" pitchFamily="34" charset="-120"/>
              </a:rPr>
              <a:t>Medio</a:t>
            </a:r>
            <a:endParaRPr lang="en-US" sz="1050" dirty="0"/>
          </a:p>
        </p:txBody>
      </p:sp>
      <p:sp>
        <p:nvSpPr>
          <p:cNvPr id="21" name="Text 18"/>
          <p:cNvSpPr txBox="1"/>
          <p:nvPr/>
        </p:nvSpPr>
        <p:spPr>
          <a:xfrm>
            <a:off x="3374136" y="4910328"/>
            <a:ext cx="1024128" cy="228600"/>
          </a:xfrm>
          <a:prstGeom prst="rect">
            <a:avLst/>
          </a:prstGeom>
          <a:noFill/>
          <a:ln/>
        </p:spPr>
        <p:txBody>
          <a:bodyPr wrap="square" lIns="0" tIns="0" rIns="0" bIns="0" rtlCol="0" anchor="t"/>
          <a:lstStyle/>
          <a:p>
            <a:pPr algn="ctr" indent="0" marL="0">
              <a:buNone/>
            </a:pPr>
            <a:r>
              <a:rPr lang="en-US" sz="1050" dirty="0">
                <a:solidFill>
                  <a:srgbClr val="6B7280"/>
                </a:solidFill>
                <a:latin typeface="Arial" pitchFamily="34" charset="0"/>
                <a:ea typeface="Arial" pitchFamily="34" charset="-122"/>
                <a:cs typeface="Arial" pitchFamily="34" charset="-120"/>
              </a:rPr>
              <a:t>Alto</a:t>
            </a:r>
            <a:endParaRPr lang="en-US" sz="1050" dirty="0"/>
          </a:p>
        </p:txBody>
      </p:sp>
      <p:sp>
        <p:nvSpPr>
          <p:cNvPr id="22" name="Text 19"/>
          <p:cNvSpPr txBox="1"/>
          <p:nvPr/>
        </p:nvSpPr>
        <p:spPr>
          <a:xfrm>
            <a:off x="1325880" y="5166360"/>
            <a:ext cx="3072384" cy="228600"/>
          </a:xfrm>
          <a:prstGeom prst="rect">
            <a:avLst/>
          </a:prstGeom>
          <a:noFill/>
          <a:ln/>
        </p:spPr>
        <p:txBody>
          <a:bodyPr wrap="square" lIns="0" tIns="0" rIns="0" bIns="0" rtlCol="0" anchor="t"/>
          <a:lstStyle/>
          <a:p>
            <a:pPr algn="ctr" indent="0" marL="0">
              <a:buNone/>
            </a:pPr>
            <a:r>
              <a:rPr lang="en-US" sz="1000" b="1" dirty="0">
                <a:solidFill>
                  <a:srgbClr val="0B0B0D"/>
                </a:solidFill>
                <a:latin typeface="Arial" pitchFamily="34" charset="0"/>
                <a:ea typeface="Arial" pitchFamily="34" charset="-122"/>
                <a:cs typeface="Arial" pitchFamily="34" charset="-120"/>
              </a:rPr>
              <a:t>Impacto →</a:t>
            </a:r>
            <a:endParaRPr lang="en-US" sz="1000" dirty="0"/>
          </a:p>
        </p:txBody>
      </p:sp>
      <p:sp>
        <p:nvSpPr>
          <p:cNvPr id="23" name="Text 20"/>
          <p:cNvSpPr txBox="1"/>
          <p:nvPr/>
        </p:nvSpPr>
        <p:spPr>
          <a:xfrm>
            <a:off x="548640" y="5541264"/>
            <a:ext cx="4023360" cy="228600"/>
          </a:xfrm>
          <a:prstGeom prst="rect">
            <a:avLst/>
          </a:prstGeom>
          <a:noFill/>
          <a:ln/>
        </p:spPr>
        <p:txBody>
          <a:bodyPr wrap="square" lIns="0" tIns="0" rIns="0" bIns="0" rtlCol="0" anchor="t"/>
          <a:lstStyle/>
          <a:p>
            <a:pPr indent="0" marL="0">
              <a:buNone/>
            </a:pPr>
            <a:r>
              <a:rPr lang="en-US" sz="950" i="1" dirty="0">
                <a:solidFill>
                  <a:srgbClr val="6B7280"/>
                </a:solidFill>
                <a:latin typeface="Arial" pitchFamily="34" charset="0"/>
                <a:ea typeface="Arial" pitchFamily="34" charset="-122"/>
                <a:cs typeface="Arial" pitchFamily="34" charset="-120"/>
              </a:rPr>
              <a:t>Valoración cualitativa del equipo del proyecto.</a:t>
            </a:r>
            <a:endParaRPr lang="en-US" sz="950" dirty="0"/>
          </a:p>
        </p:txBody>
      </p:sp>
      <p:sp>
        <p:nvSpPr>
          <p:cNvPr id="24" name="@rk1#1"/>
          <p:cNvSpPr/>
          <p:nvPr/>
        </p:nvSpPr>
        <p:spPr>
          <a:xfrm>
            <a:off x="3511296" y="2944368"/>
            <a:ext cx="347472" cy="347472"/>
          </a:xfrm>
          <a:prstGeom prst="ellipse">
            <a:avLst/>
          </a:prstGeom>
          <a:solidFill>
            <a:srgbClr val="6D28D9"/>
          </a:solidFill>
          <a:ln w="19050">
            <a:solidFill>
              <a:srgbClr val="FFFFFF"/>
            </a:solidFill>
            <a:prstDash val="solid"/>
          </a:ln>
        </p:spPr>
      </p:sp>
      <p:sp>
        <p:nvSpPr>
          <p:cNvPr id="25" name="@rk1#2"/>
          <p:cNvSpPr txBox="1"/>
          <p:nvPr/>
        </p:nvSpPr>
        <p:spPr>
          <a:xfrm>
            <a:off x="3511296" y="29443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6" name="@rk2#1"/>
          <p:cNvSpPr/>
          <p:nvPr/>
        </p:nvSpPr>
        <p:spPr>
          <a:xfrm>
            <a:off x="3913632" y="2944368"/>
            <a:ext cx="347472" cy="347472"/>
          </a:xfrm>
          <a:prstGeom prst="ellipse">
            <a:avLst/>
          </a:prstGeom>
          <a:solidFill>
            <a:srgbClr val="6D28D9"/>
          </a:solidFill>
          <a:ln w="19050">
            <a:solidFill>
              <a:srgbClr val="FFFFFF"/>
            </a:solidFill>
            <a:prstDash val="solid"/>
          </a:ln>
        </p:spPr>
      </p:sp>
      <p:sp>
        <p:nvSpPr>
          <p:cNvPr id="27" name="@rk2#2"/>
          <p:cNvSpPr txBox="1"/>
          <p:nvPr/>
        </p:nvSpPr>
        <p:spPr>
          <a:xfrm>
            <a:off x="3913632" y="29443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8" name="@rk4#1"/>
          <p:cNvSpPr/>
          <p:nvPr/>
        </p:nvSpPr>
        <p:spPr>
          <a:xfrm>
            <a:off x="3511296" y="3346704"/>
            <a:ext cx="347472" cy="347472"/>
          </a:xfrm>
          <a:prstGeom prst="ellipse">
            <a:avLst/>
          </a:prstGeom>
          <a:solidFill>
            <a:srgbClr val="6D28D9"/>
          </a:solidFill>
          <a:ln w="19050">
            <a:solidFill>
              <a:srgbClr val="FFFFFF"/>
            </a:solidFill>
            <a:prstDash val="solid"/>
          </a:ln>
        </p:spPr>
      </p:sp>
      <p:sp>
        <p:nvSpPr>
          <p:cNvPr id="29" name="@rk4#2"/>
          <p:cNvSpPr txBox="1"/>
          <p:nvPr/>
        </p:nvSpPr>
        <p:spPr>
          <a:xfrm>
            <a:off x="3511296" y="33467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0" name="@rk6#1"/>
          <p:cNvSpPr/>
          <p:nvPr/>
        </p:nvSpPr>
        <p:spPr>
          <a:xfrm>
            <a:off x="3913632" y="3346704"/>
            <a:ext cx="347472" cy="347472"/>
          </a:xfrm>
          <a:prstGeom prst="ellipse">
            <a:avLst/>
          </a:prstGeom>
          <a:solidFill>
            <a:srgbClr val="6D28D9"/>
          </a:solidFill>
          <a:ln w="19050">
            <a:solidFill>
              <a:srgbClr val="FFFFFF"/>
            </a:solidFill>
            <a:prstDash val="solid"/>
          </a:ln>
        </p:spPr>
      </p:sp>
      <p:sp>
        <p:nvSpPr>
          <p:cNvPr id="31" name="@rk6#2"/>
          <p:cNvSpPr txBox="1"/>
          <p:nvPr/>
        </p:nvSpPr>
        <p:spPr>
          <a:xfrm>
            <a:off x="3913632" y="33467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2" name="@rk3#1"/>
          <p:cNvSpPr/>
          <p:nvPr/>
        </p:nvSpPr>
        <p:spPr>
          <a:xfrm>
            <a:off x="2688336" y="3145536"/>
            <a:ext cx="347472" cy="347472"/>
          </a:xfrm>
          <a:prstGeom prst="ellipse">
            <a:avLst/>
          </a:prstGeom>
          <a:solidFill>
            <a:srgbClr val="6D28D9"/>
          </a:solidFill>
          <a:ln w="19050">
            <a:solidFill>
              <a:srgbClr val="FFFFFF"/>
            </a:solidFill>
            <a:prstDash val="solid"/>
          </a:ln>
        </p:spPr>
      </p:sp>
      <p:sp>
        <p:nvSpPr>
          <p:cNvPr id="33" name="@rk3#2"/>
          <p:cNvSpPr txBox="1"/>
          <p:nvPr/>
        </p:nvSpPr>
        <p:spPr>
          <a:xfrm>
            <a:off x="2688336" y="31455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4" name="@rk5#1"/>
          <p:cNvSpPr/>
          <p:nvPr/>
        </p:nvSpPr>
        <p:spPr>
          <a:xfrm>
            <a:off x="3712464" y="4169664"/>
            <a:ext cx="347472" cy="347472"/>
          </a:xfrm>
          <a:prstGeom prst="ellipse">
            <a:avLst/>
          </a:prstGeom>
          <a:solidFill>
            <a:srgbClr val="6D28D9"/>
          </a:solidFill>
          <a:ln w="19050">
            <a:solidFill>
              <a:srgbClr val="FFFFFF"/>
            </a:solidFill>
            <a:prstDash val="solid"/>
          </a:ln>
        </p:spPr>
      </p:sp>
      <p:sp>
        <p:nvSpPr>
          <p:cNvPr id="35" name="@rk5#2"/>
          <p:cNvSpPr txBox="1"/>
          <p:nvPr/>
        </p:nvSpPr>
        <p:spPr>
          <a:xfrm>
            <a:off x="3712464" y="41696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5349240" y="1463040"/>
            <a:ext cx="22860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RIESGO</a:t>
            </a:r>
            <a:endParaRPr lang="en-US" sz="950" dirty="0"/>
          </a:p>
        </p:txBody>
      </p:sp>
      <p:sp>
        <p:nvSpPr>
          <p:cNvPr id="37" name="Text 34"/>
          <p:cNvSpPr txBox="1"/>
          <p:nvPr/>
        </p:nvSpPr>
        <p:spPr>
          <a:xfrm>
            <a:off x="8046720" y="1463040"/>
            <a:ext cx="22860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RESPUESTA</a:t>
            </a:r>
            <a:endParaRPr lang="en-US" sz="950" dirty="0"/>
          </a:p>
        </p:txBody>
      </p:sp>
      <p:sp>
        <p:nvSpPr>
          <p:cNvPr id="38" name="Text 35"/>
          <p:cNvSpPr txBox="1"/>
          <p:nvPr/>
        </p:nvSpPr>
        <p:spPr>
          <a:xfrm>
            <a:off x="10500055" y="1463040"/>
            <a:ext cx="11430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ESTADO</a:t>
            </a:r>
            <a:endParaRPr lang="en-US" sz="950" dirty="0"/>
          </a:p>
        </p:txBody>
      </p:sp>
      <p:sp>
        <p:nvSpPr>
          <p:cNvPr id="39" name="@rk1#3"/>
          <p:cNvSpPr/>
          <p:nvPr/>
        </p:nvSpPr>
        <p:spPr>
          <a:xfrm>
            <a:off x="4892040" y="1746504"/>
            <a:ext cx="6751015" cy="0"/>
          </a:xfrm>
          <a:prstGeom prst="line">
            <a:avLst/>
          </a:prstGeom>
          <a:noFill/>
          <a:ln w="9525">
            <a:solidFill>
              <a:srgbClr val="E3E4E8"/>
            </a:solidFill>
            <a:prstDash val="solid"/>
          </a:ln>
        </p:spPr>
      </p:sp>
      <p:sp>
        <p:nvSpPr>
          <p:cNvPr id="40" name="@rk1#4"/>
          <p:cNvSpPr/>
          <p:nvPr/>
        </p:nvSpPr>
        <p:spPr>
          <a:xfrm>
            <a:off x="4901184" y="1938528"/>
            <a:ext cx="347472" cy="347472"/>
          </a:xfrm>
          <a:prstGeom prst="ellipse">
            <a:avLst/>
          </a:prstGeom>
          <a:solidFill>
            <a:srgbClr val="6D28D9"/>
          </a:solidFill>
          <a:ln w="19050">
            <a:solidFill>
              <a:srgbClr val="FFFFFF"/>
            </a:solidFill>
            <a:prstDash val="solid"/>
          </a:ln>
        </p:spPr>
      </p:sp>
      <p:sp>
        <p:nvSpPr>
          <p:cNvPr id="41" name="@rk1#5"/>
          <p:cNvSpPr txBox="1"/>
          <p:nvPr/>
        </p:nvSpPr>
        <p:spPr>
          <a:xfrm>
            <a:off x="4901184" y="193852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42" name="@rk1#6"/>
          <p:cNvSpPr txBox="1"/>
          <p:nvPr/>
        </p:nvSpPr>
        <p:spPr>
          <a:xfrm>
            <a:off x="5349240" y="1783080"/>
            <a:ext cx="2560320" cy="658368"/>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Una actualización de plugins o del tema base rompe el rediseño</a:t>
            </a:r>
            <a:endParaRPr lang="en-US" sz="1200" dirty="0"/>
          </a:p>
        </p:txBody>
      </p:sp>
      <p:sp>
        <p:nvSpPr>
          <p:cNvPr id="43" name="@rk1#7"/>
          <p:cNvSpPr txBox="1"/>
          <p:nvPr/>
        </p:nvSpPr>
        <p:spPr>
          <a:xfrm>
            <a:off x="8046720" y="1783080"/>
            <a:ext cx="2286000" cy="658368"/>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Rediseño aislado en un tema hijo; actualizaciones probadas primero en el entorno de prueba</a:t>
            </a:r>
            <a:endParaRPr lang="en-US" sz="1050" dirty="0"/>
          </a:p>
        </p:txBody>
      </p:sp>
      <p:sp>
        <p:nvSpPr>
          <p:cNvPr id="44" name="@rk1#8"/>
          <p:cNvSpPr/>
          <p:nvPr/>
        </p:nvSpPr>
        <p:spPr>
          <a:xfrm>
            <a:off x="10500055" y="1984248"/>
            <a:ext cx="815645" cy="256032"/>
          </a:xfrm>
          <a:prstGeom prst="roundRect">
            <a:avLst>
              <a:gd name="adj" fmla="val 50000"/>
            </a:avLst>
          </a:prstGeom>
          <a:solidFill>
            <a:srgbClr val="0B0B0D"/>
          </a:solidFill>
          <a:ln w="9525">
            <a:solidFill>
              <a:srgbClr val="0B0B0D"/>
            </a:solidFill>
            <a:prstDash val="solid"/>
          </a:ln>
        </p:spPr>
      </p:sp>
      <p:sp>
        <p:nvSpPr>
          <p:cNvPr id="45" name="@rk1#9"/>
          <p:cNvSpPr txBox="1"/>
          <p:nvPr/>
        </p:nvSpPr>
        <p:spPr>
          <a:xfrm>
            <a:off x="10500055" y="1984248"/>
            <a:ext cx="815645"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Mitigado</a:t>
            </a:r>
            <a:endParaRPr lang="en-US" sz="900" dirty="0"/>
          </a:p>
        </p:txBody>
      </p:sp>
      <p:sp>
        <p:nvSpPr>
          <p:cNvPr id="46" name="@rk2#3"/>
          <p:cNvSpPr/>
          <p:nvPr/>
        </p:nvSpPr>
        <p:spPr>
          <a:xfrm>
            <a:off x="4892040" y="2459736"/>
            <a:ext cx="6751015" cy="0"/>
          </a:xfrm>
          <a:prstGeom prst="line">
            <a:avLst/>
          </a:prstGeom>
          <a:noFill/>
          <a:ln w="9525">
            <a:solidFill>
              <a:srgbClr val="E3E4E8"/>
            </a:solidFill>
            <a:prstDash val="solid"/>
          </a:ln>
        </p:spPr>
      </p:sp>
      <p:sp>
        <p:nvSpPr>
          <p:cNvPr id="47" name="@rk2#4"/>
          <p:cNvSpPr/>
          <p:nvPr/>
        </p:nvSpPr>
        <p:spPr>
          <a:xfrm>
            <a:off x="4901184" y="2651760"/>
            <a:ext cx="347472" cy="347472"/>
          </a:xfrm>
          <a:prstGeom prst="ellipse">
            <a:avLst/>
          </a:prstGeom>
          <a:solidFill>
            <a:srgbClr val="6D28D9"/>
          </a:solidFill>
          <a:ln w="19050">
            <a:solidFill>
              <a:srgbClr val="FFFFFF"/>
            </a:solidFill>
            <a:prstDash val="solid"/>
          </a:ln>
        </p:spPr>
      </p:sp>
      <p:sp>
        <p:nvSpPr>
          <p:cNvPr id="48" name="@rk2#5"/>
          <p:cNvSpPr txBox="1"/>
          <p:nvPr/>
        </p:nvSpPr>
        <p:spPr>
          <a:xfrm>
            <a:off x="4901184" y="26517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49" name="@rk2#6"/>
          <p:cNvSpPr txBox="1"/>
          <p:nvPr/>
        </p:nvSpPr>
        <p:spPr>
          <a:xfrm>
            <a:off x="5349240" y="2496312"/>
            <a:ext cx="2560320" cy="658368"/>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El alcance crece hacia una tienda en línea o un ERP</a:t>
            </a:r>
            <a:endParaRPr lang="en-US" sz="1200" dirty="0"/>
          </a:p>
        </p:txBody>
      </p:sp>
      <p:sp>
        <p:nvSpPr>
          <p:cNvPr id="50" name="@rk2#7"/>
          <p:cNvSpPr txBox="1"/>
          <p:nvPr/>
        </p:nvSpPr>
        <p:spPr>
          <a:xfrm>
            <a:off x="8046720" y="2496312"/>
            <a:ext cx="2286000" cy="658368"/>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Alcance y exclusiones acordados en Inicio (hito LCO)</a:t>
            </a:r>
            <a:endParaRPr lang="en-US" sz="1050" dirty="0"/>
          </a:p>
        </p:txBody>
      </p:sp>
      <p:sp>
        <p:nvSpPr>
          <p:cNvPr id="51" name="@rk2#8"/>
          <p:cNvSpPr/>
          <p:nvPr/>
        </p:nvSpPr>
        <p:spPr>
          <a:xfrm>
            <a:off x="10500055" y="2697480"/>
            <a:ext cx="955548" cy="256032"/>
          </a:xfrm>
          <a:prstGeom prst="roundRect">
            <a:avLst>
              <a:gd name="adj" fmla="val 50000"/>
            </a:avLst>
          </a:prstGeom>
          <a:solidFill>
            <a:srgbClr val="0B0B0D"/>
          </a:solidFill>
          <a:ln w="9525">
            <a:solidFill>
              <a:srgbClr val="0B0B0D"/>
            </a:solidFill>
            <a:prstDash val="solid"/>
          </a:ln>
        </p:spPr>
      </p:sp>
      <p:sp>
        <p:nvSpPr>
          <p:cNvPr id="52" name="@rk2#9"/>
          <p:cNvSpPr txBox="1"/>
          <p:nvPr/>
        </p:nvSpPr>
        <p:spPr>
          <a:xfrm>
            <a:off x="10500055" y="2697480"/>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Controlado</a:t>
            </a:r>
            <a:endParaRPr lang="en-US" sz="900" dirty="0"/>
          </a:p>
        </p:txBody>
      </p:sp>
      <p:sp>
        <p:nvSpPr>
          <p:cNvPr id="53" name="@rk3#3"/>
          <p:cNvSpPr/>
          <p:nvPr/>
        </p:nvSpPr>
        <p:spPr>
          <a:xfrm>
            <a:off x="4892040" y="3172968"/>
            <a:ext cx="6751015" cy="0"/>
          </a:xfrm>
          <a:prstGeom prst="line">
            <a:avLst/>
          </a:prstGeom>
          <a:noFill/>
          <a:ln w="9525">
            <a:solidFill>
              <a:srgbClr val="E3E4E8"/>
            </a:solidFill>
            <a:prstDash val="solid"/>
          </a:ln>
        </p:spPr>
      </p:sp>
      <p:sp>
        <p:nvSpPr>
          <p:cNvPr id="54" name="@rk3#4"/>
          <p:cNvSpPr/>
          <p:nvPr/>
        </p:nvSpPr>
        <p:spPr>
          <a:xfrm>
            <a:off x="4901184" y="3364992"/>
            <a:ext cx="347472" cy="347472"/>
          </a:xfrm>
          <a:prstGeom prst="ellipse">
            <a:avLst/>
          </a:prstGeom>
          <a:solidFill>
            <a:srgbClr val="6D28D9"/>
          </a:solidFill>
          <a:ln w="19050">
            <a:solidFill>
              <a:srgbClr val="FFFFFF"/>
            </a:solidFill>
            <a:prstDash val="solid"/>
          </a:ln>
        </p:spPr>
      </p:sp>
      <p:sp>
        <p:nvSpPr>
          <p:cNvPr id="55" name="@rk3#5"/>
          <p:cNvSpPr txBox="1"/>
          <p:nvPr/>
        </p:nvSpPr>
        <p:spPr>
          <a:xfrm>
            <a:off x="4901184" y="336499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56" name="@rk3#6"/>
          <p:cNvSpPr txBox="1"/>
          <p:nvPr/>
        </p:nvSpPr>
        <p:spPr>
          <a:xfrm>
            <a:off x="5349240" y="3209544"/>
            <a:ext cx="2560320" cy="658368"/>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Páginas lentas por imágenes pesadas</a:t>
            </a:r>
            <a:endParaRPr lang="en-US" sz="1200" dirty="0"/>
          </a:p>
        </p:txBody>
      </p:sp>
      <p:sp>
        <p:nvSpPr>
          <p:cNvPr id="57" name="@rk3#7"/>
          <p:cNvSpPr txBox="1"/>
          <p:nvPr/>
        </p:nvSpPr>
        <p:spPr>
          <a:xfrm>
            <a:off x="8046720" y="3209544"/>
            <a:ext cx="2286000" cy="658368"/>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Imágenes optimizadas y medición con Lighthouse: ficha de 5,28 a 0,38 MB</a:t>
            </a:r>
            <a:endParaRPr lang="en-US" sz="1050" dirty="0"/>
          </a:p>
        </p:txBody>
      </p:sp>
      <p:sp>
        <p:nvSpPr>
          <p:cNvPr id="58" name="@rk3#8"/>
          <p:cNvSpPr/>
          <p:nvPr/>
        </p:nvSpPr>
        <p:spPr>
          <a:xfrm>
            <a:off x="10500055" y="3410712"/>
            <a:ext cx="815645" cy="256032"/>
          </a:xfrm>
          <a:prstGeom prst="roundRect">
            <a:avLst>
              <a:gd name="adj" fmla="val 50000"/>
            </a:avLst>
          </a:prstGeom>
          <a:solidFill>
            <a:srgbClr val="0B0B0D"/>
          </a:solidFill>
          <a:ln w="9525">
            <a:solidFill>
              <a:srgbClr val="0B0B0D"/>
            </a:solidFill>
            <a:prstDash val="solid"/>
          </a:ln>
        </p:spPr>
      </p:sp>
      <p:sp>
        <p:nvSpPr>
          <p:cNvPr id="59" name="@rk3#9"/>
          <p:cNvSpPr txBox="1"/>
          <p:nvPr/>
        </p:nvSpPr>
        <p:spPr>
          <a:xfrm>
            <a:off x="10500055" y="3410712"/>
            <a:ext cx="815645"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Mitigado</a:t>
            </a:r>
            <a:endParaRPr lang="en-US" sz="900" dirty="0"/>
          </a:p>
        </p:txBody>
      </p:sp>
      <p:sp>
        <p:nvSpPr>
          <p:cNvPr id="60" name="@rk4#3"/>
          <p:cNvSpPr/>
          <p:nvPr/>
        </p:nvSpPr>
        <p:spPr>
          <a:xfrm>
            <a:off x="4892040" y="3886200"/>
            <a:ext cx="6751015" cy="0"/>
          </a:xfrm>
          <a:prstGeom prst="line">
            <a:avLst/>
          </a:prstGeom>
          <a:noFill/>
          <a:ln w="9525">
            <a:solidFill>
              <a:srgbClr val="E3E4E8"/>
            </a:solidFill>
            <a:prstDash val="solid"/>
          </a:ln>
        </p:spPr>
      </p:sp>
      <p:sp>
        <p:nvSpPr>
          <p:cNvPr id="61" name="@rk4#4"/>
          <p:cNvSpPr/>
          <p:nvPr/>
        </p:nvSpPr>
        <p:spPr>
          <a:xfrm>
            <a:off x="4901184" y="4078224"/>
            <a:ext cx="347472" cy="347472"/>
          </a:xfrm>
          <a:prstGeom prst="ellipse">
            <a:avLst/>
          </a:prstGeom>
          <a:solidFill>
            <a:srgbClr val="6D28D9"/>
          </a:solidFill>
          <a:ln w="19050">
            <a:solidFill>
              <a:srgbClr val="FFFFFF"/>
            </a:solidFill>
            <a:prstDash val="solid"/>
          </a:ln>
        </p:spPr>
      </p:sp>
      <p:sp>
        <p:nvSpPr>
          <p:cNvPr id="62" name="@rk4#5"/>
          <p:cNvSpPr txBox="1"/>
          <p:nvPr/>
        </p:nvSpPr>
        <p:spPr>
          <a:xfrm>
            <a:off x="4901184" y="40782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63" name="@rk4#6"/>
          <p:cNvSpPr txBox="1"/>
          <p:nvPr/>
        </p:nvSpPr>
        <p:spPr>
          <a:xfrm>
            <a:off x="5349240" y="3922776"/>
            <a:ext cx="2560320" cy="658368"/>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Especificaciones técnicas con errores</a:t>
            </a:r>
            <a:endParaRPr lang="en-US" sz="1200" dirty="0"/>
          </a:p>
        </p:txBody>
      </p:sp>
      <p:sp>
        <p:nvSpPr>
          <p:cNvPr id="64" name="@rk4#7"/>
          <p:cNvSpPr txBox="1"/>
          <p:nvPr/>
        </p:nvSpPr>
        <p:spPr>
          <a:xfrm>
            <a:off x="8046720" y="3922776"/>
            <a:ext cx="2286000" cy="658368"/>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Revisión de las fichas con Black Hawk antes de publicar</a:t>
            </a:r>
            <a:endParaRPr lang="en-US" sz="1050" dirty="0"/>
          </a:p>
        </p:txBody>
      </p:sp>
      <p:sp>
        <p:nvSpPr>
          <p:cNvPr id="65" name="@rk4#8"/>
          <p:cNvSpPr/>
          <p:nvPr/>
        </p:nvSpPr>
        <p:spPr>
          <a:xfrm>
            <a:off x="10500055" y="4123944"/>
            <a:ext cx="745693" cy="256032"/>
          </a:xfrm>
          <a:prstGeom prst="roundRect">
            <a:avLst>
              <a:gd name="adj" fmla="val 50000"/>
            </a:avLst>
          </a:prstGeom>
          <a:solidFill>
            <a:srgbClr val="EDE4FB"/>
          </a:solidFill>
          <a:ln w="9525">
            <a:solidFill>
              <a:srgbClr val="6D28D9"/>
            </a:solidFill>
            <a:prstDash val="solid"/>
          </a:ln>
        </p:spPr>
      </p:sp>
      <p:sp>
        <p:nvSpPr>
          <p:cNvPr id="66" name="@rk4#9"/>
          <p:cNvSpPr txBox="1"/>
          <p:nvPr/>
        </p:nvSpPr>
        <p:spPr>
          <a:xfrm>
            <a:off x="10500055" y="4123944"/>
            <a:ext cx="745693" cy="256032"/>
          </a:xfrm>
          <a:prstGeom prst="rect">
            <a:avLst/>
          </a:prstGeom>
          <a:noFill/>
          <a:ln/>
        </p:spPr>
        <p:txBody>
          <a:bodyPr wrap="square" lIns="0" tIns="0" rIns="0" bIns="0" rtlCol="0" anchor="ctr"/>
          <a:lstStyle/>
          <a:p>
            <a:pPr algn="ctr" indent="0" marL="0">
              <a:buNone/>
            </a:pPr>
            <a:r>
              <a:rPr lang="en-US" sz="900" b="1" dirty="0">
                <a:solidFill>
                  <a:srgbClr val="6D28D9"/>
                </a:solidFill>
                <a:latin typeface="Arial" pitchFamily="34" charset="0"/>
                <a:ea typeface="Arial" pitchFamily="34" charset="-122"/>
                <a:cs typeface="Arial" pitchFamily="34" charset="-120"/>
              </a:rPr>
              <a:t>Abierto</a:t>
            </a:r>
            <a:endParaRPr lang="en-US" sz="900" dirty="0"/>
          </a:p>
        </p:txBody>
      </p:sp>
      <p:sp>
        <p:nvSpPr>
          <p:cNvPr id="67" name="@rk5#3"/>
          <p:cNvSpPr/>
          <p:nvPr/>
        </p:nvSpPr>
        <p:spPr>
          <a:xfrm>
            <a:off x="4892040" y="4599432"/>
            <a:ext cx="6751015" cy="0"/>
          </a:xfrm>
          <a:prstGeom prst="line">
            <a:avLst/>
          </a:prstGeom>
          <a:noFill/>
          <a:ln w="9525">
            <a:solidFill>
              <a:srgbClr val="E3E4E8"/>
            </a:solidFill>
            <a:prstDash val="solid"/>
          </a:ln>
        </p:spPr>
      </p:sp>
      <p:sp>
        <p:nvSpPr>
          <p:cNvPr id="68" name="@rk5#4"/>
          <p:cNvSpPr/>
          <p:nvPr/>
        </p:nvSpPr>
        <p:spPr>
          <a:xfrm>
            <a:off x="4901184" y="4791456"/>
            <a:ext cx="347472" cy="347472"/>
          </a:xfrm>
          <a:prstGeom prst="ellipse">
            <a:avLst/>
          </a:prstGeom>
          <a:solidFill>
            <a:srgbClr val="6D28D9"/>
          </a:solidFill>
          <a:ln w="19050">
            <a:solidFill>
              <a:srgbClr val="FFFFFF"/>
            </a:solidFill>
            <a:prstDash val="solid"/>
          </a:ln>
        </p:spPr>
      </p:sp>
      <p:sp>
        <p:nvSpPr>
          <p:cNvPr id="69" name="@rk5#5"/>
          <p:cNvSpPr txBox="1"/>
          <p:nvPr/>
        </p:nvSpPr>
        <p:spPr>
          <a:xfrm>
            <a:off x="4901184" y="479145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70" name="@rk5#6"/>
          <p:cNvSpPr txBox="1"/>
          <p:nvPr/>
        </p:nvSpPr>
        <p:spPr>
          <a:xfrm>
            <a:off x="5349240" y="4636008"/>
            <a:ext cx="2560320" cy="658368"/>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Falla al publicar en el dominio oficial</a:t>
            </a:r>
            <a:endParaRPr lang="en-US" sz="1200" dirty="0"/>
          </a:p>
        </p:txBody>
      </p:sp>
      <p:sp>
        <p:nvSpPr>
          <p:cNvPr id="71" name="@rk5#7"/>
          <p:cNvSpPr txBox="1"/>
          <p:nvPr/>
        </p:nvSpPr>
        <p:spPr>
          <a:xfrm>
            <a:off x="8046720" y="4636008"/>
            <a:ext cx="2286000" cy="658368"/>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Respaldo previo, publicación desde el entorno de prueba y plan de reversión</a:t>
            </a:r>
            <a:endParaRPr lang="en-US" sz="1050" dirty="0"/>
          </a:p>
        </p:txBody>
      </p:sp>
      <p:sp>
        <p:nvSpPr>
          <p:cNvPr id="72" name="@rk5#8"/>
          <p:cNvSpPr/>
          <p:nvPr/>
        </p:nvSpPr>
        <p:spPr>
          <a:xfrm>
            <a:off x="10500055" y="4837176"/>
            <a:ext cx="1025500" cy="256032"/>
          </a:xfrm>
          <a:prstGeom prst="roundRect">
            <a:avLst>
              <a:gd name="adj" fmla="val 50000"/>
            </a:avLst>
          </a:prstGeom>
          <a:solidFill>
            <a:srgbClr val="FFFFFF"/>
          </a:solidFill>
          <a:ln w="9525">
            <a:solidFill>
              <a:srgbClr val="9CA3AF"/>
            </a:solidFill>
            <a:prstDash val="solid"/>
          </a:ln>
        </p:spPr>
      </p:sp>
      <p:sp>
        <p:nvSpPr>
          <p:cNvPr id="73" name="@rk5#9"/>
          <p:cNvSpPr txBox="1"/>
          <p:nvPr/>
        </p:nvSpPr>
        <p:spPr>
          <a:xfrm>
            <a:off x="10500055" y="4837176"/>
            <a:ext cx="1025500" cy="256032"/>
          </a:xfrm>
          <a:prstGeom prst="rect">
            <a:avLst/>
          </a:prstGeom>
          <a:noFill/>
          <a:ln/>
        </p:spPr>
        <p:txBody>
          <a:bodyPr wrap="square" lIns="0" tIns="0" rIns="0" bIns="0" rtlCol="0" anchor="ctr"/>
          <a:lstStyle/>
          <a:p>
            <a:pPr algn="ctr" indent="0" marL="0">
              <a:buNone/>
            </a:pPr>
            <a:r>
              <a:rPr lang="en-US" sz="900" b="1" dirty="0">
                <a:solidFill>
                  <a:srgbClr val="6B7280"/>
                </a:solidFill>
                <a:latin typeface="Arial" pitchFamily="34" charset="0"/>
                <a:ea typeface="Arial" pitchFamily="34" charset="-122"/>
                <a:cs typeface="Arial" pitchFamily="34" charset="-120"/>
              </a:rPr>
              <a:t>Planificado</a:t>
            </a:r>
            <a:endParaRPr lang="en-US" sz="900" dirty="0"/>
          </a:p>
        </p:txBody>
      </p:sp>
      <p:sp>
        <p:nvSpPr>
          <p:cNvPr id="74" name="@rk6#3"/>
          <p:cNvSpPr/>
          <p:nvPr/>
        </p:nvSpPr>
        <p:spPr>
          <a:xfrm>
            <a:off x="4892040" y="5312664"/>
            <a:ext cx="6751015" cy="0"/>
          </a:xfrm>
          <a:prstGeom prst="line">
            <a:avLst/>
          </a:prstGeom>
          <a:noFill/>
          <a:ln w="9525">
            <a:solidFill>
              <a:srgbClr val="E3E4E8"/>
            </a:solidFill>
            <a:prstDash val="solid"/>
          </a:ln>
        </p:spPr>
      </p:sp>
      <p:sp>
        <p:nvSpPr>
          <p:cNvPr id="75" name="@rk6#4"/>
          <p:cNvSpPr/>
          <p:nvPr/>
        </p:nvSpPr>
        <p:spPr>
          <a:xfrm>
            <a:off x="4901184" y="5504688"/>
            <a:ext cx="347472" cy="347472"/>
          </a:xfrm>
          <a:prstGeom prst="ellipse">
            <a:avLst/>
          </a:prstGeom>
          <a:solidFill>
            <a:srgbClr val="6D28D9"/>
          </a:solidFill>
          <a:ln w="19050">
            <a:solidFill>
              <a:srgbClr val="FFFFFF"/>
            </a:solidFill>
            <a:prstDash val="solid"/>
          </a:ln>
        </p:spPr>
      </p:sp>
      <p:sp>
        <p:nvSpPr>
          <p:cNvPr id="76" name="@rk6#5"/>
          <p:cNvSpPr txBox="1"/>
          <p:nvPr/>
        </p:nvSpPr>
        <p:spPr>
          <a:xfrm>
            <a:off x="4901184" y="55046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77" name="@rk6#6"/>
          <p:cNvSpPr txBox="1"/>
          <p:nvPr/>
        </p:nvSpPr>
        <p:spPr>
          <a:xfrm>
            <a:off x="5349240" y="5349240"/>
            <a:ext cx="2560320" cy="658368"/>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Vulnerabilidades de seguridad en WordPress</a:t>
            </a:r>
            <a:endParaRPr lang="en-US" sz="1200" dirty="0"/>
          </a:p>
        </p:txBody>
      </p:sp>
      <p:sp>
        <p:nvSpPr>
          <p:cNvPr id="78" name="@rk6#7"/>
          <p:cNvSpPr txBox="1"/>
          <p:nvPr/>
        </p:nvSpPr>
        <p:spPr>
          <a:xfrm>
            <a:off x="8046720" y="5349240"/>
            <a:ext cx="2286000" cy="658368"/>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Actualizaciones controladas, privilegio mínimo y respaldos</a:t>
            </a:r>
            <a:endParaRPr lang="en-US" sz="1050" dirty="0"/>
          </a:p>
        </p:txBody>
      </p:sp>
      <p:sp>
        <p:nvSpPr>
          <p:cNvPr id="79" name="@rk6#8"/>
          <p:cNvSpPr/>
          <p:nvPr/>
        </p:nvSpPr>
        <p:spPr>
          <a:xfrm>
            <a:off x="10500055" y="5550408"/>
            <a:ext cx="1025500" cy="256032"/>
          </a:xfrm>
          <a:prstGeom prst="roundRect">
            <a:avLst>
              <a:gd name="adj" fmla="val 50000"/>
            </a:avLst>
          </a:prstGeom>
          <a:solidFill>
            <a:srgbClr val="FFFFFF"/>
          </a:solidFill>
          <a:ln w="9525">
            <a:solidFill>
              <a:srgbClr val="9CA3AF"/>
            </a:solidFill>
            <a:prstDash val="solid"/>
          </a:ln>
        </p:spPr>
      </p:sp>
      <p:sp>
        <p:nvSpPr>
          <p:cNvPr id="80" name="@rk6#9"/>
          <p:cNvSpPr txBox="1"/>
          <p:nvPr/>
        </p:nvSpPr>
        <p:spPr>
          <a:xfrm>
            <a:off x="10500055" y="5550408"/>
            <a:ext cx="1025500" cy="256032"/>
          </a:xfrm>
          <a:prstGeom prst="rect">
            <a:avLst/>
          </a:prstGeom>
          <a:noFill/>
          <a:ln/>
        </p:spPr>
        <p:txBody>
          <a:bodyPr wrap="square" lIns="0" tIns="0" rIns="0" bIns="0" rtlCol="0" anchor="ctr"/>
          <a:lstStyle/>
          <a:p>
            <a:pPr algn="ctr" indent="0" marL="0">
              <a:buNone/>
            </a:pPr>
            <a:r>
              <a:rPr lang="en-US" sz="900" b="1" dirty="0">
                <a:solidFill>
                  <a:srgbClr val="6B7280"/>
                </a:solidFill>
                <a:latin typeface="Arial" pitchFamily="34" charset="0"/>
                <a:ea typeface="Arial" pitchFamily="34" charset="-122"/>
                <a:cs typeface="Arial" pitchFamily="34" charset="-120"/>
              </a:rPr>
              <a:t>Planificado</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400"/>
                                        <p:tgtEl>
                                          <p:spTgt spid="24"/>
                                        </p:tgtEl>
                                      </p:cBhvr>
                                    </p:animEffect>
                                    <p:anim calcmode="lin" valueType="num">
                                      <p:cBhvr>
                                        <p:cTn id="6" dur="400" decel="100000" fill="hold"/>
                                        <p:tgtEl>
                                          <p:spTgt spid="24"/>
                                        </p:tgtEl>
                                        <p:attrNameLst>
                                          <p:attrName>ppt_x</p:attrName>
                                        </p:attrNameLst>
                                      </p:cBhvr>
                                      <p:tavLst>
                                        <p:tav tm="0">
                                          <p:val>
                                            <p:strVal val="#ppt_x"/>
                                          </p:val>
                                        </p:tav>
                                        <p:tav tm="100000">
                                          <p:val>
                                            <p:strVal val="#ppt_x"/>
                                          </p:val>
                                        </p:tav>
                                      </p:tavLst>
                                    </p:anim>
                                    <p:anim calcmode="lin" valueType="num">
                                      <p:cBhvr>
                                        <p:cTn id="7" dur="400" decel="100000" fill="hold"/>
                                        <p:tgtEl>
                                          <p:spTgt spid="24"/>
                                        </p:tgtEl>
                                        <p:attrNameLst>
                                          <p:attrName>ppt_y</p:attrName>
                                        </p:attrNameLst>
                                      </p:cBhvr>
                                      <p:tavLst>
                                        <p:tav tm="0">
                                          <p:val>
                                            <p:strVal val="#ppt_y+0.03"/>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anim calcmode="lin" valueType="num">
                                      <p:cBhvr>
                                        <p:cTn id="11" dur="400" decel="100000" fill="hold"/>
                                        <p:tgtEl>
                                          <p:spTgt spid="25"/>
                                        </p:tgtEl>
                                        <p:attrNameLst>
                                          <p:attrName>ppt_x</p:attrName>
                                        </p:attrNameLst>
                                      </p:cBhvr>
                                      <p:tavLst>
                                        <p:tav tm="0">
                                          <p:val>
                                            <p:strVal val="#ppt_x"/>
                                          </p:val>
                                        </p:tav>
                                        <p:tav tm="100000">
                                          <p:val>
                                            <p:strVal val="#ppt_x"/>
                                          </p:val>
                                        </p:tav>
                                      </p:tavLst>
                                    </p:anim>
                                    <p:anim calcmode="lin" valueType="num">
                                      <p:cBhvr>
                                        <p:cTn id="12" dur="400" decel="100000" fill="hold"/>
                                        <p:tgtEl>
                                          <p:spTgt spid="25"/>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400"/>
                                        <p:tgtEl>
                                          <p:spTgt spid="39"/>
                                        </p:tgtEl>
                                      </p:cBhvr>
                                    </p:animEffect>
                                    <p:anim calcmode="lin" valueType="num">
                                      <p:cBhvr>
                                        <p:cTn id="16" dur="400" decel="100000" fill="hold"/>
                                        <p:tgtEl>
                                          <p:spTgt spid="39"/>
                                        </p:tgtEl>
                                        <p:attrNameLst>
                                          <p:attrName>ppt_x</p:attrName>
                                        </p:attrNameLst>
                                      </p:cBhvr>
                                      <p:tavLst>
                                        <p:tav tm="0">
                                          <p:val>
                                            <p:strVal val="#ppt_x"/>
                                          </p:val>
                                        </p:tav>
                                        <p:tav tm="100000">
                                          <p:val>
                                            <p:strVal val="#ppt_x"/>
                                          </p:val>
                                        </p:tav>
                                      </p:tavLst>
                                    </p:anim>
                                    <p:anim calcmode="lin" valueType="num">
                                      <p:cBhvr>
                                        <p:cTn id="17" dur="400" decel="100000" fill="hold"/>
                                        <p:tgtEl>
                                          <p:spTgt spid="39"/>
                                        </p:tgtEl>
                                        <p:attrNameLst>
                                          <p:attrName>ppt_y</p:attrName>
                                        </p:attrNameLst>
                                      </p:cBhvr>
                                      <p:tavLst>
                                        <p:tav tm="0">
                                          <p:val>
                                            <p:strVal val="#ppt_y+0.03"/>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fade">
                                      <p:cBhvr>
                                        <p:cTn id="20" dur="400"/>
                                        <p:tgtEl>
                                          <p:spTgt spid="40"/>
                                        </p:tgtEl>
                                      </p:cBhvr>
                                    </p:animEffect>
                                    <p:anim calcmode="lin" valueType="num">
                                      <p:cBhvr>
                                        <p:cTn id="21" dur="400" decel="100000" fill="hold"/>
                                        <p:tgtEl>
                                          <p:spTgt spid="40"/>
                                        </p:tgtEl>
                                        <p:attrNameLst>
                                          <p:attrName>ppt_x</p:attrName>
                                        </p:attrNameLst>
                                      </p:cBhvr>
                                      <p:tavLst>
                                        <p:tav tm="0">
                                          <p:val>
                                            <p:strVal val="#ppt_x"/>
                                          </p:val>
                                        </p:tav>
                                        <p:tav tm="100000">
                                          <p:val>
                                            <p:strVal val="#ppt_x"/>
                                          </p:val>
                                        </p:tav>
                                      </p:tavLst>
                                    </p:anim>
                                    <p:anim calcmode="lin" valueType="num">
                                      <p:cBhvr>
                                        <p:cTn id="22" dur="400" decel="100000" fill="hold"/>
                                        <p:tgtEl>
                                          <p:spTgt spid="40"/>
                                        </p:tgtEl>
                                        <p:attrNameLst>
                                          <p:attrName>ppt_y</p:attrName>
                                        </p:attrNameLst>
                                      </p:cBhvr>
                                      <p:tavLst>
                                        <p:tav tm="0">
                                          <p:val>
                                            <p:strVal val="#ppt_y+0.03"/>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00"/>
                                        <p:tgtEl>
                                          <p:spTgt spid="41"/>
                                        </p:tgtEl>
                                      </p:cBhvr>
                                    </p:animEffect>
                                    <p:anim calcmode="lin" valueType="num">
                                      <p:cBhvr>
                                        <p:cTn id="26" dur="400" decel="100000" fill="hold"/>
                                        <p:tgtEl>
                                          <p:spTgt spid="41"/>
                                        </p:tgtEl>
                                        <p:attrNameLst>
                                          <p:attrName>ppt_x</p:attrName>
                                        </p:attrNameLst>
                                      </p:cBhvr>
                                      <p:tavLst>
                                        <p:tav tm="0">
                                          <p:val>
                                            <p:strVal val="#ppt_x"/>
                                          </p:val>
                                        </p:tav>
                                        <p:tav tm="100000">
                                          <p:val>
                                            <p:strVal val="#ppt_x"/>
                                          </p:val>
                                        </p:tav>
                                      </p:tavLst>
                                    </p:anim>
                                    <p:anim calcmode="lin" valueType="num">
                                      <p:cBhvr>
                                        <p:cTn id="27" dur="400" decel="100000" fill="hold"/>
                                        <p:tgtEl>
                                          <p:spTgt spid="41"/>
                                        </p:tgtEl>
                                        <p:attrNameLst>
                                          <p:attrName>ppt_y</p:attrName>
                                        </p:attrNameLst>
                                      </p:cBhvr>
                                      <p:tavLst>
                                        <p:tav tm="0">
                                          <p:val>
                                            <p:strVal val="#ppt_y+0.03"/>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400"/>
                                        <p:tgtEl>
                                          <p:spTgt spid="42"/>
                                        </p:tgtEl>
                                      </p:cBhvr>
                                    </p:animEffect>
                                    <p:anim calcmode="lin" valueType="num">
                                      <p:cBhvr>
                                        <p:cTn id="31" dur="400" decel="100000" fill="hold"/>
                                        <p:tgtEl>
                                          <p:spTgt spid="42"/>
                                        </p:tgtEl>
                                        <p:attrNameLst>
                                          <p:attrName>ppt_x</p:attrName>
                                        </p:attrNameLst>
                                      </p:cBhvr>
                                      <p:tavLst>
                                        <p:tav tm="0">
                                          <p:val>
                                            <p:strVal val="#ppt_x"/>
                                          </p:val>
                                        </p:tav>
                                        <p:tav tm="100000">
                                          <p:val>
                                            <p:strVal val="#ppt_x"/>
                                          </p:val>
                                        </p:tav>
                                      </p:tavLst>
                                    </p:anim>
                                    <p:anim calcmode="lin" valueType="num">
                                      <p:cBhvr>
                                        <p:cTn id="32" dur="400" decel="100000" fill="hold"/>
                                        <p:tgtEl>
                                          <p:spTgt spid="42"/>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fade">
                                      <p:cBhvr>
                                        <p:cTn id="35" dur="400"/>
                                        <p:tgtEl>
                                          <p:spTgt spid="43"/>
                                        </p:tgtEl>
                                      </p:cBhvr>
                                    </p:animEffect>
                                    <p:anim calcmode="lin" valueType="num">
                                      <p:cBhvr>
                                        <p:cTn id="36" dur="400" decel="100000" fill="hold"/>
                                        <p:tgtEl>
                                          <p:spTgt spid="43"/>
                                        </p:tgtEl>
                                        <p:attrNameLst>
                                          <p:attrName>ppt_x</p:attrName>
                                        </p:attrNameLst>
                                      </p:cBhvr>
                                      <p:tavLst>
                                        <p:tav tm="0">
                                          <p:val>
                                            <p:strVal val="#ppt_x"/>
                                          </p:val>
                                        </p:tav>
                                        <p:tav tm="100000">
                                          <p:val>
                                            <p:strVal val="#ppt_x"/>
                                          </p:val>
                                        </p:tav>
                                      </p:tavLst>
                                    </p:anim>
                                    <p:anim calcmode="lin" valueType="num">
                                      <p:cBhvr>
                                        <p:cTn id="37" dur="400" decel="100000" fill="hold"/>
                                        <p:tgtEl>
                                          <p:spTgt spid="43"/>
                                        </p:tgtEl>
                                        <p:attrNameLst>
                                          <p:attrName>ppt_y</p:attrName>
                                        </p:attrNameLst>
                                      </p:cBhvr>
                                      <p:tavLst>
                                        <p:tav tm="0">
                                          <p:val>
                                            <p:strVal val="#ppt_y+0.03"/>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400"/>
                                        <p:tgtEl>
                                          <p:spTgt spid="44"/>
                                        </p:tgtEl>
                                      </p:cBhvr>
                                    </p:animEffect>
                                    <p:anim calcmode="lin" valueType="num">
                                      <p:cBhvr>
                                        <p:cTn id="41" dur="400" decel="100000" fill="hold"/>
                                        <p:tgtEl>
                                          <p:spTgt spid="44"/>
                                        </p:tgtEl>
                                        <p:attrNameLst>
                                          <p:attrName>ppt_x</p:attrName>
                                        </p:attrNameLst>
                                      </p:cBhvr>
                                      <p:tavLst>
                                        <p:tav tm="0">
                                          <p:val>
                                            <p:strVal val="#ppt_x"/>
                                          </p:val>
                                        </p:tav>
                                        <p:tav tm="100000">
                                          <p:val>
                                            <p:strVal val="#ppt_x"/>
                                          </p:val>
                                        </p:tav>
                                      </p:tavLst>
                                    </p:anim>
                                    <p:anim calcmode="lin" valueType="num">
                                      <p:cBhvr>
                                        <p:cTn id="42" dur="400" decel="100000" fill="hold"/>
                                        <p:tgtEl>
                                          <p:spTgt spid="44"/>
                                        </p:tgtEl>
                                        <p:attrNameLst>
                                          <p:attrName>ppt_y</p:attrName>
                                        </p:attrNameLst>
                                      </p:cBhvr>
                                      <p:tavLst>
                                        <p:tav tm="0">
                                          <p:val>
                                            <p:strVal val="#ppt_y+0.03"/>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400"/>
                                        <p:tgtEl>
                                          <p:spTgt spid="45"/>
                                        </p:tgtEl>
                                      </p:cBhvr>
                                    </p:animEffect>
                                    <p:anim calcmode="lin" valueType="num">
                                      <p:cBhvr>
                                        <p:cTn id="46" dur="400" decel="100000" fill="hold"/>
                                        <p:tgtEl>
                                          <p:spTgt spid="45"/>
                                        </p:tgtEl>
                                        <p:attrNameLst>
                                          <p:attrName>ppt_x</p:attrName>
                                        </p:attrNameLst>
                                      </p:cBhvr>
                                      <p:tavLst>
                                        <p:tav tm="0">
                                          <p:val>
                                            <p:strVal val="#ppt_x"/>
                                          </p:val>
                                        </p:tav>
                                        <p:tav tm="100000">
                                          <p:val>
                                            <p:strVal val="#ppt_x"/>
                                          </p:val>
                                        </p:tav>
                                      </p:tavLst>
                                    </p:anim>
                                    <p:anim calcmode="lin" valueType="num">
                                      <p:cBhvr>
                                        <p:cTn id="47" dur="400" decel="100000" fill="hold"/>
                                        <p:tgtEl>
                                          <p:spTgt spid="45"/>
                                        </p:tgtEl>
                                        <p:attrNameLst>
                                          <p:attrName>ppt_y</p:attrName>
                                        </p:attrNameLst>
                                      </p:cBhvr>
                                      <p:tavLst>
                                        <p:tav tm="0">
                                          <p:val>
                                            <p:strVal val="#ppt_y+0.03"/>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00"/>
                                        <p:tgtEl>
                                          <p:spTgt spid="26"/>
                                        </p:tgtEl>
                                      </p:cBhvr>
                                    </p:animEffect>
                                    <p:anim calcmode="lin" valueType="num">
                                      <p:cBhvr>
                                        <p:cTn id="53" dur="400" decel="100000" fill="hold"/>
                                        <p:tgtEl>
                                          <p:spTgt spid="26"/>
                                        </p:tgtEl>
                                        <p:attrNameLst>
                                          <p:attrName>ppt_x</p:attrName>
                                        </p:attrNameLst>
                                      </p:cBhvr>
                                      <p:tavLst>
                                        <p:tav tm="0">
                                          <p:val>
                                            <p:strVal val="#ppt_x"/>
                                          </p:val>
                                        </p:tav>
                                        <p:tav tm="100000">
                                          <p:val>
                                            <p:strVal val="#ppt_x"/>
                                          </p:val>
                                        </p:tav>
                                      </p:tavLst>
                                    </p:anim>
                                    <p:anim calcmode="lin" valueType="num">
                                      <p:cBhvr>
                                        <p:cTn id="54" dur="400" decel="100000" fill="hold"/>
                                        <p:tgtEl>
                                          <p:spTgt spid="26"/>
                                        </p:tgtEl>
                                        <p:attrNameLst>
                                          <p:attrName>ppt_y</p:attrName>
                                        </p:attrNameLst>
                                      </p:cBhvr>
                                      <p:tavLst>
                                        <p:tav tm="0">
                                          <p:val>
                                            <p:strVal val="#ppt_y+0.03"/>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400"/>
                                        <p:tgtEl>
                                          <p:spTgt spid="27"/>
                                        </p:tgtEl>
                                      </p:cBhvr>
                                    </p:animEffect>
                                    <p:anim calcmode="lin" valueType="num">
                                      <p:cBhvr>
                                        <p:cTn id="58" dur="400" decel="100000" fill="hold"/>
                                        <p:tgtEl>
                                          <p:spTgt spid="27"/>
                                        </p:tgtEl>
                                        <p:attrNameLst>
                                          <p:attrName>ppt_x</p:attrName>
                                        </p:attrNameLst>
                                      </p:cBhvr>
                                      <p:tavLst>
                                        <p:tav tm="0">
                                          <p:val>
                                            <p:strVal val="#ppt_x"/>
                                          </p:val>
                                        </p:tav>
                                        <p:tav tm="100000">
                                          <p:val>
                                            <p:strVal val="#ppt_x"/>
                                          </p:val>
                                        </p:tav>
                                      </p:tavLst>
                                    </p:anim>
                                    <p:anim calcmode="lin" valueType="num">
                                      <p:cBhvr>
                                        <p:cTn id="59" dur="400" decel="100000" fill="hold"/>
                                        <p:tgtEl>
                                          <p:spTgt spid="27"/>
                                        </p:tgtEl>
                                        <p:attrNameLst>
                                          <p:attrName>ppt_y</p:attrName>
                                        </p:attrNameLst>
                                      </p:cBhvr>
                                      <p:tavLst>
                                        <p:tav tm="0">
                                          <p:val>
                                            <p:strVal val="#ppt_y+0.03"/>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400"/>
                                        <p:tgtEl>
                                          <p:spTgt spid="46"/>
                                        </p:tgtEl>
                                      </p:cBhvr>
                                    </p:animEffect>
                                    <p:anim calcmode="lin" valueType="num">
                                      <p:cBhvr>
                                        <p:cTn id="63" dur="400" decel="100000" fill="hold"/>
                                        <p:tgtEl>
                                          <p:spTgt spid="46"/>
                                        </p:tgtEl>
                                        <p:attrNameLst>
                                          <p:attrName>ppt_x</p:attrName>
                                        </p:attrNameLst>
                                      </p:cBhvr>
                                      <p:tavLst>
                                        <p:tav tm="0">
                                          <p:val>
                                            <p:strVal val="#ppt_x"/>
                                          </p:val>
                                        </p:tav>
                                        <p:tav tm="100000">
                                          <p:val>
                                            <p:strVal val="#ppt_x"/>
                                          </p:val>
                                        </p:tav>
                                      </p:tavLst>
                                    </p:anim>
                                    <p:anim calcmode="lin" valueType="num">
                                      <p:cBhvr>
                                        <p:cTn id="64" dur="400" decel="100000" fill="hold"/>
                                        <p:tgtEl>
                                          <p:spTgt spid="46"/>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400"/>
                                        <p:tgtEl>
                                          <p:spTgt spid="47"/>
                                        </p:tgtEl>
                                      </p:cBhvr>
                                    </p:animEffect>
                                    <p:anim calcmode="lin" valueType="num">
                                      <p:cBhvr>
                                        <p:cTn id="68" dur="400" decel="100000" fill="hold"/>
                                        <p:tgtEl>
                                          <p:spTgt spid="47"/>
                                        </p:tgtEl>
                                        <p:attrNameLst>
                                          <p:attrName>ppt_x</p:attrName>
                                        </p:attrNameLst>
                                      </p:cBhvr>
                                      <p:tavLst>
                                        <p:tav tm="0">
                                          <p:val>
                                            <p:strVal val="#ppt_x"/>
                                          </p:val>
                                        </p:tav>
                                        <p:tav tm="100000">
                                          <p:val>
                                            <p:strVal val="#ppt_x"/>
                                          </p:val>
                                        </p:tav>
                                      </p:tavLst>
                                    </p:anim>
                                    <p:anim calcmode="lin" valueType="num">
                                      <p:cBhvr>
                                        <p:cTn id="69" dur="400" decel="100000" fill="hold"/>
                                        <p:tgtEl>
                                          <p:spTgt spid="47"/>
                                        </p:tgtEl>
                                        <p:attrNameLst>
                                          <p:attrName>ppt_y</p:attrName>
                                        </p:attrNameLst>
                                      </p:cBhvr>
                                      <p:tavLst>
                                        <p:tav tm="0">
                                          <p:val>
                                            <p:strVal val="#ppt_y+0.03"/>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48"/>
                                        </p:tgtEl>
                                        <p:attrNameLst>
                                          <p:attrName>style.visibility</p:attrName>
                                        </p:attrNameLst>
                                      </p:cBhvr>
                                      <p:to>
                                        <p:strVal val="visible"/>
                                      </p:to>
                                    </p:set>
                                    <p:animEffect transition="in" filter="fade">
                                      <p:cBhvr>
                                        <p:cTn id="72" dur="400"/>
                                        <p:tgtEl>
                                          <p:spTgt spid="48"/>
                                        </p:tgtEl>
                                      </p:cBhvr>
                                    </p:animEffect>
                                    <p:anim calcmode="lin" valueType="num">
                                      <p:cBhvr>
                                        <p:cTn id="73" dur="400" decel="100000" fill="hold"/>
                                        <p:tgtEl>
                                          <p:spTgt spid="48"/>
                                        </p:tgtEl>
                                        <p:attrNameLst>
                                          <p:attrName>ppt_x</p:attrName>
                                        </p:attrNameLst>
                                      </p:cBhvr>
                                      <p:tavLst>
                                        <p:tav tm="0">
                                          <p:val>
                                            <p:strVal val="#ppt_x"/>
                                          </p:val>
                                        </p:tav>
                                        <p:tav tm="100000">
                                          <p:val>
                                            <p:strVal val="#ppt_x"/>
                                          </p:val>
                                        </p:tav>
                                      </p:tavLst>
                                    </p:anim>
                                    <p:anim calcmode="lin" valueType="num">
                                      <p:cBhvr>
                                        <p:cTn id="74" dur="400" decel="100000" fill="hold"/>
                                        <p:tgtEl>
                                          <p:spTgt spid="48"/>
                                        </p:tgtEl>
                                        <p:attrNameLst>
                                          <p:attrName>ppt_y</p:attrName>
                                        </p:attrNameLst>
                                      </p:cBhvr>
                                      <p:tavLst>
                                        <p:tav tm="0">
                                          <p:val>
                                            <p:strVal val="#ppt_y+0.03"/>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400"/>
                                        <p:tgtEl>
                                          <p:spTgt spid="49"/>
                                        </p:tgtEl>
                                      </p:cBhvr>
                                    </p:animEffect>
                                    <p:anim calcmode="lin" valueType="num">
                                      <p:cBhvr>
                                        <p:cTn id="78" dur="400" decel="100000" fill="hold"/>
                                        <p:tgtEl>
                                          <p:spTgt spid="49"/>
                                        </p:tgtEl>
                                        <p:attrNameLst>
                                          <p:attrName>ppt_x</p:attrName>
                                        </p:attrNameLst>
                                      </p:cBhvr>
                                      <p:tavLst>
                                        <p:tav tm="0">
                                          <p:val>
                                            <p:strVal val="#ppt_x"/>
                                          </p:val>
                                        </p:tav>
                                        <p:tav tm="100000">
                                          <p:val>
                                            <p:strVal val="#ppt_x"/>
                                          </p:val>
                                        </p:tav>
                                      </p:tavLst>
                                    </p:anim>
                                    <p:anim calcmode="lin" valueType="num">
                                      <p:cBhvr>
                                        <p:cTn id="79" dur="400" decel="100000" fill="hold"/>
                                        <p:tgtEl>
                                          <p:spTgt spid="49"/>
                                        </p:tgtEl>
                                        <p:attrNameLst>
                                          <p:attrName>ppt_y</p:attrName>
                                        </p:attrNameLst>
                                      </p:cBhvr>
                                      <p:tavLst>
                                        <p:tav tm="0">
                                          <p:val>
                                            <p:strVal val="#ppt_y+0.03"/>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400"/>
                                        <p:tgtEl>
                                          <p:spTgt spid="50"/>
                                        </p:tgtEl>
                                      </p:cBhvr>
                                    </p:animEffect>
                                    <p:anim calcmode="lin" valueType="num">
                                      <p:cBhvr>
                                        <p:cTn id="83" dur="400" decel="100000" fill="hold"/>
                                        <p:tgtEl>
                                          <p:spTgt spid="50"/>
                                        </p:tgtEl>
                                        <p:attrNameLst>
                                          <p:attrName>ppt_x</p:attrName>
                                        </p:attrNameLst>
                                      </p:cBhvr>
                                      <p:tavLst>
                                        <p:tav tm="0">
                                          <p:val>
                                            <p:strVal val="#ppt_x"/>
                                          </p:val>
                                        </p:tav>
                                        <p:tav tm="100000">
                                          <p:val>
                                            <p:strVal val="#ppt_x"/>
                                          </p:val>
                                        </p:tav>
                                      </p:tavLst>
                                    </p:anim>
                                    <p:anim calcmode="lin" valueType="num">
                                      <p:cBhvr>
                                        <p:cTn id="84" dur="400" decel="100000" fill="hold"/>
                                        <p:tgtEl>
                                          <p:spTgt spid="5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51"/>
                                        </p:tgtEl>
                                        <p:attrNameLst>
                                          <p:attrName>style.visibility</p:attrName>
                                        </p:attrNameLst>
                                      </p:cBhvr>
                                      <p:to>
                                        <p:strVal val="visible"/>
                                      </p:to>
                                    </p:set>
                                    <p:animEffect transition="in" filter="fade">
                                      <p:cBhvr>
                                        <p:cTn id="87" dur="400"/>
                                        <p:tgtEl>
                                          <p:spTgt spid="51"/>
                                        </p:tgtEl>
                                      </p:cBhvr>
                                    </p:animEffect>
                                    <p:anim calcmode="lin" valueType="num">
                                      <p:cBhvr>
                                        <p:cTn id="88" dur="400" decel="100000" fill="hold"/>
                                        <p:tgtEl>
                                          <p:spTgt spid="51"/>
                                        </p:tgtEl>
                                        <p:attrNameLst>
                                          <p:attrName>ppt_x</p:attrName>
                                        </p:attrNameLst>
                                      </p:cBhvr>
                                      <p:tavLst>
                                        <p:tav tm="0">
                                          <p:val>
                                            <p:strVal val="#ppt_x"/>
                                          </p:val>
                                        </p:tav>
                                        <p:tav tm="100000">
                                          <p:val>
                                            <p:strVal val="#ppt_x"/>
                                          </p:val>
                                        </p:tav>
                                      </p:tavLst>
                                    </p:anim>
                                    <p:anim calcmode="lin" valueType="num">
                                      <p:cBhvr>
                                        <p:cTn id="89" dur="400" decel="100000" fill="hold"/>
                                        <p:tgtEl>
                                          <p:spTgt spid="51"/>
                                        </p:tgtEl>
                                        <p:attrNameLst>
                                          <p:attrName>ppt_y</p:attrName>
                                        </p:attrNameLst>
                                      </p:cBhvr>
                                      <p:tavLst>
                                        <p:tav tm="0">
                                          <p:val>
                                            <p:strVal val="#ppt_y+0.03"/>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52"/>
                                        </p:tgtEl>
                                        <p:attrNameLst>
                                          <p:attrName>style.visibility</p:attrName>
                                        </p:attrNameLst>
                                      </p:cBhvr>
                                      <p:to>
                                        <p:strVal val="visible"/>
                                      </p:to>
                                    </p:set>
                                    <p:animEffect transition="in" filter="fade">
                                      <p:cBhvr>
                                        <p:cTn id="92" dur="400"/>
                                        <p:tgtEl>
                                          <p:spTgt spid="52"/>
                                        </p:tgtEl>
                                      </p:cBhvr>
                                    </p:animEffect>
                                    <p:anim calcmode="lin" valueType="num">
                                      <p:cBhvr>
                                        <p:cTn id="93" dur="400" decel="100000" fill="hold"/>
                                        <p:tgtEl>
                                          <p:spTgt spid="52"/>
                                        </p:tgtEl>
                                        <p:attrNameLst>
                                          <p:attrName>ppt_x</p:attrName>
                                        </p:attrNameLst>
                                      </p:cBhvr>
                                      <p:tavLst>
                                        <p:tav tm="0">
                                          <p:val>
                                            <p:strVal val="#ppt_x"/>
                                          </p:val>
                                        </p:tav>
                                        <p:tav tm="100000">
                                          <p:val>
                                            <p:strVal val="#ppt_x"/>
                                          </p:val>
                                        </p:tav>
                                      </p:tavLst>
                                    </p:anim>
                                    <p:anim calcmode="lin" valueType="num">
                                      <p:cBhvr>
                                        <p:cTn id="94" dur="400" decel="100000" fill="hold"/>
                                        <p:tgtEl>
                                          <p:spTgt spid="52"/>
                                        </p:tgtEl>
                                        <p:attrNameLst>
                                          <p:attrName>ppt_y</p:attrName>
                                        </p:attrNameLst>
                                      </p:cBhvr>
                                      <p:tavLst>
                                        <p:tav tm="0">
                                          <p:val>
                                            <p:strVal val="#ppt_y+0.03"/>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97" presetID="42" presetClass="entr" presetSubtype="0" fill="hold" grpId="0" nodeType="click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400"/>
                                        <p:tgtEl>
                                          <p:spTgt spid="32"/>
                                        </p:tgtEl>
                                      </p:cBhvr>
                                    </p:animEffect>
                                    <p:anim calcmode="lin" valueType="num">
                                      <p:cBhvr>
                                        <p:cTn id="100" dur="400" decel="100000" fill="hold"/>
                                        <p:tgtEl>
                                          <p:spTgt spid="32"/>
                                        </p:tgtEl>
                                        <p:attrNameLst>
                                          <p:attrName>ppt_x</p:attrName>
                                        </p:attrNameLst>
                                      </p:cBhvr>
                                      <p:tavLst>
                                        <p:tav tm="0">
                                          <p:val>
                                            <p:strVal val="#ppt_x"/>
                                          </p:val>
                                        </p:tav>
                                        <p:tav tm="100000">
                                          <p:val>
                                            <p:strVal val="#ppt_x"/>
                                          </p:val>
                                        </p:tav>
                                      </p:tavLst>
                                    </p:anim>
                                    <p:anim calcmode="lin" valueType="num">
                                      <p:cBhvr>
                                        <p:cTn id="101" dur="400" decel="100000" fill="hold"/>
                                        <p:tgtEl>
                                          <p:spTgt spid="32"/>
                                        </p:tgtEl>
                                        <p:attrNameLst>
                                          <p:attrName>ppt_y</p:attrName>
                                        </p:attrNameLst>
                                      </p:cBhvr>
                                      <p:tavLst>
                                        <p:tav tm="0">
                                          <p:val>
                                            <p:strVal val="#ppt_y+0.03"/>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400"/>
                                        <p:tgtEl>
                                          <p:spTgt spid="33"/>
                                        </p:tgtEl>
                                      </p:cBhvr>
                                    </p:animEffect>
                                    <p:anim calcmode="lin" valueType="num">
                                      <p:cBhvr>
                                        <p:cTn id="105" dur="400" decel="100000" fill="hold"/>
                                        <p:tgtEl>
                                          <p:spTgt spid="33"/>
                                        </p:tgtEl>
                                        <p:attrNameLst>
                                          <p:attrName>ppt_x</p:attrName>
                                        </p:attrNameLst>
                                      </p:cBhvr>
                                      <p:tavLst>
                                        <p:tav tm="0">
                                          <p:val>
                                            <p:strVal val="#ppt_x"/>
                                          </p:val>
                                        </p:tav>
                                        <p:tav tm="100000">
                                          <p:val>
                                            <p:strVal val="#ppt_x"/>
                                          </p:val>
                                        </p:tav>
                                      </p:tavLst>
                                    </p:anim>
                                    <p:anim calcmode="lin" valueType="num">
                                      <p:cBhvr>
                                        <p:cTn id="106" dur="400" decel="100000" fill="hold"/>
                                        <p:tgtEl>
                                          <p:spTgt spid="33"/>
                                        </p:tgtEl>
                                        <p:attrNameLst>
                                          <p:attrName>ppt_y</p:attrName>
                                        </p:attrNameLst>
                                      </p:cBhvr>
                                      <p:tavLst>
                                        <p:tav tm="0">
                                          <p:val>
                                            <p:strVal val="#ppt_y+0.03"/>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53"/>
                                        </p:tgtEl>
                                        <p:attrNameLst>
                                          <p:attrName>style.visibility</p:attrName>
                                        </p:attrNameLst>
                                      </p:cBhvr>
                                      <p:to>
                                        <p:strVal val="visible"/>
                                      </p:to>
                                    </p:set>
                                    <p:animEffect transition="in" filter="fade">
                                      <p:cBhvr>
                                        <p:cTn id="109" dur="400"/>
                                        <p:tgtEl>
                                          <p:spTgt spid="53"/>
                                        </p:tgtEl>
                                      </p:cBhvr>
                                    </p:animEffect>
                                    <p:anim calcmode="lin" valueType="num">
                                      <p:cBhvr>
                                        <p:cTn id="110" dur="400" decel="100000" fill="hold"/>
                                        <p:tgtEl>
                                          <p:spTgt spid="53"/>
                                        </p:tgtEl>
                                        <p:attrNameLst>
                                          <p:attrName>ppt_x</p:attrName>
                                        </p:attrNameLst>
                                      </p:cBhvr>
                                      <p:tavLst>
                                        <p:tav tm="0">
                                          <p:val>
                                            <p:strVal val="#ppt_x"/>
                                          </p:val>
                                        </p:tav>
                                        <p:tav tm="100000">
                                          <p:val>
                                            <p:strVal val="#ppt_x"/>
                                          </p:val>
                                        </p:tav>
                                      </p:tavLst>
                                    </p:anim>
                                    <p:anim calcmode="lin" valueType="num">
                                      <p:cBhvr>
                                        <p:cTn id="111" dur="400" decel="100000" fill="hold"/>
                                        <p:tgtEl>
                                          <p:spTgt spid="53"/>
                                        </p:tgtEl>
                                        <p:attrNameLst>
                                          <p:attrName>ppt_y</p:attrName>
                                        </p:attrNameLst>
                                      </p:cBhvr>
                                      <p:tavLst>
                                        <p:tav tm="0">
                                          <p:val>
                                            <p:strVal val="#ppt_y+0.03"/>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54"/>
                                        </p:tgtEl>
                                        <p:attrNameLst>
                                          <p:attrName>style.visibility</p:attrName>
                                        </p:attrNameLst>
                                      </p:cBhvr>
                                      <p:to>
                                        <p:strVal val="visible"/>
                                      </p:to>
                                    </p:set>
                                    <p:animEffect transition="in" filter="fade">
                                      <p:cBhvr>
                                        <p:cTn id="114" dur="400"/>
                                        <p:tgtEl>
                                          <p:spTgt spid="54"/>
                                        </p:tgtEl>
                                      </p:cBhvr>
                                    </p:animEffect>
                                    <p:anim calcmode="lin" valueType="num">
                                      <p:cBhvr>
                                        <p:cTn id="115" dur="400" decel="100000" fill="hold"/>
                                        <p:tgtEl>
                                          <p:spTgt spid="54"/>
                                        </p:tgtEl>
                                        <p:attrNameLst>
                                          <p:attrName>ppt_x</p:attrName>
                                        </p:attrNameLst>
                                      </p:cBhvr>
                                      <p:tavLst>
                                        <p:tav tm="0">
                                          <p:val>
                                            <p:strVal val="#ppt_x"/>
                                          </p:val>
                                        </p:tav>
                                        <p:tav tm="100000">
                                          <p:val>
                                            <p:strVal val="#ppt_x"/>
                                          </p:val>
                                        </p:tav>
                                      </p:tavLst>
                                    </p:anim>
                                    <p:anim calcmode="lin" valueType="num">
                                      <p:cBhvr>
                                        <p:cTn id="116" dur="400" decel="100000" fill="hold"/>
                                        <p:tgtEl>
                                          <p:spTgt spid="54"/>
                                        </p:tgtEl>
                                        <p:attrNameLst>
                                          <p:attrName>ppt_y</p:attrName>
                                        </p:attrNameLst>
                                      </p:cBhvr>
                                      <p:tavLst>
                                        <p:tav tm="0">
                                          <p:val>
                                            <p:strVal val="#ppt_y+0.03"/>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55"/>
                                        </p:tgtEl>
                                        <p:attrNameLst>
                                          <p:attrName>style.visibility</p:attrName>
                                        </p:attrNameLst>
                                      </p:cBhvr>
                                      <p:to>
                                        <p:strVal val="visible"/>
                                      </p:to>
                                    </p:set>
                                    <p:animEffect transition="in" filter="fade">
                                      <p:cBhvr>
                                        <p:cTn id="119" dur="400"/>
                                        <p:tgtEl>
                                          <p:spTgt spid="55"/>
                                        </p:tgtEl>
                                      </p:cBhvr>
                                    </p:animEffect>
                                    <p:anim calcmode="lin" valueType="num">
                                      <p:cBhvr>
                                        <p:cTn id="120" dur="400" decel="100000" fill="hold"/>
                                        <p:tgtEl>
                                          <p:spTgt spid="55"/>
                                        </p:tgtEl>
                                        <p:attrNameLst>
                                          <p:attrName>ppt_x</p:attrName>
                                        </p:attrNameLst>
                                      </p:cBhvr>
                                      <p:tavLst>
                                        <p:tav tm="0">
                                          <p:val>
                                            <p:strVal val="#ppt_x"/>
                                          </p:val>
                                        </p:tav>
                                        <p:tav tm="100000">
                                          <p:val>
                                            <p:strVal val="#ppt_x"/>
                                          </p:val>
                                        </p:tav>
                                      </p:tavLst>
                                    </p:anim>
                                    <p:anim calcmode="lin" valueType="num">
                                      <p:cBhvr>
                                        <p:cTn id="121" dur="400" decel="100000" fill="hold"/>
                                        <p:tgtEl>
                                          <p:spTgt spid="55"/>
                                        </p:tgtEl>
                                        <p:attrNameLst>
                                          <p:attrName>ppt_y</p:attrName>
                                        </p:attrNameLst>
                                      </p:cBhvr>
                                      <p:tavLst>
                                        <p:tav tm="0">
                                          <p:val>
                                            <p:strVal val="#ppt_y+0.03"/>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56"/>
                                        </p:tgtEl>
                                        <p:attrNameLst>
                                          <p:attrName>style.visibility</p:attrName>
                                        </p:attrNameLst>
                                      </p:cBhvr>
                                      <p:to>
                                        <p:strVal val="visible"/>
                                      </p:to>
                                    </p:set>
                                    <p:animEffect transition="in" filter="fade">
                                      <p:cBhvr>
                                        <p:cTn id="124" dur="400"/>
                                        <p:tgtEl>
                                          <p:spTgt spid="56"/>
                                        </p:tgtEl>
                                      </p:cBhvr>
                                    </p:animEffect>
                                    <p:anim calcmode="lin" valueType="num">
                                      <p:cBhvr>
                                        <p:cTn id="125" dur="400" decel="100000" fill="hold"/>
                                        <p:tgtEl>
                                          <p:spTgt spid="56"/>
                                        </p:tgtEl>
                                        <p:attrNameLst>
                                          <p:attrName>ppt_x</p:attrName>
                                        </p:attrNameLst>
                                      </p:cBhvr>
                                      <p:tavLst>
                                        <p:tav tm="0">
                                          <p:val>
                                            <p:strVal val="#ppt_x"/>
                                          </p:val>
                                        </p:tav>
                                        <p:tav tm="100000">
                                          <p:val>
                                            <p:strVal val="#ppt_x"/>
                                          </p:val>
                                        </p:tav>
                                      </p:tavLst>
                                    </p:anim>
                                    <p:anim calcmode="lin" valueType="num">
                                      <p:cBhvr>
                                        <p:cTn id="126" dur="400" decel="100000" fill="hold"/>
                                        <p:tgtEl>
                                          <p:spTgt spid="56"/>
                                        </p:tgtEl>
                                        <p:attrNameLst>
                                          <p:attrName>ppt_y</p:attrName>
                                        </p:attrNameLst>
                                      </p:cBhvr>
                                      <p:tavLst>
                                        <p:tav tm="0">
                                          <p:val>
                                            <p:strVal val="#ppt_y+0.03"/>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57"/>
                                        </p:tgtEl>
                                        <p:attrNameLst>
                                          <p:attrName>style.visibility</p:attrName>
                                        </p:attrNameLst>
                                      </p:cBhvr>
                                      <p:to>
                                        <p:strVal val="visible"/>
                                      </p:to>
                                    </p:set>
                                    <p:animEffect transition="in" filter="fade">
                                      <p:cBhvr>
                                        <p:cTn id="129" dur="400"/>
                                        <p:tgtEl>
                                          <p:spTgt spid="57"/>
                                        </p:tgtEl>
                                      </p:cBhvr>
                                    </p:animEffect>
                                    <p:anim calcmode="lin" valueType="num">
                                      <p:cBhvr>
                                        <p:cTn id="130" dur="400" decel="100000" fill="hold"/>
                                        <p:tgtEl>
                                          <p:spTgt spid="57"/>
                                        </p:tgtEl>
                                        <p:attrNameLst>
                                          <p:attrName>ppt_x</p:attrName>
                                        </p:attrNameLst>
                                      </p:cBhvr>
                                      <p:tavLst>
                                        <p:tav tm="0">
                                          <p:val>
                                            <p:strVal val="#ppt_x"/>
                                          </p:val>
                                        </p:tav>
                                        <p:tav tm="100000">
                                          <p:val>
                                            <p:strVal val="#ppt_x"/>
                                          </p:val>
                                        </p:tav>
                                      </p:tavLst>
                                    </p:anim>
                                    <p:anim calcmode="lin" valueType="num">
                                      <p:cBhvr>
                                        <p:cTn id="131" dur="400" decel="100000" fill="hold"/>
                                        <p:tgtEl>
                                          <p:spTgt spid="57"/>
                                        </p:tgtEl>
                                        <p:attrNameLst>
                                          <p:attrName>ppt_y</p:attrName>
                                        </p:attrNameLst>
                                      </p:cBhvr>
                                      <p:tavLst>
                                        <p:tav tm="0">
                                          <p:val>
                                            <p:strVal val="#ppt_y+0.03"/>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58"/>
                                        </p:tgtEl>
                                        <p:attrNameLst>
                                          <p:attrName>style.visibility</p:attrName>
                                        </p:attrNameLst>
                                      </p:cBhvr>
                                      <p:to>
                                        <p:strVal val="visible"/>
                                      </p:to>
                                    </p:set>
                                    <p:animEffect transition="in" filter="fade">
                                      <p:cBhvr>
                                        <p:cTn id="134" dur="400"/>
                                        <p:tgtEl>
                                          <p:spTgt spid="58"/>
                                        </p:tgtEl>
                                      </p:cBhvr>
                                    </p:animEffect>
                                    <p:anim calcmode="lin" valueType="num">
                                      <p:cBhvr>
                                        <p:cTn id="135" dur="400" decel="100000" fill="hold"/>
                                        <p:tgtEl>
                                          <p:spTgt spid="58"/>
                                        </p:tgtEl>
                                        <p:attrNameLst>
                                          <p:attrName>ppt_x</p:attrName>
                                        </p:attrNameLst>
                                      </p:cBhvr>
                                      <p:tavLst>
                                        <p:tav tm="0">
                                          <p:val>
                                            <p:strVal val="#ppt_x"/>
                                          </p:val>
                                        </p:tav>
                                        <p:tav tm="100000">
                                          <p:val>
                                            <p:strVal val="#ppt_x"/>
                                          </p:val>
                                        </p:tav>
                                      </p:tavLst>
                                    </p:anim>
                                    <p:anim calcmode="lin" valueType="num">
                                      <p:cBhvr>
                                        <p:cTn id="136" dur="400" decel="100000" fill="hold"/>
                                        <p:tgtEl>
                                          <p:spTgt spid="58"/>
                                        </p:tgtEl>
                                        <p:attrNameLst>
                                          <p:attrName>ppt_y</p:attrName>
                                        </p:attrNameLst>
                                      </p:cBhvr>
                                      <p:tavLst>
                                        <p:tav tm="0">
                                          <p:val>
                                            <p:strVal val="#ppt_y+0.03"/>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59"/>
                                        </p:tgtEl>
                                        <p:attrNameLst>
                                          <p:attrName>style.visibility</p:attrName>
                                        </p:attrNameLst>
                                      </p:cBhvr>
                                      <p:to>
                                        <p:strVal val="visible"/>
                                      </p:to>
                                    </p:set>
                                    <p:animEffect transition="in" filter="fade">
                                      <p:cBhvr>
                                        <p:cTn id="139" dur="400"/>
                                        <p:tgtEl>
                                          <p:spTgt spid="59"/>
                                        </p:tgtEl>
                                      </p:cBhvr>
                                    </p:animEffect>
                                    <p:anim calcmode="lin" valueType="num">
                                      <p:cBhvr>
                                        <p:cTn id="140" dur="400" decel="100000" fill="hold"/>
                                        <p:tgtEl>
                                          <p:spTgt spid="59"/>
                                        </p:tgtEl>
                                        <p:attrNameLst>
                                          <p:attrName>ppt_x</p:attrName>
                                        </p:attrNameLst>
                                      </p:cBhvr>
                                      <p:tavLst>
                                        <p:tav tm="0">
                                          <p:val>
                                            <p:strVal val="#ppt_x"/>
                                          </p:val>
                                        </p:tav>
                                        <p:tav tm="100000">
                                          <p:val>
                                            <p:strVal val="#ppt_x"/>
                                          </p:val>
                                        </p:tav>
                                      </p:tavLst>
                                    </p:anim>
                                    <p:anim calcmode="lin" valueType="num">
                                      <p:cBhvr>
                                        <p:cTn id="141" dur="400" decel="100000" fill="hold"/>
                                        <p:tgtEl>
                                          <p:spTgt spid="59"/>
                                        </p:tgtEl>
                                        <p:attrNameLst>
                                          <p:attrName>ppt_y</p:attrName>
                                        </p:attrNameLst>
                                      </p:cBhvr>
                                      <p:tavLst>
                                        <p:tav tm="0">
                                          <p:val>
                                            <p:strVal val="#ppt_y+0.03"/>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44" presetID="42" presetClass="entr" presetSubtype="0" fill="hold" grpId="0" nodeType="clickEffect">
                                  <p:stCondLst>
                                    <p:cond delay="0"/>
                                  </p:stCondLst>
                                  <p:childTnLst>
                                    <p:set>
                                      <p:cBhvr>
                                        <p:cTn id="145" dur="1" fill="hold">
                                          <p:stCondLst>
                                            <p:cond delay="0"/>
                                          </p:stCondLst>
                                        </p:cTn>
                                        <p:tgtEl>
                                          <p:spTgt spid="28"/>
                                        </p:tgtEl>
                                        <p:attrNameLst>
                                          <p:attrName>style.visibility</p:attrName>
                                        </p:attrNameLst>
                                      </p:cBhvr>
                                      <p:to>
                                        <p:strVal val="visible"/>
                                      </p:to>
                                    </p:set>
                                    <p:animEffect transition="in" filter="fade">
                                      <p:cBhvr>
                                        <p:cTn id="146" dur="400"/>
                                        <p:tgtEl>
                                          <p:spTgt spid="28"/>
                                        </p:tgtEl>
                                      </p:cBhvr>
                                    </p:animEffect>
                                    <p:anim calcmode="lin" valueType="num">
                                      <p:cBhvr>
                                        <p:cTn id="147" dur="400" decel="100000" fill="hold"/>
                                        <p:tgtEl>
                                          <p:spTgt spid="28"/>
                                        </p:tgtEl>
                                        <p:attrNameLst>
                                          <p:attrName>ppt_x</p:attrName>
                                        </p:attrNameLst>
                                      </p:cBhvr>
                                      <p:tavLst>
                                        <p:tav tm="0">
                                          <p:val>
                                            <p:strVal val="#ppt_x"/>
                                          </p:val>
                                        </p:tav>
                                        <p:tav tm="100000">
                                          <p:val>
                                            <p:strVal val="#ppt_x"/>
                                          </p:val>
                                        </p:tav>
                                      </p:tavLst>
                                    </p:anim>
                                    <p:anim calcmode="lin" valueType="num">
                                      <p:cBhvr>
                                        <p:cTn id="148" dur="400" decel="100000" fill="hold"/>
                                        <p:tgtEl>
                                          <p:spTgt spid="28"/>
                                        </p:tgtEl>
                                        <p:attrNameLst>
                                          <p:attrName>ppt_y</p:attrName>
                                        </p:attrNameLst>
                                      </p:cBhvr>
                                      <p:tavLst>
                                        <p:tav tm="0">
                                          <p:val>
                                            <p:strVal val="#ppt_y+0.03"/>
                                          </p:val>
                                        </p:tav>
                                        <p:tav tm="100000">
                                          <p:val>
                                            <p:strVal val="#ppt_y"/>
                                          </p:val>
                                        </p:tav>
                                      </p:tavLst>
                                    </p:anim>
                                  </p:childTnLst>
                                </p:cTn>
                              </p:par>
                              <p:par>
                                <p:cTn id="149" presetID="42" presetClass="entr" presetSubtype="0" fill="hold" grpId="0" nodeType="withEffect">
                                  <p:stCondLst>
                                    <p:cond delay="0"/>
                                  </p:stCondLst>
                                  <p:childTnLst>
                                    <p:set>
                                      <p:cBhvr>
                                        <p:cTn id="150" dur="1" fill="hold">
                                          <p:stCondLst>
                                            <p:cond delay="0"/>
                                          </p:stCondLst>
                                        </p:cTn>
                                        <p:tgtEl>
                                          <p:spTgt spid="29"/>
                                        </p:tgtEl>
                                        <p:attrNameLst>
                                          <p:attrName>style.visibility</p:attrName>
                                        </p:attrNameLst>
                                      </p:cBhvr>
                                      <p:to>
                                        <p:strVal val="visible"/>
                                      </p:to>
                                    </p:set>
                                    <p:animEffect transition="in" filter="fade">
                                      <p:cBhvr>
                                        <p:cTn id="151" dur="400"/>
                                        <p:tgtEl>
                                          <p:spTgt spid="29"/>
                                        </p:tgtEl>
                                      </p:cBhvr>
                                    </p:animEffect>
                                    <p:anim calcmode="lin" valueType="num">
                                      <p:cBhvr>
                                        <p:cTn id="152" dur="400" decel="100000" fill="hold"/>
                                        <p:tgtEl>
                                          <p:spTgt spid="29"/>
                                        </p:tgtEl>
                                        <p:attrNameLst>
                                          <p:attrName>ppt_x</p:attrName>
                                        </p:attrNameLst>
                                      </p:cBhvr>
                                      <p:tavLst>
                                        <p:tav tm="0">
                                          <p:val>
                                            <p:strVal val="#ppt_x"/>
                                          </p:val>
                                        </p:tav>
                                        <p:tav tm="100000">
                                          <p:val>
                                            <p:strVal val="#ppt_x"/>
                                          </p:val>
                                        </p:tav>
                                      </p:tavLst>
                                    </p:anim>
                                    <p:anim calcmode="lin" valueType="num">
                                      <p:cBhvr>
                                        <p:cTn id="153" dur="400" decel="100000" fill="hold"/>
                                        <p:tgtEl>
                                          <p:spTgt spid="29"/>
                                        </p:tgtEl>
                                        <p:attrNameLst>
                                          <p:attrName>ppt_y</p:attrName>
                                        </p:attrNameLst>
                                      </p:cBhvr>
                                      <p:tavLst>
                                        <p:tav tm="0">
                                          <p:val>
                                            <p:strVal val="#ppt_y+0.03"/>
                                          </p:val>
                                        </p:tav>
                                        <p:tav tm="100000">
                                          <p:val>
                                            <p:strVal val="#ppt_y"/>
                                          </p:val>
                                        </p:tav>
                                      </p:tavLst>
                                    </p:anim>
                                  </p:childTnLst>
                                </p:cTn>
                              </p:par>
                              <p:par>
                                <p:cTn id="154" presetID="42" presetClass="entr" presetSubtype="0" fill="hold" grpId="0" nodeType="withEffect">
                                  <p:stCondLst>
                                    <p:cond delay="0"/>
                                  </p:stCondLst>
                                  <p:childTnLst>
                                    <p:set>
                                      <p:cBhvr>
                                        <p:cTn id="155" dur="1" fill="hold">
                                          <p:stCondLst>
                                            <p:cond delay="0"/>
                                          </p:stCondLst>
                                        </p:cTn>
                                        <p:tgtEl>
                                          <p:spTgt spid="60"/>
                                        </p:tgtEl>
                                        <p:attrNameLst>
                                          <p:attrName>style.visibility</p:attrName>
                                        </p:attrNameLst>
                                      </p:cBhvr>
                                      <p:to>
                                        <p:strVal val="visible"/>
                                      </p:to>
                                    </p:set>
                                    <p:animEffect transition="in" filter="fade">
                                      <p:cBhvr>
                                        <p:cTn id="156" dur="400"/>
                                        <p:tgtEl>
                                          <p:spTgt spid="60"/>
                                        </p:tgtEl>
                                      </p:cBhvr>
                                    </p:animEffect>
                                    <p:anim calcmode="lin" valueType="num">
                                      <p:cBhvr>
                                        <p:cTn id="157" dur="400" decel="100000" fill="hold"/>
                                        <p:tgtEl>
                                          <p:spTgt spid="60"/>
                                        </p:tgtEl>
                                        <p:attrNameLst>
                                          <p:attrName>ppt_x</p:attrName>
                                        </p:attrNameLst>
                                      </p:cBhvr>
                                      <p:tavLst>
                                        <p:tav tm="0">
                                          <p:val>
                                            <p:strVal val="#ppt_x"/>
                                          </p:val>
                                        </p:tav>
                                        <p:tav tm="100000">
                                          <p:val>
                                            <p:strVal val="#ppt_x"/>
                                          </p:val>
                                        </p:tav>
                                      </p:tavLst>
                                    </p:anim>
                                    <p:anim calcmode="lin" valueType="num">
                                      <p:cBhvr>
                                        <p:cTn id="158" dur="400" decel="100000" fill="hold"/>
                                        <p:tgtEl>
                                          <p:spTgt spid="60"/>
                                        </p:tgtEl>
                                        <p:attrNameLst>
                                          <p:attrName>ppt_y</p:attrName>
                                        </p:attrNameLst>
                                      </p:cBhvr>
                                      <p:tavLst>
                                        <p:tav tm="0">
                                          <p:val>
                                            <p:strVal val="#ppt_y+0.03"/>
                                          </p:val>
                                        </p:tav>
                                        <p:tav tm="100000">
                                          <p:val>
                                            <p:strVal val="#ppt_y"/>
                                          </p:val>
                                        </p:tav>
                                      </p:tavLst>
                                    </p:anim>
                                  </p:childTnLst>
                                </p:cTn>
                              </p:par>
                              <p:par>
                                <p:cTn id="159" presetID="42" presetClass="entr" presetSubtype="0" fill="hold" grpId="0" nodeType="withEffect">
                                  <p:stCondLst>
                                    <p:cond delay="0"/>
                                  </p:stCondLst>
                                  <p:childTnLst>
                                    <p:set>
                                      <p:cBhvr>
                                        <p:cTn id="160" dur="1" fill="hold">
                                          <p:stCondLst>
                                            <p:cond delay="0"/>
                                          </p:stCondLst>
                                        </p:cTn>
                                        <p:tgtEl>
                                          <p:spTgt spid="61"/>
                                        </p:tgtEl>
                                        <p:attrNameLst>
                                          <p:attrName>style.visibility</p:attrName>
                                        </p:attrNameLst>
                                      </p:cBhvr>
                                      <p:to>
                                        <p:strVal val="visible"/>
                                      </p:to>
                                    </p:set>
                                    <p:animEffect transition="in" filter="fade">
                                      <p:cBhvr>
                                        <p:cTn id="161" dur="400"/>
                                        <p:tgtEl>
                                          <p:spTgt spid="61"/>
                                        </p:tgtEl>
                                      </p:cBhvr>
                                    </p:animEffect>
                                    <p:anim calcmode="lin" valueType="num">
                                      <p:cBhvr>
                                        <p:cTn id="162" dur="400" decel="100000" fill="hold"/>
                                        <p:tgtEl>
                                          <p:spTgt spid="61"/>
                                        </p:tgtEl>
                                        <p:attrNameLst>
                                          <p:attrName>ppt_x</p:attrName>
                                        </p:attrNameLst>
                                      </p:cBhvr>
                                      <p:tavLst>
                                        <p:tav tm="0">
                                          <p:val>
                                            <p:strVal val="#ppt_x"/>
                                          </p:val>
                                        </p:tav>
                                        <p:tav tm="100000">
                                          <p:val>
                                            <p:strVal val="#ppt_x"/>
                                          </p:val>
                                        </p:tav>
                                      </p:tavLst>
                                    </p:anim>
                                    <p:anim calcmode="lin" valueType="num">
                                      <p:cBhvr>
                                        <p:cTn id="163" dur="400" decel="100000" fill="hold"/>
                                        <p:tgtEl>
                                          <p:spTgt spid="61"/>
                                        </p:tgtEl>
                                        <p:attrNameLst>
                                          <p:attrName>ppt_y</p:attrName>
                                        </p:attrNameLst>
                                      </p:cBhvr>
                                      <p:tavLst>
                                        <p:tav tm="0">
                                          <p:val>
                                            <p:strVal val="#ppt_y+0.03"/>
                                          </p:val>
                                        </p:tav>
                                        <p:tav tm="100000">
                                          <p:val>
                                            <p:strVal val="#ppt_y"/>
                                          </p:val>
                                        </p:tav>
                                      </p:tavLst>
                                    </p:anim>
                                  </p:childTnLst>
                                </p:cTn>
                              </p:par>
                              <p:par>
                                <p:cTn id="164" presetID="42" presetClass="entr" presetSubtype="0" fill="hold" grpId="0" nodeType="withEffect">
                                  <p:stCondLst>
                                    <p:cond delay="0"/>
                                  </p:stCondLst>
                                  <p:childTnLst>
                                    <p:set>
                                      <p:cBhvr>
                                        <p:cTn id="165" dur="1" fill="hold">
                                          <p:stCondLst>
                                            <p:cond delay="0"/>
                                          </p:stCondLst>
                                        </p:cTn>
                                        <p:tgtEl>
                                          <p:spTgt spid="62"/>
                                        </p:tgtEl>
                                        <p:attrNameLst>
                                          <p:attrName>style.visibility</p:attrName>
                                        </p:attrNameLst>
                                      </p:cBhvr>
                                      <p:to>
                                        <p:strVal val="visible"/>
                                      </p:to>
                                    </p:set>
                                    <p:animEffect transition="in" filter="fade">
                                      <p:cBhvr>
                                        <p:cTn id="166" dur="400"/>
                                        <p:tgtEl>
                                          <p:spTgt spid="62"/>
                                        </p:tgtEl>
                                      </p:cBhvr>
                                    </p:animEffect>
                                    <p:anim calcmode="lin" valueType="num">
                                      <p:cBhvr>
                                        <p:cTn id="167" dur="400" decel="100000" fill="hold"/>
                                        <p:tgtEl>
                                          <p:spTgt spid="62"/>
                                        </p:tgtEl>
                                        <p:attrNameLst>
                                          <p:attrName>ppt_x</p:attrName>
                                        </p:attrNameLst>
                                      </p:cBhvr>
                                      <p:tavLst>
                                        <p:tav tm="0">
                                          <p:val>
                                            <p:strVal val="#ppt_x"/>
                                          </p:val>
                                        </p:tav>
                                        <p:tav tm="100000">
                                          <p:val>
                                            <p:strVal val="#ppt_x"/>
                                          </p:val>
                                        </p:tav>
                                      </p:tavLst>
                                    </p:anim>
                                    <p:anim calcmode="lin" valueType="num">
                                      <p:cBhvr>
                                        <p:cTn id="168" dur="400" decel="100000" fill="hold"/>
                                        <p:tgtEl>
                                          <p:spTgt spid="62"/>
                                        </p:tgtEl>
                                        <p:attrNameLst>
                                          <p:attrName>ppt_y</p:attrName>
                                        </p:attrNameLst>
                                      </p:cBhvr>
                                      <p:tavLst>
                                        <p:tav tm="0">
                                          <p:val>
                                            <p:strVal val="#ppt_y+0.03"/>
                                          </p:val>
                                        </p:tav>
                                        <p:tav tm="100000">
                                          <p:val>
                                            <p:strVal val="#ppt_y"/>
                                          </p:val>
                                        </p:tav>
                                      </p:tavLst>
                                    </p:anim>
                                  </p:childTnLst>
                                </p:cTn>
                              </p:par>
                              <p:par>
                                <p:cTn id="169" presetID="42" presetClass="entr" presetSubtype="0" fill="hold" grpId="0" nodeType="withEffect">
                                  <p:stCondLst>
                                    <p:cond delay="0"/>
                                  </p:stCondLst>
                                  <p:childTnLst>
                                    <p:set>
                                      <p:cBhvr>
                                        <p:cTn id="170" dur="1" fill="hold">
                                          <p:stCondLst>
                                            <p:cond delay="0"/>
                                          </p:stCondLst>
                                        </p:cTn>
                                        <p:tgtEl>
                                          <p:spTgt spid="63"/>
                                        </p:tgtEl>
                                        <p:attrNameLst>
                                          <p:attrName>style.visibility</p:attrName>
                                        </p:attrNameLst>
                                      </p:cBhvr>
                                      <p:to>
                                        <p:strVal val="visible"/>
                                      </p:to>
                                    </p:set>
                                    <p:animEffect transition="in" filter="fade">
                                      <p:cBhvr>
                                        <p:cTn id="171" dur="400"/>
                                        <p:tgtEl>
                                          <p:spTgt spid="63"/>
                                        </p:tgtEl>
                                      </p:cBhvr>
                                    </p:animEffect>
                                    <p:anim calcmode="lin" valueType="num">
                                      <p:cBhvr>
                                        <p:cTn id="172" dur="400" decel="100000" fill="hold"/>
                                        <p:tgtEl>
                                          <p:spTgt spid="63"/>
                                        </p:tgtEl>
                                        <p:attrNameLst>
                                          <p:attrName>ppt_x</p:attrName>
                                        </p:attrNameLst>
                                      </p:cBhvr>
                                      <p:tavLst>
                                        <p:tav tm="0">
                                          <p:val>
                                            <p:strVal val="#ppt_x"/>
                                          </p:val>
                                        </p:tav>
                                        <p:tav tm="100000">
                                          <p:val>
                                            <p:strVal val="#ppt_x"/>
                                          </p:val>
                                        </p:tav>
                                      </p:tavLst>
                                    </p:anim>
                                    <p:anim calcmode="lin" valueType="num">
                                      <p:cBhvr>
                                        <p:cTn id="173" dur="400" decel="100000" fill="hold"/>
                                        <p:tgtEl>
                                          <p:spTgt spid="63"/>
                                        </p:tgtEl>
                                        <p:attrNameLst>
                                          <p:attrName>ppt_y</p:attrName>
                                        </p:attrNameLst>
                                      </p:cBhvr>
                                      <p:tavLst>
                                        <p:tav tm="0">
                                          <p:val>
                                            <p:strVal val="#ppt_y+0.03"/>
                                          </p:val>
                                        </p:tav>
                                        <p:tav tm="100000">
                                          <p:val>
                                            <p:strVal val="#ppt_y"/>
                                          </p:val>
                                        </p:tav>
                                      </p:tavLst>
                                    </p:anim>
                                  </p:childTnLst>
                                </p:cTn>
                              </p:par>
                              <p:par>
                                <p:cTn id="174" presetID="42" presetClass="entr" presetSubtype="0" fill="hold" grpId="0" nodeType="withEffect">
                                  <p:stCondLst>
                                    <p:cond delay="0"/>
                                  </p:stCondLst>
                                  <p:childTnLst>
                                    <p:set>
                                      <p:cBhvr>
                                        <p:cTn id="175" dur="1" fill="hold">
                                          <p:stCondLst>
                                            <p:cond delay="0"/>
                                          </p:stCondLst>
                                        </p:cTn>
                                        <p:tgtEl>
                                          <p:spTgt spid="64"/>
                                        </p:tgtEl>
                                        <p:attrNameLst>
                                          <p:attrName>style.visibility</p:attrName>
                                        </p:attrNameLst>
                                      </p:cBhvr>
                                      <p:to>
                                        <p:strVal val="visible"/>
                                      </p:to>
                                    </p:set>
                                    <p:animEffect transition="in" filter="fade">
                                      <p:cBhvr>
                                        <p:cTn id="176" dur="400"/>
                                        <p:tgtEl>
                                          <p:spTgt spid="64"/>
                                        </p:tgtEl>
                                      </p:cBhvr>
                                    </p:animEffect>
                                    <p:anim calcmode="lin" valueType="num">
                                      <p:cBhvr>
                                        <p:cTn id="177" dur="400" decel="100000" fill="hold"/>
                                        <p:tgtEl>
                                          <p:spTgt spid="64"/>
                                        </p:tgtEl>
                                        <p:attrNameLst>
                                          <p:attrName>ppt_x</p:attrName>
                                        </p:attrNameLst>
                                      </p:cBhvr>
                                      <p:tavLst>
                                        <p:tav tm="0">
                                          <p:val>
                                            <p:strVal val="#ppt_x"/>
                                          </p:val>
                                        </p:tav>
                                        <p:tav tm="100000">
                                          <p:val>
                                            <p:strVal val="#ppt_x"/>
                                          </p:val>
                                        </p:tav>
                                      </p:tavLst>
                                    </p:anim>
                                    <p:anim calcmode="lin" valueType="num">
                                      <p:cBhvr>
                                        <p:cTn id="178" dur="400" decel="100000" fill="hold"/>
                                        <p:tgtEl>
                                          <p:spTgt spid="64"/>
                                        </p:tgtEl>
                                        <p:attrNameLst>
                                          <p:attrName>ppt_y</p:attrName>
                                        </p:attrNameLst>
                                      </p:cBhvr>
                                      <p:tavLst>
                                        <p:tav tm="0">
                                          <p:val>
                                            <p:strVal val="#ppt_y+0.03"/>
                                          </p:val>
                                        </p:tav>
                                        <p:tav tm="100000">
                                          <p:val>
                                            <p:strVal val="#ppt_y"/>
                                          </p:val>
                                        </p:tav>
                                      </p:tavLst>
                                    </p:anim>
                                  </p:childTnLst>
                                </p:cTn>
                              </p:par>
                              <p:par>
                                <p:cTn id="179" presetID="42" presetClass="entr" presetSubtype="0" fill="hold" grpId="0" nodeType="withEffect">
                                  <p:stCondLst>
                                    <p:cond delay="0"/>
                                  </p:stCondLst>
                                  <p:childTnLst>
                                    <p:set>
                                      <p:cBhvr>
                                        <p:cTn id="180" dur="1" fill="hold">
                                          <p:stCondLst>
                                            <p:cond delay="0"/>
                                          </p:stCondLst>
                                        </p:cTn>
                                        <p:tgtEl>
                                          <p:spTgt spid="65"/>
                                        </p:tgtEl>
                                        <p:attrNameLst>
                                          <p:attrName>style.visibility</p:attrName>
                                        </p:attrNameLst>
                                      </p:cBhvr>
                                      <p:to>
                                        <p:strVal val="visible"/>
                                      </p:to>
                                    </p:set>
                                    <p:animEffect transition="in" filter="fade">
                                      <p:cBhvr>
                                        <p:cTn id="181" dur="400"/>
                                        <p:tgtEl>
                                          <p:spTgt spid="65"/>
                                        </p:tgtEl>
                                      </p:cBhvr>
                                    </p:animEffect>
                                    <p:anim calcmode="lin" valueType="num">
                                      <p:cBhvr>
                                        <p:cTn id="182" dur="400" decel="100000" fill="hold"/>
                                        <p:tgtEl>
                                          <p:spTgt spid="65"/>
                                        </p:tgtEl>
                                        <p:attrNameLst>
                                          <p:attrName>ppt_x</p:attrName>
                                        </p:attrNameLst>
                                      </p:cBhvr>
                                      <p:tavLst>
                                        <p:tav tm="0">
                                          <p:val>
                                            <p:strVal val="#ppt_x"/>
                                          </p:val>
                                        </p:tav>
                                        <p:tav tm="100000">
                                          <p:val>
                                            <p:strVal val="#ppt_x"/>
                                          </p:val>
                                        </p:tav>
                                      </p:tavLst>
                                    </p:anim>
                                    <p:anim calcmode="lin" valueType="num">
                                      <p:cBhvr>
                                        <p:cTn id="183" dur="400" decel="100000" fill="hold"/>
                                        <p:tgtEl>
                                          <p:spTgt spid="65"/>
                                        </p:tgtEl>
                                        <p:attrNameLst>
                                          <p:attrName>ppt_y</p:attrName>
                                        </p:attrNameLst>
                                      </p:cBhvr>
                                      <p:tavLst>
                                        <p:tav tm="0">
                                          <p:val>
                                            <p:strVal val="#ppt_y+0.03"/>
                                          </p:val>
                                        </p:tav>
                                        <p:tav tm="100000">
                                          <p:val>
                                            <p:strVal val="#ppt_y"/>
                                          </p:val>
                                        </p:tav>
                                      </p:tavLst>
                                    </p:anim>
                                  </p:childTnLst>
                                </p:cTn>
                              </p:par>
                              <p:par>
                                <p:cTn id="184" presetID="42" presetClass="entr" presetSubtype="0" fill="hold" grpId="0" nodeType="withEffect">
                                  <p:stCondLst>
                                    <p:cond delay="0"/>
                                  </p:stCondLst>
                                  <p:childTnLst>
                                    <p:set>
                                      <p:cBhvr>
                                        <p:cTn id="185" dur="1" fill="hold">
                                          <p:stCondLst>
                                            <p:cond delay="0"/>
                                          </p:stCondLst>
                                        </p:cTn>
                                        <p:tgtEl>
                                          <p:spTgt spid="66"/>
                                        </p:tgtEl>
                                        <p:attrNameLst>
                                          <p:attrName>style.visibility</p:attrName>
                                        </p:attrNameLst>
                                      </p:cBhvr>
                                      <p:to>
                                        <p:strVal val="visible"/>
                                      </p:to>
                                    </p:set>
                                    <p:animEffect transition="in" filter="fade">
                                      <p:cBhvr>
                                        <p:cTn id="186" dur="400"/>
                                        <p:tgtEl>
                                          <p:spTgt spid="66"/>
                                        </p:tgtEl>
                                      </p:cBhvr>
                                    </p:animEffect>
                                    <p:anim calcmode="lin" valueType="num">
                                      <p:cBhvr>
                                        <p:cTn id="187" dur="400" decel="100000" fill="hold"/>
                                        <p:tgtEl>
                                          <p:spTgt spid="66"/>
                                        </p:tgtEl>
                                        <p:attrNameLst>
                                          <p:attrName>ppt_x</p:attrName>
                                        </p:attrNameLst>
                                      </p:cBhvr>
                                      <p:tavLst>
                                        <p:tav tm="0">
                                          <p:val>
                                            <p:strVal val="#ppt_x"/>
                                          </p:val>
                                        </p:tav>
                                        <p:tav tm="100000">
                                          <p:val>
                                            <p:strVal val="#ppt_x"/>
                                          </p:val>
                                        </p:tav>
                                      </p:tavLst>
                                    </p:anim>
                                    <p:anim calcmode="lin" valueType="num">
                                      <p:cBhvr>
                                        <p:cTn id="188" dur="400" decel="100000" fill="hold"/>
                                        <p:tgtEl>
                                          <p:spTgt spid="66"/>
                                        </p:tgtEl>
                                        <p:attrNameLst>
                                          <p:attrName>ppt_y</p:attrName>
                                        </p:attrNameLst>
                                      </p:cBhvr>
                                      <p:tavLst>
                                        <p:tav tm="0">
                                          <p:val>
                                            <p:strVal val="#ppt_y+0.03"/>
                                          </p:val>
                                        </p:tav>
                                        <p:tav tm="100000">
                                          <p:val>
                                            <p:strVal val="#ppt_y"/>
                                          </p:val>
                                        </p:tav>
                                      </p:tavLst>
                                    </p:anim>
                                  </p:childTnLst>
                                </p:cTn>
                              </p:par>
                            </p:childTnLst>
                          </p:cTn>
                        </p:par>
                      </p:childTnLst>
                    </p:cTn>
                  </p:par>
                  <p:par>
                    <p:cTn id="236" fill="hold">
                      <p:stCondLst>
                        <p:cond delay="indefinite"/>
                      </p:stCondLst>
                      <p:childTnLst>
                        <p:par>
                          <p:cTn id="237" fill="hold">
                            <p:stCondLst>
                              <p:cond delay="0"/>
                            </p:stCondLst>
                            <p:childTnLst>
                              <p:par>
                                <p:cTn id="191" presetID="42" presetClass="entr" presetSubtype="0" fill="hold" grpId="0" nodeType="clickEffect">
                                  <p:stCondLst>
                                    <p:cond delay="0"/>
                                  </p:stCondLst>
                                  <p:childTnLst>
                                    <p:set>
                                      <p:cBhvr>
                                        <p:cTn id="192" dur="1" fill="hold">
                                          <p:stCondLst>
                                            <p:cond delay="0"/>
                                          </p:stCondLst>
                                        </p:cTn>
                                        <p:tgtEl>
                                          <p:spTgt spid="34"/>
                                        </p:tgtEl>
                                        <p:attrNameLst>
                                          <p:attrName>style.visibility</p:attrName>
                                        </p:attrNameLst>
                                      </p:cBhvr>
                                      <p:to>
                                        <p:strVal val="visible"/>
                                      </p:to>
                                    </p:set>
                                    <p:animEffect transition="in" filter="fade">
                                      <p:cBhvr>
                                        <p:cTn id="193" dur="400"/>
                                        <p:tgtEl>
                                          <p:spTgt spid="34"/>
                                        </p:tgtEl>
                                      </p:cBhvr>
                                    </p:animEffect>
                                    <p:anim calcmode="lin" valueType="num">
                                      <p:cBhvr>
                                        <p:cTn id="194" dur="400" decel="100000" fill="hold"/>
                                        <p:tgtEl>
                                          <p:spTgt spid="34"/>
                                        </p:tgtEl>
                                        <p:attrNameLst>
                                          <p:attrName>ppt_x</p:attrName>
                                        </p:attrNameLst>
                                      </p:cBhvr>
                                      <p:tavLst>
                                        <p:tav tm="0">
                                          <p:val>
                                            <p:strVal val="#ppt_x"/>
                                          </p:val>
                                        </p:tav>
                                        <p:tav tm="100000">
                                          <p:val>
                                            <p:strVal val="#ppt_x"/>
                                          </p:val>
                                        </p:tav>
                                      </p:tavLst>
                                    </p:anim>
                                    <p:anim calcmode="lin" valueType="num">
                                      <p:cBhvr>
                                        <p:cTn id="195" dur="400" decel="100000" fill="hold"/>
                                        <p:tgtEl>
                                          <p:spTgt spid="34"/>
                                        </p:tgtEl>
                                        <p:attrNameLst>
                                          <p:attrName>ppt_y</p:attrName>
                                        </p:attrNameLst>
                                      </p:cBhvr>
                                      <p:tavLst>
                                        <p:tav tm="0">
                                          <p:val>
                                            <p:strVal val="#ppt_y+0.03"/>
                                          </p:val>
                                        </p:tav>
                                        <p:tav tm="100000">
                                          <p:val>
                                            <p:strVal val="#ppt_y"/>
                                          </p:val>
                                        </p:tav>
                                      </p:tavLst>
                                    </p:anim>
                                  </p:childTnLst>
                                </p:cTn>
                              </p:par>
                              <p:par>
                                <p:cTn id="196" presetID="42" presetClass="entr" presetSubtype="0" fill="hold" grpId="0" nodeType="withEffect">
                                  <p:stCondLst>
                                    <p:cond delay="0"/>
                                  </p:stCondLst>
                                  <p:childTnLst>
                                    <p:set>
                                      <p:cBhvr>
                                        <p:cTn id="197" dur="1" fill="hold">
                                          <p:stCondLst>
                                            <p:cond delay="0"/>
                                          </p:stCondLst>
                                        </p:cTn>
                                        <p:tgtEl>
                                          <p:spTgt spid="35"/>
                                        </p:tgtEl>
                                        <p:attrNameLst>
                                          <p:attrName>style.visibility</p:attrName>
                                        </p:attrNameLst>
                                      </p:cBhvr>
                                      <p:to>
                                        <p:strVal val="visible"/>
                                      </p:to>
                                    </p:set>
                                    <p:animEffect transition="in" filter="fade">
                                      <p:cBhvr>
                                        <p:cTn id="198" dur="400"/>
                                        <p:tgtEl>
                                          <p:spTgt spid="35"/>
                                        </p:tgtEl>
                                      </p:cBhvr>
                                    </p:animEffect>
                                    <p:anim calcmode="lin" valueType="num">
                                      <p:cBhvr>
                                        <p:cTn id="199" dur="400" decel="100000" fill="hold"/>
                                        <p:tgtEl>
                                          <p:spTgt spid="35"/>
                                        </p:tgtEl>
                                        <p:attrNameLst>
                                          <p:attrName>ppt_x</p:attrName>
                                        </p:attrNameLst>
                                      </p:cBhvr>
                                      <p:tavLst>
                                        <p:tav tm="0">
                                          <p:val>
                                            <p:strVal val="#ppt_x"/>
                                          </p:val>
                                        </p:tav>
                                        <p:tav tm="100000">
                                          <p:val>
                                            <p:strVal val="#ppt_x"/>
                                          </p:val>
                                        </p:tav>
                                      </p:tavLst>
                                    </p:anim>
                                    <p:anim calcmode="lin" valueType="num">
                                      <p:cBhvr>
                                        <p:cTn id="200" dur="400" decel="100000" fill="hold"/>
                                        <p:tgtEl>
                                          <p:spTgt spid="35"/>
                                        </p:tgtEl>
                                        <p:attrNameLst>
                                          <p:attrName>ppt_y</p:attrName>
                                        </p:attrNameLst>
                                      </p:cBhvr>
                                      <p:tavLst>
                                        <p:tav tm="0">
                                          <p:val>
                                            <p:strVal val="#ppt_y+0.03"/>
                                          </p:val>
                                        </p:tav>
                                        <p:tav tm="100000">
                                          <p:val>
                                            <p:strVal val="#ppt_y"/>
                                          </p:val>
                                        </p:tav>
                                      </p:tavLst>
                                    </p:anim>
                                  </p:childTnLst>
                                </p:cTn>
                              </p:par>
                              <p:par>
                                <p:cTn id="201" presetID="42" presetClass="entr" presetSubtype="0" fill="hold" grpId="0" nodeType="withEffect">
                                  <p:stCondLst>
                                    <p:cond delay="0"/>
                                  </p:stCondLst>
                                  <p:childTnLst>
                                    <p:set>
                                      <p:cBhvr>
                                        <p:cTn id="202" dur="1" fill="hold">
                                          <p:stCondLst>
                                            <p:cond delay="0"/>
                                          </p:stCondLst>
                                        </p:cTn>
                                        <p:tgtEl>
                                          <p:spTgt spid="67"/>
                                        </p:tgtEl>
                                        <p:attrNameLst>
                                          <p:attrName>style.visibility</p:attrName>
                                        </p:attrNameLst>
                                      </p:cBhvr>
                                      <p:to>
                                        <p:strVal val="visible"/>
                                      </p:to>
                                    </p:set>
                                    <p:animEffect transition="in" filter="fade">
                                      <p:cBhvr>
                                        <p:cTn id="203" dur="400"/>
                                        <p:tgtEl>
                                          <p:spTgt spid="67"/>
                                        </p:tgtEl>
                                      </p:cBhvr>
                                    </p:animEffect>
                                    <p:anim calcmode="lin" valueType="num">
                                      <p:cBhvr>
                                        <p:cTn id="204" dur="400" decel="100000" fill="hold"/>
                                        <p:tgtEl>
                                          <p:spTgt spid="67"/>
                                        </p:tgtEl>
                                        <p:attrNameLst>
                                          <p:attrName>ppt_x</p:attrName>
                                        </p:attrNameLst>
                                      </p:cBhvr>
                                      <p:tavLst>
                                        <p:tav tm="0">
                                          <p:val>
                                            <p:strVal val="#ppt_x"/>
                                          </p:val>
                                        </p:tav>
                                        <p:tav tm="100000">
                                          <p:val>
                                            <p:strVal val="#ppt_x"/>
                                          </p:val>
                                        </p:tav>
                                      </p:tavLst>
                                    </p:anim>
                                    <p:anim calcmode="lin" valueType="num">
                                      <p:cBhvr>
                                        <p:cTn id="205" dur="400" decel="100000" fill="hold"/>
                                        <p:tgtEl>
                                          <p:spTgt spid="67"/>
                                        </p:tgtEl>
                                        <p:attrNameLst>
                                          <p:attrName>ppt_y</p:attrName>
                                        </p:attrNameLst>
                                      </p:cBhvr>
                                      <p:tavLst>
                                        <p:tav tm="0">
                                          <p:val>
                                            <p:strVal val="#ppt_y+0.03"/>
                                          </p:val>
                                        </p:tav>
                                        <p:tav tm="100000">
                                          <p:val>
                                            <p:strVal val="#ppt_y"/>
                                          </p:val>
                                        </p:tav>
                                      </p:tavLst>
                                    </p:anim>
                                  </p:childTnLst>
                                </p:cTn>
                              </p:par>
                              <p:par>
                                <p:cTn id="206" presetID="42" presetClass="entr" presetSubtype="0" fill="hold" grpId="0" nodeType="withEffect">
                                  <p:stCondLst>
                                    <p:cond delay="0"/>
                                  </p:stCondLst>
                                  <p:childTnLst>
                                    <p:set>
                                      <p:cBhvr>
                                        <p:cTn id="207" dur="1" fill="hold">
                                          <p:stCondLst>
                                            <p:cond delay="0"/>
                                          </p:stCondLst>
                                        </p:cTn>
                                        <p:tgtEl>
                                          <p:spTgt spid="68"/>
                                        </p:tgtEl>
                                        <p:attrNameLst>
                                          <p:attrName>style.visibility</p:attrName>
                                        </p:attrNameLst>
                                      </p:cBhvr>
                                      <p:to>
                                        <p:strVal val="visible"/>
                                      </p:to>
                                    </p:set>
                                    <p:animEffect transition="in" filter="fade">
                                      <p:cBhvr>
                                        <p:cTn id="208" dur="400"/>
                                        <p:tgtEl>
                                          <p:spTgt spid="68"/>
                                        </p:tgtEl>
                                      </p:cBhvr>
                                    </p:animEffect>
                                    <p:anim calcmode="lin" valueType="num">
                                      <p:cBhvr>
                                        <p:cTn id="209" dur="400" decel="100000" fill="hold"/>
                                        <p:tgtEl>
                                          <p:spTgt spid="68"/>
                                        </p:tgtEl>
                                        <p:attrNameLst>
                                          <p:attrName>ppt_x</p:attrName>
                                        </p:attrNameLst>
                                      </p:cBhvr>
                                      <p:tavLst>
                                        <p:tav tm="0">
                                          <p:val>
                                            <p:strVal val="#ppt_x"/>
                                          </p:val>
                                        </p:tav>
                                        <p:tav tm="100000">
                                          <p:val>
                                            <p:strVal val="#ppt_x"/>
                                          </p:val>
                                        </p:tav>
                                      </p:tavLst>
                                    </p:anim>
                                    <p:anim calcmode="lin" valueType="num">
                                      <p:cBhvr>
                                        <p:cTn id="210" dur="400" decel="100000" fill="hold"/>
                                        <p:tgtEl>
                                          <p:spTgt spid="68"/>
                                        </p:tgtEl>
                                        <p:attrNameLst>
                                          <p:attrName>ppt_y</p:attrName>
                                        </p:attrNameLst>
                                      </p:cBhvr>
                                      <p:tavLst>
                                        <p:tav tm="0">
                                          <p:val>
                                            <p:strVal val="#ppt_y+0.03"/>
                                          </p:val>
                                        </p:tav>
                                        <p:tav tm="100000">
                                          <p:val>
                                            <p:strVal val="#ppt_y"/>
                                          </p:val>
                                        </p:tav>
                                      </p:tavLst>
                                    </p:anim>
                                  </p:childTnLst>
                                </p:cTn>
                              </p:par>
                              <p:par>
                                <p:cTn id="211" presetID="42" presetClass="entr" presetSubtype="0" fill="hold" grpId="0" nodeType="withEffect">
                                  <p:stCondLst>
                                    <p:cond delay="0"/>
                                  </p:stCondLst>
                                  <p:childTnLst>
                                    <p:set>
                                      <p:cBhvr>
                                        <p:cTn id="212" dur="1" fill="hold">
                                          <p:stCondLst>
                                            <p:cond delay="0"/>
                                          </p:stCondLst>
                                        </p:cTn>
                                        <p:tgtEl>
                                          <p:spTgt spid="69"/>
                                        </p:tgtEl>
                                        <p:attrNameLst>
                                          <p:attrName>style.visibility</p:attrName>
                                        </p:attrNameLst>
                                      </p:cBhvr>
                                      <p:to>
                                        <p:strVal val="visible"/>
                                      </p:to>
                                    </p:set>
                                    <p:animEffect transition="in" filter="fade">
                                      <p:cBhvr>
                                        <p:cTn id="213" dur="400"/>
                                        <p:tgtEl>
                                          <p:spTgt spid="69"/>
                                        </p:tgtEl>
                                      </p:cBhvr>
                                    </p:animEffect>
                                    <p:anim calcmode="lin" valueType="num">
                                      <p:cBhvr>
                                        <p:cTn id="214" dur="400" decel="100000" fill="hold"/>
                                        <p:tgtEl>
                                          <p:spTgt spid="69"/>
                                        </p:tgtEl>
                                        <p:attrNameLst>
                                          <p:attrName>ppt_x</p:attrName>
                                        </p:attrNameLst>
                                      </p:cBhvr>
                                      <p:tavLst>
                                        <p:tav tm="0">
                                          <p:val>
                                            <p:strVal val="#ppt_x"/>
                                          </p:val>
                                        </p:tav>
                                        <p:tav tm="100000">
                                          <p:val>
                                            <p:strVal val="#ppt_x"/>
                                          </p:val>
                                        </p:tav>
                                      </p:tavLst>
                                    </p:anim>
                                    <p:anim calcmode="lin" valueType="num">
                                      <p:cBhvr>
                                        <p:cTn id="215" dur="400" decel="100000" fill="hold"/>
                                        <p:tgtEl>
                                          <p:spTgt spid="69"/>
                                        </p:tgtEl>
                                        <p:attrNameLst>
                                          <p:attrName>ppt_y</p:attrName>
                                        </p:attrNameLst>
                                      </p:cBhvr>
                                      <p:tavLst>
                                        <p:tav tm="0">
                                          <p:val>
                                            <p:strVal val="#ppt_y+0.03"/>
                                          </p:val>
                                        </p:tav>
                                        <p:tav tm="100000">
                                          <p:val>
                                            <p:strVal val="#ppt_y"/>
                                          </p:val>
                                        </p:tav>
                                      </p:tavLst>
                                    </p:anim>
                                  </p:childTnLst>
                                </p:cTn>
                              </p:par>
                              <p:par>
                                <p:cTn id="216" presetID="42" presetClass="entr" presetSubtype="0" fill="hold" grpId="0" nodeType="withEffect">
                                  <p:stCondLst>
                                    <p:cond delay="0"/>
                                  </p:stCondLst>
                                  <p:childTnLst>
                                    <p:set>
                                      <p:cBhvr>
                                        <p:cTn id="217" dur="1" fill="hold">
                                          <p:stCondLst>
                                            <p:cond delay="0"/>
                                          </p:stCondLst>
                                        </p:cTn>
                                        <p:tgtEl>
                                          <p:spTgt spid="70"/>
                                        </p:tgtEl>
                                        <p:attrNameLst>
                                          <p:attrName>style.visibility</p:attrName>
                                        </p:attrNameLst>
                                      </p:cBhvr>
                                      <p:to>
                                        <p:strVal val="visible"/>
                                      </p:to>
                                    </p:set>
                                    <p:animEffect transition="in" filter="fade">
                                      <p:cBhvr>
                                        <p:cTn id="218" dur="400"/>
                                        <p:tgtEl>
                                          <p:spTgt spid="70"/>
                                        </p:tgtEl>
                                      </p:cBhvr>
                                    </p:animEffect>
                                    <p:anim calcmode="lin" valueType="num">
                                      <p:cBhvr>
                                        <p:cTn id="219" dur="400" decel="100000" fill="hold"/>
                                        <p:tgtEl>
                                          <p:spTgt spid="70"/>
                                        </p:tgtEl>
                                        <p:attrNameLst>
                                          <p:attrName>ppt_x</p:attrName>
                                        </p:attrNameLst>
                                      </p:cBhvr>
                                      <p:tavLst>
                                        <p:tav tm="0">
                                          <p:val>
                                            <p:strVal val="#ppt_x"/>
                                          </p:val>
                                        </p:tav>
                                        <p:tav tm="100000">
                                          <p:val>
                                            <p:strVal val="#ppt_x"/>
                                          </p:val>
                                        </p:tav>
                                      </p:tavLst>
                                    </p:anim>
                                    <p:anim calcmode="lin" valueType="num">
                                      <p:cBhvr>
                                        <p:cTn id="220" dur="400" decel="100000" fill="hold"/>
                                        <p:tgtEl>
                                          <p:spTgt spid="70"/>
                                        </p:tgtEl>
                                        <p:attrNameLst>
                                          <p:attrName>ppt_y</p:attrName>
                                        </p:attrNameLst>
                                      </p:cBhvr>
                                      <p:tavLst>
                                        <p:tav tm="0">
                                          <p:val>
                                            <p:strVal val="#ppt_y+0.03"/>
                                          </p:val>
                                        </p:tav>
                                        <p:tav tm="100000">
                                          <p:val>
                                            <p:strVal val="#ppt_y"/>
                                          </p:val>
                                        </p:tav>
                                      </p:tavLst>
                                    </p:anim>
                                  </p:childTnLst>
                                </p:cTn>
                              </p:par>
                              <p:par>
                                <p:cTn id="221" presetID="42" presetClass="entr" presetSubtype="0" fill="hold" grpId="0" nodeType="withEffect">
                                  <p:stCondLst>
                                    <p:cond delay="0"/>
                                  </p:stCondLst>
                                  <p:childTnLst>
                                    <p:set>
                                      <p:cBhvr>
                                        <p:cTn id="222" dur="1" fill="hold">
                                          <p:stCondLst>
                                            <p:cond delay="0"/>
                                          </p:stCondLst>
                                        </p:cTn>
                                        <p:tgtEl>
                                          <p:spTgt spid="71"/>
                                        </p:tgtEl>
                                        <p:attrNameLst>
                                          <p:attrName>style.visibility</p:attrName>
                                        </p:attrNameLst>
                                      </p:cBhvr>
                                      <p:to>
                                        <p:strVal val="visible"/>
                                      </p:to>
                                    </p:set>
                                    <p:animEffect transition="in" filter="fade">
                                      <p:cBhvr>
                                        <p:cTn id="223" dur="400"/>
                                        <p:tgtEl>
                                          <p:spTgt spid="71"/>
                                        </p:tgtEl>
                                      </p:cBhvr>
                                    </p:animEffect>
                                    <p:anim calcmode="lin" valueType="num">
                                      <p:cBhvr>
                                        <p:cTn id="224" dur="400" decel="100000" fill="hold"/>
                                        <p:tgtEl>
                                          <p:spTgt spid="71"/>
                                        </p:tgtEl>
                                        <p:attrNameLst>
                                          <p:attrName>ppt_x</p:attrName>
                                        </p:attrNameLst>
                                      </p:cBhvr>
                                      <p:tavLst>
                                        <p:tav tm="0">
                                          <p:val>
                                            <p:strVal val="#ppt_x"/>
                                          </p:val>
                                        </p:tav>
                                        <p:tav tm="100000">
                                          <p:val>
                                            <p:strVal val="#ppt_x"/>
                                          </p:val>
                                        </p:tav>
                                      </p:tavLst>
                                    </p:anim>
                                    <p:anim calcmode="lin" valueType="num">
                                      <p:cBhvr>
                                        <p:cTn id="225" dur="400" decel="100000" fill="hold"/>
                                        <p:tgtEl>
                                          <p:spTgt spid="71"/>
                                        </p:tgtEl>
                                        <p:attrNameLst>
                                          <p:attrName>ppt_y</p:attrName>
                                        </p:attrNameLst>
                                      </p:cBhvr>
                                      <p:tavLst>
                                        <p:tav tm="0">
                                          <p:val>
                                            <p:strVal val="#ppt_y+0.03"/>
                                          </p:val>
                                        </p:tav>
                                        <p:tav tm="100000">
                                          <p:val>
                                            <p:strVal val="#ppt_y"/>
                                          </p:val>
                                        </p:tav>
                                      </p:tavLst>
                                    </p:anim>
                                  </p:childTnLst>
                                </p:cTn>
                              </p:par>
                              <p:par>
                                <p:cTn id="226" presetID="42" presetClass="entr" presetSubtype="0" fill="hold" grpId="0" nodeType="withEffect">
                                  <p:stCondLst>
                                    <p:cond delay="0"/>
                                  </p:stCondLst>
                                  <p:childTnLst>
                                    <p:set>
                                      <p:cBhvr>
                                        <p:cTn id="227" dur="1" fill="hold">
                                          <p:stCondLst>
                                            <p:cond delay="0"/>
                                          </p:stCondLst>
                                        </p:cTn>
                                        <p:tgtEl>
                                          <p:spTgt spid="72"/>
                                        </p:tgtEl>
                                        <p:attrNameLst>
                                          <p:attrName>style.visibility</p:attrName>
                                        </p:attrNameLst>
                                      </p:cBhvr>
                                      <p:to>
                                        <p:strVal val="visible"/>
                                      </p:to>
                                    </p:set>
                                    <p:animEffect transition="in" filter="fade">
                                      <p:cBhvr>
                                        <p:cTn id="228" dur="400"/>
                                        <p:tgtEl>
                                          <p:spTgt spid="72"/>
                                        </p:tgtEl>
                                      </p:cBhvr>
                                    </p:animEffect>
                                    <p:anim calcmode="lin" valueType="num">
                                      <p:cBhvr>
                                        <p:cTn id="229" dur="400" decel="100000" fill="hold"/>
                                        <p:tgtEl>
                                          <p:spTgt spid="72"/>
                                        </p:tgtEl>
                                        <p:attrNameLst>
                                          <p:attrName>ppt_x</p:attrName>
                                        </p:attrNameLst>
                                      </p:cBhvr>
                                      <p:tavLst>
                                        <p:tav tm="0">
                                          <p:val>
                                            <p:strVal val="#ppt_x"/>
                                          </p:val>
                                        </p:tav>
                                        <p:tav tm="100000">
                                          <p:val>
                                            <p:strVal val="#ppt_x"/>
                                          </p:val>
                                        </p:tav>
                                      </p:tavLst>
                                    </p:anim>
                                    <p:anim calcmode="lin" valueType="num">
                                      <p:cBhvr>
                                        <p:cTn id="230" dur="400" decel="100000" fill="hold"/>
                                        <p:tgtEl>
                                          <p:spTgt spid="72"/>
                                        </p:tgtEl>
                                        <p:attrNameLst>
                                          <p:attrName>ppt_y</p:attrName>
                                        </p:attrNameLst>
                                      </p:cBhvr>
                                      <p:tavLst>
                                        <p:tav tm="0">
                                          <p:val>
                                            <p:strVal val="#ppt_y+0.03"/>
                                          </p:val>
                                        </p:tav>
                                        <p:tav tm="100000">
                                          <p:val>
                                            <p:strVal val="#ppt_y"/>
                                          </p:val>
                                        </p:tav>
                                      </p:tavLst>
                                    </p:anim>
                                  </p:childTnLst>
                                </p:cTn>
                              </p:par>
                              <p:par>
                                <p:cTn id="231" presetID="42" presetClass="entr" presetSubtype="0" fill="hold" grpId="0" nodeType="withEffect">
                                  <p:stCondLst>
                                    <p:cond delay="0"/>
                                  </p:stCondLst>
                                  <p:childTnLst>
                                    <p:set>
                                      <p:cBhvr>
                                        <p:cTn id="232" dur="1" fill="hold">
                                          <p:stCondLst>
                                            <p:cond delay="0"/>
                                          </p:stCondLst>
                                        </p:cTn>
                                        <p:tgtEl>
                                          <p:spTgt spid="73"/>
                                        </p:tgtEl>
                                        <p:attrNameLst>
                                          <p:attrName>style.visibility</p:attrName>
                                        </p:attrNameLst>
                                      </p:cBhvr>
                                      <p:to>
                                        <p:strVal val="visible"/>
                                      </p:to>
                                    </p:set>
                                    <p:animEffect transition="in" filter="fade">
                                      <p:cBhvr>
                                        <p:cTn id="233" dur="400"/>
                                        <p:tgtEl>
                                          <p:spTgt spid="73"/>
                                        </p:tgtEl>
                                      </p:cBhvr>
                                    </p:animEffect>
                                    <p:anim calcmode="lin" valueType="num">
                                      <p:cBhvr>
                                        <p:cTn id="234" dur="400" decel="100000" fill="hold"/>
                                        <p:tgtEl>
                                          <p:spTgt spid="73"/>
                                        </p:tgtEl>
                                        <p:attrNameLst>
                                          <p:attrName>ppt_x</p:attrName>
                                        </p:attrNameLst>
                                      </p:cBhvr>
                                      <p:tavLst>
                                        <p:tav tm="0">
                                          <p:val>
                                            <p:strVal val="#ppt_x"/>
                                          </p:val>
                                        </p:tav>
                                        <p:tav tm="100000">
                                          <p:val>
                                            <p:strVal val="#ppt_x"/>
                                          </p:val>
                                        </p:tav>
                                      </p:tavLst>
                                    </p:anim>
                                    <p:anim calcmode="lin" valueType="num">
                                      <p:cBhvr>
                                        <p:cTn id="235" dur="400" decel="100000" fill="hold"/>
                                        <p:tgtEl>
                                          <p:spTgt spid="73"/>
                                        </p:tgtEl>
                                        <p:attrNameLst>
                                          <p:attrName>ppt_y</p:attrName>
                                        </p:attrNameLst>
                                      </p:cBhvr>
                                      <p:tavLst>
                                        <p:tav tm="0">
                                          <p:val>
                                            <p:strVal val="#ppt_y+0.03"/>
                                          </p:val>
                                        </p:tav>
                                        <p:tav tm="100000">
                                          <p:val>
                                            <p:strVal val="#ppt_y"/>
                                          </p:val>
                                        </p:tav>
                                      </p:tavLst>
                                    </p:anim>
                                  </p:childTnLst>
                                </p:cTn>
                              </p:par>
                            </p:childTnLst>
                          </p:cTn>
                        </p:par>
                      </p:childTnLst>
                    </p:cTn>
                  </p:par>
                  <p:par>
                    <p:cTn id="283" fill="hold">
                      <p:stCondLst>
                        <p:cond delay="indefinite"/>
                      </p:stCondLst>
                      <p:childTnLst>
                        <p:par>
                          <p:cTn id="284" fill="hold">
                            <p:stCondLst>
                              <p:cond delay="0"/>
                            </p:stCondLst>
                            <p:childTnLst>
                              <p:par>
                                <p:cTn id="238" presetID="42" presetClass="entr" presetSubtype="0" fill="hold" grpId="0" nodeType="clickEffect">
                                  <p:stCondLst>
                                    <p:cond delay="0"/>
                                  </p:stCondLst>
                                  <p:childTnLst>
                                    <p:set>
                                      <p:cBhvr>
                                        <p:cTn id="239" dur="1" fill="hold">
                                          <p:stCondLst>
                                            <p:cond delay="0"/>
                                          </p:stCondLst>
                                        </p:cTn>
                                        <p:tgtEl>
                                          <p:spTgt spid="30"/>
                                        </p:tgtEl>
                                        <p:attrNameLst>
                                          <p:attrName>style.visibility</p:attrName>
                                        </p:attrNameLst>
                                      </p:cBhvr>
                                      <p:to>
                                        <p:strVal val="visible"/>
                                      </p:to>
                                    </p:set>
                                    <p:animEffect transition="in" filter="fade">
                                      <p:cBhvr>
                                        <p:cTn id="240" dur="400"/>
                                        <p:tgtEl>
                                          <p:spTgt spid="30"/>
                                        </p:tgtEl>
                                      </p:cBhvr>
                                    </p:animEffect>
                                    <p:anim calcmode="lin" valueType="num">
                                      <p:cBhvr>
                                        <p:cTn id="241" dur="400" decel="100000" fill="hold"/>
                                        <p:tgtEl>
                                          <p:spTgt spid="30"/>
                                        </p:tgtEl>
                                        <p:attrNameLst>
                                          <p:attrName>ppt_x</p:attrName>
                                        </p:attrNameLst>
                                      </p:cBhvr>
                                      <p:tavLst>
                                        <p:tav tm="0">
                                          <p:val>
                                            <p:strVal val="#ppt_x"/>
                                          </p:val>
                                        </p:tav>
                                        <p:tav tm="100000">
                                          <p:val>
                                            <p:strVal val="#ppt_x"/>
                                          </p:val>
                                        </p:tav>
                                      </p:tavLst>
                                    </p:anim>
                                    <p:anim calcmode="lin" valueType="num">
                                      <p:cBhvr>
                                        <p:cTn id="242" dur="400" decel="100000" fill="hold"/>
                                        <p:tgtEl>
                                          <p:spTgt spid="30"/>
                                        </p:tgtEl>
                                        <p:attrNameLst>
                                          <p:attrName>ppt_y</p:attrName>
                                        </p:attrNameLst>
                                      </p:cBhvr>
                                      <p:tavLst>
                                        <p:tav tm="0">
                                          <p:val>
                                            <p:strVal val="#ppt_y+0.03"/>
                                          </p:val>
                                        </p:tav>
                                        <p:tav tm="100000">
                                          <p:val>
                                            <p:strVal val="#ppt_y"/>
                                          </p:val>
                                        </p:tav>
                                      </p:tavLst>
                                    </p:anim>
                                  </p:childTnLst>
                                </p:cTn>
                              </p:par>
                              <p:par>
                                <p:cTn id="243" presetID="42" presetClass="entr" presetSubtype="0" fill="hold" grpId="0" nodeType="withEffect">
                                  <p:stCondLst>
                                    <p:cond delay="0"/>
                                  </p:stCondLst>
                                  <p:childTnLst>
                                    <p:set>
                                      <p:cBhvr>
                                        <p:cTn id="244" dur="1" fill="hold">
                                          <p:stCondLst>
                                            <p:cond delay="0"/>
                                          </p:stCondLst>
                                        </p:cTn>
                                        <p:tgtEl>
                                          <p:spTgt spid="31"/>
                                        </p:tgtEl>
                                        <p:attrNameLst>
                                          <p:attrName>style.visibility</p:attrName>
                                        </p:attrNameLst>
                                      </p:cBhvr>
                                      <p:to>
                                        <p:strVal val="visible"/>
                                      </p:to>
                                    </p:set>
                                    <p:animEffect transition="in" filter="fade">
                                      <p:cBhvr>
                                        <p:cTn id="245" dur="400"/>
                                        <p:tgtEl>
                                          <p:spTgt spid="31"/>
                                        </p:tgtEl>
                                      </p:cBhvr>
                                    </p:animEffect>
                                    <p:anim calcmode="lin" valueType="num">
                                      <p:cBhvr>
                                        <p:cTn id="246" dur="400" decel="100000" fill="hold"/>
                                        <p:tgtEl>
                                          <p:spTgt spid="31"/>
                                        </p:tgtEl>
                                        <p:attrNameLst>
                                          <p:attrName>ppt_x</p:attrName>
                                        </p:attrNameLst>
                                      </p:cBhvr>
                                      <p:tavLst>
                                        <p:tav tm="0">
                                          <p:val>
                                            <p:strVal val="#ppt_x"/>
                                          </p:val>
                                        </p:tav>
                                        <p:tav tm="100000">
                                          <p:val>
                                            <p:strVal val="#ppt_x"/>
                                          </p:val>
                                        </p:tav>
                                      </p:tavLst>
                                    </p:anim>
                                    <p:anim calcmode="lin" valueType="num">
                                      <p:cBhvr>
                                        <p:cTn id="247" dur="400" decel="100000" fill="hold"/>
                                        <p:tgtEl>
                                          <p:spTgt spid="31"/>
                                        </p:tgtEl>
                                        <p:attrNameLst>
                                          <p:attrName>ppt_y</p:attrName>
                                        </p:attrNameLst>
                                      </p:cBhvr>
                                      <p:tavLst>
                                        <p:tav tm="0">
                                          <p:val>
                                            <p:strVal val="#ppt_y+0.03"/>
                                          </p:val>
                                        </p:tav>
                                        <p:tav tm="100000">
                                          <p:val>
                                            <p:strVal val="#ppt_y"/>
                                          </p:val>
                                        </p:tav>
                                      </p:tavLst>
                                    </p:anim>
                                  </p:childTnLst>
                                </p:cTn>
                              </p:par>
                              <p:par>
                                <p:cTn id="248" presetID="42" presetClass="entr" presetSubtype="0" fill="hold" grpId="0" nodeType="withEffect">
                                  <p:stCondLst>
                                    <p:cond delay="0"/>
                                  </p:stCondLst>
                                  <p:childTnLst>
                                    <p:set>
                                      <p:cBhvr>
                                        <p:cTn id="249" dur="1" fill="hold">
                                          <p:stCondLst>
                                            <p:cond delay="0"/>
                                          </p:stCondLst>
                                        </p:cTn>
                                        <p:tgtEl>
                                          <p:spTgt spid="74"/>
                                        </p:tgtEl>
                                        <p:attrNameLst>
                                          <p:attrName>style.visibility</p:attrName>
                                        </p:attrNameLst>
                                      </p:cBhvr>
                                      <p:to>
                                        <p:strVal val="visible"/>
                                      </p:to>
                                    </p:set>
                                    <p:animEffect transition="in" filter="fade">
                                      <p:cBhvr>
                                        <p:cTn id="250" dur="400"/>
                                        <p:tgtEl>
                                          <p:spTgt spid="74"/>
                                        </p:tgtEl>
                                      </p:cBhvr>
                                    </p:animEffect>
                                    <p:anim calcmode="lin" valueType="num">
                                      <p:cBhvr>
                                        <p:cTn id="251" dur="400" decel="100000" fill="hold"/>
                                        <p:tgtEl>
                                          <p:spTgt spid="74"/>
                                        </p:tgtEl>
                                        <p:attrNameLst>
                                          <p:attrName>ppt_x</p:attrName>
                                        </p:attrNameLst>
                                      </p:cBhvr>
                                      <p:tavLst>
                                        <p:tav tm="0">
                                          <p:val>
                                            <p:strVal val="#ppt_x"/>
                                          </p:val>
                                        </p:tav>
                                        <p:tav tm="100000">
                                          <p:val>
                                            <p:strVal val="#ppt_x"/>
                                          </p:val>
                                        </p:tav>
                                      </p:tavLst>
                                    </p:anim>
                                    <p:anim calcmode="lin" valueType="num">
                                      <p:cBhvr>
                                        <p:cTn id="252" dur="400" decel="100000" fill="hold"/>
                                        <p:tgtEl>
                                          <p:spTgt spid="74"/>
                                        </p:tgtEl>
                                        <p:attrNameLst>
                                          <p:attrName>ppt_y</p:attrName>
                                        </p:attrNameLst>
                                      </p:cBhvr>
                                      <p:tavLst>
                                        <p:tav tm="0">
                                          <p:val>
                                            <p:strVal val="#ppt_y+0.03"/>
                                          </p:val>
                                        </p:tav>
                                        <p:tav tm="100000">
                                          <p:val>
                                            <p:strVal val="#ppt_y"/>
                                          </p:val>
                                        </p:tav>
                                      </p:tavLst>
                                    </p:anim>
                                  </p:childTnLst>
                                </p:cTn>
                              </p:par>
                              <p:par>
                                <p:cTn id="253" presetID="42" presetClass="entr" presetSubtype="0" fill="hold" grpId="0" nodeType="withEffect">
                                  <p:stCondLst>
                                    <p:cond delay="0"/>
                                  </p:stCondLst>
                                  <p:childTnLst>
                                    <p:set>
                                      <p:cBhvr>
                                        <p:cTn id="254" dur="1" fill="hold">
                                          <p:stCondLst>
                                            <p:cond delay="0"/>
                                          </p:stCondLst>
                                        </p:cTn>
                                        <p:tgtEl>
                                          <p:spTgt spid="75"/>
                                        </p:tgtEl>
                                        <p:attrNameLst>
                                          <p:attrName>style.visibility</p:attrName>
                                        </p:attrNameLst>
                                      </p:cBhvr>
                                      <p:to>
                                        <p:strVal val="visible"/>
                                      </p:to>
                                    </p:set>
                                    <p:animEffect transition="in" filter="fade">
                                      <p:cBhvr>
                                        <p:cTn id="255" dur="400"/>
                                        <p:tgtEl>
                                          <p:spTgt spid="75"/>
                                        </p:tgtEl>
                                      </p:cBhvr>
                                    </p:animEffect>
                                    <p:anim calcmode="lin" valueType="num">
                                      <p:cBhvr>
                                        <p:cTn id="256" dur="400" decel="100000" fill="hold"/>
                                        <p:tgtEl>
                                          <p:spTgt spid="75"/>
                                        </p:tgtEl>
                                        <p:attrNameLst>
                                          <p:attrName>ppt_x</p:attrName>
                                        </p:attrNameLst>
                                      </p:cBhvr>
                                      <p:tavLst>
                                        <p:tav tm="0">
                                          <p:val>
                                            <p:strVal val="#ppt_x"/>
                                          </p:val>
                                        </p:tav>
                                        <p:tav tm="100000">
                                          <p:val>
                                            <p:strVal val="#ppt_x"/>
                                          </p:val>
                                        </p:tav>
                                      </p:tavLst>
                                    </p:anim>
                                    <p:anim calcmode="lin" valueType="num">
                                      <p:cBhvr>
                                        <p:cTn id="257" dur="400" decel="100000" fill="hold"/>
                                        <p:tgtEl>
                                          <p:spTgt spid="75"/>
                                        </p:tgtEl>
                                        <p:attrNameLst>
                                          <p:attrName>ppt_y</p:attrName>
                                        </p:attrNameLst>
                                      </p:cBhvr>
                                      <p:tavLst>
                                        <p:tav tm="0">
                                          <p:val>
                                            <p:strVal val="#ppt_y+0.03"/>
                                          </p:val>
                                        </p:tav>
                                        <p:tav tm="100000">
                                          <p:val>
                                            <p:strVal val="#ppt_y"/>
                                          </p:val>
                                        </p:tav>
                                      </p:tavLst>
                                    </p:anim>
                                  </p:childTnLst>
                                </p:cTn>
                              </p:par>
                              <p:par>
                                <p:cTn id="258" presetID="42" presetClass="entr" presetSubtype="0" fill="hold" grpId="0" nodeType="withEffect">
                                  <p:stCondLst>
                                    <p:cond delay="0"/>
                                  </p:stCondLst>
                                  <p:childTnLst>
                                    <p:set>
                                      <p:cBhvr>
                                        <p:cTn id="259" dur="1" fill="hold">
                                          <p:stCondLst>
                                            <p:cond delay="0"/>
                                          </p:stCondLst>
                                        </p:cTn>
                                        <p:tgtEl>
                                          <p:spTgt spid="76"/>
                                        </p:tgtEl>
                                        <p:attrNameLst>
                                          <p:attrName>style.visibility</p:attrName>
                                        </p:attrNameLst>
                                      </p:cBhvr>
                                      <p:to>
                                        <p:strVal val="visible"/>
                                      </p:to>
                                    </p:set>
                                    <p:animEffect transition="in" filter="fade">
                                      <p:cBhvr>
                                        <p:cTn id="260" dur="400"/>
                                        <p:tgtEl>
                                          <p:spTgt spid="76"/>
                                        </p:tgtEl>
                                      </p:cBhvr>
                                    </p:animEffect>
                                    <p:anim calcmode="lin" valueType="num">
                                      <p:cBhvr>
                                        <p:cTn id="261" dur="400" decel="100000" fill="hold"/>
                                        <p:tgtEl>
                                          <p:spTgt spid="76"/>
                                        </p:tgtEl>
                                        <p:attrNameLst>
                                          <p:attrName>ppt_x</p:attrName>
                                        </p:attrNameLst>
                                      </p:cBhvr>
                                      <p:tavLst>
                                        <p:tav tm="0">
                                          <p:val>
                                            <p:strVal val="#ppt_x"/>
                                          </p:val>
                                        </p:tav>
                                        <p:tav tm="100000">
                                          <p:val>
                                            <p:strVal val="#ppt_x"/>
                                          </p:val>
                                        </p:tav>
                                      </p:tavLst>
                                    </p:anim>
                                    <p:anim calcmode="lin" valueType="num">
                                      <p:cBhvr>
                                        <p:cTn id="262" dur="400" decel="100000" fill="hold"/>
                                        <p:tgtEl>
                                          <p:spTgt spid="76"/>
                                        </p:tgtEl>
                                        <p:attrNameLst>
                                          <p:attrName>ppt_y</p:attrName>
                                        </p:attrNameLst>
                                      </p:cBhvr>
                                      <p:tavLst>
                                        <p:tav tm="0">
                                          <p:val>
                                            <p:strVal val="#ppt_y+0.03"/>
                                          </p:val>
                                        </p:tav>
                                        <p:tav tm="100000">
                                          <p:val>
                                            <p:strVal val="#ppt_y"/>
                                          </p:val>
                                        </p:tav>
                                      </p:tavLst>
                                    </p:anim>
                                  </p:childTnLst>
                                </p:cTn>
                              </p:par>
                              <p:par>
                                <p:cTn id="263" presetID="42" presetClass="entr" presetSubtype="0" fill="hold" grpId="0" nodeType="withEffect">
                                  <p:stCondLst>
                                    <p:cond delay="0"/>
                                  </p:stCondLst>
                                  <p:childTnLst>
                                    <p:set>
                                      <p:cBhvr>
                                        <p:cTn id="264" dur="1" fill="hold">
                                          <p:stCondLst>
                                            <p:cond delay="0"/>
                                          </p:stCondLst>
                                        </p:cTn>
                                        <p:tgtEl>
                                          <p:spTgt spid="77"/>
                                        </p:tgtEl>
                                        <p:attrNameLst>
                                          <p:attrName>style.visibility</p:attrName>
                                        </p:attrNameLst>
                                      </p:cBhvr>
                                      <p:to>
                                        <p:strVal val="visible"/>
                                      </p:to>
                                    </p:set>
                                    <p:animEffect transition="in" filter="fade">
                                      <p:cBhvr>
                                        <p:cTn id="265" dur="400"/>
                                        <p:tgtEl>
                                          <p:spTgt spid="77"/>
                                        </p:tgtEl>
                                      </p:cBhvr>
                                    </p:animEffect>
                                    <p:anim calcmode="lin" valueType="num">
                                      <p:cBhvr>
                                        <p:cTn id="266" dur="400" decel="100000" fill="hold"/>
                                        <p:tgtEl>
                                          <p:spTgt spid="77"/>
                                        </p:tgtEl>
                                        <p:attrNameLst>
                                          <p:attrName>ppt_x</p:attrName>
                                        </p:attrNameLst>
                                      </p:cBhvr>
                                      <p:tavLst>
                                        <p:tav tm="0">
                                          <p:val>
                                            <p:strVal val="#ppt_x"/>
                                          </p:val>
                                        </p:tav>
                                        <p:tav tm="100000">
                                          <p:val>
                                            <p:strVal val="#ppt_x"/>
                                          </p:val>
                                        </p:tav>
                                      </p:tavLst>
                                    </p:anim>
                                    <p:anim calcmode="lin" valueType="num">
                                      <p:cBhvr>
                                        <p:cTn id="267" dur="400" decel="100000" fill="hold"/>
                                        <p:tgtEl>
                                          <p:spTgt spid="77"/>
                                        </p:tgtEl>
                                        <p:attrNameLst>
                                          <p:attrName>ppt_y</p:attrName>
                                        </p:attrNameLst>
                                      </p:cBhvr>
                                      <p:tavLst>
                                        <p:tav tm="0">
                                          <p:val>
                                            <p:strVal val="#ppt_y+0.03"/>
                                          </p:val>
                                        </p:tav>
                                        <p:tav tm="100000">
                                          <p:val>
                                            <p:strVal val="#ppt_y"/>
                                          </p:val>
                                        </p:tav>
                                      </p:tavLst>
                                    </p:anim>
                                  </p:childTnLst>
                                </p:cTn>
                              </p:par>
                              <p:par>
                                <p:cTn id="268" presetID="42" presetClass="entr" presetSubtype="0" fill="hold" grpId="0" nodeType="withEffect">
                                  <p:stCondLst>
                                    <p:cond delay="0"/>
                                  </p:stCondLst>
                                  <p:childTnLst>
                                    <p:set>
                                      <p:cBhvr>
                                        <p:cTn id="269" dur="1" fill="hold">
                                          <p:stCondLst>
                                            <p:cond delay="0"/>
                                          </p:stCondLst>
                                        </p:cTn>
                                        <p:tgtEl>
                                          <p:spTgt spid="78"/>
                                        </p:tgtEl>
                                        <p:attrNameLst>
                                          <p:attrName>style.visibility</p:attrName>
                                        </p:attrNameLst>
                                      </p:cBhvr>
                                      <p:to>
                                        <p:strVal val="visible"/>
                                      </p:to>
                                    </p:set>
                                    <p:animEffect transition="in" filter="fade">
                                      <p:cBhvr>
                                        <p:cTn id="270" dur="400"/>
                                        <p:tgtEl>
                                          <p:spTgt spid="78"/>
                                        </p:tgtEl>
                                      </p:cBhvr>
                                    </p:animEffect>
                                    <p:anim calcmode="lin" valueType="num">
                                      <p:cBhvr>
                                        <p:cTn id="271" dur="400" decel="100000" fill="hold"/>
                                        <p:tgtEl>
                                          <p:spTgt spid="78"/>
                                        </p:tgtEl>
                                        <p:attrNameLst>
                                          <p:attrName>ppt_x</p:attrName>
                                        </p:attrNameLst>
                                      </p:cBhvr>
                                      <p:tavLst>
                                        <p:tav tm="0">
                                          <p:val>
                                            <p:strVal val="#ppt_x"/>
                                          </p:val>
                                        </p:tav>
                                        <p:tav tm="100000">
                                          <p:val>
                                            <p:strVal val="#ppt_x"/>
                                          </p:val>
                                        </p:tav>
                                      </p:tavLst>
                                    </p:anim>
                                    <p:anim calcmode="lin" valueType="num">
                                      <p:cBhvr>
                                        <p:cTn id="272" dur="400" decel="100000" fill="hold"/>
                                        <p:tgtEl>
                                          <p:spTgt spid="78"/>
                                        </p:tgtEl>
                                        <p:attrNameLst>
                                          <p:attrName>ppt_y</p:attrName>
                                        </p:attrNameLst>
                                      </p:cBhvr>
                                      <p:tavLst>
                                        <p:tav tm="0">
                                          <p:val>
                                            <p:strVal val="#ppt_y+0.03"/>
                                          </p:val>
                                        </p:tav>
                                        <p:tav tm="100000">
                                          <p:val>
                                            <p:strVal val="#ppt_y"/>
                                          </p:val>
                                        </p:tav>
                                      </p:tavLst>
                                    </p:anim>
                                  </p:childTnLst>
                                </p:cTn>
                              </p:par>
                              <p:par>
                                <p:cTn id="273" presetID="42" presetClass="entr" presetSubtype="0" fill="hold" grpId="0" nodeType="withEffect">
                                  <p:stCondLst>
                                    <p:cond delay="0"/>
                                  </p:stCondLst>
                                  <p:childTnLst>
                                    <p:set>
                                      <p:cBhvr>
                                        <p:cTn id="274" dur="1" fill="hold">
                                          <p:stCondLst>
                                            <p:cond delay="0"/>
                                          </p:stCondLst>
                                        </p:cTn>
                                        <p:tgtEl>
                                          <p:spTgt spid="79"/>
                                        </p:tgtEl>
                                        <p:attrNameLst>
                                          <p:attrName>style.visibility</p:attrName>
                                        </p:attrNameLst>
                                      </p:cBhvr>
                                      <p:to>
                                        <p:strVal val="visible"/>
                                      </p:to>
                                    </p:set>
                                    <p:animEffect transition="in" filter="fade">
                                      <p:cBhvr>
                                        <p:cTn id="275" dur="400"/>
                                        <p:tgtEl>
                                          <p:spTgt spid="79"/>
                                        </p:tgtEl>
                                      </p:cBhvr>
                                    </p:animEffect>
                                    <p:anim calcmode="lin" valueType="num">
                                      <p:cBhvr>
                                        <p:cTn id="276" dur="400" decel="100000" fill="hold"/>
                                        <p:tgtEl>
                                          <p:spTgt spid="79"/>
                                        </p:tgtEl>
                                        <p:attrNameLst>
                                          <p:attrName>ppt_x</p:attrName>
                                        </p:attrNameLst>
                                      </p:cBhvr>
                                      <p:tavLst>
                                        <p:tav tm="0">
                                          <p:val>
                                            <p:strVal val="#ppt_x"/>
                                          </p:val>
                                        </p:tav>
                                        <p:tav tm="100000">
                                          <p:val>
                                            <p:strVal val="#ppt_x"/>
                                          </p:val>
                                        </p:tav>
                                      </p:tavLst>
                                    </p:anim>
                                    <p:anim calcmode="lin" valueType="num">
                                      <p:cBhvr>
                                        <p:cTn id="277" dur="400" decel="100000" fill="hold"/>
                                        <p:tgtEl>
                                          <p:spTgt spid="79"/>
                                        </p:tgtEl>
                                        <p:attrNameLst>
                                          <p:attrName>ppt_y</p:attrName>
                                        </p:attrNameLst>
                                      </p:cBhvr>
                                      <p:tavLst>
                                        <p:tav tm="0">
                                          <p:val>
                                            <p:strVal val="#ppt_y+0.03"/>
                                          </p:val>
                                        </p:tav>
                                        <p:tav tm="100000">
                                          <p:val>
                                            <p:strVal val="#ppt_y"/>
                                          </p:val>
                                        </p:tav>
                                      </p:tavLst>
                                    </p:anim>
                                  </p:childTnLst>
                                </p:cTn>
                              </p:par>
                              <p:par>
                                <p:cTn id="278" presetID="42" presetClass="entr" presetSubtype="0" fill="hold" grpId="0" nodeType="withEffect">
                                  <p:stCondLst>
                                    <p:cond delay="0"/>
                                  </p:stCondLst>
                                  <p:childTnLst>
                                    <p:set>
                                      <p:cBhvr>
                                        <p:cTn id="279" dur="1" fill="hold">
                                          <p:stCondLst>
                                            <p:cond delay="0"/>
                                          </p:stCondLst>
                                        </p:cTn>
                                        <p:tgtEl>
                                          <p:spTgt spid="80"/>
                                        </p:tgtEl>
                                        <p:attrNameLst>
                                          <p:attrName>style.visibility</p:attrName>
                                        </p:attrNameLst>
                                      </p:cBhvr>
                                      <p:to>
                                        <p:strVal val="visible"/>
                                      </p:to>
                                    </p:set>
                                    <p:animEffect transition="in" filter="fade">
                                      <p:cBhvr>
                                        <p:cTn id="280" dur="400"/>
                                        <p:tgtEl>
                                          <p:spTgt spid="80"/>
                                        </p:tgtEl>
                                      </p:cBhvr>
                                    </p:animEffect>
                                    <p:anim calcmode="lin" valueType="num">
                                      <p:cBhvr>
                                        <p:cTn id="281" dur="400" decel="100000" fill="hold"/>
                                        <p:tgtEl>
                                          <p:spTgt spid="80"/>
                                        </p:tgtEl>
                                        <p:attrNameLst>
                                          <p:attrName>ppt_x</p:attrName>
                                        </p:attrNameLst>
                                      </p:cBhvr>
                                      <p:tavLst>
                                        <p:tav tm="0">
                                          <p:val>
                                            <p:strVal val="#ppt_x"/>
                                          </p:val>
                                        </p:tav>
                                        <p:tav tm="100000">
                                          <p:val>
                                            <p:strVal val="#ppt_x"/>
                                          </p:val>
                                        </p:tav>
                                      </p:tavLst>
                                    </p:anim>
                                    <p:anim calcmode="lin" valueType="num">
                                      <p:cBhvr>
                                        <p:cTn id="282" dur="400" decel="100000" fill="hold"/>
                                        <p:tgtEl>
                                          <p:spTgt spid="80"/>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39" grpId="0" animBg="1"/>
      <p:bldP spid="40" grpId="0" animBg="1"/>
      <p:bldP spid="41" grpId="0" animBg="1"/>
      <p:bldP spid="42" grpId="0" animBg="1"/>
      <p:bldP spid="43" grpId="0" animBg="1"/>
      <p:bldP spid="44" grpId="0" animBg="1"/>
      <p:bldP spid="45" grpId="0" animBg="1"/>
      <p:bldP spid="26" grpId="0" animBg="1"/>
      <p:bldP spid="27" grpId="0" animBg="1"/>
      <p:bldP spid="46" grpId="0" animBg="1"/>
      <p:bldP spid="47" grpId="0" animBg="1"/>
      <p:bldP spid="48" grpId="0" animBg="1"/>
      <p:bldP spid="49" grpId="0" animBg="1"/>
      <p:bldP spid="50" grpId="0" animBg="1"/>
      <p:bldP spid="51" grpId="0" animBg="1"/>
      <p:bldP spid="52" grpId="0" animBg="1"/>
      <p:bldP spid="32" grpId="0" animBg="1"/>
      <p:bldP spid="33" grpId="0" animBg="1"/>
      <p:bldP spid="53" grpId="0" animBg="1"/>
      <p:bldP spid="54" grpId="0" animBg="1"/>
      <p:bldP spid="55" grpId="0" animBg="1"/>
      <p:bldP spid="56" grpId="0" animBg="1"/>
      <p:bldP spid="57" grpId="0" animBg="1"/>
      <p:bldP spid="58" grpId="0" animBg="1"/>
      <p:bldP spid="59" grpId="0" animBg="1"/>
      <p:bldP spid="28" grpId="0" animBg="1"/>
      <p:bldP spid="29" grpId="0" animBg="1"/>
      <p:bldP spid="60" grpId="0" animBg="1"/>
      <p:bldP spid="61" grpId="0" animBg="1"/>
      <p:bldP spid="62" grpId="0" animBg="1"/>
      <p:bldP spid="63" grpId="0" animBg="1"/>
      <p:bldP spid="64" grpId="0" animBg="1"/>
      <p:bldP spid="65" grpId="0" animBg="1"/>
      <p:bldP spid="66" grpId="0" animBg="1"/>
      <p:bldP spid="34" grpId="0" animBg="1"/>
      <p:bldP spid="35" grpId="0" animBg="1"/>
      <p:bldP spid="67" grpId="0" animBg="1"/>
      <p:bldP spid="68" grpId="0" animBg="1"/>
      <p:bldP spid="69" grpId="0" animBg="1"/>
      <p:bldP spid="70" grpId="0" animBg="1"/>
      <p:bldP spid="71" grpId="0" animBg="1"/>
      <p:bldP spid="72" grpId="0" animBg="1"/>
      <p:bldP spid="73" grpId="0" animBg="1"/>
      <p:bldP spid="30" grpId="0" animBg="1"/>
      <p:bldP spid="31" grpId="0" animBg="1"/>
      <p:bldP spid="74" grpId="0" animBg="1"/>
      <p:bldP spid="75" grpId="0" animBg="1"/>
      <p:bldP spid="76" grpId="0" animBg="1"/>
      <p:bldP spid="77" grpId="0" animBg="1"/>
      <p:bldP spid="78" grpId="0" animBg="1"/>
      <p:bldP spid="79" grpId="0" animBg="1"/>
      <p:bldP spid="8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Requisitos principales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15</a:t>
            </a:r>
            <a:endParaRPr lang="en-US" sz="900" dirty="0"/>
          </a:p>
        </p:txBody>
      </p:sp>
      <p:sp>
        <p:nvSpPr>
          <p:cNvPr id="6" name="Shape 3"/>
          <p:cNvSpPr/>
          <p:nvPr/>
        </p:nvSpPr>
        <p:spPr>
          <a:xfrm>
            <a:off x="548640" y="1371600"/>
            <a:ext cx="6583680" cy="4663440"/>
          </a:xfrm>
          <a:prstGeom prst="roundRect">
            <a:avLst>
              <a:gd name="adj" fmla="val 1569"/>
            </a:avLst>
          </a:prstGeom>
          <a:solidFill>
            <a:srgbClr val="F5F5F7"/>
          </a:solidFill>
          <a:ln/>
        </p:spPr>
      </p:sp>
      <p:sp>
        <p:nvSpPr>
          <p:cNvPr id="7" name="Text 4"/>
          <p:cNvSpPr txBox="1"/>
          <p:nvPr/>
        </p:nvSpPr>
        <p:spPr>
          <a:xfrm>
            <a:off x="822960" y="1536192"/>
            <a:ext cx="54864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FUNCIONALES · qué hace el sistema</a:t>
            </a:r>
            <a:endParaRPr lang="en-US" sz="1050" dirty="0"/>
          </a:p>
        </p:txBody>
      </p:sp>
      <p:sp>
        <p:nvSpPr>
          <p:cNvPr id="8" name="Shape 5"/>
          <p:cNvSpPr/>
          <p:nvPr/>
        </p:nvSpPr>
        <p:spPr>
          <a:xfrm>
            <a:off x="822960" y="1947672"/>
            <a:ext cx="1048817" cy="256032"/>
          </a:xfrm>
          <a:prstGeom prst="roundRect">
            <a:avLst>
              <a:gd name="adj" fmla="val 50000"/>
            </a:avLst>
          </a:prstGeom>
          <a:solidFill>
            <a:srgbClr val="FFFFFF"/>
          </a:solidFill>
          <a:ln w="9525">
            <a:solidFill>
              <a:srgbClr val="0B0B0D"/>
            </a:solidFill>
            <a:prstDash val="solid"/>
          </a:ln>
        </p:spPr>
      </p:sp>
      <p:sp>
        <p:nvSpPr>
          <p:cNvPr id="9" name="Text 6"/>
          <p:cNvSpPr txBox="1"/>
          <p:nvPr/>
        </p:nvSpPr>
        <p:spPr>
          <a:xfrm>
            <a:off x="822960" y="1947672"/>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0" name="Text 7"/>
          <p:cNvSpPr txBox="1"/>
          <p:nvPr/>
        </p:nvSpPr>
        <p:spPr>
          <a:xfrm>
            <a:off x="2148840" y="1901952"/>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Explorar el catálogo por categorías, con contador y filtros</a:t>
            </a:r>
            <a:endParaRPr lang="en-US" sz="1200" dirty="0"/>
          </a:p>
        </p:txBody>
      </p:sp>
      <p:sp>
        <p:nvSpPr>
          <p:cNvPr id="11" name="Text 8"/>
          <p:cNvSpPr txBox="1"/>
          <p:nvPr/>
        </p:nvSpPr>
        <p:spPr>
          <a:xfrm>
            <a:off x="5897880" y="1901952"/>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RF-001, RF-003</a:t>
            </a:r>
            <a:endParaRPr lang="en-US" sz="900" dirty="0"/>
          </a:p>
        </p:txBody>
      </p:sp>
      <p:sp>
        <p:nvSpPr>
          <p:cNvPr id="12" name="Shape 9"/>
          <p:cNvSpPr/>
          <p:nvPr/>
        </p:nvSpPr>
        <p:spPr>
          <a:xfrm>
            <a:off x="822960" y="2523744"/>
            <a:ext cx="1048817" cy="256032"/>
          </a:xfrm>
          <a:prstGeom prst="roundRect">
            <a:avLst>
              <a:gd name="adj" fmla="val 50000"/>
            </a:avLst>
          </a:prstGeom>
          <a:solidFill>
            <a:srgbClr val="FFFFFF"/>
          </a:solidFill>
          <a:ln w="9525">
            <a:solidFill>
              <a:srgbClr val="0B0B0D"/>
            </a:solidFill>
            <a:prstDash val="solid"/>
          </a:ln>
        </p:spPr>
      </p:sp>
      <p:sp>
        <p:nvSpPr>
          <p:cNvPr id="13" name="Text 10"/>
          <p:cNvSpPr txBox="1"/>
          <p:nvPr/>
        </p:nvSpPr>
        <p:spPr>
          <a:xfrm>
            <a:off x="822960" y="2523744"/>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4" name="Text 11"/>
          <p:cNvSpPr txBox="1"/>
          <p:nvPr/>
        </p:nvSpPr>
        <p:spPr>
          <a:xfrm>
            <a:off x="2148840" y="2478024"/>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Buscar productos con sugerencias</a:t>
            </a:r>
            <a:endParaRPr lang="en-US" sz="1200" dirty="0"/>
          </a:p>
        </p:txBody>
      </p:sp>
      <p:sp>
        <p:nvSpPr>
          <p:cNvPr id="15" name="Text 12"/>
          <p:cNvSpPr txBox="1"/>
          <p:nvPr/>
        </p:nvSpPr>
        <p:spPr>
          <a:xfrm>
            <a:off x="5897880" y="2478024"/>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RF-002</a:t>
            </a:r>
            <a:endParaRPr lang="en-US" sz="900" dirty="0"/>
          </a:p>
        </p:txBody>
      </p:sp>
      <p:sp>
        <p:nvSpPr>
          <p:cNvPr id="16" name="Shape 13"/>
          <p:cNvSpPr/>
          <p:nvPr/>
        </p:nvSpPr>
        <p:spPr>
          <a:xfrm>
            <a:off x="822960" y="3099816"/>
            <a:ext cx="1048817" cy="256032"/>
          </a:xfrm>
          <a:prstGeom prst="roundRect">
            <a:avLst>
              <a:gd name="adj" fmla="val 50000"/>
            </a:avLst>
          </a:prstGeom>
          <a:solidFill>
            <a:srgbClr val="FFFFFF"/>
          </a:solidFill>
          <a:ln w="9525">
            <a:solidFill>
              <a:srgbClr val="0B0B0D"/>
            </a:solidFill>
            <a:prstDash val="solid"/>
          </a:ln>
        </p:spPr>
      </p:sp>
      <p:sp>
        <p:nvSpPr>
          <p:cNvPr id="17" name="Text 14"/>
          <p:cNvSpPr txBox="1"/>
          <p:nvPr/>
        </p:nvSpPr>
        <p:spPr>
          <a:xfrm>
            <a:off x="822960" y="3099816"/>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8" name="Text 15"/>
          <p:cNvSpPr txBox="1"/>
          <p:nvPr/>
        </p:nvSpPr>
        <p:spPr>
          <a:xfrm>
            <a:off x="2148840" y="3054096"/>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Ver la ficha con especificaciones en lista</a:t>
            </a:r>
            <a:endParaRPr lang="en-US" sz="1200" dirty="0"/>
          </a:p>
        </p:txBody>
      </p:sp>
      <p:sp>
        <p:nvSpPr>
          <p:cNvPr id="19" name="Text 16"/>
          <p:cNvSpPr txBox="1"/>
          <p:nvPr/>
        </p:nvSpPr>
        <p:spPr>
          <a:xfrm>
            <a:off x="5897880" y="3054096"/>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RF-004</a:t>
            </a:r>
            <a:endParaRPr lang="en-US" sz="900" dirty="0"/>
          </a:p>
        </p:txBody>
      </p:sp>
      <p:sp>
        <p:nvSpPr>
          <p:cNvPr id="20" name="Shape 17"/>
          <p:cNvSpPr/>
          <p:nvPr/>
        </p:nvSpPr>
        <p:spPr>
          <a:xfrm>
            <a:off x="822960" y="3675888"/>
            <a:ext cx="1048817" cy="256032"/>
          </a:xfrm>
          <a:prstGeom prst="roundRect">
            <a:avLst>
              <a:gd name="adj" fmla="val 50000"/>
            </a:avLst>
          </a:prstGeom>
          <a:solidFill>
            <a:srgbClr val="FFFFFF"/>
          </a:solidFill>
          <a:ln w="9525">
            <a:solidFill>
              <a:srgbClr val="0B0B0D"/>
            </a:solidFill>
            <a:prstDash val="solid"/>
          </a:ln>
        </p:spPr>
      </p:sp>
      <p:sp>
        <p:nvSpPr>
          <p:cNvPr id="21" name="Text 18"/>
          <p:cNvSpPr txBox="1"/>
          <p:nvPr/>
        </p:nvSpPr>
        <p:spPr>
          <a:xfrm>
            <a:off x="822960" y="3675888"/>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22" name="Text 19"/>
          <p:cNvSpPr txBox="1"/>
          <p:nvPr/>
        </p:nvSpPr>
        <p:spPr>
          <a:xfrm>
            <a:off x="2148840" y="3630168"/>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Comparar hasta 3 modelos</a:t>
            </a:r>
            <a:endParaRPr lang="en-US" sz="1200" dirty="0"/>
          </a:p>
        </p:txBody>
      </p:sp>
      <p:sp>
        <p:nvSpPr>
          <p:cNvPr id="23" name="Text 20"/>
          <p:cNvSpPr txBox="1"/>
          <p:nvPr/>
        </p:nvSpPr>
        <p:spPr>
          <a:xfrm>
            <a:off x="5897880" y="3630168"/>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RF-007, RF-008</a:t>
            </a:r>
            <a:endParaRPr lang="en-US" sz="900" dirty="0"/>
          </a:p>
        </p:txBody>
      </p:sp>
      <p:sp>
        <p:nvSpPr>
          <p:cNvPr id="24" name="Shape 21"/>
          <p:cNvSpPr/>
          <p:nvPr/>
        </p:nvSpPr>
        <p:spPr>
          <a:xfrm>
            <a:off x="822960" y="4251960"/>
            <a:ext cx="1048817" cy="256032"/>
          </a:xfrm>
          <a:prstGeom prst="roundRect">
            <a:avLst>
              <a:gd name="adj" fmla="val 50000"/>
            </a:avLst>
          </a:prstGeom>
          <a:solidFill>
            <a:srgbClr val="FFFFFF"/>
          </a:solidFill>
          <a:ln w="9525">
            <a:solidFill>
              <a:srgbClr val="0B0B0D"/>
            </a:solidFill>
            <a:prstDash val="solid"/>
          </a:ln>
        </p:spPr>
      </p:sp>
      <p:sp>
        <p:nvSpPr>
          <p:cNvPr id="25" name="Text 22"/>
          <p:cNvSpPr txBox="1"/>
          <p:nvPr/>
        </p:nvSpPr>
        <p:spPr>
          <a:xfrm>
            <a:off x="822960" y="4251960"/>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26" name="Text 23"/>
          <p:cNvSpPr txBox="1"/>
          <p:nvPr/>
        </p:nvSpPr>
        <p:spPr>
          <a:xfrm>
            <a:off x="2148840" y="4206240"/>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Cotizar por WhatsApp con el modelo en el mensaje</a:t>
            </a:r>
            <a:endParaRPr lang="en-US" sz="1200" dirty="0"/>
          </a:p>
        </p:txBody>
      </p:sp>
      <p:sp>
        <p:nvSpPr>
          <p:cNvPr id="27" name="Text 24"/>
          <p:cNvSpPr txBox="1"/>
          <p:nvPr/>
        </p:nvSpPr>
        <p:spPr>
          <a:xfrm>
            <a:off x="5897880" y="4206240"/>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RF-012</a:t>
            </a:r>
            <a:endParaRPr lang="en-US" sz="900" dirty="0"/>
          </a:p>
        </p:txBody>
      </p:sp>
      <p:sp>
        <p:nvSpPr>
          <p:cNvPr id="28" name="Shape 25"/>
          <p:cNvSpPr/>
          <p:nvPr/>
        </p:nvSpPr>
        <p:spPr>
          <a:xfrm>
            <a:off x="822960" y="4828032"/>
            <a:ext cx="1048817" cy="256032"/>
          </a:xfrm>
          <a:prstGeom prst="roundRect">
            <a:avLst>
              <a:gd name="adj" fmla="val 50000"/>
            </a:avLst>
          </a:prstGeom>
          <a:solidFill>
            <a:srgbClr val="FFFFFF"/>
          </a:solidFill>
          <a:ln w="9525">
            <a:solidFill>
              <a:srgbClr val="0B0B0D"/>
            </a:solidFill>
            <a:prstDash val="solid"/>
          </a:ln>
        </p:spPr>
      </p:sp>
      <p:sp>
        <p:nvSpPr>
          <p:cNvPr id="29" name="Text 26"/>
          <p:cNvSpPr txBox="1"/>
          <p:nvPr/>
        </p:nvSpPr>
        <p:spPr>
          <a:xfrm>
            <a:off x="822960" y="4828032"/>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30" name="Text 27"/>
          <p:cNvSpPr txBox="1"/>
          <p:nvPr/>
        </p:nvSpPr>
        <p:spPr>
          <a:xfrm>
            <a:off x="2148840" y="4782312"/>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Consultar dónde comprar y solicitar ser distribuidor</a:t>
            </a:r>
            <a:endParaRPr lang="en-US" sz="1200" dirty="0"/>
          </a:p>
        </p:txBody>
      </p:sp>
      <p:sp>
        <p:nvSpPr>
          <p:cNvPr id="31" name="Text 28"/>
          <p:cNvSpPr txBox="1"/>
          <p:nvPr/>
        </p:nvSpPr>
        <p:spPr>
          <a:xfrm>
            <a:off x="5897880" y="4782312"/>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RF-015</a:t>
            </a:r>
            <a:endParaRPr lang="en-US" sz="900" dirty="0"/>
          </a:p>
        </p:txBody>
      </p:sp>
      <p:sp>
        <p:nvSpPr>
          <p:cNvPr id="32" name="Shape 29"/>
          <p:cNvSpPr/>
          <p:nvPr/>
        </p:nvSpPr>
        <p:spPr>
          <a:xfrm>
            <a:off x="822960" y="5404104"/>
            <a:ext cx="850621" cy="256032"/>
          </a:xfrm>
          <a:prstGeom prst="roundRect">
            <a:avLst>
              <a:gd name="adj" fmla="val 50000"/>
            </a:avLst>
          </a:prstGeom>
          <a:solidFill>
            <a:srgbClr val="6D28D9"/>
          </a:solidFill>
          <a:ln w="9525">
            <a:solidFill>
              <a:srgbClr val="6D28D9"/>
            </a:solidFill>
            <a:prstDash val="solid"/>
          </a:ln>
        </p:spPr>
      </p:sp>
      <p:sp>
        <p:nvSpPr>
          <p:cNvPr id="33" name="Text 30"/>
          <p:cNvSpPr txBox="1"/>
          <p:nvPr/>
        </p:nvSpPr>
        <p:spPr>
          <a:xfrm>
            <a:off x="822960" y="5404104"/>
            <a:ext cx="85062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Propuesto</a:t>
            </a:r>
            <a:endParaRPr lang="en-US" sz="850" dirty="0"/>
          </a:p>
        </p:txBody>
      </p:sp>
      <p:sp>
        <p:nvSpPr>
          <p:cNvPr id="34" name="Text 31"/>
          <p:cNvSpPr txBox="1"/>
          <p:nvPr/>
        </p:nvSpPr>
        <p:spPr>
          <a:xfrm>
            <a:off x="2148840" y="5358384"/>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Registrar el inicio de consulta, directorio y reportes</a:t>
            </a:r>
            <a:endParaRPr lang="en-US" sz="1200" dirty="0"/>
          </a:p>
        </p:txBody>
      </p:sp>
      <p:sp>
        <p:nvSpPr>
          <p:cNvPr id="35" name="Text 32"/>
          <p:cNvSpPr txBox="1"/>
          <p:nvPr/>
        </p:nvSpPr>
        <p:spPr>
          <a:xfrm>
            <a:off x="5897880" y="5358384"/>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RF-014, RF-011, RF-025</a:t>
            </a:r>
            <a:endParaRPr lang="en-US" sz="900" dirty="0"/>
          </a:p>
        </p:txBody>
      </p:sp>
      <p:sp>
        <p:nvSpPr>
          <p:cNvPr id="36" name="Shape 33"/>
          <p:cNvSpPr/>
          <p:nvPr/>
        </p:nvSpPr>
        <p:spPr>
          <a:xfrm>
            <a:off x="7360920" y="1371600"/>
            <a:ext cx="4282135" cy="4663440"/>
          </a:xfrm>
          <a:prstGeom prst="roundRect">
            <a:avLst>
              <a:gd name="adj" fmla="val 1708"/>
            </a:avLst>
          </a:prstGeom>
          <a:solidFill>
            <a:srgbClr val="0B0B0D"/>
          </a:solidFill>
          <a:ln/>
        </p:spPr>
      </p:sp>
      <p:sp>
        <p:nvSpPr>
          <p:cNvPr id="37" name="Text 34"/>
          <p:cNvSpPr txBox="1"/>
          <p:nvPr/>
        </p:nvSpPr>
        <p:spPr>
          <a:xfrm>
            <a:off x="7589520" y="1536192"/>
            <a:ext cx="4114800" cy="274320"/>
          </a:xfrm>
          <a:prstGeom prst="rect">
            <a:avLst/>
          </a:prstGeom>
          <a:noFill/>
          <a:ln/>
        </p:spPr>
        <p:txBody>
          <a:bodyPr wrap="square" lIns="0" tIns="0" rIns="0" bIns="0" rtlCol="0" anchor="t"/>
          <a:lstStyle/>
          <a:p>
            <a:pPr indent="0" marL="0">
              <a:buNone/>
            </a:pPr>
            <a:r>
              <a:rPr lang="en-US" sz="1050" b="1" spc="150" kern="0" dirty="0">
                <a:solidFill>
                  <a:srgbClr val="A78BFA"/>
                </a:solidFill>
                <a:latin typeface="Arial" pitchFamily="34" charset="0"/>
                <a:ea typeface="Arial" pitchFamily="34" charset="-122"/>
                <a:cs typeface="Arial" pitchFamily="34" charset="-120"/>
              </a:rPr>
              <a:t>NO FUNCIONALES · con qué calidad</a:t>
            </a:r>
            <a:endParaRPr lang="en-US" sz="1050" dirty="0"/>
          </a:p>
        </p:txBody>
      </p:sp>
      <p:sp>
        <p:nvSpPr>
          <p:cNvPr id="38" name="Text 35"/>
          <p:cNvSpPr txBox="1"/>
          <p:nvPr/>
        </p:nvSpPr>
        <p:spPr>
          <a:xfrm>
            <a:off x="7589520" y="1901952"/>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Adaptabilidad</a:t>
            </a:r>
            <a:endParaRPr lang="en-US" sz="1350" dirty="0"/>
          </a:p>
        </p:txBody>
      </p:sp>
      <p:sp>
        <p:nvSpPr>
          <p:cNvPr id="39" name="Text 36"/>
          <p:cNvSpPr txBox="1"/>
          <p:nvPr/>
        </p:nvSpPr>
        <p:spPr>
          <a:xfrm>
            <a:off x="10332720" y="1901952"/>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RNF-002</a:t>
            </a:r>
            <a:endParaRPr lang="en-US" sz="900" dirty="0"/>
          </a:p>
        </p:txBody>
      </p:sp>
      <p:sp>
        <p:nvSpPr>
          <p:cNvPr id="40" name="Text 37"/>
          <p:cNvSpPr txBox="1"/>
          <p:nvPr/>
        </p:nvSpPr>
        <p:spPr>
          <a:xfrm>
            <a:off x="7589520" y="2194560"/>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Usable entre 360 y 1440 px de ancho</a:t>
            </a:r>
            <a:endParaRPr lang="en-US" sz="1150" dirty="0"/>
          </a:p>
        </p:txBody>
      </p:sp>
      <p:sp>
        <p:nvSpPr>
          <p:cNvPr id="41" name="Text 38"/>
          <p:cNvSpPr txBox="1"/>
          <p:nvPr/>
        </p:nvSpPr>
        <p:spPr>
          <a:xfrm>
            <a:off x="7589520" y="2706624"/>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Usabilidad</a:t>
            </a:r>
            <a:endParaRPr lang="en-US" sz="1350" dirty="0"/>
          </a:p>
        </p:txBody>
      </p:sp>
      <p:sp>
        <p:nvSpPr>
          <p:cNvPr id="42" name="Text 39"/>
          <p:cNvSpPr txBox="1"/>
          <p:nvPr/>
        </p:nvSpPr>
        <p:spPr>
          <a:xfrm>
            <a:off x="10332720" y="2706624"/>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RNF-001</a:t>
            </a:r>
            <a:endParaRPr lang="en-US" sz="900" dirty="0"/>
          </a:p>
        </p:txBody>
      </p:sp>
      <p:sp>
        <p:nvSpPr>
          <p:cNvPr id="43" name="Text 40"/>
          <p:cNvSpPr txBox="1"/>
          <p:nvPr/>
        </p:nvSpPr>
        <p:spPr>
          <a:xfrm>
            <a:off x="7589520" y="2999232"/>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«Cotizar» visible desde cualquier ficha</a:t>
            </a:r>
            <a:endParaRPr lang="en-US" sz="1150" dirty="0"/>
          </a:p>
        </p:txBody>
      </p:sp>
      <p:sp>
        <p:nvSpPr>
          <p:cNvPr id="44" name="Text 41"/>
          <p:cNvSpPr txBox="1"/>
          <p:nvPr/>
        </p:nvSpPr>
        <p:spPr>
          <a:xfrm>
            <a:off x="7589520" y="3511296"/>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Eficiencia</a:t>
            </a:r>
            <a:endParaRPr lang="en-US" sz="1350" dirty="0"/>
          </a:p>
        </p:txBody>
      </p:sp>
      <p:sp>
        <p:nvSpPr>
          <p:cNvPr id="45" name="Text 42"/>
          <p:cNvSpPr txBox="1"/>
          <p:nvPr/>
        </p:nvSpPr>
        <p:spPr>
          <a:xfrm>
            <a:off x="10332720" y="3511296"/>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RNF-003</a:t>
            </a:r>
            <a:endParaRPr lang="en-US" sz="900" dirty="0"/>
          </a:p>
        </p:txBody>
      </p:sp>
      <p:sp>
        <p:nvSpPr>
          <p:cNvPr id="46" name="Text 43"/>
          <p:cNvSpPr txBox="1"/>
          <p:nvPr/>
        </p:nvSpPr>
        <p:spPr>
          <a:xfrm>
            <a:off x="7589520" y="3803904"/>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Páginas livianas (ficha: 5,28 MB → 0,38 MB)</a:t>
            </a:r>
            <a:endParaRPr lang="en-US" sz="1150" dirty="0"/>
          </a:p>
        </p:txBody>
      </p:sp>
      <p:sp>
        <p:nvSpPr>
          <p:cNvPr id="47" name="Text 44"/>
          <p:cNvSpPr txBox="1"/>
          <p:nvPr/>
        </p:nvSpPr>
        <p:spPr>
          <a:xfrm>
            <a:off x="7589520" y="4315968"/>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Idioma</a:t>
            </a:r>
            <a:endParaRPr lang="en-US" sz="1350" dirty="0"/>
          </a:p>
        </p:txBody>
      </p:sp>
      <p:sp>
        <p:nvSpPr>
          <p:cNvPr id="48" name="Text 45"/>
          <p:cNvSpPr txBox="1"/>
          <p:nvPr/>
        </p:nvSpPr>
        <p:spPr>
          <a:xfrm>
            <a:off x="10332720" y="4315968"/>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RNF-012</a:t>
            </a:r>
            <a:endParaRPr lang="en-US" sz="900" dirty="0"/>
          </a:p>
        </p:txBody>
      </p:sp>
      <p:sp>
        <p:nvSpPr>
          <p:cNvPr id="49" name="Text 46"/>
          <p:cNvSpPr txBox="1"/>
          <p:nvPr/>
        </p:nvSpPr>
        <p:spPr>
          <a:xfrm>
            <a:off x="7589520" y="4608576"/>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Interfaz pública íntegramente en español</a:t>
            </a:r>
            <a:endParaRPr lang="en-US" sz="1150" dirty="0"/>
          </a:p>
        </p:txBody>
      </p:sp>
      <p:sp>
        <p:nvSpPr>
          <p:cNvPr id="50" name="Text 47"/>
          <p:cNvSpPr txBox="1"/>
          <p:nvPr/>
        </p:nvSpPr>
        <p:spPr>
          <a:xfrm>
            <a:off x="7589520" y="5120640"/>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Protección de datos</a:t>
            </a:r>
            <a:endParaRPr lang="en-US" sz="1350" dirty="0"/>
          </a:p>
        </p:txBody>
      </p:sp>
      <p:sp>
        <p:nvSpPr>
          <p:cNvPr id="51" name="Text 48"/>
          <p:cNvSpPr txBox="1"/>
          <p:nvPr/>
        </p:nvSpPr>
        <p:spPr>
          <a:xfrm>
            <a:off x="10332720" y="5120640"/>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RNF-005</a:t>
            </a:r>
            <a:endParaRPr lang="en-US" sz="900" dirty="0"/>
          </a:p>
        </p:txBody>
      </p:sp>
      <p:sp>
        <p:nvSpPr>
          <p:cNvPr id="52" name="Text 49"/>
          <p:cNvSpPr txBox="1"/>
          <p:nvPr/>
        </p:nvSpPr>
        <p:spPr>
          <a:xfrm>
            <a:off x="7589520" y="5413248"/>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Formularios con consentimiento y política de privacidad</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casos de uso</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16</a:t>
            </a:r>
            <a:endParaRPr lang="en-US" sz="900" dirty="0"/>
          </a:p>
        </p:txBody>
      </p:sp>
      <p:pic>
        <p:nvPicPr>
          <p:cNvPr id="6" name="!!diag#1" descr="../DIAGRAMAS_UML/png/V4_01_casos_de_uso.png">    </p:cNvPr>
          <p:cNvPicPr>
            <a:picLocks noChangeAspect="1"/>
          </p:cNvPicPr>
          <p:nvPr/>
        </p:nvPicPr>
        <p:blipFill>
          <a:blip r:embed="rId1"/>
          <a:stretch>
            <a:fillRect/>
          </a:stretch>
        </p:blipFill>
        <p:spPr>
          <a:xfrm>
            <a:off x="1170763" y="1280160"/>
            <a:ext cx="7396834" cy="5166360"/>
          </a:xfrm>
          <a:prstGeom prst="rect">
            <a:avLst/>
          </a:prstGeom>
        </p:spPr>
      </p:pic>
      <p:sp>
        <p:nvSpPr>
          <p:cNvPr id="7" name="Shape 3"/>
          <p:cNvSpPr/>
          <p:nvPr/>
        </p:nvSpPr>
        <p:spPr>
          <a:xfrm>
            <a:off x="9418320" y="1371600"/>
            <a:ext cx="2224735" cy="4983480"/>
          </a:xfrm>
          <a:prstGeom prst="roundRect">
            <a:avLst>
              <a:gd name="adj" fmla="val 3288"/>
            </a:avLst>
          </a:prstGeom>
          <a:solidFill>
            <a:srgbClr val="F5F5F7"/>
          </a:solidFill>
          <a:ln/>
        </p:spPr>
      </p:sp>
      <p:sp>
        <p:nvSpPr>
          <p:cNvPr id="8" name="Text 4"/>
          <p:cNvSpPr txBox="1"/>
          <p:nvPr/>
        </p:nvSpPr>
        <p:spPr>
          <a:xfrm>
            <a:off x="9646920" y="1600200"/>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646920" y="1856232"/>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Quién usa el sistema y qué puede hacer con él.</a:t>
            </a:r>
            <a:endParaRPr lang="en-US" sz="1200" dirty="0"/>
          </a:p>
        </p:txBody>
      </p:sp>
      <p:sp>
        <p:nvSpPr>
          <p:cNvPr id="10" name="Text 6"/>
          <p:cNvSpPr txBox="1"/>
          <p:nvPr/>
        </p:nvSpPr>
        <p:spPr>
          <a:xfrm>
            <a:off x="9646920" y="2573122"/>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646920" y="2829154"/>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Actores a los lados; óvalos = casos de uso; morado = propuesto.</a:t>
            </a:r>
            <a:endParaRPr lang="en-US" sz="1200" dirty="0"/>
          </a:p>
        </p:txBody>
      </p:sp>
      <p:sp>
        <p:nvSpPr>
          <p:cNvPr id="12" name="Text 8"/>
          <p:cNvSpPr txBox="1"/>
          <p:nvPr/>
        </p:nvSpPr>
        <p:spPr>
          <a:xfrm>
            <a:off x="9646920" y="3747211"/>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646920" y="4003243"/>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Visitante, cliente, distribuidor, gestor y WhatsApp como sistema externo.</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actividades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17</a:t>
            </a:r>
            <a:endParaRPr lang="en-US" sz="900" dirty="0"/>
          </a:p>
        </p:txBody>
      </p:sp>
      <p:pic>
        <p:nvPicPr>
          <p:cNvPr id="6" name="!!diag#1" descr="../DIAGRAMAS_UML/png/V4_02_actividades.png">    </p:cNvPr>
          <p:cNvPicPr>
            <a:picLocks noChangeAspect="1"/>
          </p:cNvPicPr>
          <p:nvPr/>
        </p:nvPicPr>
        <p:blipFill>
          <a:blip r:embed="rId1"/>
          <a:stretch>
            <a:fillRect/>
          </a:stretch>
        </p:blipFill>
        <p:spPr>
          <a:xfrm>
            <a:off x="1165778" y="1280160"/>
            <a:ext cx="5532285" cy="5166360"/>
          </a:xfrm>
          <a:prstGeom prst="rect">
            <a:avLst/>
          </a:prstGeom>
        </p:spPr>
      </p:pic>
      <p:sp>
        <p:nvSpPr>
          <p:cNvPr id="7" name="Shape 3"/>
          <p:cNvSpPr/>
          <p:nvPr/>
        </p:nvSpPr>
        <p:spPr>
          <a:xfrm>
            <a:off x="7543800" y="1371600"/>
            <a:ext cx="4099255" cy="4983480"/>
          </a:xfrm>
          <a:prstGeom prst="roundRect">
            <a:avLst>
              <a:gd name="adj" fmla="val 1785"/>
            </a:avLst>
          </a:prstGeom>
          <a:solidFill>
            <a:srgbClr val="F5F5F7"/>
          </a:solidFill>
          <a:ln/>
        </p:spPr>
      </p:sp>
      <p:sp>
        <p:nvSpPr>
          <p:cNvPr id="8" name="Text 4"/>
          <p:cNvSpPr txBox="1"/>
          <p:nvPr/>
        </p:nvSpPr>
        <p:spPr>
          <a:xfrm>
            <a:off x="7772400" y="1600200"/>
            <a:ext cx="364205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7772400" y="1856232"/>
            <a:ext cx="3642055" cy="332842"/>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El proceso comercial completo, con decisiones.</a:t>
            </a:r>
            <a:endParaRPr lang="en-US" sz="1200" dirty="0"/>
          </a:p>
        </p:txBody>
      </p:sp>
      <p:sp>
        <p:nvSpPr>
          <p:cNvPr id="10" name="Text 6"/>
          <p:cNvSpPr txBox="1"/>
          <p:nvPr/>
        </p:nvSpPr>
        <p:spPr>
          <a:xfrm>
            <a:off x="7772400" y="2371954"/>
            <a:ext cx="364205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7772400" y="2627986"/>
            <a:ext cx="364205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Del punto negro al final; cada calle es un participante.</a:t>
            </a:r>
            <a:endParaRPr lang="en-US" sz="1200" dirty="0"/>
          </a:p>
        </p:txBody>
      </p:sp>
      <p:sp>
        <p:nvSpPr>
          <p:cNvPr id="12" name="Text 8"/>
          <p:cNvSpPr txBox="1"/>
          <p:nvPr/>
        </p:nvSpPr>
        <p:spPr>
          <a:xfrm>
            <a:off x="7772400" y="3344875"/>
            <a:ext cx="364205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7772400" y="3600907"/>
            <a:ext cx="364205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 web guía hasta «Cotizar»; la venta se concreta con el área comercial.</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secuencia</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18</a:t>
            </a:r>
            <a:endParaRPr lang="en-US" sz="900" dirty="0"/>
          </a:p>
        </p:txBody>
      </p:sp>
      <p:pic>
        <p:nvPicPr>
          <p:cNvPr id="6" name="!!diag#1" descr="../DIAGRAMAS_UML/png/V4_03_secuencia.png">    </p:cNvPr>
          <p:cNvPicPr>
            <a:picLocks noChangeAspect="1"/>
          </p:cNvPicPr>
          <p:nvPr/>
        </p:nvPicPr>
        <p:blipFill>
          <a:blip r:embed="rId1"/>
          <a:stretch>
            <a:fillRect/>
          </a:stretch>
        </p:blipFill>
        <p:spPr>
          <a:xfrm>
            <a:off x="548640" y="1540760"/>
            <a:ext cx="8641080" cy="4645160"/>
          </a:xfrm>
          <a:prstGeom prst="rect">
            <a:avLst/>
          </a:prstGeom>
        </p:spPr>
      </p:pic>
      <p:sp>
        <p:nvSpPr>
          <p:cNvPr id="7" name="Shape 3"/>
          <p:cNvSpPr/>
          <p:nvPr/>
        </p:nvSpPr>
        <p:spPr>
          <a:xfrm>
            <a:off x="9418320" y="1371600"/>
            <a:ext cx="2224735" cy="4983480"/>
          </a:xfrm>
          <a:prstGeom prst="roundRect">
            <a:avLst>
              <a:gd name="adj" fmla="val 3288"/>
            </a:avLst>
          </a:prstGeom>
          <a:solidFill>
            <a:srgbClr val="F5F5F7"/>
          </a:solidFill>
          <a:ln/>
        </p:spPr>
      </p:sp>
      <p:sp>
        <p:nvSpPr>
          <p:cNvPr id="8" name="Text 4"/>
          <p:cNvSpPr txBox="1"/>
          <p:nvPr/>
        </p:nvSpPr>
        <p:spPr>
          <a:xfrm>
            <a:off x="9646920" y="1600200"/>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646920" y="1856232"/>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El orden de los mensajes entre los objetos.</a:t>
            </a:r>
            <a:endParaRPr lang="en-US" sz="1200" dirty="0"/>
          </a:p>
        </p:txBody>
      </p:sp>
      <p:sp>
        <p:nvSpPr>
          <p:cNvPr id="10" name="Text 6"/>
          <p:cNvSpPr txBox="1"/>
          <p:nvPr/>
        </p:nvSpPr>
        <p:spPr>
          <a:xfrm>
            <a:off x="9646920" y="2573122"/>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646920" y="2829154"/>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De arriba abajo; flecha continua = llamada; discontinua = respuesta.</a:t>
            </a:r>
            <a:endParaRPr lang="en-US" sz="1200" dirty="0"/>
          </a:p>
        </p:txBody>
      </p:sp>
      <p:sp>
        <p:nvSpPr>
          <p:cNvPr id="12" name="Text 8"/>
          <p:cNvSpPr txBox="1"/>
          <p:nvPr/>
        </p:nvSpPr>
        <p:spPr>
          <a:xfrm>
            <a:off x="9646920" y="3747211"/>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646920" y="4003243"/>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Ficha → WooCommerce → mensaje → WhatsApp.</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clases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19</a:t>
            </a:r>
            <a:endParaRPr lang="en-US" sz="900" dirty="0"/>
          </a:p>
        </p:txBody>
      </p:sp>
      <p:pic>
        <p:nvPicPr>
          <p:cNvPr id="6" name="!!diag#1" descr="../DIAGRAMAS_UML/png/V4_04_clases.png">    </p:cNvPr>
          <p:cNvPicPr>
            <a:picLocks noChangeAspect="1"/>
          </p:cNvPicPr>
          <p:nvPr/>
        </p:nvPicPr>
        <p:blipFill>
          <a:blip r:embed="rId1"/>
          <a:stretch>
            <a:fillRect/>
          </a:stretch>
        </p:blipFill>
        <p:spPr>
          <a:xfrm>
            <a:off x="548640" y="1750617"/>
            <a:ext cx="8412480" cy="4225447"/>
          </a:xfrm>
          <a:prstGeom prst="rect">
            <a:avLst/>
          </a:prstGeom>
        </p:spPr>
      </p:pic>
      <p:sp>
        <p:nvSpPr>
          <p:cNvPr id="7" name="Shape 3"/>
          <p:cNvSpPr/>
          <p:nvPr/>
        </p:nvSpPr>
        <p:spPr>
          <a:xfrm>
            <a:off x="9189720" y="1371600"/>
            <a:ext cx="2453335" cy="4983480"/>
          </a:xfrm>
          <a:prstGeom prst="roundRect">
            <a:avLst>
              <a:gd name="adj" fmla="val 2982"/>
            </a:avLst>
          </a:prstGeom>
          <a:solidFill>
            <a:srgbClr val="F5F5F7"/>
          </a:solidFill>
          <a:ln/>
        </p:spPr>
      </p:sp>
      <p:sp>
        <p:nvSpPr>
          <p:cNvPr id="8" name="Text 4"/>
          <p:cNvSpPr txBox="1"/>
          <p:nvPr/>
        </p:nvSpPr>
        <p:spPr>
          <a:xfrm>
            <a:off x="9418320" y="1600200"/>
            <a:ext cx="19961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418320" y="1856232"/>
            <a:ext cx="19961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Las entidades y cómo se relacionan.</a:t>
            </a:r>
            <a:endParaRPr lang="en-US" sz="1200" dirty="0"/>
          </a:p>
        </p:txBody>
      </p:sp>
      <p:sp>
        <p:nvSpPr>
          <p:cNvPr id="10" name="Text 6"/>
          <p:cNvSpPr txBox="1"/>
          <p:nvPr/>
        </p:nvSpPr>
        <p:spPr>
          <a:xfrm>
            <a:off x="9418320" y="2573122"/>
            <a:ext cx="19961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418320" y="2829154"/>
            <a:ext cx="19961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Rombo negro = composición; números = multiplicidad.</a:t>
            </a:r>
            <a:endParaRPr lang="en-US" sz="1200" dirty="0"/>
          </a:p>
        </p:txBody>
      </p:sp>
      <p:sp>
        <p:nvSpPr>
          <p:cNvPr id="12" name="Text 8"/>
          <p:cNvSpPr txBox="1"/>
          <p:nvPr/>
        </p:nvSpPr>
        <p:spPr>
          <a:xfrm>
            <a:off x="9418320" y="3546043"/>
            <a:ext cx="19961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418320" y="3802075"/>
            <a:ext cx="19961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Producto, categoría y especificación ya existen en WooCommerce.</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Modelo físico de datos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20</a:t>
            </a:r>
            <a:endParaRPr lang="en-US" sz="900" dirty="0"/>
          </a:p>
        </p:txBody>
      </p:sp>
      <p:pic>
        <p:nvPicPr>
          <p:cNvPr id="6" name="!!diag#1" descr="../DIAGRAMAS_UML/png/V4_06_modelo_fisico.png">    </p:cNvPr>
          <p:cNvPicPr>
            <a:picLocks noChangeAspect="1"/>
          </p:cNvPicPr>
          <p:nvPr/>
        </p:nvPicPr>
        <p:blipFill>
          <a:blip r:embed="rId1"/>
          <a:stretch>
            <a:fillRect/>
          </a:stretch>
        </p:blipFill>
        <p:spPr>
          <a:xfrm>
            <a:off x="726987" y="1280160"/>
            <a:ext cx="6592746" cy="5166360"/>
          </a:xfrm>
          <a:prstGeom prst="rect">
            <a:avLst/>
          </a:prstGeom>
        </p:spPr>
      </p:pic>
      <p:sp>
        <p:nvSpPr>
          <p:cNvPr id="7" name="Shape 3"/>
          <p:cNvSpPr/>
          <p:nvPr/>
        </p:nvSpPr>
        <p:spPr>
          <a:xfrm>
            <a:off x="7726680" y="1371600"/>
            <a:ext cx="3916375" cy="4983480"/>
          </a:xfrm>
          <a:prstGeom prst="roundRect">
            <a:avLst>
              <a:gd name="adj" fmla="val 1868"/>
            </a:avLst>
          </a:prstGeom>
          <a:solidFill>
            <a:srgbClr val="F5F5F7"/>
          </a:solidFill>
          <a:ln/>
        </p:spPr>
      </p:sp>
      <p:sp>
        <p:nvSpPr>
          <p:cNvPr id="8" name="Text 4"/>
          <p:cNvSpPr txBox="1"/>
          <p:nvPr/>
        </p:nvSpPr>
        <p:spPr>
          <a:xfrm>
            <a:off x="7955280" y="1600200"/>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7955280" y="1856232"/>
            <a:ext cx="345917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Las tablas reales en MySQL, con claves primarias (PK) y foráneas (FK).</a:t>
            </a:r>
            <a:endParaRPr lang="en-US" sz="1200" dirty="0"/>
          </a:p>
        </p:txBody>
      </p:sp>
      <p:sp>
        <p:nvSpPr>
          <p:cNvPr id="10" name="Text 6"/>
          <p:cNvSpPr txBox="1"/>
          <p:nvPr/>
        </p:nvSpPr>
        <p:spPr>
          <a:xfrm>
            <a:off x="7955280" y="2573122"/>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DE CLASE A TABLA</a:t>
            </a:r>
            <a:endParaRPr lang="en-US" sz="950" dirty="0"/>
          </a:p>
        </p:txBody>
      </p:sp>
      <p:sp>
        <p:nvSpPr>
          <p:cNvPr id="11" name="Text 7"/>
          <p:cNvSpPr txBox="1"/>
          <p:nvPr/>
        </p:nvSpPr>
        <p:spPr>
          <a:xfrm>
            <a:off x="7955280" y="2829154"/>
            <a:ext cx="345917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Producto → wp_posts + wp_postmeta. Categoría → wp_terms + wp_term_taxonomy. Producto–Categoría → wp_term_relationships.</a:t>
            </a:r>
            <a:endParaRPr lang="en-US" sz="1200" dirty="0"/>
          </a:p>
        </p:txBody>
      </p:sp>
      <p:sp>
        <p:nvSpPr>
          <p:cNvPr id="12" name="Text 8"/>
          <p:cNvSpPr txBox="1"/>
          <p:nvPr/>
        </p:nvSpPr>
        <p:spPr>
          <a:xfrm>
            <a:off x="7955280" y="3747211"/>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PROPUESTO</a:t>
            </a:r>
            <a:endParaRPr lang="en-US" sz="950" dirty="0"/>
          </a:p>
        </p:txBody>
      </p:sp>
      <p:sp>
        <p:nvSpPr>
          <p:cNvPr id="13" name="Text 9"/>
          <p:cNvSpPr txBox="1"/>
          <p:nvPr/>
        </p:nvSpPr>
        <p:spPr>
          <a:xfrm>
            <a:off x="7955280" y="4003243"/>
            <a:ext cx="345917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wp_bh_consulta registraría el inicio de cada consulta.</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Arquitectura y componentes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21</a:t>
            </a:r>
            <a:endParaRPr lang="en-US" sz="900" dirty="0"/>
          </a:p>
        </p:txBody>
      </p:sp>
      <p:pic>
        <p:nvPicPr>
          <p:cNvPr id="6" name="!!diag#1" descr="../DIAGRAMAS_UML/png/V4_05_componentes.png">    </p:cNvPr>
          <p:cNvPicPr>
            <a:picLocks noChangeAspect="1"/>
          </p:cNvPicPr>
          <p:nvPr/>
        </p:nvPicPr>
        <p:blipFill>
          <a:blip r:embed="rId1"/>
          <a:stretch>
            <a:fillRect/>
          </a:stretch>
        </p:blipFill>
        <p:spPr>
          <a:xfrm>
            <a:off x="548640" y="1563726"/>
            <a:ext cx="8641080" cy="4599228"/>
          </a:xfrm>
          <a:prstGeom prst="rect">
            <a:avLst/>
          </a:prstGeom>
        </p:spPr>
      </p:pic>
      <p:sp>
        <p:nvSpPr>
          <p:cNvPr id="7" name="Shape 3"/>
          <p:cNvSpPr/>
          <p:nvPr/>
        </p:nvSpPr>
        <p:spPr>
          <a:xfrm>
            <a:off x="9418320" y="1371600"/>
            <a:ext cx="2224735" cy="4983480"/>
          </a:xfrm>
          <a:prstGeom prst="roundRect">
            <a:avLst>
              <a:gd name="adj" fmla="val 3288"/>
            </a:avLst>
          </a:prstGeom>
          <a:solidFill>
            <a:srgbClr val="F5F5F7"/>
          </a:solidFill>
          <a:ln/>
        </p:spPr>
      </p:sp>
      <p:sp>
        <p:nvSpPr>
          <p:cNvPr id="8" name="Text 4"/>
          <p:cNvSpPr txBox="1"/>
          <p:nvPr/>
        </p:nvSpPr>
        <p:spPr>
          <a:xfrm>
            <a:off x="9646920" y="1600200"/>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646920" y="1856232"/>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Las piezas de software y cómo dependen entre sí.</a:t>
            </a:r>
            <a:endParaRPr lang="en-US" sz="1200" dirty="0"/>
          </a:p>
        </p:txBody>
      </p:sp>
      <p:sp>
        <p:nvSpPr>
          <p:cNvPr id="10" name="Text 6"/>
          <p:cNvSpPr txBox="1"/>
          <p:nvPr/>
        </p:nvSpPr>
        <p:spPr>
          <a:xfrm>
            <a:off x="9646920" y="2573122"/>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646920" y="2829154"/>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Flecha discontinua = depende de; morado = propuesto.</a:t>
            </a:r>
            <a:endParaRPr lang="en-US" sz="1200" dirty="0"/>
          </a:p>
        </p:txBody>
      </p:sp>
      <p:sp>
        <p:nvSpPr>
          <p:cNvPr id="12" name="Text 8"/>
          <p:cNvSpPr txBox="1"/>
          <p:nvPr/>
        </p:nvSpPr>
        <p:spPr>
          <a:xfrm>
            <a:off x="9646920" y="3546043"/>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646920" y="3802075"/>
            <a:ext cx="1767535" cy="936346"/>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Tema hijo (rediseño) + WooCommerce + YITH + WordPress + MySQL; WhatsApp es externo.</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despliegue</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22</a:t>
            </a:r>
            <a:endParaRPr lang="en-US" sz="900" dirty="0"/>
          </a:p>
        </p:txBody>
      </p:sp>
      <p:pic>
        <p:nvPicPr>
          <p:cNvPr id="6" name="!!diag#1" descr="../DIAGRAMAS_UML/png/V4_07_despliegue.png">    </p:cNvPr>
          <p:cNvPicPr>
            <a:picLocks noChangeAspect="1"/>
          </p:cNvPicPr>
          <p:nvPr/>
        </p:nvPicPr>
        <p:blipFill>
          <a:blip r:embed="rId1"/>
          <a:stretch>
            <a:fillRect/>
          </a:stretch>
        </p:blipFill>
        <p:spPr>
          <a:xfrm>
            <a:off x="548640" y="1933855"/>
            <a:ext cx="8641080" cy="3858969"/>
          </a:xfrm>
          <a:prstGeom prst="rect">
            <a:avLst/>
          </a:prstGeom>
        </p:spPr>
      </p:pic>
      <p:sp>
        <p:nvSpPr>
          <p:cNvPr id="7" name="Shape 3"/>
          <p:cNvSpPr/>
          <p:nvPr/>
        </p:nvSpPr>
        <p:spPr>
          <a:xfrm>
            <a:off x="9418320" y="1371600"/>
            <a:ext cx="2224735" cy="4983480"/>
          </a:xfrm>
          <a:prstGeom prst="roundRect">
            <a:avLst>
              <a:gd name="adj" fmla="val 3288"/>
            </a:avLst>
          </a:prstGeom>
          <a:solidFill>
            <a:srgbClr val="F5F5F7"/>
          </a:solidFill>
          <a:ln/>
        </p:spPr>
      </p:sp>
      <p:sp>
        <p:nvSpPr>
          <p:cNvPr id="8" name="Text 4"/>
          <p:cNvSpPr txBox="1"/>
          <p:nvPr/>
        </p:nvSpPr>
        <p:spPr>
          <a:xfrm>
            <a:off x="9646920" y="1600200"/>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646920" y="1856232"/>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Nodos físicos y conexiones.</a:t>
            </a:r>
            <a:endParaRPr lang="en-US" sz="1200" dirty="0"/>
          </a:p>
        </p:txBody>
      </p:sp>
      <p:sp>
        <p:nvSpPr>
          <p:cNvPr id="10" name="Text 6"/>
          <p:cNvSpPr txBox="1"/>
          <p:nvPr/>
        </p:nvSpPr>
        <p:spPr>
          <a:xfrm>
            <a:off x="9646920" y="2573122"/>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646920" y="2829154"/>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Cajas 3D = nodos; hojas = artefactos; morado = propuesto.</a:t>
            </a:r>
            <a:endParaRPr lang="en-US" sz="1200" dirty="0"/>
          </a:p>
        </p:txBody>
      </p:sp>
      <p:sp>
        <p:nvSpPr>
          <p:cNvPr id="12" name="Text 8"/>
          <p:cNvSpPr txBox="1"/>
          <p:nvPr/>
        </p:nvSpPr>
        <p:spPr>
          <a:xfrm>
            <a:off x="9646920" y="3747211"/>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646920" y="4003243"/>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Del entorno de prueba a producción en la Transición.</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Qué sistema entrego a Black Hawk</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23</a:t>
            </a:r>
            <a:endParaRPr lang="en-US" sz="900" dirty="0"/>
          </a:p>
        </p:txBody>
      </p:sp>
      <p:sp>
        <p:nvSpPr>
          <p:cNvPr id="6" name="Shape 3"/>
          <p:cNvSpPr/>
          <p:nvPr/>
        </p:nvSpPr>
        <p:spPr>
          <a:xfrm>
            <a:off x="548640" y="1417320"/>
            <a:ext cx="3566160" cy="1600200"/>
          </a:xfrm>
          <a:prstGeom prst="roundRect">
            <a:avLst>
              <a:gd name="adj" fmla="val 4571"/>
            </a:avLst>
          </a:prstGeom>
          <a:solidFill>
            <a:srgbClr val="F5F5F7"/>
          </a:solidFill>
          <a:ln/>
        </p:spPr>
      </p:sp>
      <p:sp>
        <p:nvSpPr>
          <p:cNvPr id="7" name="Text 4"/>
          <p:cNvSpPr txBox="1"/>
          <p:nvPr/>
        </p:nvSpPr>
        <p:spPr>
          <a:xfrm>
            <a:off x="777240" y="1554480"/>
            <a:ext cx="3108960" cy="36576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A · Sitio original</a:t>
            </a:r>
            <a:endParaRPr lang="en-US" sz="1700" dirty="0"/>
          </a:p>
        </p:txBody>
      </p:sp>
      <p:sp>
        <p:nvSpPr>
          <p:cNvPr id="8" name="Text 5"/>
          <p:cNvSpPr txBox="1"/>
          <p:nvPr/>
        </p:nvSpPr>
        <p:spPr>
          <a:xfrm>
            <a:off x="777240" y="1965960"/>
            <a:ext cx="3108960" cy="73152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La plataforma actual de Black Hawk: el punto de partida que se busca mejorar.</a:t>
            </a:r>
            <a:endParaRPr lang="en-US" sz="1200" dirty="0"/>
          </a:p>
        </p:txBody>
      </p:sp>
      <p:sp>
        <p:nvSpPr>
          <p:cNvPr id="9" name="Shape 6"/>
          <p:cNvSpPr/>
          <p:nvPr/>
        </p:nvSpPr>
        <p:spPr>
          <a:xfrm>
            <a:off x="777240" y="2651760"/>
            <a:ext cx="920572" cy="256032"/>
          </a:xfrm>
          <a:prstGeom prst="roundRect">
            <a:avLst>
              <a:gd name="adj" fmla="val 50000"/>
            </a:avLst>
          </a:prstGeom>
          <a:solidFill>
            <a:srgbClr val="FFFFFF"/>
          </a:solidFill>
          <a:ln w="9525">
            <a:solidFill>
              <a:srgbClr val="0B0B0D"/>
            </a:solidFill>
            <a:prstDash val="solid"/>
          </a:ln>
        </p:spPr>
      </p:sp>
      <p:sp>
        <p:nvSpPr>
          <p:cNvPr id="10" name="Text 7"/>
          <p:cNvSpPr txBox="1"/>
          <p:nvPr/>
        </p:nvSpPr>
        <p:spPr>
          <a:xfrm>
            <a:off x="777240" y="2651760"/>
            <a:ext cx="920572"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Existente</a:t>
            </a:r>
            <a:endParaRPr lang="en-US" sz="950" dirty="0"/>
          </a:p>
        </p:txBody>
      </p:sp>
      <p:sp>
        <p:nvSpPr>
          <p:cNvPr id="11" name="Shape 8"/>
          <p:cNvSpPr/>
          <p:nvPr/>
        </p:nvSpPr>
        <p:spPr>
          <a:xfrm>
            <a:off x="4133088" y="2212848"/>
            <a:ext cx="146304" cy="0"/>
          </a:xfrm>
          <a:prstGeom prst="line">
            <a:avLst/>
          </a:prstGeom>
          <a:noFill/>
          <a:ln w="15875">
            <a:solidFill>
              <a:srgbClr val="6D28D9"/>
            </a:solidFill>
            <a:prstDash val="solid"/>
            <a:tailEnd type="triangle"/>
          </a:ln>
        </p:spPr>
      </p:sp>
      <p:sp>
        <p:nvSpPr>
          <p:cNvPr id="12" name="Shape 9"/>
          <p:cNvSpPr/>
          <p:nvPr/>
        </p:nvSpPr>
        <p:spPr>
          <a:xfrm>
            <a:off x="4297680" y="1417320"/>
            <a:ext cx="3566160" cy="1600200"/>
          </a:xfrm>
          <a:prstGeom prst="roundRect">
            <a:avLst>
              <a:gd name="adj" fmla="val 4571"/>
            </a:avLst>
          </a:prstGeom>
          <a:solidFill>
            <a:srgbClr val="6D28D9"/>
          </a:solidFill>
          <a:ln/>
        </p:spPr>
      </p:sp>
      <p:sp>
        <p:nvSpPr>
          <p:cNvPr id="13" name="Text 10"/>
          <p:cNvSpPr txBox="1"/>
          <p:nvPr/>
        </p:nvSpPr>
        <p:spPr>
          <a:xfrm>
            <a:off x="4526280" y="1554480"/>
            <a:ext cx="31089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B · Web renovada</a:t>
            </a:r>
            <a:endParaRPr lang="en-US" sz="1700" dirty="0"/>
          </a:p>
        </p:txBody>
      </p:sp>
      <p:sp>
        <p:nvSpPr>
          <p:cNvPr id="14" name="Text 11"/>
          <p:cNvSpPr txBox="1"/>
          <p:nvPr/>
        </p:nvSpPr>
        <p:spPr>
          <a:xfrm>
            <a:off x="4526280" y="1965960"/>
            <a:ext cx="3108960" cy="731520"/>
          </a:xfrm>
          <a:prstGeom prst="rect">
            <a:avLst/>
          </a:prstGeom>
          <a:noFill/>
          <a:ln/>
        </p:spPr>
        <p:txBody>
          <a:bodyPr wrap="square" lIns="0" tIns="0" rIns="0" bIns="0" rtlCol="0" anchor="t"/>
          <a:lstStyle/>
          <a:p>
            <a:pPr indent="0" marL="0">
              <a:buNone/>
            </a:pPr>
            <a:r>
              <a:rPr lang="en-US" sz="1200" dirty="0">
                <a:solidFill>
                  <a:srgbClr val="EDE4FB"/>
                </a:solidFill>
                <a:latin typeface="Arial" pitchFamily="34" charset="0"/>
                <a:ea typeface="Arial" pitchFamily="34" charset="-122"/>
                <a:cs typeface="Arial" pitchFamily="34" charset="-120"/>
              </a:rPr>
              <a:t>El sistema que desarrollo: rediseño visual, catálogo, consulta y recorrido comercial.</a:t>
            </a:r>
            <a:endParaRPr lang="en-US" sz="1200" dirty="0"/>
          </a:p>
        </p:txBody>
      </p:sp>
      <p:sp>
        <p:nvSpPr>
          <p:cNvPr id="15" name="Shape 12"/>
          <p:cNvSpPr/>
          <p:nvPr/>
        </p:nvSpPr>
        <p:spPr>
          <a:xfrm>
            <a:off x="4526280" y="2651760"/>
            <a:ext cx="1142086" cy="256032"/>
          </a:xfrm>
          <a:prstGeom prst="roundRect">
            <a:avLst>
              <a:gd name="adj" fmla="val 50000"/>
            </a:avLst>
          </a:prstGeom>
          <a:solidFill>
            <a:srgbClr val="FFFFFF"/>
          </a:solidFill>
          <a:ln w="9525">
            <a:solidFill>
              <a:srgbClr val="0B0B0D"/>
            </a:solidFill>
            <a:prstDash val="solid"/>
          </a:ln>
        </p:spPr>
      </p:sp>
      <p:sp>
        <p:nvSpPr>
          <p:cNvPr id="16" name="Text 13"/>
          <p:cNvSpPr txBox="1"/>
          <p:nvPr/>
        </p:nvSpPr>
        <p:spPr>
          <a:xfrm>
            <a:off x="4526280" y="2651760"/>
            <a:ext cx="114208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Desarrollado</a:t>
            </a:r>
            <a:endParaRPr lang="en-US" sz="950" dirty="0"/>
          </a:p>
        </p:txBody>
      </p:sp>
      <p:sp>
        <p:nvSpPr>
          <p:cNvPr id="17" name="Shape 14"/>
          <p:cNvSpPr/>
          <p:nvPr/>
        </p:nvSpPr>
        <p:spPr>
          <a:xfrm>
            <a:off x="7882128" y="2212848"/>
            <a:ext cx="146304" cy="0"/>
          </a:xfrm>
          <a:prstGeom prst="line">
            <a:avLst/>
          </a:prstGeom>
          <a:noFill/>
          <a:ln w="15875">
            <a:solidFill>
              <a:srgbClr val="6D28D9"/>
            </a:solidFill>
            <a:prstDash val="solid"/>
            <a:tailEnd type="triangle"/>
          </a:ln>
        </p:spPr>
      </p:sp>
      <p:sp>
        <p:nvSpPr>
          <p:cNvPr id="18" name="Shape 15"/>
          <p:cNvSpPr/>
          <p:nvPr/>
        </p:nvSpPr>
        <p:spPr>
          <a:xfrm>
            <a:off x="8046720" y="1417320"/>
            <a:ext cx="3566160" cy="1600200"/>
          </a:xfrm>
          <a:prstGeom prst="roundRect">
            <a:avLst>
              <a:gd name="adj" fmla="val 4571"/>
            </a:avLst>
          </a:prstGeom>
          <a:solidFill>
            <a:srgbClr val="EDE4FB"/>
          </a:solidFill>
          <a:ln/>
        </p:spPr>
      </p:sp>
      <p:sp>
        <p:nvSpPr>
          <p:cNvPr id="19" name="Text 16"/>
          <p:cNvSpPr txBox="1"/>
          <p:nvPr/>
        </p:nvSpPr>
        <p:spPr>
          <a:xfrm>
            <a:off x="8275320" y="1554480"/>
            <a:ext cx="3108960" cy="36576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C · Ampliaciones</a:t>
            </a:r>
            <a:endParaRPr lang="en-US" sz="1700" dirty="0"/>
          </a:p>
        </p:txBody>
      </p:sp>
      <p:sp>
        <p:nvSpPr>
          <p:cNvPr id="20" name="Text 17"/>
          <p:cNvSpPr txBox="1"/>
          <p:nvPr/>
        </p:nvSpPr>
        <p:spPr>
          <a:xfrm>
            <a:off x="8275320" y="1965960"/>
            <a:ext cx="3108960" cy="73152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Funciones que complementan el sistema y que se proponen como parte del proyecto académico.</a:t>
            </a:r>
            <a:endParaRPr lang="en-US" sz="1200" dirty="0"/>
          </a:p>
        </p:txBody>
      </p:sp>
      <p:sp>
        <p:nvSpPr>
          <p:cNvPr id="21" name="Shape 18"/>
          <p:cNvSpPr/>
          <p:nvPr/>
        </p:nvSpPr>
        <p:spPr>
          <a:xfrm>
            <a:off x="8275320" y="2651760"/>
            <a:ext cx="920572" cy="256032"/>
          </a:xfrm>
          <a:prstGeom prst="roundRect">
            <a:avLst>
              <a:gd name="adj" fmla="val 50000"/>
            </a:avLst>
          </a:prstGeom>
          <a:solidFill>
            <a:srgbClr val="6D28D9"/>
          </a:solidFill>
          <a:ln w="9525">
            <a:solidFill>
              <a:srgbClr val="6D28D9"/>
            </a:solidFill>
            <a:prstDash val="solid"/>
          </a:ln>
        </p:spPr>
      </p:sp>
      <p:sp>
        <p:nvSpPr>
          <p:cNvPr id="22" name="Text 19"/>
          <p:cNvSpPr txBox="1"/>
          <p:nvPr/>
        </p:nvSpPr>
        <p:spPr>
          <a:xfrm>
            <a:off x="8275320" y="2651760"/>
            <a:ext cx="92057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Propuesto</a:t>
            </a:r>
            <a:endParaRPr lang="en-US" sz="950" dirty="0"/>
          </a:p>
        </p:txBody>
      </p:sp>
      <p:pic>
        <p:nvPicPr>
          <p:cNvPr id="23" name="Image 0" descr="img/v3-N-home.png">    </p:cNvPr>
          <p:cNvPicPr>
            <a:picLocks noChangeAspect="1"/>
          </p:cNvPicPr>
          <p:nvPr/>
        </p:nvPicPr>
        <p:blipFill>
          <a:blip r:embed="rId1"/>
          <a:stretch>
            <a:fillRect/>
          </a:stretch>
        </p:blipFill>
        <p:spPr>
          <a:xfrm>
            <a:off x="1115568" y="3246120"/>
            <a:ext cx="4535424" cy="2834640"/>
          </a:xfrm>
          <a:prstGeom prst="rect">
            <a:avLst/>
          </a:prstGeom>
        </p:spPr>
      </p:pic>
      <p:sp>
        <p:nvSpPr>
          <p:cNvPr id="24" name="Shape 20"/>
          <p:cNvSpPr/>
          <p:nvPr/>
        </p:nvSpPr>
        <p:spPr>
          <a:xfrm>
            <a:off x="1115568" y="3246120"/>
            <a:ext cx="4535424" cy="2834640"/>
          </a:xfrm>
          <a:prstGeom prst="rect">
            <a:avLst/>
          </a:prstGeom>
          <a:ln w="12700">
            <a:solidFill>
              <a:srgbClr val="E3E4E8"/>
            </a:solidFill>
            <a:prstDash val="solid"/>
          </a:ln>
        </p:spPr>
      </p:sp>
      <p:sp>
        <p:nvSpPr>
          <p:cNvPr id="25" name="Shape 21"/>
          <p:cNvSpPr/>
          <p:nvPr/>
        </p:nvSpPr>
        <p:spPr>
          <a:xfrm>
            <a:off x="640080" y="3337560"/>
            <a:ext cx="772897" cy="256032"/>
          </a:xfrm>
          <a:prstGeom prst="roundRect">
            <a:avLst>
              <a:gd name="adj" fmla="val 50000"/>
            </a:avLst>
          </a:prstGeom>
          <a:solidFill>
            <a:srgbClr val="6D28D9"/>
          </a:solidFill>
          <a:ln w="9525">
            <a:solidFill>
              <a:srgbClr val="6D28D9"/>
            </a:solidFill>
            <a:prstDash val="solid"/>
          </a:ln>
        </p:spPr>
      </p:sp>
      <p:sp>
        <p:nvSpPr>
          <p:cNvPr id="26" name="Text 22"/>
          <p:cNvSpPr txBox="1"/>
          <p:nvPr/>
        </p:nvSpPr>
        <p:spPr>
          <a:xfrm>
            <a:off x="640080" y="3337560"/>
            <a:ext cx="772897"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DESPUÉS</a:t>
            </a:r>
            <a:endParaRPr lang="en-US" sz="950" dirty="0"/>
          </a:p>
        </p:txBody>
      </p:sp>
      <p:sp>
        <p:nvSpPr>
          <p:cNvPr id="27" name="Shape 23"/>
          <p:cNvSpPr/>
          <p:nvPr/>
        </p:nvSpPr>
        <p:spPr>
          <a:xfrm>
            <a:off x="6492240" y="3246120"/>
            <a:ext cx="5150815" cy="2834640"/>
          </a:xfrm>
          <a:prstGeom prst="roundRect">
            <a:avLst>
              <a:gd name="adj" fmla="val 2581"/>
            </a:avLst>
          </a:prstGeom>
          <a:solidFill>
            <a:srgbClr val="0B0B0D"/>
          </a:solidFill>
          <a:ln/>
        </p:spPr>
      </p:sp>
      <p:sp>
        <p:nvSpPr>
          <p:cNvPr id="28" name="Text 24"/>
          <p:cNvSpPr txBox="1"/>
          <p:nvPr/>
        </p:nvSpPr>
        <p:spPr>
          <a:xfrm>
            <a:off x="6720840" y="3429000"/>
            <a:ext cx="457200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La web renovada</a:t>
            </a:r>
            <a:endParaRPr lang="en-US" sz="1800" dirty="0"/>
          </a:p>
        </p:txBody>
      </p:sp>
      <p:sp>
        <p:nvSpPr>
          <p:cNvPr id="29" name="Text 25"/>
          <p:cNvSpPr txBox="1"/>
          <p:nvPr/>
        </p:nvSpPr>
        <p:spPr>
          <a:xfrm>
            <a:off x="6720840" y="3886200"/>
            <a:ext cx="4663440" cy="21031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Rediseña la marca y la navegación</a:t>
            </a:r>
            <a:endParaRPr lang="en-US" sz="1350" dirty="0"/>
          </a:p>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Ordena el catálogo y las fichas</a:t>
            </a:r>
            <a:endParaRPr lang="en-US" sz="1350" dirty="0"/>
          </a:p>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Lleva cada producto a una consulta</a:t>
            </a:r>
            <a:endParaRPr lang="en-US" sz="1350" dirty="0"/>
          </a:p>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Tema hijo sobre WordPress + WooCommerce</a:t>
            </a:r>
            <a:endParaRPr lang="en-US" sz="1350" dirty="0"/>
          </a:p>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Funcionando en un entorno de prueba</a:t>
            </a:r>
            <a:endParaRPr lang="en-US" sz="135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ANTES Y DESPUÉS</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Antes y después: home y catálogo</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24</a:t>
            </a:r>
            <a:endParaRPr lang="en-US" sz="900" dirty="0"/>
          </a:p>
        </p:txBody>
      </p:sp>
      <p:sp>
        <p:nvSpPr>
          <p:cNvPr id="6" name="!!ad0-lbl#1"/>
          <p:cNvSpPr txBox="1"/>
          <p:nvPr/>
        </p:nvSpPr>
        <p:spPr>
          <a:xfrm>
            <a:off x="548640" y="1371600"/>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Home y marca</a:t>
            </a:r>
            <a:endParaRPr lang="en-US" sz="1300" dirty="0"/>
          </a:p>
        </p:txBody>
      </p:sp>
      <p:pic>
        <p:nvPicPr>
          <p:cNvPr id="7" name="!!ad0-a#1" descr="img/v3-A-home.png">    </p:cNvPr>
          <p:cNvPicPr>
            <a:picLocks noChangeAspect="1"/>
          </p:cNvPicPr>
          <p:nvPr/>
        </p:nvPicPr>
        <p:blipFill>
          <a:blip r:embed="rId1"/>
          <a:stretch>
            <a:fillRect/>
          </a:stretch>
        </p:blipFill>
        <p:spPr>
          <a:xfrm>
            <a:off x="3657600" y="1783080"/>
            <a:ext cx="2926080" cy="1828800"/>
          </a:xfrm>
          <a:prstGeom prst="rect">
            <a:avLst/>
          </a:prstGeom>
        </p:spPr>
      </p:pic>
      <p:sp>
        <p:nvSpPr>
          <p:cNvPr id="8" name="!!ad0-a#2"/>
          <p:cNvSpPr/>
          <p:nvPr/>
        </p:nvSpPr>
        <p:spPr>
          <a:xfrm>
            <a:off x="3657600" y="1783080"/>
            <a:ext cx="2926080" cy="1828800"/>
          </a:xfrm>
          <a:prstGeom prst="rect">
            <a:avLst/>
          </a:prstGeom>
          <a:ln w="12700">
            <a:solidFill>
              <a:srgbClr val="E3E4E8"/>
            </a:solidFill>
            <a:prstDash val="solid"/>
          </a:ln>
        </p:spPr>
      </p:sp>
      <p:sp>
        <p:nvSpPr>
          <p:cNvPr id="9" name="!!ad0-ta#1"/>
          <p:cNvSpPr/>
          <p:nvPr/>
        </p:nvSpPr>
        <p:spPr>
          <a:xfrm>
            <a:off x="3712464" y="1837944"/>
            <a:ext cx="586359" cy="256032"/>
          </a:xfrm>
          <a:prstGeom prst="roundRect">
            <a:avLst>
              <a:gd name="adj" fmla="val 50000"/>
            </a:avLst>
          </a:prstGeom>
          <a:solidFill>
            <a:srgbClr val="FFFFFF"/>
          </a:solidFill>
          <a:ln w="9525">
            <a:solidFill>
              <a:srgbClr val="0B0B0D"/>
            </a:solidFill>
            <a:prstDash val="solid"/>
          </a:ln>
        </p:spPr>
      </p:sp>
      <p:sp>
        <p:nvSpPr>
          <p:cNvPr id="10" name="!!ad0-ta#2"/>
          <p:cNvSpPr txBox="1"/>
          <p:nvPr/>
        </p:nvSpPr>
        <p:spPr>
          <a:xfrm>
            <a:off x="3712464" y="1837944"/>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11" name="!!ad0-d#1" descr="img/v3-N-home.png">    </p:cNvPr>
          <p:cNvPicPr>
            <a:picLocks noChangeAspect="1"/>
          </p:cNvPicPr>
          <p:nvPr/>
        </p:nvPicPr>
        <p:blipFill>
          <a:blip r:embed="rId2"/>
          <a:stretch>
            <a:fillRect/>
          </a:stretch>
        </p:blipFill>
        <p:spPr>
          <a:xfrm>
            <a:off x="12466320" y="1783080"/>
            <a:ext cx="2926080" cy="1828800"/>
          </a:xfrm>
          <a:prstGeom prst="rect">
            <a:avLst/>
          </a:prstGeom>
        </p:spPr>
      </p:pic>
      <p:sp>
        <p:nvSpPr>
          <p:cNvPr id="12" name="!!ad0-d#2"/>
          <p:cNvSpPr/>
          <p:nvPr/>
        </p:nvSpPr>
        <p:spPr>
          <a:xfrm>
            <a:off x="12466320" y="1783080"/>
            <a:ext cx="2926080" cy="1828800"/>
          </a:xfrm>
          <a:prstGeom prst="rect">
            <a:avLst/>
          </a:prstGeom>
          <a:ln w="12700">
            <a:solidFill>
              <a:srgbClr val="E3E4E8"/>
            </a:solidFill>
            <a:prstDash val="solid"/>
          </a:ln>
        </p:spPr>
      </p:sp>
      <p:sp>
        <p:nvSpPr>
          <p:cNvPr id="13" name="!!ad0-td#1"/>
          <p:cNvSpPr/>
          <p:nvPr/>
        </p:nvSpPr>
        <p:spPr>
          <a:xfrm>
            <a:off x="12521184" y="1837944"/>
            <a:ext cx="718490" cy="256032"/>
          </a:xfrm>
          <a:prstGeom prst="roundRect">
            <a:avLst>
              <a:gd name="adj" fmla="val 50000"/>
            </a:avLst>
          </a:prstGeom>
          <a:solidFill>
            <a:srgbClr val="6D28D9"/>
          </a:solidFill>
          <a:ln w="9525">
            <a:solidFill>
              <a:srgbClr val="6D28D9"/>
            </a:solidFill>
            <a:prstDash val="solid"/>
          </a:ln>
        </p:spPr>
      </p:sp>
      <p:sp>
        <p:nvSpPr>
          <p:cNvPr id="14" name="!!ad0-td#2"/>
          <p:cNvSpPr txBox="1"/>
          <p:nvPr/>
        </p:nvSpPr>
        <p:spPr>
          <a:xfrm>
            <a:off x="12521184" y="1837944"/>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23" name="!!ad1-lbl#1"/>
          <p:cNvSpPr txBox="1"/>
          <p:nvPr/>
        </p:nvSpPr>
        <p:spPr>
          <a:xfrm>
            <a:off x="548640" y="3858768"/>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Catálogo</a:t>
            </a:r>
            <a:endParaRPr lang="en-US" sz="1300" dirty="0"/>
          </a:p>
        </p:txBody>
      </p:sp>
      <p:pic>
        <p:nvPicPr>
          <p:cNvPr id="24" name="!!ad1-a#1" descr="img/v3-A-shop.png">    </p:cNvPr>
          <p:cNvPicPr>
            <a:picLocks noChangeAspect="1"/>
          </p:cNvPicPr>
          <p:nvPr/>
        </p:nvPicPr>
        <p:blipFill>
          <a:blip r:embed="rId3"/>
          <a:stretch>
            <a:fillRect/>
          </a:stretch>
        </p:blipFill>
        <p:spPr>
          <a:xfrm>
            <a:off x="3657600" y="4270248"/>
            <a:ext cx="2926080" cy="1828800"/>
          </a:xfrm>
          <a:prstGeom prst="rect">
            <a:avLst/>
          </a:prstGeom>
        </p:spPr>
      </p:pic>
      <p:sp>
        <p:nvSpPr>
          <p:cNvPr id="25" name="!!ad1-a#2"/>
          <p:cNvSpPr/>
          <p:nvPr/>
        </p:nvSpPr>
        <p:spPr>
          <a:xfrm>
            <a:off x="3657600" y="4270248"/>
            <a:ext cx="2926080" cy="1828800"/>
          </a:xfrm>
          <a:prstGeom prst="rect">
            <a:avLst/>
          </a:prstGeom>
          <a:ln w="12700">
            <a:solidFill>
              <a:srgbClr val="E3E4E8"/>
            </a:solidFill>
            <a:prstDash val="solid"/>
          </a:ln>
        </p:spPr>
      </p:sp>
      <p:sp>
        <p:nvSpPr>
          <p:cNvPr id="26" name="!!ad1-ta#1"/>
          <p:cNvSpPr/>
          <p:nvPr/>
        </p:nvSpPr>
        <p:spPr>
          <a:xfrm>
            <a:off x="3712464" y="4325112"/>
            <a:ext cx="586359" cy="256032"/>
          </a:xfrm>
          <a:prstGeom prst="roundRect">
            <a:avLst>
              <a:gd name="adj" fmla="val 50000"/>
            </a:avLst>
          </a:prstGeom>
          <a:solidFill>
            <a:srgbClr val="FFFFFF"/>
          </a:solidFill>
          <a:ln w="9525">
            <a:solidFill>
              <a:srgbClr val="0B0B0D"/>
            </a:solidFill>
            <a:prstDash val="solid"/>
          </a:ln>
        </p:spPr>
      </p:sp>
      <p:sp>
        <p:nvSpPr>
          <p:cNvPr id="27" name="!!ad1-ta#2"/>
          <p:cNvSpPr txBox="1"/>
          <p:nvPr/>
        </p:nvSpPr>
        <p:spPr>
          <a:xfrm>
            <a:off x="3712464" y="4325112"/>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28" name="!!ad1-d#1" descr="img/v3-N-shop.png">    </p:cNvPr>
          <p:cNvPicPr>
            <a:picLocks noChangeAspect="1"/>
          </p:cNvPicPr>
          <p:nvPr/>
        </p:nvPicPr>
        <p:blipFill>
          <a:blip r:embed="rId4"/>
          <a:stretch>
            <a:fillRect/>
          </a:stretch>
        </p:blipFill>
        <p:spPr>
          <a:xfrm>
            <a:off x="12466320" y="4270248"/>
            <a:ext cx="2926080" cy="1828800"/>
          </a:xfrm>
          <a:prstGeom prst="rect">
            <a:avLst/>
          </a:prstGeom>
        </p:spPr>
      </p:pic>
      <p:sp>
        <p:nvSpPr>
          <p:cNvPr id="29" name="!!ad1-d#2"/>
          <p:cNvSpPr/>
          <p:nvPr/>
        </p:nvSpPr>
        <p:spPr>
          <a:xfrm>
            <a:off x="12466320" y="4270248"/>
            <a:ext cx="2926080" cy="1828800"/>
          </a:xfrm>
          <a:prstGeom prst="rect">
            <a:avLst/>
          </a:prstGeom>
          <a:ln w="12700">
            <a:solidFill>
              <a:srgbClr val="E3E4E8"/>
            </a:solidFill>
            <a:prstDash val="solid"/>
          </a:ln>
        </p:spPr>
      </p:sp>
      <p:sp>
        <p:nvSpPr>
          <p:cNvPr id="30" name="!!ad1-td#1"/>
          <p:cNvSpPr/>
          <p:nvPr/>
        </p:nvSpPr>
        <p:spPr>
          <a:xfrm>
            <a:off x="12521184" y="4325112"/>
            <a:ext cx="718490" cy="256032"/>
          </a:xfrm>
          <a:prstGeom prst="roundRect">
            <a:avLst>
              <a:gd name="adj" fmla="val 50000"/>
            </a:avLst>
          </a:prstGeom>
          <a:solidFill>
            <a:srgbClr val="6D28D9"/>
          </a:solidFill>
          <a:ln w="9525">
            <a:solidFill>
              <a:srgbClr val="6D28D9"/>
            </a:solidFill>
            <a:prstDash val="solid"/>
          </a:ln>
        </p:spPr>
      </p:sp>
      <p:sp>
        <p:nvSpPr>
          <p:cNvPr id="31" name="!!ad1-td#2"/>
          <p:cNvSpPr txBox="1"/>
          <p:nvPr/>
        </p:nvSpPr>
        <p:spPr>
          <a:xfrm>
            <a:off x="12521184" y="4325112"/>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ANTES Y DESPUÉS</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Antes y después: ficha y celular</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25</a:t>
            </a:r>
            <a:endParaRPr lang="en-US" sz="900" dirty="0"/>
          </a:p>
        </p:txBody>
      </p:sp>
      <p:sp>
        <p:nvSpPr>
          <p:cNvPr id="6" name="!!ad0-lbl#1"/>
          <p:cNvSpPr txBox="1"/>
          <p:nvPr/>
        </p:nvSpPr>
        <p:spPr>
          <a:xfrm>
            <a:off x="548640" y="1371600"/>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Ficha de producto</a:t>
            </a:r>
            <a:endParaRPr lang="en-US" sz="1300" dirty="0"/>
          </a:p>
        </p:txBody>
      </p:sp>
      <p:pic>
        <p:nvPicPr>
          <p:cNvPr id="7" name="!!ad0-a#1" descr="img/v3-A-ficha.png">    </p:cNvPr>
          <p:cNvPicPr>
            <a:picLocks noChangeAspect="1"/>
          </p:cNvPicPr>
          <p:nvPr/>
        </p:nvPicPr>
        <p:blipFill>
          <a:blip r:embed="rId1"/>
          <a:stretch>
            <a:fillRect/>
          </a:stretch>
        </p:blipFill>
        <p:spPr>
          <a:xfrm>
            <a:off x="3657600" y="1783080"/>
            <a:ext cx="2926080" cy="1828800"/>
          </a:xfrm>
          <a:prstGeom prst="rect">
            <a:avLst/>
          </a:prstGeom>
        </p:spPr>
      </p:pic>
      <p:sp>
        <p:nvSpPr>
          <p:cNvPr id="8" name="!!ad0-a#2"/>
          <p:cNvSpPr/>
          <p:nvPr/>
        </p:nvSpPr>
        <p:spPr>
          <a:xfrm>
            <a:off x="3657600" y="1783080"/>
            <a:ext cx="2926080" cy="1828800"/>
          </a:xfrm>
          <a:prstGeom prst="rect">
            <a:avLst/>
          </a:prstGeom>
          <a:ln w="12700">
            <a:solidFill>
              <a:srgbClr val="E3E4E8"/>
            </a:solidFill>
            <a:prstDash val="solid"/>
          </a:ln>
        </p:spPr>
      </p:sp>
      <p:sp>
        <p:nvSpPr>
          <p:cNvPr id="9" name="!!ad0-ta#1"/>
          <p:cNvSpPr/>
          <p:nvPr/>
        </p:nvSpPr>
        <p:spPr>
          <a:xfrm>
            <a:off x="3712464" y="1837944"/>
            <a:ext cx="586359" cy="256032"/>
          </a:xfrm>
          <a:prstGeom prst="roundRect">
            <a:avLst>
              <a:gd name="adj" fmla="val 50000"/>
            </a:avLst>
          </a:prstGeom>
          <a:solidFill>
            <a:srgbClr val="FFFFFF"/>
          </a:solidFill>
          <a:ln w="9525">
            <a:solidFill>
              <a:srgbClr val="0B0B0D"/>
            </a:solidFill>
            <a:prstDash val="solid"/>
          </a:ln>
        </p:spPr>
      </p:sp>
      <p:sp>
        <p:nvSpPr>
          <p:cNvPr id="10" name="!!ad0-ta#2"/>
          <p:cNvSpPr txBox="1"/>
          <p:nvPr/>
        </p:nvSpPr>
        <p:spPr>
          <a:xfrm>
            <a:off x="3712464" y="1837944"/>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11" name="!!ad0-d#1" descr="img/v3-N-ficha.png">    </p:cNvPr>
          <p:cNvPicPr>
            <a:picLocks noChangeAspect="1"/>
          </p:cNvPicPr>
          <p:nvPr/>
        </p:nvPicPr>
        <p:blipFill>
          <a:blip r:embed="rId2"/>
          <a:stretch>
            <a:fillRect/>
          </a:stretch>
        </p:blipFill>
        <p:spPr>
          <a:xfrm>
            <a:off x="12466320" y="1783080"/>
            <a:ext cx="2926080" cy="1828800"/>
          </a:xfrm>
          <a:prstGeom prst="rect">
            <a:avLst/>
          </a:prstGeom>
        </p:spPr>
      </p:pic>
      <p:sp>
        <p:nvSpPr>
          <p:cNvPr id="12" name="!!ad0-d#2"/>
          <p:cNvSpPr/>
          <p:nvPr/>
        </p:nvSpPr>
        <p:spPr>
          <a:xfrm>
            <a:off x="12466320" y="1783080"/>
            <a:ext cx="2926080" cy="1828800"/>
          </a:xfrm>
          <a:prstGeom prst="rect">
            <a:avLst/>
          </a:prstGeom>
          <a:ln w="12700">
            <a:solidFill>
              <a:srgbClr val="E3E4E8"/>
            </a:solidFill>
            <a:prstDash val="solid"/>
          </a:ln>
        </p:spPr>
      </p:sp>
      <p:sp>
        <p:nvSpPr>
          <p:cNvPr id="13" name="!!ad0-td#1"/>
          <p:cNvSpPr/>
          <p:nvPr/>
        </p:nvSpPr>
        <p:spPr>
          <a:xfrm>
            <a:off x="12521184" y="1837944"/>
            <a:ext cx="718490" cy="256032"/>
          </a:xfrm>
          <a:prstGeom prst="roundRect">
            <a:avLst>
              <a:gd name="adj" fmla="val 50000"/>
            </a:avLst>
          </a:prstGeom>
          <a:solidFill>
            <a:srgbClr val="6D28D9"/>
          </a:solidFill>
          <a:ln w="9525">
            <a:solidFill>
              <a:srgbClr val="6D28D9"/>
            </a:solidFill>
            <a:prstDash val="solid"/>
          </a:ln>
        </p:spPr>
      </p:sp>
      <p:sp>
        <p:nvSpPr>
          <p:cNvPr id="14" name="!!ad0-td#2"/>
          <p:cNvSpPr txBox="1"/>
          <p:nvPr/>
        </p:nvSpPr>
        <p:spPr>
          <a:xfrm>
            <a:off x="12521184" y="1837944"/>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23" name="!!ad1-lbl#1"/>
          <p:cNvSpPr txBox="1"/>
          <p:nvPr/>
        </p:nvSpPr>
        <p:spPr>
          <a:xfrm>
            <a:off x="548640" y="3858768"/>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Recorrido en el celular</a:t>
            </a:r>
            <a:endParaRPr lang="en-US" sz="1300" dirty="0"/>
          </a:p>
        </p:txBody>
      </p:sp>
      <p:pic>
        <p:nvPicPr>
          <p:cNvPr id="24" name="!!ad1-a#1" descr="img/v3-A-ficha-m.png">    </p:cNvPr>
          <p:cNvPicPr>
            <a:picLocks noChangeAspect="1"/>
          </p:cNvPicPr>
          <p:nvPr/>
        </p:nvPicPr>
        <p:blipFill>
          <a:blip r:embed="rId3"/>
          <a:stretch>
            <a:fillRect/>
          </a:stretch>
        </p:blipFill>
        <p:spPr>
          <a:xfrm>
            <a:off x="1935516" y="4178808"/>
            <a:ext cx="929568" cy="2011680"/>
          </a:xfrm>
          <a:prstGeom prst="rect">
            <a:avLst/>
          </a:prstGeom>
        </p:spPr>
      </p:pic>
      <p:sp>
        <p:nvSpPr>
          <p:cNvPr id="25" name="!!ad1-a#2"/>
          <p:cNvSpPr/>
          <p:nvPr/>
        </p:nvSpPr>
        <p:spPr>
          <a:xfrm>
            <a:off x="1935516" y="4178808"/>
            <a:ext cx="929568" cy="2011680"/>
          </a:xfrm>
          <a:prstGeom prst="rect">
            <a:avLst/>
          </a:prstGeom>
          <a:ln w="12700">
            <a:solidFill>
              <a:srgbClr val="E3E4E8"/>
            </a:solidFill>
            <a:prstDash val="solid"/>
          </a:ln>
        </p:spPr>
      </p:sp>
      <p:sp>
        <p:nvSpPr>
          <p:cNvPr id="26" name="!!ad1-ta#1"/>
          <p:cNvSpPr/>
          <p:nvPr/>
        </p:nvSpPr>
        <p:spPr>
          <a:xfrm>
            <a:off x="1990380" y="4233672"/>
            <a:ext cx="586359" cy="256032"/>
          </a:xfrm>
          <a:prstGeom prst="roundRect">
            <a:avLst>
              <a:gd name="adj" fmla="val 50000"/>
            </a:avLst>
          </a:prstGeom>
          <a:solidFill>
            <a:srgbClr val="FFFFFF"/>
          </a:solidFill>
          <a:ln w="9525">
            <a:solidFill>
              <a:srgbClr val="0B0B0D"/>
            </a:solidFill>
            <a:prstDash val="solid"/>
          </a:ln>
        </p:spPr>
      </p:sp>
      <p:sp>
        <p:nvSpPr>
          <p:cNvPr id="27" name="!!ad1-ta#2"/>
          <p:cNvSpPr txBox="1"/>
          <p:nvPr/>
        </p:nvSpPr>
        <p:spPr>
          <a:xfrm>
            <a:off x="1990380" y="4233672"/>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28" name="!!ad1-d#1" descr="img/v3-N-ficha-m.png">    </p:cNvPr>
          <p:cNvPicPr>
            <a:picLocks noChangeAspect="1"/>
          </p:cNvPicPr>
          <p:nvPr/>
        </p:nvPicPr>
        <p:blipFill>
          <a:blip r:embed="rId4"/>
          <a:stretch>
            <a:fillRect/>
          </a:stretch>
        </p:blipFill>
        <p:spPr>
          <a:xfrm>
            <a:off x="12466320" y="4178808"/>
            <a:ext cx="929568" cy="2011680"/>
          </a:xfrm>
          <a:prstGeom prst="rect">
            <a:avLst/>
          </a:prstGeom>
        </p:spPr>
      </p:pic>
      <p:sp>
        <p:nvSpPr>
          <p:cNvPr id="29" name="!!ad1-d#2"/>
          <p:cNvSpPr/>
          <p:nvPr/>
        </p:nvSpPr>
        <p:spPr>
          <a:xfrm>
            <a:off x="12466320" y="4178808"/>
            <a:ext cx="929568" cy="2011680"/>
          </a:xfrm>
          <a:prstGeom prst="rect">
            <a:avLst/>
          </a:prstGeom>
          <a:ln w="12700">
            <a:solidFill>
              <a:srgbClr val="E3E4E8"/>
            </a:solidFill>
            <a:prstDash val="solid"/>
          </a:ln>
        </p:spPr>
      </p:sp>
      <p:sp>
        <p:nvSpPr>
          <p:cNvPr id="30" name="!!ad1-td#1"/>
          <p:cNvSpPr/>
          <p:nvPr/>
        </p:nvSpPr>
        <p:spPr>
          <a:xfrm>
            <a:off x="12521184" y="4233672"/>
            <a:ext cx="718490" cy="256032"/>
          </a:xfrm>
          <a:prstGeom prst="roundRect">
            <a:avLst>
              <a:gd name="adj" fmla="val 50000"/>
            </a:avLst>
          </a:prstGeom>
          <a:solidFill>
            <a:srgbClr val="6D28D9"/>
          </a:solidFill>
          <a:ln w="9525">
            <a:solidFill>
              <a:srgbClr val="6D28D9"/>
            </a:solidFill>
            <a:prstDash val="solid"/>
          </a:ln>
        </p:spPr>
      </p:sp>
      <p:sp>
        <p:nvSpPr>
          <p:cNvPr id="31" name="!!ad1-td#2"/>
          <p:cNvSpPr txBox="1"/>
          <p:nvPr/>
        </p:nvSpPr>
        <p:spPr>
          <a:xfrm>
            <a:off x="12521184" y="4233672"/>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Flujo comercial: del catálogo a la atención</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26</a:t>
            </a:r>
            <a:endParaRPr lang="en-US" sz="900" dirty="0"/>
          </a:p>
        </p:txBody>
      </p:sp>
      <p:sp>
        <p:nvSpPr>
          <p:cNvPr id="6" name="!!fl0#1"/>
          <p:cNvSpPr/>
          <p:nvPr/>
        </p:nvSpPr>
        <p:spPr>
          <a:xfrm>
            <a:off x="548640" y="1645920"/>
            <a:ext cx="1417320" cy="1417320"/>
          </a:xfrm>
          <a:prstGeom prst="roundRect">
            <a:avLst>
              <a:gd name="adj" fmla="val 5161"/>
            </a:avLst>
          </a:prstGeom>
          <a:solidFill>
            <a:srgbClr val="0B0B0D"/>
          </a:solidFill>
          <a:ln/>
        </p:spPr>
      </p:sp>
      <p:pic>
        <p:nvPicPr>
          <p:cNvPr id="7" name="!!fl0#2" descr="preencoded.png">    </p:cNvPr>
          <p:cNvPicPr>
            <a:picLocks noChangeAspect="1"/>
          </p:cNvPicPr>
          <p:nvPr/>
        </p:nvPicPr>
        <p:blipFill>
          <a:blip r:embed="rId1"/>
          <a:stretch>
            <a:fillRect/>
          </a:stretch>
        </p:blipFill>
        <p:spPr>
          <a:xfrm>
            <a:off x="1056132" y="1783080"/>
            <a:ext cx="402336" cy="402336"/>
          </a:xfrm>
          <a:prstGeom prst="rect">
            <a:avLst/>
          </a:prstGeom>
        </p:spPr>
      </p:pic>
      <p:sp>
        <p:nvSpPr>
          <p:cNvPr id="8" name="!!fl0#3"/>
          <p:cNvSpPr txBox="1"/>
          <p:nvPr/>
        </p:nvSpPr>
        <p:spPr>
          <a:xfrm>
            <a:off x="603504"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Cliente</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Funcionalidades principales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27</a:t>
            </a:r>
            <a:endParaRPr lang="en-US" sz="900" dirty="0"/>
          </a:p>
        </p:txBody>
      </p:sp>
      <p:sp>
        <p:nvSpPr>
          <p:cNvPr id="6" name="@fun1#1"/>
          <p:cNvSpPr/>
          <p:nvPr/>
        </p:nvSpPr>
        <p:spPr>
          <a:xfrm>
            <a:off x="548640" y="1463040"/>
            <a:ext cx="2087209" cy="4526280"/>
          </a:xfrm>
          <a:prstGeom prst="roundRect">
            <a:avLst>
              <a:gd name="adj" fmla="val 3505"/>
            </a:avLst>
          </a:prstGeom>
          <a:solidFill>
            <a:srgbClr val="F5F5F7"/>
          </a:solidFill>
          <a:ln/>
        </p:spPr>
      </p:sp>
      <p:sp>
        <p:nvSpPr>
          <p:cNvPr id="7" name="@fun1#2"/>
          <p:cNvSpPr/>
          <p:nvPr/>
        </p:nvSpPr>
        <p:spPr>
          <a:xfrm>
            <a:off x="731520" y="1645920"/>
            <a:ext cx="548640" cy="548640"/>
          </a:xfrm>
          <a:prstGeom prst="ellipse">
            <a:avLst/>
          </a:prstGeom>
          <a:solidFill>
            <a:srgbClr val="FFFFFF"/>
          </a:solidFill>
          <a:ln/>
        </p:spPr>
      </p:sp>
      <p:pic>
        <p:nvPicPr>
          <p:cNvPr id="8" name="@fun1#3" descr="preencoded.png">    </p:cNvPr>
          <p:cNvPicPr>
            <a:picLocks noChangeAspect="1"/>
          </p:cNvPicPr>
          <p:nvPr/>
        </p:nvPicPr>
        <p:blipFill>
          <a:blip r:embed="rId1"/>
          <a:stretch>
            <a:fillRect/>
          </a:stretch>
        </p:blipFill>
        <p:spPr>
          <a:xfrm>
            <a:off x="863194" y="1777594"/>
            <a:ext cx="285293" cy="285293"/>
          </a:xfrm>
          <a:prstGeom prst="rect">
            <a:avLst/>
          </a:prstGeom>
        </p:spPr>
      </p:pic>
      <p:sp>
        <p:nvSpPr>
          <p:cNvPr id="9" name="@fun1#4"/>
          <p:cNvSpPr txBox="1"/>
          <p:nvPr/>
        </p:nvSpPr>
        <p:spPr>
          <a:xfrm>
            <a:off x="731520" y="2331720"/>
            <a:ext cx="1767169" cy="59436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A · Rediseño visual</a:t>
            </a:r>
            <a:endParaRPr lang="en-US" sz="1450" dirty="0"/>
          </a:p>
        </p:txBody>
      </p:sp>
      <p:sp>
        <p:nvSpPr>
          <p:cNvPr id="10" name="@fun1#5"/>
          <p:cNvSpPr/>
          <p:nvPr/>
        </p:nvSpPr>
        <p:spPr>
          <a:xfrm>
            <a:off x="731520" y="2971800"/>
            <a:ext cx="1048817" cy="256032"/>
          </a:xfrm>
          <a:prstGeom prst="roundRect">
            <a:avLst>
              <a:gd name="adj" fmla="val 50000"/>
            </a:avLst>
          </a:prstGeom>
          <a:solidFill>
            <a:srgbClr val="FFFFFF"/>
          </a:solidFill>
          <a:ln w="9525">
            <a:solidFill>
              <a:srgbClr val="0B0B0D"/>
            </a:solidFill>
            <a:prstDash val="solid"/>
          </a:ln>
        </p:spPr>
      </p:sp>
      <p:sp>
        <p:nvSpPr>
          <p:cNvPr id="11" name="@fun1#6"/>
          <p:cNvSpPr txBox="1"/>
          <p:nvPr/>
        </p:nvSpPr>
        <p:spPr>
          <a:xfrm>
            <a:off x="731520" y="2971800"/>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2" name="@fun1#7"/>
          <p:cNvSpPr txBox="1"/>
          <p:nvPr/>
        </p:nvSpPr>
        <p:spPr>
          <a:xfrm>
            <a:off x="731520"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Identidad Black Hawk y jerarquía visual</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Productos destacados en la home</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Diseño adaptable al celular</a:t>
            </a:r>
            <a:endParaRPr lang="en-US" sz="1150" dirty="0"/>
          </a:p>
        </p:txBody>
      </p:sp>
      <p:sp>
        <p:nvSpPr>
          <p:cNvPr id="13" name="@fun2#1"/>
          <p:cNvSpPr/>
          <p:nvPr/>
        </p:nvSpPr>
        <p:spPr>
          <a:xfrm>
            <a:off x="2800441" y="1463040"/>
            <a:ext cx="2087209" cy="4526280"/>
          </a:xfrm>
          <a:prstGeom prst="roundRect">
            <a:avLst>
              <a:gd name="adj" fmla="val 3505"/>
            </a:avLst>
          </a:prstGeom>
          <a:solidFill>
            <a:srgbClr val="F5F5F7"/>
          </a:solidFill>
          <a:ln/>
        </p:spPr>
      </p:sp>
      <p:sp>
        <p:nvSpPr>
          <p:cNvPr id="14" name="@fun2#2"/>
          <p:cNvSpPr/>
          <p:nvPr/>
        </p:nvSpPr>
        <p:spPr>
          <a:xfrm>
            <a:off x="2983321" y="1645920"/>
            <a:ext cx="548640" cy="548640"/>
          </a:xfrm>
          <a:prstGeom prst="ellipse">
            <a:avLst/>
          </a:prstGeom>
          <a:solidFill>
            <a:srgbClr val="FFFFFF"/>
          </a:solidFill>
          <a:ln/>
        </p:spPr>
      </p:sp>
      <p:pic>
        <p:nvPicPr>
          <p:cNvPr id="15" name="@fun2#3" descr="preencoded.png">    </p:cNvPr>
          <p:cNvPicPr>
            <a:picLocks noChangeAspect="1"/>
          </p:cNvPicPr>
          <p:nvPr/>
        </p:nvPicPr>
        <p:blipFill>
          <a:blip r:embed="rId2"/>
          <a:stretch>
            <a:fillRect/>
          </a:stretch>
        </p:blipFill>
        <p:spPr>
          <a:xfrm>
            <a:off x="3114995" y="1777594"/>
            <a:ext cx="285293" cy="285293"/>
          </a:xfrm>
          <a:prstGeom prst="rect">
            <a:avLst/>
          </a:prstGeom>
        </p:spPr>
      </p:pic>
      <p:sp>
        <p:nvSpPr>
          <p:cNvPr id="16" name="@fun2#4"/>
          <p:cNvSpPr txBox="1"/>
          <p:nvPr/>
        </p:nvSpPr>
        <p:spPr>
          <a:xfrm>
            <a:off x="2983321" y="2331720"/>
            <a:ext cx="1767169" cy="59436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B · Catálogo y consulta</a:t>
            </a:r>
            <a:endParaRPr lang="en-US" sz="1450" dirty="0"/>
          </a:p>
        </p:txBody>
      </p:sp>
      <p:sp>
        <p:nvSpPr>
          <p:cNvPr id="17" name="@fun2#5"/>
          <p:cNvSpPr/>
          <p:nvPr/>
        </p:nvSpPr>
        <p:spPr>
          <a:xfrm>
            <a:off x="2983321" y="2971800"/>
            <a:ext cx="1048817" cy="256032"/>
          </a:xfrm>
          <a:prstGeom prst="roundRect">
            <a:avLst>
              <a:gd name="adj" fmla="val 50000"/>
            </a:avLst>
          </a:prstGeom>
          <a:solidFill>
            <a:srgbClr val="FFFFFF"/>
          </a:solidFill>
          <a:ln w="9525">
            <a:solidFill>
              <a:srgbClr val="0B0B0D"/>
            </a:solidFill>
            <a:prstDash val="solid"/>
          </a:ln>
        </p:spPr>
      </p:sp>
      <p:sp>
        <p:nvSpPr>
          <p:cNvPr id="18" name="@fun2#6"/>
          <p:cNvSpPr txBox="1"/>
          <p:nvPr/>
        </p:nvSpPr>
        <p:spPr>
          <a:xfrm>
            <a:off x="2983321" y="2971800"/>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9" name="@fun2#7"/>
          <p:cNvSpPr txBox="1"/>
          <p:nvPr/>
        </p:nvSpPr>
        <p:spPr>
          <a:xfrm>
            <a:off x="2983321"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Categorías con contador y filtros</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Fichas con especificaciones en lista</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Búsqueda con tipo y potencia</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Comparador de hasta 3 modelos</a:t>
            </a:r>
            <a:endParaRPr lang="en-US" sz="1150" dirty="0"/>
          </a:p>
        </p:txBody>
      </p:sp>
      <p:sp>
        <p:nvSpPr>
          <p:cNvPr id="20" name="@fun3#1"/>
          <p:cNvSpPr/>
          <p:nvPr/>
        </p:nvSpPr>
        <p:spPr>
          <a:xfrm>
            <a:off x="5052243" y="1463040"/>
            <a:ext cx="2087209" cy="4526280"/>
          </a:xfrm>
          <a:prstGeom prst="roundRect">
            <a:avLst>
              <a:gd name="adj" fmla="val 3505"/>
            </a:avLst>
          </a:prstGeom>
          <a:solidFill>
            <a:srgbClr val="0B0B0D"/>
          </a:solidFill>
          <a:ln/>
        </p:spPr>
      </p:sp>
      <p:sp>
        <p:nvSpPr>
          <p:cNvPr id="21" name="@fun3#2"/>
          <p:cNvSpPr/>
          <p:nvPr/>
        </p:nvSpPr>
        <p:spPr>
          <a:xfrm>
            <a:off x="5235123" y="1645920"/>
            <a:ext cx="548640" cy="548640"/>
          </a:xfrm>
          <a:prstGeom prst="ellipse">
            <a:avLst/>
          </a:prstGeom>
          <a:solidFill>
            <a:srgbClr val="FFFFFF"/>
          </a:solidFill>
          <a:ln/>
        </p:spPr>
      </p:sp>
      <p:pic>
        <p:nvPicPr>
          <p:cNvPr id="22" name="@fun3#3" descr="preencoded.png">    </p:cNvPr>
          <p:cNvPicPr>
            <a:picLocks noChangeAspect="1"/>
          </p:cNvPicPr>
          <p:nvPr/>
        </p:nvPicPr>
        <p:blipFill>
          <a:blip r:embed="rId3"/>
          <a:stretch>
            <a:fillRect/>
          </a:stretch>
        </p:blipFill>
        <p:spPr>
          <a:xfrm>
            <a:off x="5366796" y="1777594"/>
            <a:ext cx="285293" cy="285293"/>
          </a:xfrm>
          <a:prstGeom prst="rect">
            <a:avLst/>
          </a:prstGeom>
        </p:spPr>
      </p:pic>
      <p:sp>
        <p:nvSpPr>
          <p:cNvPr id="23" name="@fun3#4"/>
          <p:cNvSpPr txBox="1"/>
          <p:nvPr/>
        </p:nvSpPr>
        <p:spPr>
          <a:xfrm>
            <a:off x="5235123" y="2331720"/>
            <a:ext cx="1767169" cy="594360"/>
          </a:xfrm>
          <a:prstGeom prst="rect">
            <a:avLst/>
          </a:prstGeom>
          <a:noFill/>
          <a:ln/>
        </p:spPr>
        <p:txBody>
          <a:bodyPr wrap="square" lIns="0" tIns="0" rIns="0" bIns="0" rtlCol="0" anchor="t"/>
          <a:lstStyle/>
          <a:p>
            <a:pPr indent="0" marL="0">
              <a:buNone/>
            </a:pPr>
            <a:r>
              <a:rPr lang="en-US" sz="1450" b="1" dirty="0">
                <a:solidFill>
                  <a:srgbClr val="FFFFFF"/>
                </a:solidFill>
                <a:latin typeface="Arial" pitchFamily="34" charset="0"/>
                <a:ea typeface="Arial" pitchFamily="34" charset="-122"/>
                <a:cs typeface="Arial" pitchFamily="34" charset="-120"/>
              </a:rPr>
              <a:t>C · Recorrido comercial</a:t>
            </a:r>
            <a:endParaRPr lang="en-US" sz="1450" dirty="0"/>
          </a:p>
        </p:txBody>
      </p:sp>
      <p:sp>
        <p:nvSpPr>
          <p:cNvPr id="24" name="@fun3#5"/>
          <p:cNvSpPr/>
          <p:nvPr/>
        </p:nvSpPr>
        <p:spPr>
          <a:xfrm>
            <a:off x="5235123" y="2971800"/>
            <a:ext cx="1048817" cy="256032"/>
          </a:xfrm>
          <a:prstGeom prst="roundRect">
            <a:avLst>
              <a:gd name="adj" fmla="val 50000"/>
            </a:avLst>
          </a:prstGeom>
          <a:solidFill>
            <a:srgbClr val="FFFFFF"/>
          </a:solidFill>
          <a:ln w="9525">
            <a:solidFill>
              <a:srgbClr val="0B0B0D"/>
            </a:solidFill>
            <a:prstDash val="solid"/>
          </a:ln>
        </p:spPr>
      </p:sp>
      <p:sp>
        <p:nvSpPr>
          <p:cNvPr id="25" name="@fun3#6"/>
          <p:cNvSpPr txBox="1"/>
          <p:nvPr/>
        </p:nvSpPr>
        <p:spPr>
          <a:xfrm>
            <a:off x="5235123" y="2971800"/>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26" name="@fun3#7"/>
          <p:cNvSpPr txBox="1"/>
          <p:nvPr/>
        </p:nvSpPr>
        <p:spPr>
          <a:xfrm>
            <a:off x="5235123"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FFFFF"/>
                </a:solidFill>
                <a:latin typeface="Arial" pitchFamily="34" charset="0"/>
                <a:ea typeface="Arial" pitchFamily="34" charset="-122"/>
                <a:cs typeface="Arial" pitchFamily="34" charset="-120"/>
              </a:rPr>
              <a:t>«Cotizar» visible en encabezado y ficha</a:t>
            </a:r>
            <a:endParaRPr lang="en-US" sz="1150" dirty="0"/>
          </a:p>
          <a:p>
            <a:pPr marL="342900" indent="-342900">
              <a:spcAft>
                <a:spcPts val="700"/>
              </a:spcAft>
              <a:buSzPct val="100000"/>
              <a:buChar char="■"/>
            </a:pPr>
            <a:r>
              <a:rPr lang="en-US" sz="1150" dirty="0">
                <a:solidFill>
                  <a:srgbClr val="FFFFFF"/>
                </a:solidFill>
                <a:latin typeface="Arial" pitchFamily="34" charset="0"/>
                <a:ea typeface="Arial" pitchFamily="34" charset="-122"/>
                <a:cs typeface="Arial" pitchFamily="34" charset="-120"/>
              </a:rPr>
              <a:t>WhatsApp con el modelo en el mensaje</a:t>
            </a:r>
            <a:endParaRPr lang="en-US" sz="1150" dirty="0"/>
          </a:p>
          <a:p>
            <a:pPr marL="342900" indent="-342900">
              <a:spcAft>
                <a:spcPts val="700"/>
              </a:spcAft>
              <a:buSzPct val="100000"/>
              <a:buChar char="■"/>
            </a:pPr>
            <a:r>
              <a:rPr lang="en-US" sz="1150" dirty="0">
                <a:solidFill>
                  <a:srgbClr val="FFFFFF"/>
                </a:solidFill>
                <a:latin typeface="Arial" pitchFamily="34" charset="0"/>
                <a:ea typeface="Arial" pitchFamily="34" charset="-122"/>
                <a:cs typeface="Arial" pitchFamily="34" charset="-120"/>
              </a:rPr>
              <a:t>Páginas Dónde comprar, Mayoristas y Soporte</a:t>
            </a:r>
            <a:endParaRPr lang="en-US" sz="1150" dirty="0"/>
          </a:p>
        </p:txBody>
      </p:sp>
      <p:sp>
        <p:nvSpPr>
          <p:cNvPr id="27" name="@fun4#1"/>
          <p:cNvSpPr/>
          <p:nvPr/>
        </p:nvSpPr>
        <p:spPr>
          <a:xfrm>
            <a:off x="7304044" y="1463040"/>
            <a:ext cx="2087209" cy="4526280"/>
          </a:xfrm>
          <a:prstGeom prst="roundRect">
            <a:avLst>
              <a:gd name="adj" fmla="val 3505"/>
            </a:avLst>
          </a:prstGeom>
          <a:solidFill>
            <a:srgbClr val="F5F5F7"/>
          </a:solidFill>
          <a:ln/>
        </p:spPr>
      </p:sp>
      <p:sp>
        <p:nvSpPr>
          <p:cNvPr id="28" name="@fun4#2"/>
          <p:cNvSpPr/>
          <p:nvPr/>
        </p:nvSpPr>
        <p:spPr>
          <a:xfrm>
            <a:off x="7486924" y="1645920"/>
            <a:ext cx="548640" cy="548640"/>
          </a:xfrm>
          <a:prstGeom prst="ellipse">
            <a:avLst/>
          </a:prstGeom>
          <a:solidFill>
            <a:srgbClr val="FFFFFF"/>
          </a:solidFill>
          <a:ln/>
        </p:spPr>
      </p:sp>
      <p:pic>
        <p:nvPicPr>
          <p:cNvPr id="29" name="@fun4#3" descr="preencoded.png">    </p:cNvPr>
          <p:cNvPicPr>
            <a:picLocks noChangeAspect="1"/>
          </p:cNvPicPr>
          <p:nvPr/>
        </p:nvPicPr>
        <p:blipFill>
          <a:blip r:embed="rId4"/>
          <a:stretch>
            <a:fillRect/>
          </a:stretch>
        </p:blipFill>
        <p:spPr>
          <a:xfrm>
            <a:off x="7618598" y="1777594"/>
            <a:ext cx="285293" cy="285293"/>
          </a:xfrm>
          <a:prstGeom prst="rect">
            <a:avLst/>
          </a:prstGeom>
        </p:spPr>
      </p:pic>
      <p:sp>
        <p:nvSpPr>
          <p:cNvPr id="30" name="@fun4#4"/>
          <p:cNvSpPr txBox="1"/>
          <p:nvPr/>
        </p:nvSpPr>
        <p:spPr>
          <a:xfrm>
            <a:off x="7486924" y="2331720"/>
            <a:ext cx="1767169" cy="59436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D · Administración</a:t>
            </a:r>
            <a:endParaRPr lang="en-US" sz="1450" dirty="0"/>
          </a:p>
        </p:txBody>
      </p:sp>
      <p:sp>
        <p:nvSpPr>
          <p:cNvPr id="31" name="@fun4#5"/>
          <p:cNvSpPr/>
          <p:nvPr/>
        </p:nvSpPr>
        <p:spPr>
          <a:xfrm>
            <a:off x="7486924" y="2971800"/>
            <a:ext cx="1180948" cy="256032"/>
          </a:xfrm>
          <a:prstGeom prst="roundRect">
            <a:avLst>
              <a:gd name="adj" fmla="val 50000"/>
            </a:avLst>
          </a:prstGeom>
          <a:solidFill>
            <a:srgbClr val="FFFFFF"/>
          </a:solidFill>
          <a:ln w="9525">
            <a:solidFill>
              <a:srgbClr val="6B7280"/>
            </a:solidFill>
            <a:prstDash val="solid"/>
          </a:ln>
        </p:spPr>
      </p:sp>
      <p:sp>
        <p:nvSpPr>
          <p:cNvPr id="32" name="@fun4#6"/>
          <p:cNvSpPr txBox="1"/>
          <p:nvPr/>
        </p:nvSpPr>
        <p:spPr>
          <a:xfrm>
            <a:off x="7486924" y="2971800"/>
            <a:ext cx="1180948" cy="256032"/>
          </a:xfrm>
          <a:prstGeom prst="rect">
            <a:avLst/>
          </a:prstGeom>
          <a:noFill/>
          <a:ln/>
        </p:spPr>
        <p:txBody>
          <a:bodyPr wrap="square" lIns="0" tIns="0" rIns="0" bIns="0" rtlCol="0" anchor="ctr"/>
          <a:lstStyle/>
          <a:p>
            <a:pPr algn="ctr" indent="0" marL="0">
              <a:buNone/>
            </a:pPr>
            <a:r>
              <a:rPr lang="en-US" sz="850" b="1" dirty="0">
                <a:solidFill>
                  <a:srgbClr val="6B7280"/>
                </a:solidFill>
                <a:latin typeface="Arial" pitchFamily="34" charset="0"/>
                <a:ea typeface="Arial" pitchFamily="34" charset="-122"/>
                <a:cs typeface="Arial" pitchFamily="34" charset="-120"/>
              </a:rPr>
              <a:t>Base WordPress</a:t>
            </a:r>
            <a:endParaRPr lang="en-US" sz="850" dirty="0"/>
          </a:p>
        </p:txBody>
      </p:sp>
      <p:sp>
        <p:nvSpPr>
          <p:cNvPr id="33" name="@fun4#7"/>
          <p:cNvSpPr txBox="1"/>
          <p:nvPr/>
        </p:nvSpPr>
        <p:spPr>
          <a:xfrm>
            <a:off x="7486924"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Productos y categorías en WooCommerce</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Contenidos y páginas en WordPress</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Sin programar un panel nuevo</a:t>
            </a:r>
            <a:endParaRPr lang="en-US" sz="1150" dirty="0"/>
          </a:p>
        </p:txBody>
      </p:sp>
      <p:sp>
        <p:nvSpPr>
          <p:cNvPr id="34" name="@fun5#1"/>
          <p:cNvSpPr/>
          <p:nvPr/>
        </p:nvSpPr>
        <p:spPr>
          <a:xfrm>
            <a:off x="9555846" y="1463040"/>
            <a:ext cx="2087209" cy="4526280"/>
          </a:xfrm>
          <a:prstGeom prst="roundRect">
            <a:avLst>
              <a:gd name="adj" fmla="val 3505"/>
            </a:avLst>
          </a:prstGeom>
          <a:solidFill>
            <a:srgbClr val="EDE4FB"/>
          </a:solidFill>
          <a:ln/>
        </p:spPr>
      </p:sp>
      <p:sp>
        <p:nvSpPr>
          <p:cNvPr id="35" name="@fun5#2"/>
          <p:cNvSpPr/>
          <p:nvPr/>
        </p:nvSpPr>
        <p:spPr>
          <a:xfrm>
            <a:off x="9738726" y="1645920"/>
            <a:ext cx="548640" cy="548640"/>
          </a:xfrm>
          <a:prstGeom prst="ellipse">
            <a:avLst/>
          </a:prstGeom>
          <a:solidFill>
            <a:srgbClr val="FFFFFF"/>
          </a:solidFill>
          <a:ln/>
        </p:spPr>
      </p:sp>
      <p:pic>
        <p:nvPicPr>
          <p:cNvPr id="36" name="@fun5#3" descr="preencoded.png">    </p:cNvPr>
          <p:cNvPicPr>
            <a:picLocks noChangeAspect="1"/>
          </p:cNvPicPr>
          <p:nvPr/>
        </p:nvPicPr>
        <p:blipFill>
          <a:blip r:embed="rId5"/>
          <a:stretch>
            <a:fillRect/>
          </a:stretch>
        </p:blipFill>
        <p:spPr>
          <a:xfrm>
            <a:off x="9870399" y="1777594"/>
            <a:ext cx="285293" cy="285293"/>
          </a:xfrm>
          <a:prstGeom prst="rect">
            <a:avLst/>
          </a:prstGeom>
        </p:spPr>
      </p:pic>
      <p:sp>
        <p:nvSpPr>
          <p:cNvPr id="37" name="@fun5#4"/>
          <p:cNvSpPr txBox="1"/>
          <p:nvPr/>
        </p:nvSpPr>
        <p:spPr>
          <a:xfrm>
            <a:off x="9738726" y="2331720"/>
            <a:ext cx="1767169" cy="59436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E · Mejoras complementarias</a:t>
            </a:r>
            <a:endParaRPr lang="en-US" sz="1450" dirty="0"/>
          </a:p>
        </p:txBody>
      </p:sp>
      <p:sp>
        <p:nvSpPr>
          <p:cNvPr id="38" name="@fun5#5"/>
          <p:cNvSpPr/>
          <p:nvPr/>
        </p:nvSpPr>
        <p:spPr>
          <a:xfrm>
            <a:off x="9738726" y="2971800"/>
            <a:ext cx="850621" cy="256032"/>
          </a:xfrm>
          <a:prstGeom prst="roundRect">
            <a:avLst>
              <a:gd name="adj" fmla="val 50000"/>
            </a:avLst>
          </a:prstGeom>
          <a:solidFill>
            <a:srgbClr val="6D28D9"/>
          </a:solidFill>
          <a:ln w="9525">
            <a:solidFill>
              <a:srgbClr val="6D28D9"/>
            </a:solidFill>
            <a:prstDash val="solid"/>
          </a:ln>
        </p:spPr>
      </p:sp>
      <p:sp>
        <p:nvSpPr>
          <p:cNvPr id="39" name="@fun5#6"/>
          <p:cNvSpPr txBox="1"/>
          <p:nvPr/>
        </p:nvSpPr>
        <p:spPr>
          <a:xfrm>
            <a:off x="9738726" y="2971800"/>
            <a:ext cx="85062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Propuesto</a:t>
            </a:r>
            <a:endParaRPr lang="en-US" sz="850" dirty="0"/>
          </a:p>
        </p:txBody>
      </p:sp>
      <p:sp>
        <p:nvSpPr>
          <p:cNvPr id="40" name="@fun5#7"/>
          <p:cNvSpPr txBox="1"/>
          <p:nvPr/>
        </p:nvSpPr>
        <p:spPr>
          <a:xfrm>
            <a:off x="9738726"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Registro del inicio de cada consulta</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Directorio estructurado de distribuidores</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Reportes y auditoría de cambios</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Seguimiento comercial, si se añade un mecanismo</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8" fill="hold">
                      <p:stCondLst>
                        <p:cond delay="indefinite"/>
                      </p:stCondLst>
                      <p:childTnLst>
                        <p:par>
                          <p:cTn id="3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anim calcmode="lin" valueType="num">
                                      <p:cBhvr>
                                        <p:cTn id="6" dur="400" decel="100000" fill="hold"/>
                                        <p:tgtEl>
                                          <p:spTgt spid="6"/>
                                        </p:tgtEl>
                                        <p:attrNameLst>
                                          <p:attrName>ppt_x</p:attrName>
                                        </p:attrNameLst>
                                      </p:cBhvr>
                                      <p:tavLst>
                                        <p:tav tm="0">
                                          <p:val>
                                            <p:strVal val="#ppt_x"/>
                                          </p:val>
                                        </p:tav>
                                        <p:tav tm="100000">
                                          <p:val>
                                            <p:strVal val="#ppt_x"/>
                                          </p:val>
                                        </p:tav>
                                      </p:tavLst>
                                    </p:anim>
                                    <p:anim calcmode="lin" valueType="num">
                                      <p:cBhvr>
                                        <p:cTn id="7" dur="400" decel="100000" fill="hold"/>
                                        <p:tgtEl>
                                          <p:spTgt spid="6"/>
                                        </p:tgtEl>
                                        <p:attrNameLst>
                                          <p:attrName>ppt_y</p:attrName>
                                        </p:attrNameLst>
                                      </p:cBhvr>
                                      <p:tavLst>
                                        <p:tav tm="0">
                                          <p:val>
                                            <p:strVal val="#ppt_y+0.03"/>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anim calcmode="lin" valueType="num">
                                      <p:cBhvr>
                                        <p:cTn id="11" dur="400" decel="100000" fill="hold"/>
                                        <p:tgtEl>
                                          <p:spTgt spid="7"/>
                                        </p:tgtEl>
                                        <p:attrNameLst>
                                          <p:attrName>ppt_x</p:attrName>
                                        </p:attrNameLst>
                                      </p:cBhvr>
                                      <p:tavLst>
                                        <p:tav tm="0">
                                          <p:val>
                                            <p:strVal val="#ppt_x"/>
                                          </p:val>
                                        </p:tav>
                                        <p:tav tm="100000">
                                          <p:val>
                                            <p:strVal val="#ppt_x"/>
                                          </p:val>
                                        </p:tav>
                                      </p:tavLst>
                                    </p:anim>
                                    <p:anim calcmode="lin" valueType="num">
                                      <p:cBhvr>
                                        <p:cTn id="12" dur="400" decel="100000" fill="hold"/>
                                        <p:tgtEl>
                                          <p:spTgt spid="7"/>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anim calcmode="lin" valueType="num">
                                      <p:cBhvr>
                                        <p:cTn id="16" dur="400" decel="100000" fill="hold"/>
                                        <p:tgtEl>
                                          <p:spTgt spid="8"/>
                                        </p:tgtEl>
                                        <p:attrNameLst>
                                          <p:attrName>ppt_x</p:attrName>
                                        </p:attrNameLst>
                                      </p:cBhvr>
                                      <p:tavLst>
                                        <p:tav tm="0">
                                          <p:val>
                                            <p:strVal val="#ppt_x"/>
                                          </p:val>
                                        </p:tav>
                                        <p:tav tm="100000">
                                          <p:val>
                                            <p:strVal val="#ppt_x"/>
                                          </p:val>
                                        </p:tav>
                                      </p:tavLst>
                                    </p:anim>
                                    <p:anim calcmode="lin" valueType="num">
                                      <p:cBhvr>
                                        <p:cTn id="17" dur="400" decel="100000" fill="hold"/>
                                        <p:tgtEl>
                                          <p:spTgt spid="8"/>
                                        </p:tgtEl>
                                        <p:attrNameLst>
                                          <p:attrName>ppt_y</p:attrName>
                                        </p:attrNameLst>
                                      </p:cBhvr>
                                      <p:tavLst>
                                        <p:tav tm="0">
                                          <p:val>
                                            <p:strVal val="#ppt_y+0.03"/>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anim calcmode="lin" valueType="num">
                                      <p:cBhvr>
                                        <p:cTn id="21" dur="400" decel="100000" fill="hold"/>
                                        <p:tgtEl>
                                          <p:spTgt spid="9"/>
                                        </p:tgtEl>
                                        <p:attrNameLst>
                                          <p:attrName>ppt_x</p:attrName>
                                        </p:attrNameLst>
                                      </p:cBhvr>
                                      <p:tavLst>
                                        <p:tav tm="0">
                                          <p:val>
                                            <p:strVal val="#ppt_x"/>
                                          </p:val>
                                        </p:tav>
                                        <p:tav tm="100000">
                                          <p:val>
                                            <p:strVal val="#ppt_x"/>
                                          </p:val>
                                        </p:tav>
                                      </p:tavLst>
                                    </p:anim>
                                    <p:anim calcmode="lin" valueType="num">
                                      <p:cBhvr>
                                        <p:cTn id="22" dur="400" decel="100000" fill="hold"/>
                                        <p:tgtEl>
                                          <p:spTgt spid="9"/>
                                        </p:tgtEl>
                                        <p:attrNameLst>
                                          <p:attrName>ppt_y</p:attrName>
                                        </p:attrNameLst>
                                      </p:cBhvr>
                                      <p:tavLst>
                                        <p:tav tm="0">
                                          <p:val>
                                            <p:strVal val="#ppt_y+0.03"/>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anim calcmode="lin" valueType="num">
                                      <p:cBhvr>
                                        <p:cTn id="26" dur="400" decel="100000" fill="hold"/>
                                        <p:tgtEl>
                                          <p:spTgt spid="10"/>
                                        </p:tgtEl>
                                        <p:attrNameLst>
                                          <p:attrName>ppt_x</p:attrName>
                                        </p:attrNameLst>
                                      </p:cBhvr>
                                      <p:tavLst>
                                        <p:tav tm="0">
                                          <p:val>
                                            <p:strVal val="#ppt_x"/>
                                          </p:val>
                                        </p:tav>
                                        <p:tav tm="100000">
                                          <p:val>
                                            <p:strVal val="#ppt_x"/>
                                          </p:val>
                                        </p:tav>
                                      </p:tavLst>
                                    </p:anim>
                                    <p:anim calcmode="lin" valueType="num">
                                      <p:cBhvr>
                                        <p:cTn id="27" dur="400" decel="100000" fill="hold"/>
                                        <p:tgtEl>
                                          <p:spTgt spid="10"/>
                                        </p:tgtEl>
                                        <p:attrNameLst>
                                          <p:attrName>ppt_y</p:attrName>
                                        </p:attrNameLst>
                                      </p:cBhvr>
                                      <p:tavLst>
                                        <p:tav tm="0">
                                          <p:val>
                                            <p:strVal val="#ppt_y+0.03"/>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00"/>
                                        <p:tgtEl>
                                          <p:spTgt spid="11"/>
                                        </p:tgtEl>
                                      </p:cBhvr>
                                    </p:animEffect>
                                    <p:anim calcmode="lin" valueType="num">
                                      <p:cBhvr>
                                        <p:cTn id="31" dur="400" decel="100000" fill="hold"/>
                                        <p:tgtEl>
                                          <p:spTgt spid="11"/>
                                        </p:tgtEl>
                                        <p:attrNameLst>
                                          <p:attrName>ppt_x</p:attrName>
                                        </p:attrNameLst>
                                      </p:cBhvr>
                                      <p:tavLst>
                                        <p:tav tm="0">
                                          <p:val>
                                            <p:strVal val="#ppt_x"/>
                                          </p:val>
                                        </p:tav>
                                        <p:tav tm="100000">
                                          <p:val>
                                            <p:strVal val="#ppt_x"/>
                                          </p:val>
                                        </p:tav>
                                      </p:tavLst>
                                    </p:anim>
                                    <p:anim calcmode="lin" valueType="num">
                                      <p:cBhvr>
                                        <p:cTn id="32" dur="400" decel="100000" fill="hold"/>
                                        <p:tgtEl>
                                          <p:spTgt spid="11"/>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00"/>
                                        <p:tgtEl>
                                          <p:spTgt spid="12"/>
                                        </p:tgtEl>
                                      </p:cBhvr>
                                    </p:animEffect>
                                    <p:anim calcmode="lin" valueType="num">
                                      <p:cBhvr>
                                        <p:cTn id="36" dur="400" decel="100000" fill="hold"/>
                                        <p:tgtEl>
                                          <p:spTgt spid="12"/>
                                        </p:tgtEl>
                                        <p:attrNameLst>
                                          <p:attrName>ppt_x</p:attrName>
                                        </p:attrNameLst>
                                      </p:cBhvr>
                                      <p:tavLst>
                                        <p:tav tm="0">
                                          <p:val>
                                            <p:strVal val="#ppt_x"/>
                                          </p:val>
                                        </p:tav>
                                        <p:tav tm="100000">
                                          <p:val>
                                            <p:strVal val="#ppt_x"/>
                                          </p:val>
                                        </p:tav>
                                      </p:tavLst>
                                    </p:anim>
                                    <p:anim calcmode="lin" valueType="num">
                                      <p:cBhvr>
                                        <p:cTn id="37" dur="400" decel="100000" fill="hold"/>
                                        <p:tgtEl>
                                          <p:spTgt spid="12"/>
                                        </p:tgtEl>
                                        <p:attrNameLst>
                                          <p:attrName>ppt_y</p:attrName>
                                        </p:attrNameLst>
                                      </p:cBhvr>
                                      <p:tavLst>
                                        <p:tav tm="0">
                                          <p:val>
                                            <p:strVal val="#ppt_y+0.03"/>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400"/>
                                        <p:tgtEl>
                                          <p:spTgt spid="13"/>
                                        </p:tgtEl>
                                      </p:cBhvr>
                                    </p:animEffect>
                                    <p:anim calcmode="lin" valueType="num">
                                      <p:cBhvr>
                                        <p:cTn id="43" dur="400" decel="100000" fill="hold"/>
                                        <p:tgtEl>
                                          <p:spTgt spid="13"/>
                                        </p:tgtEl>
                                        <p:attrNameLst>
                                          <p:attrName>ppt_x</p:attrName>
                                        </p:attrNameLst>
                                      </p:cBhvr>
                                      <p:tavLst>
                                        <p:tav tm="0">
                                          <p:val>
                                            <p:strVal val="#ppt_x"/>
                                          </p:val>
                                        </p:tav>
                                        <p:tav tm="100000">
                                          <p:val>
                                            <p:strVal val="#ppt_x"/>
                                          </p:val>
                                        </p:tav>
                                      </p:tavLst>
                                    </p:anim>
                                    <p:anim calcmode="lin" valueType="num">
                                      <p:cBhvr>
                                        <p:cTn id="44" dur="400" decel="100000" fill="hold"/>
                                        <p:tgtEl>
                                          <p:spTgt spid="13"/>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400"/>
                                        <p:tgtEl>
                                          <p:spTgt spid="14"/>
                                        </p:tgtEl>
                                      </p:cBhvr>
                                    </p:animEffect>
                                    <p:anim calcmode="lin" valueType="num">
                                      <p:cBhvr>
                                        <p:cTn id="48" dur="400" decel="100000" fill="hold"/>
                                        <p:tgtEl>
                                          <p:spTgt spid="14"/>
                                        </p:tgtEl>
                                        <p:attrNameLst>
                                          <p:attrName>ppt_x</p:attrName>
                                        </p:attrNameLst>
                                      </p:cBhvr>
                                      <p:tavLst>
                                        <p:tav tm="0">
                                          <p:val>
                                            <p:strVal val="#ppt_x"/>
                                          </p:val>
                                        </p:tav>
                                        <p:tav tm="100000">
                                          <p:val>
                                            <p:strVal val="#ppt_x"/>
                                          </p:val>
                                        </p:tav>
                                      </p:tavLst>
                                    </p:anim>
                                    <p:anim calcmode="lin" valueType="num">
                                      <p:cBhvr>
                                        <p:cTn id="49" dur="400" decel="100000" fill="hold"/>
                                        <p:tgtEl>
                                          <p:spTgt spid="14"/>
                                        </p:tgtEl>
                                        <p:attrNameLst>
                                          <p:attrName>ppt_y</p:attrName>
                                        </p:attrNameLst>
                                      </p:cBhvr>
                                      <p:tavLst>
                                        <p:tav tm="0">
                                          <p:val>
                                            <p:strVal val="#ppt_y+0.03"/>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400"/>
                                        <p:tgtEl>
                                          <p:spTgt spid="15"/>
                                        </p:tgtEl>
                                      </p:cBhvr>
                                    </p:animEffect>
                                    <p:anim calcmode="lin" valueType="num">
                                      <p:cBhvr>
                                        <p:cTn id="53" dur="400" decel="100000" fill="hold"/>
                                        <p:tgtEl>
                                          <p:spTgt spid="15"/>
                                        </p:tgtEl>
                                        <p:attrNameLst>
                                          <p:attrName>ppt_x</p:attrName>
                                        </p:attrNameLst>
                                      </p:cBhvr>
                                      <p:tavLst>
                                        <p:tav tm="0">
                                          <p:val>
                                            <p:strVal val="#ppt_x"/>
                                          </p:val>
                                        </p:tav>
                                        <p:tav tm="100000">
                                          <p:val>
                                            <p:strVal val="#ppt_x"/>
                                          </p:val>
                                        </p:tav>
                                      </p:tavLst>
                                    </p:anim>
                                    <p:anim calcmode="lin" valueType="num">
                                      <p:cBhvr>
                                        <p:cTn id="54" dur="400" decel="100000" fill="hold"/>
                                        <p:tgtEl>
                                          <p:spTgt spid="15"/>
                                        </p:tgtEl>
                                        <p:attrNameLst>
                                          <p:attrName>ppt_y</p:attrName>
                                        </p:attrNameLst>
                                      </p:cBhvr>
                                      <p:tavLst>
                                        <p:tav tm="0">
                                          <p:val>
                                            <p:strVal val="#ppt_y+0.03"/>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400"/>
                                        <p:tgtEl>
                                          <p:spTgt spid="16"/>
                                        </p:tgtEl>
                                      </p:cBhvr>
                                    </p:animEffect>
                                    <p:anim calcmode="lin" valueType="num">
                                      <p:cBhvr>
                                        <p:cTn id="58" dur="400" decel="100000" fill="hold"/>
                                        <p:tgtEl>
                                          <p:spTgt spid="16"/>
                                        </p:tgtEl>
                                        <p:attrNameLst>
                                          <p:attrName>ppt_x</p:attrName>
                                        </p:attrNameLst>
                                      </p:cBhvr>
                                      <p:tavLst>
                                        <p:tav tm="0">
                                          <p:val>
                                            <p:strVal val="#ppt_x"/>
                                          </p:val>
                                        </p:tav>
                                        <p:tav tm="100000">
                                          <p:val>
                                            <p:strVal val="#ppt_x"/>
                                          </p:val>
                                        </p:tav>
                                      </p:tavLst>
                                    </p:anim>
                                    <p:anim calcmode="lin" valueType="num">
                                      <p:cBhvr>
                                        <p:cTn id="59" dur="400" decel="100000" fill="hold"/>
                                        <p:tgtEl>
                                          <p:spTgt spid="16"/>
                                        </p:tgtEl>
                                        <p:attrNameLst>
                                          <p:attrName>ppt_y</p:attrName>
                                        </p:attrNameLst>
                                      </p:cBhvr>
                                      <p:tavLst>
                                        <p:tav tm="0">
                                          <p:val>
                                            <p:strVal val="#ppt_y+0.03"/>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400"/>
                                        <p:tgtEl>
                                          <p:spTgt spid="17"/>
                                        </p:tgtEl>
                                      </p:cBhvr>
                                    </p:animEffect>
                                    <p:anim calcmode="lin" valueType="num">
                                      <p:cBhvr>
                                        <p:cTn id="63" dur="400" decel="100000" fill="hold"/>
                                        <p:tgtEl>
                                          <p:spTgt spid="17"/>
                                        </p:tgtEl>
                                        <p:attrNameLst>
                                          <p:attrName>ppt_x</p:attrName>
                                        </p:attrNameLst>
                                      </p:cBhvr>
                                      <p:tavLst>
                                        <p:tav tm="0">
                                          <p:val>
                                            <p:strVal val="#ppt_x"/>
                                          </p:val>
                                        </p:tav>
                                        <p:tav tm="100000">
                                          <p:val>
                                            <p:strVal val="#ppt_x"/>
                                          </p:val>
                                        </p:tav>
                                      </p:tavLst>
                                    </p:anim>
                                    <p:anim calcmode="lin" valueType="num">
                                      <p:cBhvr>
                                        <p:cTn id="64" dur="400" decel="100000" fill="hold"/>
                                        <p:tgtEl>
                                          <p:spTgt spid="17"/>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400"/>
                                        <p:tgtEl>
                                          <p:spTgt spid="18"/>
                                        </p:tgtEl>
                                      </p:cBhvr>
                                    </p:animEffect>
                                    <p:anim calcmode="lin" valueType="num">
                                      <p:cBhvr>
                                        <p:cTn id="68" dur="400" decel="100000" fill="hold"/>
                                        <p:tgtEl>
                                          <p:spTgt spid="18"/>
                                        </p:tgtEl>
                                        <p:attrNameLst>
                                          <p:attrName>ppt_x</p:attrName>
                                        </p:attrNameLst>
                                      </p:cBhvr>
                                      <p:tavLst>
                                        <p:tav tm="0">
                                          <p:val>
                                            <p:strVal val="#ppt_x"/>
                                          </p:val>
                                        </p:tav>
                                        <p:tav tm="100000">
                                          <p:val>
                                            <p:strVal val="#ppt_x"/>
                                          </p:val>
                                        </p:tav>
                                      </p:tavLst>
                                    </p:anim>
                                    <p:anim calcmode="lin" valueType="num">
                                      <p:cBhvr>
                                        <p:cTn id="69" dur="400" decel="100000" fill="hold"/>
                                        <p:tgtEl>
                                          <p:spTgt spid="18"/>
                                        </p:tgtEl>
                                        <p:attrNameLst>
                                          <p:attrName>ppt_y</p:attrName>
                                        </p:attrNameLst>
                                      </p:cBhvr>
                                      <p:tavLst>
                                        <p:tav tm="0">
                                          <p:val>
                                            <p:strVal val="#ppt_y+0.03"/>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400"/>
                                        <p:tgtEl>
                                          <p:spTgt spid="19"/>
                                        </p:tgtEl>
                                      </p:cBhvr>
                                    </p:animEffect>
                                    <p:anim calcmode="lin" valueType="num">
                                      <p:cBhvr>
                                        <p:cTn id="73" dur="400" decel="100000" fill="hold"/>
                                        <p:tgtEl>
                                          <p:spTgt spid="19"/>
                                        </p:tgtEl>
                                        <p:attrNameLst>
                                          <p:attrName>ppt_x</p:attrName>
                                        </p:attrNameLst>
                                      </p:cBhvr>
                                      <p:tavLst>
                                        <p:tav tm="0">
                                          <p:val>
                                            <p:strVal val="#ppt_x"/>
                                          </p:val>
                                        </p:tav>
                                        <p:tav tm="100000">
                                          <p:val>
                                            <p:strVal val="#ppt_x"/>
                                          </p:val>
                                        </p:tav>
                                      </p:tavLst>
                                    </p:anim>
                                    <p:anim calcmode="lin" valueType="num">
                                      <p:cBhvr>
                                        <p:cTn id="74" dur="400" decel="100000" fill="hold"/>
                                        <p:tgtEl>
                                          <p:spTgt spid="19"/>
                                        </p:tgtEl>
                                        <p:attrNameLst>
                                          <p:attrName>ppt_y</p:attrName>
                                        </p:attrNameLst>
                                      </p:cBhvr>
                                      <p:tavLst>
                                        <p:tav tm="0">
                                          <p:val>
                                            <p:strVal val="#ppt_y+0.03"/>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00"/>
                                        <p:tgtEl>
                                          <p:spTgt spid="20"/>
                                        </p:tgtEl>
                                      </p:cBhvr>
                                    </p:animEffect>
                                    <p:anim calcmode="lin" valueType="num">
                                      <p:cBhvr>
                                        <p:cTn id="80" dur="400" decel="100000" fill="hold"/>
                                        <p:tgtEl>
                                          <p:spTgt spid="20"/>
                                        </p:tgtEl>
                                        <p:attrNameLst>
                                          <p:attrName>ppt_x</p:attrName>
                                        </p:attrNameLst>
                                      </p:cBhvr>
                                      <p:tavLst>
                                        <p:tav tm="0">
                                          <p:val>
                                            <p:strVal val="#ppt_x"/>
                                          </p:val>
                                        </p:tav>
                                        <p:tav tm="100000">
                                          <p:val>
                                            <p:strVal val="#ppt_x"/>
                                          </p:val>
                                        </p:tav>
                                      </p:tavLst>
                                    </p:anim>
                                    <p:anim calcmode="lin" valueType="num">
                                      <p:cBhvr>
                                        <p:cTn id="81" dur="400" decel="100000" fill="hold"/>
                                        <p:tgtEl>
                                          <p:spTgt spid="20"/>
                                        </p:tgtEl>
                                        <p:attrNameLst>
                                          <p:attrName>ppt_y</p:attrName>
                                        </p:attrNameLst>
                                      </p:cBhvr>
                                      <p:tavLst>
                                        <p:tav tm="0">
                                          <p:val>
                                            <p:strVal val="#ppt_y+0.03"/>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fade">
                                      <p:cBhvr>
                                        <p:cTn id="84" dur="400"/>
                                        <p:tgtEl>
                                          <p:spTgt spid="21"/>
                                        </p:tgtEl>
                                      </p:cBhvr>
                                    </p:animEffect>
                                    <p:anim calcmode="lin" valueType="num">
                                      <p:cBhvr>
                                        <p:cTn id="85" dur="400" decel="100000" fill="hold"/>
                                        <p:tgtEl>
                                          <p:spTgt spid="21"/>
                                        </p:tgtEl>
                                        <p:attrNameLst>
                                          <p:attrName>ppt_x</p:attrName>
                                        </p:attrNameLst>
                                      </p:cBhvr>
                                      <p:tavLst>
                                        <p:tav tm="0">
                                          <p:val>
                                            <p:strVal val="#ppt_x"/>
                                          </p:val>
                                        </p:tav>
                                        <p:tav tm="100000">
                                          <p:val>
                                            <p:strVal val="#ppt_x"/>
                                          </p:val>
                                        </p:tav>
                                      </p:tavLst>
                                    </p:anim>
                                    <p:anim calcmode="lin" valueType="num">
                                      <p:cBhvr>
                                        <p:cTn id="86" dur="400" decel="100000" fill="hold"/>
                                        <p:tgtEl>
                                          <p:spTgt spid="21"/>
                                        </p:tgtEl>
                                        <p:attrNameLst>
                                          <p:attrName>ppt_y</p:attrName>
                                        </p:attrNameLst>
                                      </p:cBhvr>
                                      <p:tavLst>
                                        <p:tav tm="0">
                                          <p:val>
                                            <p:strVal val="#ppt_y+0.03"/>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fade">
                                      <p:cBhvr>
                                        <p:cTn id="89" dur="400"/>
                                        <p:tgtEl>
                                          <p:spTgt spid="22"/>
                                        </p:tgtEl>
                                      </p:cBhvr>
                                    </p:animEffect>
                                    <p:anim calcmode="lin" valueType="num">
                                      <p:cBhvr>
                                        <p:cTn id="90" dur="400" decel="100000" fill="hold"/>
                                        <p:tgtEl>
                                          <p:spTgt spid="22"/>
                                        </p:tgtEl>
                                        <p:attrNameLst>
                                          <p:attrName>ppt_x</p:attrName>
                                        </p:attrNameLst>
                                      </p:cBhvr>
                                      <p:tavLst>
                                        <p:tav tm="0">
                                          <p:val>
                                            <p:strVal val="#ppt_x"/>
                                          </p:val>
                                        </p:tav>
                                        <p:tav tm="100000">
                                          <p:val>
                                            <p:strVal val="#ppt_x"/>
                                          </p:val>
                                        </p:tav>
                                      </p:tavLst>
                                    </p:anim>
                                    <p:anim calcmode="lin" valueType="num">
                                      <p:cBhvr>
                                        <p:cTn id="91" dur="400" decel="100000" fill="hold"/>
                                        <p:tgtEl>
                                          <p:spTgt spid="22"/>
                                        </p:tgtEl>
                                        <p:attrNameLst>
                                          <p:attrName>ppt_y</p:attrName>
                                        </p:attrNameLst>
                                      </p:cBhvr>
                                      <p:tavLst>
                                        <p:tav tm="0">
                                          <p:val>
                                            <p:strVal val="#ppt_y+0.03"/>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400"/>
                                        <p:tgtEl>
                                          <p:spTgt spid="23"/>
                                        </p:tgtEl>
                                      </p:cBhvr>
                                    </p:animEffect>
                                    <p:anim calcmode="lin" valueType="num">
                                      <p:cBhvr>
                                        <p:cTn id="95" dur="400" decel="100000" fill="hold"/>
                                        <p:tgtEl>
                                          <p:spTgt spid="23"/>
                                        </p:tgtEl>
                                        <p:attrNameLst>
                                          <p:attrName>ppt_x</p:attrName>
                                        </p:attrNameLst>
                                      </p:cBhvr>
                                      <p:tavLst>
                                        <p:tav tm="0">
                                          <p:val>
                                            <p:strVal val="#ppt_x"/>
                                          </p:val>
                                        </p:tav>
                                        <p:tav tm="100000">
                                          <p:val>
                                            <p:strVal val="#ppt_x"/>
                                          </p:val>
                                        </p:tav>
                                      </p:tavLst>
                                    </p:anim>
                                    <p:anim calcmode="lin" valueType="num">
                                      <p:cBhvr>
                                        <p:cTn id="96" dur="400" decel="100000" fill="hold"/>
                                        <p:tgtEl>
                                          <p:spTgt spid="23"/>
                                        </p:tgtEl>
                                        <p:attrNameLst>
                                          <p:attrName>ppt_y</p:attrName>
                                        </p:attrNameLst>
                                      </p:cBhvr>
                                      <p:tavLst>
                                        <p:tav tm="0">
                                          <p:val>
                                            <p:strVal val="#ppt_y+0.03"/>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400"/>
                                        <p:tgtEl>
                                          <p:spTgt spid="24"/>
                                        </p:tgtEl>
                                      </p:cBhvr>
                                    </p:animEffect>
                                    <p:anim calcmode="lin" valueType="num">
                                      <p:cBhvr>
                                        <p:cTn id="100" dur="400" decel="100000" fill="hold"/>
                                        <p:tgtEl>
                                          <p:spTgt spid="24"/>
                                        </p:tgtEl>
                                        <p:attrNameLst>
                                          <p:attrName>ppt_x</p:attrName>
                                        </p:attrNameLst>
                                      </p:cBhvr>
                                      <p:tavLst>
                                        <p:tav tm="0">
                                          <p:val>
                                            <p:strVal val="#ppt_x"/>
                                          </p:val>
                                        </p:tav>
                                        <p:tav tm="100000">
                                          <p:val>
                                            <p:strVal val="#ppt_x"/>
                                          </p:val>
                                        </p:tav>
                                      </p:tavLst>
                                    </p:anim>
                                    <p:anim calcmode="lin" valueType="num">
                                      <p:cBhvr>
                                        <p:cTn id="101" dur="400" decel="100000" fill="hold"/>
                                        <p:tgtEl>
                                          <p:spTgt spid="24"/>
                                        </p:tgtEl>
                                        <p:attrNameLst>
                                          <p:attrName>ppt_y</p:attrName>
                                        </p:attrNameLst>
                                      </p:cBhvr>
                                      <p:tavLst>
                                        <p:tav tm="0">
                                          <p:val>
                                            <p:strVal val="#ppt_y+0.03"/>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5"/>
                                        </p:tgtEl>
                                        <p:attrNameLst>
                                          <p:attrName>style.visibility</p:attrName>
                                        </p:attrNameLst>
                                      </p:cBhvr>
                                      <p:to>
                                        <p:strVal val="visible"/>
                                      </p:to>
                                    </p:set>
                                    <p:animEffect transition="in" filter="fade">
                                      <p:cBhvr>
                                        <p:cTn id="104" dur="400"/>
                                        <p:tgtEl>
                                          <p:spTgt spid="25"/>
                                        </p:tgtEl>
                                      </p:cBhvr>
                                    </p:animEffect>
                                    <p:anim calcmode="lin" valueType="num">
                                      <p:cBhvr>
                                        <p:cTn id="105" dur="400" decel="100000" fill="hold"/>
                                        <p:tgtEl>
                                          <p:spTgt spid="25"/>
                                        </p:tgtEl>
                                        <p:attrNameLst>
                                          <p:attrName>ppt_x</p:attrName>
                                        </p:attrNameLst>
                                      </p:cBhvr>
                                      <p:tavLst>
                                        <p:tav tm="0">
                                          <p:val>
                                            <p:strVal val="#ppt_x"/>
                                          </p:val>
                                        </p:tav>
                                        <p:tav tm="100000">
                                          <p:val>
                                            <p:strVal val="#ppt_x"/>
                                          </p:val>
                                        </p:tav>
                                      </p:tavLst>
                                    </p:anim>
                                    <p:anim calcmode="lin" valueType="num">
                                      <p:cBhvr>
                                        <p:cTn id="106" dur="400" decel="100000" fill="hold"/>
                                        <p:tgtEl>
                                          <p:spTgt spid="25"/>
                                        </p:tgtEl>
                                        <p:attrNameLst>
                                          <p:attrName>ppt_y</p:attrName>
                                        </p:attrNameLst>
                                      </p:cBhvr>
                                      <p:tavLst>
                                        <p:tav tm="0">
                                          <p:val>
                                            <p:strVal val="#ppt_y+0.03"/>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6"/>
                                        </p:tgtEl>
                                        <p:attrNameLst>
                                          <p:attrName>style.visibility</p:attrName>
                                        </p:attrNameLst>
                                      </p:cBhvr>
                                      <p:to>
                                        <p:strVal val="visible"/>
                                      </p:to>
                                    </p:set>
                                    <p:animEffect transition="in" filter="fade">
                                      <p:cBhvr>
                                        <p:cTn id="109" dur="400"/>
                                        <p:tgtEl>
                                          <p:spTgt spid="26"/>
                                        </p:tgtEl>
                                      </p:cBhvr>
                                    </p:animEffect>
                                    <p:anim calcmode="lin" valueType="num">
                                      <p:cBhvr>
                                        <p:cTn id="110" dur="400" decel="100000" fill="hold"/>
                                        <p:tgtEl>
                                          <p:spTgt spid="26"/>
                                        </p:tgtEl>
                                        <p:attrNameLst>
                                          <p:attrName>ppt_x</p:attrName>
                                        </p:attrNameLst>
                                      </p:cBhvr>
                                      <p:tavLst>
                                        <p:tav tm="0">
                                          <p:val>
                                            <p:strVal val="#ppt_x"/>
                                          </p:val>
                                        </p:tav>
                                        <p:tav tm="100000">
                                          <p:val>
                                            <p:strVal val="#ppt_x"/>
                                          </p:val>
                                        </p:tav>
                                      </p:tavLst>
                                    </p:anim>
                                    <p:anim calcmode="lin" valueType="num">
                                      <p:cBhvr>
                                        <p:cTn id="111" dur="400" decel="100000" fill="hold"/>
                                        <p:tgtEl>
                                          <p:spTgt spid="26"/>
                                        </p:tgtEl>
                                        <p:attrNameLst>
                                          <p:attrName>ppt_y</p:attrName>
                                        </p:attrNameLst>
                                      </p:cBhvr>
                                      <p:tavLst>
                                        <p:tav tm="0">
                                          <p:val>
                                            <p:strVal val="#ppt_y+0.03"/>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400"/>
                                        <p:tgtEl>
                                          <p:spTgt spid="27"/>
                                        </p:tgtEl>
                                      </p:cBhvr>
                                    </p:animEffect>
                                    <p:anim calcmode="lin" valueType="num">
                                      <p:cBhvr>
                                        <p:cTn id="117" dur="400" decel="100000" fill="hold"/>
                                        <p:tgtEl>
                                          <p:spTgt spid="27"/>
                                        </p:tgtEl>
                                        <p:attrNameLst>
                                          <p:attrName>ppt_x</p:attrName>
                                        </p:attrNameLst>
                                      </p:cBhvr>
                                      <p:tavLst>
                                        <p:tav tm="0">
                                          <p:val>
                                            <p:strVal val="#ppt_x"/>
                                          </p:val>
                                        </p:tav>
                                        <p:tav tm="100000">
                                          <p:val>
                                            <p:strVal val="#ppt_x"/>
                                          </p:val>
                                        </p:tav>
                                      </p:tavLst>
                                    </p:anim>
                                    <p:anim calcmode="lin" valueType="num">
                                      <p:cBhvr>
                                        <p:cTn id="118" dur="400" decel="100000" fill="hold"/>
                                        <p:tgtEl>
                                          <p:spTgt spid="27"/>
                                        </p:tgtEl>
                                        <p:attrNameLst>
                                          <p:attrName>ppt_y</p:attrName>
                                        </p:attrNameLst>
                                      </p:cBhvr>
                                      <p:tavLst>
                                        <p:tav tm="0">
                                          <p:val>
                                            <p:strVal val="#ppt_y+0.03"/>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28"/>
                                        </p:tgtEl>
                                        <p:attrNameLst>
                                          <p:attrName>style.visibility</p:attrName>
                                        </p:attrNameLst>
                                      </p:cBhvr>
                                      <p:to>
                                        <p:strVal val="visible"/>
                                      </p:to>
                                    </p:set>
                                    <p:animEffect transition="in" filter="fade">
                                      <p:cBhvr>
                                        <p:cTn id="121" dur="400"/>
                                        <p:tgtEl>
                                          <p:spTgt spid="28"/>
                                        </p:tgtEl>
                                      </p:cBhvr>
                                    </p:animEffect>
                                    <p:anim calcmode="lin" valueType="num">
                                      <p:cBhvr>
                                        <p:cTn id="122" dur="400" decel="100000" fill="hold"/>
                                        <p:tgtEl>
                                          <p:spTgt spid="28"/>
                                        </p:tgtEl>
                                        <p:attrNameLst>
                                          <p:attrName>ppt_x</p:attrName>
                                        </p:attrNameLst>
                                      </p:cBhvr>
                                      <p:tavLst>
                                        <p:tav tm="0">
                                          <p:val>
                                            <p:strVal val="#ppt_x"/>
                                          </p:val>
                                        </p:tav>
                                        <p:tav tm="100000">
                                          <p:val>
                                            <p:strVal val="#ppt_x"/>
                                          </p:val>
                                        </p:tav>
                                      </p:tavLst>
                                    </p:anim>
                                    <p:anim calcmode="lin" valueType="num">
                                      <p:cBhvr>
                                        <p:cTn id="123" dur="400" decel="100000" fill="hold"/>
                                        <p:tgtEl>
                                          <p:spTgt spid="28"/>
                                        </p:tgtEl>
                                        <p:attrNameLst>
                                          <p:attrName>ppt_y</p:attrName>
                                        </p:attrNameLst>
                                      </p:cBhvr>
                                      <p:tavLst>
                                        <p:tav tm="0">
                                          <p:val>
                                            <p:strVal val="#ppt_y+0.03"/>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29"/>
                                        </p:tgtEl>
                                        <p:attrNameLst>
                                          <p:attrName>style.visibility</p:attrName>
                                        </p:attrNameLst>
                                      </p:cBhvr>
                                      <p:to>
                                        <p:strVal val="visible"/>
                                      </p:to>
                                    </p:set>
                                    <p:animEffect transition="in" filter="fade">
                                      <p:cBhvr>
                                        <p:cTn id="126" dur="400"/>
                                        <p:tgtEl>
                                          <p:spTgt spid="29"/>
                                        </p:tgtEl>
                                      </p:cBhvr>
                                    </p:animEffect>
                                    <p:anim calcmode="lin" valueType="num">
                                      <p:cBhvr>
                                        <p:cTn id="127" dur="400" decel="100000" fill="hold"/>
                                        <p:tgtEl>
                                          <p:spTgt spid="29"/>
                                        </p:tgtEl>
                                        <p:attrNameLst>
                                          <p:attrName>ppt_x</p:attrName>
                                        </p:attrNameLst>
                                      </p:cBhvr>
                                      <p:tavLst>
                                        <p:tav tm="0">
                                          <p:val>
                                            <p:strVal val="#ppt_x"/>
                                          </p:val>
                                        </p:tav>
                                        <p:tav tm="100000">
                                          <p:val>
                                            <p:strVal val="#ppt_x"/>
                                          </p:val>
                                        </p:tav>
                                      </p:tavLst>
                                    </p:anim>
                                    <p:anim calcmode="lin" valueType="num">
                                      <p:cBhvr>
                                        <p:cTn id="128" dur="400" decel="100000" fill="hold"/>
                                        <p:tgtEl>
                                          <p:spTgt spid="29"/>
                                        </p:tgtEl>
                                        <p:attrNameLst>
                                          <p:attrName>ppt_y</p:attrName>
                                        </p:attrNameLst>
                                      </p:cBhvr>
                                      <p:tavLst>
                                        <p:tav tm="0">
                                          <p:val>
                                            <p:strVal val="#ppt_y+0.03"/>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30"/>
                                        </p:tgtEl>
                                        <p:attrNameLst>
                                          <p:attrName>style.visibility</p:attrName>
                                        </p:attrNameLst>
                                      </p:cBhvr>
                                      <p:to>
                                        <p:strVal val="visible"/>
                                      </p:to>
                                    </p:set>
                                    <p:animEffect transition="in" filter="fade">
                                      <p:cBhvr>
                                        <p:cTn id="131" dur="400"/>
                                        <p:tgtEl>
                                          <p:spTgt spid="30"/>
                                        </p:tgtEl>
                                      </p:cBhvr>
                                    </p:animEffect>
                                    <p:anim calcmode="lin" valueType="num">
                                      <p:cBhvr>
                                        <p:cTn id="132" dur="400" decel="100000" fill="hold"/>
                                        <p:tgtEl>
                                          <p:spTgt spid="30"/>
                                        </p:tgtEl>
                                        <p:attrNameLst>
                                          <p:attrName>ppt_x</p:attrName>
                                        </p:attrNameLst>
                                      </p:cBhvr>
                                      <p:tavLst>
                                        <p:tav tm="0">
                                          <p:val>
                                            <p:strVal val="#ppt_x"/>
                                          </p:val>
                                        </p:tav>
                                        <p:tav tm="100000">
                                          <p:val>
                                            <p:strVal val="#ppt_x"/>
                                          </p:val>
                                        </p:tav>
                                      </p:tavLst>
                                    </p:anim>
                                    <p:anim calcmode="lin" valueType="num">
                                      <p:cBhvr>
                                        <p:cTn id="133" dur="400" decel="100000" fill="hold"/>
                                        <p:tgtEl>
                                          <p:spTgt spid="30"/>
                                        </p:tgtEl>
                                        <p:attrNameLst>
                                          <p:attrName>ppt_y</p:attrName>
                                        </p:attrNameLst>
                                      </p:cBhvr>
                                      <p:tavLst>
                                        <p:tav tm="0">
                                          <p:val>
                                            <p:strVal val="#ppt_y+0.03"/>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400"/>
                                        <p:tgtEl>
                                          <p:spTgt spid="31"/>
                                        </p:tgtEl>
                                      </p:cBhvr>
                                    </p:animEffect>
                                    <p:anim calcmode="lin" valueType="num">
                                      <p:cBhvr>
                                        <p:cTn id="137" dur="400" decel="100000" fill="hold"/>
                                        <p:tgtEl>
                                          <p:spTgt spid="31"/>
                                        </p:tgtEl>
                                        <p:attrNameLst>
                                          <p:attrName>ppt_x</p:attrName>
                                        </p:attrNameLst>
                                      </p:cBhvr>
                                      <p:tavLst>
                                        <p:tav tm="0">
                                          <p:val>
                                            <p:strVal val="#ppt_x"/>
                                          </p:val>
                                        </p:tav>
                                        <p:tav tm="100000">
                                          <p:val>
                                            <p:strVal val="#ppt_x"/>
                                          </p:val>
                                        </p:tav>
                                      </p:tavLst>
                                    </p:anim>
                                    <p:anim calcmode="lin" valueType="num">
                                      <p:cBhvr>
                                        <p:cTn id="138" dur="400" decel="100000" fill="hold"/>
                                        <p:tgtEl>
                                          <p:spTgt spid="31"/>
                                        </p:tgtEl>
                                        <p:attrNameLst>
                                          <p:attrName>ppt_y</p:attrName>
                                        </p:attrNameLst>
                                      </p:cBhvr>
                                      <p:tavLst>
                                        <p:tav tm="0">
                                          <p:val>
                                            <p:strVal val="#ppt_y+0.03"/>
                                          </p:val>
                                        </p:tav>
                                        <p:tav tm="100000">
                                          <p:val>
                                            <p:strVal val="#ppt_y"/>
                                          </p:val>
                                        </p:tav>
                                      </p:tavLst>
                                    </p:anim>
                                  </p:childTnLst>
                                </p:cTn>
                              </p:par>
                              <p:par>
                                <p:cTn id="139" presetID="42" presetClass="entr" presetSubtype="0" fill="hold" grpId="0" nodeType="withEffect">
                                  <p:stCondLst>
                                    <p:cond delay="0"/>
                                  </p:stCondLst>
                                  <p:childTnLst>
                                    <p:set>
                                      <p:cBhvr>
                                        <p:cTn id="140" dur="1" fill="hold">
                                          <p:stCondLst>
                                            <p:cond delay="0"/>
                                          </p:stCondLst>
                                        </p:cTn>
                                        <p:tgtEl>
                                          <p:spTgt spid="32"/>
                                        </p:tgtEl>
                                        <p:attrNameLst>
                                          <p:attrName>style.visibility</p:attrName>
                                        </p:attrNameLst>
                                      </p:cBhvr>
                                      <p:to>
                                        <p:strVal val="visible"/>
                                      </p:to>
                                    </p:set>
                                    <p:animEffect transition="in" filter="fade">
                                      <p:cBhvr>
                                        <p:cTn id="141" dur="400"/>
                                        <p:tgtEl>
                                          <p:spTgt spid="32"/>
                                        </p:tgtEl>
                                      </p:cBhvr>
                                    </p:animEffect>
                                    <p:anim calcmode="lin" valueType="num">
                                      <p:cBhvr>
                                        <p:cTn id="142" dur="400" decel="100000" fill="hold"/>
                                        <p:tgtEl>
                                          <p:spTgt spid="32"/>
                                        </p:tgtEl>
                                        <p:attrNameLst>
                                          <p:attrName>ppt_x</p:attrName>
                                        </p:attrNameLst>
                                      </p:cBhvr>
                                      <p:tavLst>
                                        <p:tav tm="0">
                                          <p:val>
                                            <p:strVal val="#ppt_x"/>
                                          </p:val>
                                        </p:tav>
                                        <p:tav tm="100000">
                                          <p:val>
                                            <p:strVal val="#ppt_x"/>
                                          </p:val>
                                        </p:tav>
                                      </p:tavLst>
                                    </p:anim>
                                    <p:anim calcmode="lin" valueType="num">
                                      <p:cBhvr>
                                        <p:cTn id="143" dur="400" decel="100000" fill="hold"/>
                                        <p:tgtEl>
                                          <p:spTgt spid="32"/>
                                        </p:tgtEl>
                                        <p:attrNameLst>
                                          <p:attrName>ppt_y</p:attrName>
                                        </p:attrNameLst>
                                      </p:cBhvr>
                                      <p:tavLst>
                                        <p:tav tm="0">
                                          <p:val>
                                            <p:strVal val="#ppt_y+0.03"/>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33"/>
                                        </p:tgtEl>
                                        <p:attrNameLst>
                                          <p:attrName>style.visibility</p:attrName>
                                        </p:attrNameLst>
                                      </p:cBhvr>
                                      <p:to>
                                        <p:strVal val="visible"/>
                                      </p:to>
                                    </p:set>
                                    <p:animEffect transition="in" filter="fade">
                                      <p:cBhvr>
                                        <p:cTn id="146" dur="400"/>
                                        <p:tgtEl>
                                          <p:spTgt spid="33"/>
                                        </p:tgtEl>
                                      </p:cBhvr>
                                    </p:animEffect>
                                    <p:anim calcmode="lin" valueType="num">
                                      <p:cBhvr>
                                        <p:cTn id="147" dur="400" decel="100000" fill="hold"/>
                                        <p:tgtEl>
                                          <p:spTgt spid="33"/>
                                        </p:tgtEl>
                                        <p:attrNameLst>
                                          <p:attrName>ppt_x</p:attrName>
                                        </p:attrNameLst>
                                      </p:cBhvr>
                                      <p:tavLst>
                                        <p:tav tm="0">
                                          <p:val>
                                            <p:strVal val="#ppt_x"/>
                                          </p:val>
                                        </p:tav>
                                        <p:tav tm="100000">
                                          <p:val>
                                            <p:strVal val="#ppt_x"/>
                                          </p:val>
                                        </p:tav>
                                      </p:tavLst>
                                    </p:anim>
                                    <p:anim calcmode="lin" valueType="num">
                                      <p:cBhvr>
                                        <p:cTn id="148" dur="400" decel="100000" fill="hold"/>
                                        <p:tgtEl>
                                          <p:spTgt spid="33"/>
                                        </p:tgtEl>
                                        <p:attrNameLst>
                                          <p:attrName>ppt_y</p:attrName>
                                        </p:attrNameLst>
                                      </p:cBhvr>
                                      <p:tavLst>
                                        <p:tav tm="0">
                                          <p:val>
                                            <p:strVal val="#ppt_y+0.03"/>
                                          </p:val>
                                        </p:tav>
                                        <p:tav tm="100000">
                                          <p:val>
                                            <p:strVal val="#ppt_y"/>
                                          </p:val>
                                        </p:tav>
                                      </p:tavLst>
                                    </p:anim>
                                  </p:childTnLst>
                                </p:cTn>
                              </p:par>
                            </p:childTnLst>
                          </p:cTn>
                        </p:par>
                      </p:childTnLst>
                    </p:cTn>
                  </p:par>
                  <p:par>
                    <p:cTn id="186" fill="hold">
                      <p:stCondLst>
                        <p:cond delay="indefinite"/>
                      </p:stCondLst>
                      <p:childTnLst>
                        <p:par>
                          <p:cTn id="187" fill="hold">
                            <p:stCondLst>
                              <p:cond delay="0"/>
                            </p:stCondLst>
                            <p:childTnLst>
                              <p:par>
                                <p:cTn id="151" presetID="42" presetClass="entr" presetSubtype="0" fill="hold" grpId="0" nodeType="clickEffect">
                                  <p:stCondLst>
                                    <p:cond delay="0"/>
                                  </p:stCondLst>
                                  <p:childTnLst>
                                    <p:set>
                                      <p:cBhvr>
                                        <p:cTn id="152" dur="1" fill="hold">
                                          <p:stCondLst>
                                            <p:cond delay="0"/>
                                          </p:stCondLst>
                                        </p:cTn>
                                        <p:tgtEl>
                                          <p:spTgt spid="34"/>
                                        </p:tgtEl>
                                        <p:attrNameLst>
                                          <p:attrName>style.visibility</p:attrName>
                                        </p:attrNameLst>
                                      </p:cBhvr>
                                      <p:to>
                                        <p:strVal val="visible"/>
                                      </p:to>
                                    </p:set>
                                    <p:animEffect transition="in" filter="fade">
                                      <p:cBhvr>
                                        <p:cTn id="153" dur="400"/>
                                        <p:tgtEl>
                                          <p:spTgt spid="34"/>
                                        </p:tgtEl>
                                      </p:cBhvr>
                                    </p:animEffect>
                                    <p:anim calcmode="lin" valueType="num">
                                      <p:cBhvr>
                                        <p:cTn id="154" dur="400" decel="100000" fill="hold"/>
                                        <p:tgtEl>
                                          <p:spTgt spid="34"/>
                                        </p:tgtEl>
                                        <p:attrNameLst>
                                          <p:attrName>ppt_x</p:attrName>
                                        </p:attrNameLst>
                                      </p:cBhvr>
                                      <p:tavLst>
                                        <p:tav tm="0">
                                          <p:val>
                                            <p:strVal val="#ppt_x"/>
                                          </p:val>
                                        </p:tav>
                                        <p:tav tm="100000">
                                          <p:val>
                                            <p:strVal val="#ppt_x"/>
                                          </p:val>
                                        </p:tav>
                                      </p:tavLst>
                                    </p:anim>
                                    <p:anim calcmode="lin" valueType="num">
                                      <p:cBhvr>
                                        <p:cTn id="155" dur="400" decel="100000" fill="hold"/>
                                        <p:tgtEl>
                                          <p:spTgt spid="34"/>
                                        </p:tgtEl>
                                        <p:attrNameLst>
                                          <p:attrName>ppt_y</p:attrName>
                                        </p:attrNameLst>
                                      </p:cBhvr>
                                      <p:tavLst>
                                        <p:tav tm="0">
                                          <p:val>
                                            <p:strVal val="#ppt_y+0.03"/>
                                          </p:val>
                                        </p:tav>
                                        <p:tav tm="100000">
                                          <p:val>
                                            <p:strVal val="#ppt_y"/>
                                          </p:val>
                                        </p:tav>
                                      </p:tavLst>
                                    </p:anim>
                                  </p:childTnLst>
                                </p:cTn>
                              </p:par>
                              <p:par>
                                <p:cTn id="156" presetID="42" presetClass="entr" presetSubtype="0" fill="hold" grpId="0" nodeType="withEffect">
                                  <p:stCondLst>
                                    <p:cond delay="0"/>
                                  </p:stCondLst>
                                  <p:childTnLst>
                                    <p:set>
                                      <p:cBhvr>
                                        <p:cTn id="157" dur="1" fill="hold">
                                          <p:stCondLst>
                                            <p:cond delay="0"/>
                                          </p:stCondLst>
                                        </p:cTn>
                                        <p:tgtEl>
                                          <p:spTgt spid="35"/>
                                        </p:tgtEl>
                                        <p:attrNameLst>
                                          <p:attrName>style.visibility</p:attrName>
                                        </p:attrNameLst>
                                      </p:cBhvr>
                                      <p:to>
                                        <p:strVal val="visible"/>
                                      </p:to>
                                    </p:set>
                                    <p:animEffect transition="in" filter="fade">
                                      <p:cBhvr>
                                        <p:cTn id="158" dur="400"/>
                                        <p:tgtEl>
                                          <p:spTgt spid="35"/>
                                        </p:tgtEl>
                                      </p:cBhvr>
                                    </p:animEffect>
                                    <p:anim calcmode="lin" valueType="num">
                                      <p:cBhvr>
                                        <p:cTn id="159" dur="400" decel="100000" fill="hold"/>
                                        <p:tgtEl>
                                          <p:spTgt spid="35"/>
                                        </p:tgtEl>
                                        <p:attrNameLst>
                                          <p:attrName>ppt_x</p:attrName>
                                        </p:attrNameLst>
                                      </p:cBhvr>
                                      <p:tavLst>
                                        <p:tav tm="0">
                                          <p:val>
                                            <p:strVal val="#ppt_x"/>
                                          </p:val>
                                        </p:tav>
                                        <p:tav tm="100000">
                                          <p:val>
                                            <p:strVal val="#ppt_x"/>
                                          </p:val>
                                        </p:tav>
                                      </p:tavLst>
                                    </p:anim>
                                    <p:anim calcmode="lin" valueType="num">
                                      <p:cBhvr>
                                        <p:cTn id="160" dur="400" decel="100000" fill="hold"/>
                                        <p:tgtEl>
                                          <p:spTgt spid="35"/>
                                        </p:tgtEl>
                                        <p:attrNameLst>
                                          <p:attrName>ppt_y</p:attrName>
                                        </p:attrNameLst>
                                      </p:cBhvr>
                                      <p:tavLst>
                                        <p:tav tm="0">
                                          <p:val>
                                            <p:strVal val="#ppt_y+0.03"/>
                                          </p:val>
                                        </p:tav>
                                        <p:tav tm="100000">
                                          <p:val>
                                            <p:strVal val="#ppt_y"/>
                                          </p:val>
                                        </p:tav>
                                      </p:tavLst>
                                    </p:anim>
                                  </p:childTnLst>
                                </p:cTn>
                              </p:par>
                              <p:par>
                                <p:cTn id="161" presetID="42" presetClass="entr" presetSubtype="0" fill="hold" grpId="0" nodeType="withEffect">
                                  <p:stCondLst>
                                    <p:cond delay="0"/>
                                  </p:stCondLst>
                                  <p:childTnLst>
                                    <p:set>
                                      <p:cBhvr>
                                        <p:cTn id="162" dur="1" fill="hold">
                                          <p:stCondLst>
                                            <p:cond delay="0"/>
                                          </p:stCondLst>
                                        </p:cTn>
                                        <p:tgtEl>
                                          <p:spTgt spid="36"/>
                                        </p:tgtEl>
                                        <p:attrNameLst>
                                          <p:attrName>style.visibility</p:attrName>
                                        </p:attrNameLst>
                                      </p:cBhvr>
                                      <p:to>
                                        <p:strVal val="visible"/>
                                      </p:to>
                                    </p:set>
                                    <p:animEffect transition="in" filter="fade">
                                      <p:cBhvr>
                                        <p:cTn id="163" dur="400"/>
                                        <p:tgtEl>
                                          <p:spTgt spid="36"/>
                                        </p:tgtEl>
                                      </p:cBhvr>
                                    </p:animEffect>
                                    <p:anim calcmode="lin" valueType="num">
                                      <p:cBhvr>
                                        <p:cTn id="164" dur="400" decel="100000" fill="hold"/>
                                        <p:tgtEl>
                                          <p:spTgt spid="36"/>
                                        </p:tgtEl>
                                        <p:attrNameLst>
                                          <p:attrName>ppt_x</p:attrName>
                                        </p:attrNameLst>
                                      </p:cBhvr>
                                      <p:tavLst>
                                        <p:tav tm="0">
                                          <p:val>
                                            <p:strVal val="#ppt_x"/>
                                          </p:val>
                                        </p:tav>
                                        <p:tav tm="100000">
                                          <p:val>
                                            <p:strVal val="#ppt_x"/>
                                          </p:val>
                                        </p:tav>
                                      </p:tavLst>
                                    </p:anim>
                                    <p:anim calcmode="lin" valueType="num">
                                      <p:cBhvr>
                                        <p:cTn id="165" dur="400" decel="100000" fill="hold"/>
                                        <p:tgtEl>
                                          <p:spTgt spid="36"/>
                                        </p:tgtEl>
                                        <p:attrNameLst>
                                          <p:attrName>ppt_y</p:attrName>
                                        </p:attrNameLst>
                                      </p:cBhvr>
                                      <p:tavLst>
                                        <p:tav tm="0">
                                          <p:val>
                                            <p:strVal val="#ppt_y+0.03"/>
                                          </p:val>
                                        </p:tav>
                                        <p:tav tm="100000">
                                          <p:val>
                                            <p:strVal val="#ppt_y"/>
                                          </p:val>
                                        </p:tav>
                                      </p:tavLst>
                                    </p:anim>
                                  </p:childTnLst>
                                </p:cTn>
                              </p:par>
                              <p:par>
                                <p:cTn id="166" presetID="42" presetClass="entr" presetSubtype="0" fill="hold" grpId="0" nodeType="withEffect">
                                  <p:stCondLst>
                                    <p:cond delay="0"/>
                                  </p:stCondLst>
                                  <p:childTnLst>
                                    <p:set>
                                      <p:cBhvr>
                                        <p:cTn id="167" dur="1" fill="hold">
                                          <p:stCondLst>
                                            <p:cond delay="0"/>
                                          </p:stCondLst>
                                        </p:cTn>
                                        <p:tgtEl>
                                          <p:spTgt spid="37"/>
                                        </p:tgtEl>
                                        <p:attrNameLst>
                                          <p:attrName>style.visibility</p:attrName>
                                        </p:attrNameLst>
                                      </p:cBhvr>
                                      <p:to>
                                        <p:strVal val="visible"/>
                                      </p:to>
                                    </p:set>
                                    <p:animEffect transition="in" filter="fade">
                                      <p:cBhvr>
                                        <p:cTn id="168" dur="400"/>
                                        <p:tgtEl>
                                          <p:spTgt spid="37"/>
                                        </p:tgtEl>
                                      </p:cBhvr>
                                    </p:animEffect>
                                    <p:anim calcmode="lin" valueType="num">
                                      <p:cBhvr>
                                        <p:cTn id="169" dur="400" decel="100000" fill="hold"/>
                                        <p:tgtEl>
                                          <p:spTgt spid="37"/>
                                        </p:tgtEl>
                                        <p:attrNameLst>
                                          <p:attrName>ppt_x</p:attrName>
                                        </p:attrNameLst>
                                      </p:cBhvr>
                                      <p:tavLst>
                                        <p:tav tm="0">
                                          <p:val>
                                            <p:strVal val="#ppt_x"/>
                                          </p:val>
                                        </p:tav>
                                        <p:tav tm="100000">
                                          <p:val>
                                            <p:strVal val="#ppt_x"/>
                                          </p:val>
                                        </p:tav>
                                      </p:tavLst>
                                    </p:anim>
                                    <p:anim calcmode="lin" valueType="num">
                                      <p:cBhvr>
                                        <p:cTn id="170" dur="400" decel="100000" fill="hold"/>
                                        <p:tgtEl>
                                          <p:spTgt spid="37"/>
                                        </p:tgtEl>
                                        <p:attrNameLst>
                                          <p:attrName>ppt_y</p:attrName>
                                        </p:attrNameLst>
                                      </p:cBhvr>
                                      <p:tavLst>
                                        <p:tav tm="0">
                                          <p:val>
                                            <p:strVal val="#ppt_y+0.03"/>
                                          </p:val>
                                        </p:tav>
                                        <p:tav tm="100000">
                                          <p:val>
                                            <p:strVal val="#ppt_y"/>
                                          </p:val>
                                        </p:tav>
                                      </p:tavLst>
                                    </p:anim>
                                  </p:childTnLst>
                                </p:cTn>
                              </p:par>
                              <p:par>
                                <p:cTn id="171" presetID="42" presetClass="entr" presetSubtype="0" fill="hold" grpId="0" nodeType="withEffect">
                                  <p:stCondLst>
                                    <p:cond delay="0"/>
                                  </p:stCondLst>
                                  <p:childTnLst>
                                    <p:set>
                                      <p:cBhvr>
                                        <p:cTn id="172" dur="1" fill="hold">
                                          <p:stCondLst>
                                            <p:cond delay="0"/>
                                          </p:stCondLst>
                                        </p:cTn>
                                        <p:tgtEl>
                                          <p:spTgt spid="38"/>
                                        </p:tgtEl>
                                        <p:attrNameLst>
                                          <p:attrName>style.visibility</p:attrName>
                                        </p:attrNameLst>
                                      </p:cBhvr>
                                      <p:to>
                                        <p:strVal val="visible"/>
                                      </p:to>
                                    </p:set>
                                    <p:animEffect transition="in" filter="fade">
                                      <p:cBhvr>
                                        <p:cTn id="173" dur="400"/>
                                        <p:tgtEl>
                                          <p:spTgt spid="38"/>
                                        </p:tgtEl>
                                      </p:cBhvr>
                                    </p:animEffect>
                                    <p:anim calcmode="lin" valueType="num">
                                      <p:cBhvr>
                                        <p:cTn id="174" dur="400" decel="100000" fill="hold"/>
                                        <p:tgtEl>
                                          <p:spTgt spid="38"/>
                                        </p:tgtEl>
                                        <p:attrNameLst>
                                          <p:attrName>ppt_x</p:attrName>
                                        </p:attrNameLst>
                                      </p:cBhvr>
                                      <p:tavLst>
                                        <p:tav tm="0">
                                          <p:val>
                                            <p:strVal val="#ppt_x"/>
                                          </p:val>
                                        </p:tav>
                                        <p:tav tm="100000">
                                          <p:val>
                                            <p:strVal val="#ppt_x"/>
                                          </p:val>
                                        </p:tav>
                                      </p:tavLst>
                                    </p:anim>
                                    <p:anim calcmode="lin" valueType="num">
                                      <p:cBhvr>
                                        <p:cTn id="175" dur="400" decel="100000" fill="hold"/>
                                        <p:tgtEl>
                                          <p:spTgt spid="38"/>
                                        </p:tgtEl>
                                        <p:attrNameLst>
                                          <p:attrName>ppt_y</p:attrName>
                                        </p:attrNameLst>
                                      </p:cBhvr>
                                      <p:tavLst>
                                        <p:tav tm="0">
                                          <p:val>
                                            <p:strVal val="#ppt_y+0.03"/>
                                          </p:val>
                                        </p:tav>
                                        <p:tav tm="100000">
                                          <p:val>
                                            <p:strVal val="#ppt_y"/>
                                          </p:val>
                                        </p:tav>
                                      </p:tavLst>
                                    </p:anim>
                                  </p:childTnLst>
                                </p:cTn>
                              </p:par>
                              <p:par>
                                <p:cTn id="176" presetID="42" presetClass="entr" presetSubtype="0" fill="hold" grpId="0" nodeType="withEffect">
                                  <p:stCondLst>
                                    <p:cond delay="0"/>
                                  </p:stCondLst>
                                  <p:childTnLst>
                                    <p:set>
                                      <p:cBhvr>
                                        <p:cTn id="177" dur="1" fill="hold">
                                          <p:stCondLst>
                                            <p:cond delay="0"/>
                                          </p:stCondLst>
                                        </p:cTn>
                                        <p:tgtEl>
                                          <p:spTgt spid="39"/>
                                        </p:tgtEl>
                                        <p:attrNameLst>
                                          <p:attrName>style.visibility</p:attrName>
                                        </p:attrNameLst>
                                      </p:cBhvr>
                                      <p:to>
                                        <p:strVal val="visible"/>
                                      </p:to>
                                    </p:set>
                                    <p:animEffect transition="in" filter="fade">
                                      <p:cBhvr>
                                        <p:cTn id="178" dur="400"/>
                                        <p:tgtEl>
                                          <p:spTgt spid="39"/>
                                        </p:tgtEl>
                                      </p:cBhvr>
                                    </p:animEffect>
                                    <p:anim calcmode="lin" valueType="num">
                                      <p:cBhvr>
                                        <p:cTn id="179" dur="400" decel="100000" fill="hold"/>
                                        <p:tgtEl>
                                          <p:spTgt spid="39"/>
                                        </p:tgtEl>
                                        <p:attrNameLst>
                                          <p:attrName>ppt_x</p:attrName>
                                        </p:attrNameLst>
                                      </p:cBhvr>
                                      <p:tavLst>
                                        <p:tav tm="0">
                                          <p:val>
                                            <p:strVal val="#ppt_x"/>
                                          </p:val>
                                        </p:tav>
                                        <p:tav tm="100000">
                                          <p:val>
                                            <p:strVal val="#ppt_x"/>
                                          </p:val>
                                        </p:tav>
                                      </p:tavLst>
                                    </p:anim>
                                    <p:anim calcmode="lin" valueType="num">
                                      <p:cBhvr>
                                        <p:cTn id="180" dur="400" decel="100000" fill="hold"/>
                                        <p:tgtEl>
                                          <p:spTgt spid="39"/>
                                        </p:tgtEl>
                                        <p:attrNameLst>
                                          <p:attrName>ppt_y</p:attrName>
                                        </p:attrNameLst>
                                      </p:cBhvr>
                                      <p:tavLst>
                                        <p:tav tm="0">
                                          <p:val>
                                            <p:strVal val="#ppt_y+0.03"/>
                                          </p:val>
                                        </p:tav>
                                        <p:tav tm="100000">
                                          <p:val>
                                            <p:strVal val="#ppt_y"/>
                                          </p:val>
                                        </p:tav>
                                      </p:tavLst>
                                    </p:anim>
                                  </p:childTnLst>
                                </p:cTn>
                              </p:par>
                              <p:par>
                                <p:cTn id="181" presetID="42" presetClass="entr" presetSubtype="0" fill="hold" grpId="0" nodeType="withEffect">
                                  <p:stCondLst>
                                    <p:cond delay="0"/>
                                  </p:stCondLst>
                                  <p:childTnLst>
                                    <p:set>
                                      <p:cBhvr>
                                        <p:cTn id="182" dur="1" fill="hold">
                                          <p:stCondLst>
                                            <p:cond delay="0"/>
                                          </p:stCondLst>
                                        </p:cTn>
                                        <p:tgtEl>
                                          <p:spTgt spid="40"/>
                                        </p:tgtEl>
                                        <p:attrNameLst>
                                          <p:attrName>style.visibility</p:attrName>
                                        </p:attrNameLst>
                                      </p:cBhvr>
                                      <p:to>
                                        <p:strVal val="visible"/>
                                      </p:to>
                                    </p:set>
                                    <p:animEffect transition="in" filter="fade">
                                      <p:cBhvr>
                                        <p:cTn id="183" dur="400"/>
                                        <p:tgtEl>
                                          <p:spTgt spid="40"/>
                                        </p:tgtEl>
                                      </p:cBhvr>
                                    </p:animEffect>
                                    <p:anim calcmode="lin" valueType="num">
                                      <p:cBhvr>
                                        <p:cTn id="184" dur="400" decel="100000" fill="hold"/>
                                        <p:tgtEl>
                                          <p:spTgt spid="40"/>
                                        </p:tgtEl>
                                        <p:attrNameLst>
                                          <p:attrName>ppt_x</p:attrName>
                                        </p:attrNameLst>
                                      </p:cBhvr>
                                      <p:tavLst>
                                        <p:tav tm="0">
                                          <p:val>
                                            <p:strVal val="#ppt_x"/>
                                          </p:val>
                                        </p:tav>
                                        <p:tav tm="100000">
                                          <p:val>
                                            <p:strVal val="#ppt_x"/>
                                          </p:val>
                                        </p:tav>
                                      </p:tavLst>
                                    </p:anim>
                                    <p:anim calcmode="lin" valueType="num">
                                      <p:cBhvr>
                                        <p:cTn id="185" dur="400" decel="100000" fill="hold"/>
                                        <p:tgtEl>
                                          <p:spTgt spid="40"/>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P spid="35" grpId="0" animBg="1"/>
      <p:bldP spid="37" grpId="0" animBg="1"/>
      <p:bldP spid="38" grpId="0" animBg="1"/>
      <p:bldP spid="39" grpId="0" animBg="1"/>
      <p:bldP spid="4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Verificación y pruebas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28</a:t>
            </a:r>
            <a:endParaRPr lang="en-US" sz="900" dirty="0"/>
          </a:p>
        </p:txBody>
      </p:sp>
      <p:sp>
        <p:nvSpPr>
          <p:cNvPr id="6" name="Text 3"/>
          <p:cNvSpPr txBox="1"/>
          <p:nvPr/>
        </p:nvSpPr>
        <p:spPr>
          <a:xfrm>
            <a:off x="548640" y="1463040"/>
            <a:ext cx="27432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PRUEBA</a:t>
            </a:r>
            <a:endParaRPr lang="en-US" sz="950" dirty="0"/>
          </a:p>
        </p:txBody>
      </p:sp>
      <p:sp>
        <p:nvSpPr>
          <p:cNvPr id="7" name="Text 4"/>
          <p:cNvSpPr txBox="1"/>
          <p:nvPr/>
        </p:nvSpPr>
        <p:spPr>
          <a:xfrm>
            <a:off x="3246120" y="1463040"/>
            <a:ext cx="27432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RESULTADO ESPERADO</a:t>
            </a:r>
            <a:endParaRPr lang="en-US" sz="950" dirty="0"/>
          </a:p>
        </p:txBody>
      </p:sp>
      <p:sp>
        <p:nvSpPr>
          <p:cNvPr id="8" name="Text 5"/>
          <p:cNvSpPr txBox="1"/>
          <p:nvPr/>
        </p:nvSpPr>
        <p:spPr>
          <a:xfrm>
            <a:off x="6355080" y="1463040"/>
            <a:ext cx="109728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ESTADO</a:t>
            </a:r>
            <a:endParaRPr lang="en-US" sz="950" dirty="0"/>
          </a:p>
        </p:txBody>
      </p:sp>
      <p:sp>
        <p:nvSpPr>
          <p:cNvPr id="9" name="@pr1#1"/>
          <p:cNvSpPr/>
          <p:nvPr/>
        </p:nvSpPr>
        <p:spPr>
          <a:xfrm>
            <a:off x="548640" y="1764792"/>
            <a:ext cx="6903720" cy="0"/>
          </a:xfrm>
          <a:prstGeom prst="line">
            <a:avLst/>
          </a:prstGeom>
          <a:noFill/>
          <a:ln w="9525">
            <a:solidFill>
              <a:srgbClr val="E3E4E8"/>
            </a:solidFill>
            <a:prstDash val="solid"/>
          </a:ln>
        </p:spPr>
      </p:sp>
      <p:sp>
        <p:nvSpPr>
          <p:cNvPr id="10" name="@pr1#2"/>
          <p:cNvSpPr txBox="1"/>
          <p:nvPr/>
        </p:nvSpPr>
        <p:spPr>
          <a:xfrm>
            <a:off x="548640" y="1783080"/>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Buscar «BH-SW12XXG»</a:t>
            </a:r>
            <a:endParaRPr lang="en-US" sz="1200" dirty="0"/>
          </a:p>
        </p:txBody>
      </p:sp>
      <p:sp>
        <p:nvSpPr>
          <p:cNvPr id="11" name="@pr1#3"/>
          <p:cNvSpPr txBox="1"/>
          <p:nvPr/>
        </p:nvSpPr>
        <p:spPr>
          <a:xfrm>
            <a:off x="3246120" y="1783080"/>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Sugerencias en vivo con el modelo</a:t>
            </a:r>
            <a:endParaRPr lang="en-US" sz="1100" dirty="0"/>
          </a:p>
        </p:txBody>
      </p:sp>
      <p:sp>
        <p:nvSpPr>
          <p:cNvPr id="12" name="@pr1#4"/>
          <p:cNvSpPr/>
          <p:nvPr/>
        </p:nvSpPr>
        <p:spPr>
          <a:xfrm>
            <a:off x="6355080" y="1883664"/>
            <a:ext cx="955548" cy="256032"/>
          </a:xfrm>
          <a:prstGeom prst="roundRect">
            <a:avLst>
              <a:gd name="adj" fmla="val 50000"/>
            </a:avLst>
          </a:prstGeom>
          <a:solidFill>
            <a:srgbClr val="0B0B0D"/>
          </a:solidFill>
          <a:ln w="9525">
            <a:solidFill>
              <a:srgbClr val="0B0B0D"/>
            </a:solidFill>
            <a:prstDash val="solid"/>
          </a:ln>
        </p:spPr>
      </p:sp>
      <p:sp>
        <p:nvSpPr>
          <p:cNvPr id="13" name="@pr1#5"/>
          <p:cNvSpPr txBox="1"/>
          <p:nvPr/>
        </p:nvSpPr>
        <p:spPr>
          <a:xfrm>
            <a:off x="6355080" y="1883664"/>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14" name="@pr2#1"/>
          <p:cNvSpPr/>
          <p:nvPr/>
        </p:nvSpPr>
        <p:spPr>
          <a:xfrm>
            <a:off x="548640" y="2249424"/>
            <a:ext cx="6903720" cy="0"/>
          </a:xfrm>
          <a:prstGeom prst="line">
            <a:avLst/>
          </a:prstGeom>
          <a:noFill/>
          <a:ln w="9525">
            <a:solidFill>
              <a:srgbClr val="E3E4E8"/>
            </a:solidFill>
            <a:prstDash val="solid"/>
          </a:ln>
        </p:spPr>
      </p:sp>
      <p:sp>
        <p:nvSpPr>
          <p:cNvPr id="15" name="@pr2#2"/>
          <p:cNvSpPr txBox="1"/>
          <p:nvPr/>
        </p:nvSpPr>
        <p:spPr>
          <a:xfrm>
            <a:off x="548640" y="2267712"/>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Aplicar un filtro del catálogo</a:t>
            </a:r>
            <a:endParaRPr lang="en-US" sz="1200" dirty="0"/>
          </a:p>
        </p:txBody>
      </p:sp>
      <p:sp>
        <p:nvSpPr>
          <p:cNvPr id="16" name="@pr2#3"/>
          <p:cNvSpPr txBox="1"/>
          <p:nvPr/>
        </p:nvSpPr>
        <p:spPr>
          <a:xfrm>
            <a:off x="3246120" y="2267712"/>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El listado y el contador se actualizan</a:t>
            </a:r>
            <a:endParaRPr lang="en-US" sz="1100" dirty="0"/>
          </a:p>
        </p:txBody>
      </p:sp>
      <p:sp>
        <p:nvSpPr>
          <p:cNvPr id="17" name="@pr2#4"/>
          <p:cNvSpPr/>
          <p:nvPr/>
        </p:nvSpPr>
        <p:spPr>
          <a:xfrm>
            <a:off x="6355080" y="2368296"/>
            <a:ext cx="955548" cy="256032"/>
          </a:xfrm>
          <a:prstGeom prst="roundRect">
            <a:avLst>
              <a:gd name="adj" fmla="val 50000"/>
            </a:avLst>
          </a:prstGeom>
          <a:solidFill>
            <a:srgbClr val="0B0B0D"/>
          </a:solidFill>
          <a:ln w="9525">
            <a:solidFill>
              <a:srgbClr val="0B0B0D"/>
            </a:solidFill>
            <a:prstDash val="solid"/>
          </a:ln>
        </p:spPr>
      </p:sp>
      <p:sp>
        <p:nvSpPr>
          <p:cNvPr id="18" name="@pr2#5"/>
          <p:cNvSpPr txBox="1"/>
          <p:nvPr/>
        </p:nvSpPr>
        <p:spPr>
          <a:xfrm>
            <a:off x="6355080" y="2368296"/>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19" name="@pr3#1"/>
          <p:cNvSpPr/>
          <p:nvPr/>
        </p:nvSpPr>
        <p:spPr>
          <a:xfrm>
            <a:off x="548640" y="2734056"/>
            <a:ext cx="6903720" cy="0"/>
          </a:xfrm>
          <a:prstGeom prst="line">
            <a:avLst/>
          </a:prstGeom>
          <a:noFill/>
          <a:ln w="9525">
            <a:solidFill>
              <a:srgbClr val="E3E4E8"/>
            </a:solidFill>
            <a:prstDash val="solid"/>
          </a:ln>
        </p:spPr>
      </p:sp>
      <p:sp>
        <p:nvSpPr>
          <p:cNvPr id="20" name="@pr3#2"/>
          <p:cNvSpPr txBox="1"/>
          <p:nvPr/>
        </p:nvSpPr>
        <p:spPr>
          <a:xfrm>
            <a:off x="548640" y="2752344"/>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Agregar 3 modelos y comparar</a:t>
            </a:r>
            <a:endParaRPr lang="en-US" sz="1200" dirty="0"/>
          </a:p>
        </p:txBody>
      </p:sp>
      <p:sp>
        <p:nvSpPr>
          <p:cNvPr id="21" name="@pr3#3"/>
          <p:cNvSpPr txBox="1"/>
          <p:nvPr/>
        </p:nvSpPr>
        <p:spPr>
          <a:xfrm>
            <a:off x="3246120" y="2752344"/>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Tabla comparativa de especificaciones</a:t>
            </a:r>
            <a:endParaRPr lang="en-US" sz="1100" dirty="0"/>
          </a:p>
        </p:txBody>
      </p:sp>
      <p:sp>
        <p:nvSpPr>
          <p:cNvPr id="22" name="@pr3#4"/>
          <p:cNvSpPr/>
          <p:nvPr/>
        </p:nvSpPr>
        <p:spPr>
          <a:xfrm>
            <a:off x="6355080" y="2852928"/>
            <a:ext cx="955548" cy="256032"/>
          </a:xfrm>
          <a:prstGeom prst="roundRect">
            <a:avLst>
              <a:gd name="adj" fmla="val 50000"/>
            </a:avLst>
          </a:prstGeom>
          <a:solidFill>
            <a:srgbClr val="0B0B0D"/>
          </a:solidFill>
          <a:ln w="9525">
            <a:solidFill>
              <a:srgbClr val="0B0B0D"/>
            </a:solidFill>
            <a:prstDash val="solid"/>
          </a:ln>
        </p:spPr>
      </p:sp>
      <p:sp>
        <p:nvSpPr>
          <p:cNvPr id="23" name="@pr3#5"/>
          <p:cNvSpPr txBox="1"/>
          <p:nvPr/>
        </p:nvSpPr>
        <p:spPr>
          <a:xfrm>
            <a:off x="6355080" y="2852928"/>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24" name="@pr4#1"/>
          <p:cNvSpPr/>
          <p:nvPr/>
        </p:nvSpPr>
        <p:spPr>
          <a:xfrm>
            <a:off x="548640" y="3218688"/>
            <a:ext cx="6903720" cy="0"/>
          </a:xfrm>
          <a:prstGeom prst="line">
            <a:avLst/>
          </a:prstGeom>
          <a:noFill/>
          <a:ln w="9525">
            <a:solidFill>
              <a:srgbClr val="E3E4E8"/>
            </a:solidFill>
            <a:prstDash val="solid"/>
          </a:ln>
        </p:spPr>
      </p:sp>
      <p:sp>
        <p:nvSpPr>
          <p:cNvPr id="25" name="@pr4#2"/>
          <p:cNvSpPr txBox="1"/>
          <p:nvPr/>
        </p:nvSpPr>
        <p:spPr>
          <a:xfrm>
            <a:off x="548640" y="3236976"/>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Agregar un cuarto modelo</a:t>
            </a:r>
            <a:endParaRPr lang="en-US" sz="1200" dirty="0"/>
          </a:p>
        </p:txBody>
      </p:sp>
      <p:sp>
        <p:nvSpPr>
          <p:cNvPr id="26" name="@pr4#3"/>
          <p:cNvSpPr txBox="1"/>
          <p:nvPr/>
        </p:nvSpPr>
        <p:spPr>
          <a:xfrm>
            <a:off x="3246120" y="3236976"/>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Aviso «Puedes comparar hasta 3 productos»</a:t>
            </a:r>
            <a:endParaRPr lang="en-US" sz="1100" dirty="0"/>
          </a:p>
        </p:txBody>
      </p:sp>
      <p:sp>
        <p:nvSpPr>
          <p:cNvPr id="27" name="@pr4#4"/>
          <p:cNvSpPr/>
          <p:nvPr/>
        </p:nvSpPr>
        <p:spPr>
          <a:xfrm>
            <a:off x="6355080" y="3337560"/>
            <a:ext cx="955548" cy="256032"/>
          </a:xfrm>
          <a:prstGeom prst="roundRect">
            <a:avLst>
              <a:gd name="adj" fmla="val 50000"/>
            </a:avLst>
          </a:prstGeom>
          <a:solidFill>
            <a:srgbClr val="0B0B0D"/>
          </a:solidFill>
          <a:ln w="9525">
            <a:solidFill>
              <a:srgbClr val="0B0B0D"/>
            </a:solidFill>
            <a:prstDash val="solid"/>
          </a:ln>
        </p:spPr>
      </p:sp>
      <p:sp>
        <p:nvSpPr>
          <p:cNvPr id="28" name="@pr4#5"/>
          <p:cNvSpPr txBox="1"/>
          <p:nvPr/>
        </p:nvSpPr>
        <p:spPr>
          <a:xfrm>
            <a:off x="6355080" y="3337560"/>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29" name="@pr5#1"/>
          <p:cNvSpPr/>
          <p:nvPr/>
        </p:nvSpPr>
        <p:spPr>
          <a:xfrm>
            <a:off x="548640" y="3703320"/>
            <a:ext cx="6903720" cy="0"/>
          </a:xfrm>
          <a:prstGeom prst="line">
            <a:avLst/>
          </a:prstGeom>
          <a:noFill/>
          <a:ln w="9525">
            <a:solidFill>
              <a:srgbClr val="E3E4E8"/>
            </a:solidFill>
            <a:prstDash val="solid"/>
          </a:ln>
        </p:spPr>
      </p:sp>
      <p:sp>
        <p:nvSpPr>
          <p:cNvPr id="30" name="@pr5#2"/>
          <p:cNvSpPr txBox="1"/>
          <p:nvPr/>
        </p:nvSpPr>
        <p:spPr>
          <a:xfrm>
            <a:off x="548640" y="3721608"/>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Cambiar de página</a:t>
            </a:r>
            <a:endParaRPr lang="en-US" sz="1200" dirty="0"/>
          </a:p>
        </p:txBody>
      </p:sp>
      <p:sp>
        <p:nvSpPr>
          <p:cNvPr id="31" name="@pr5#3"/>
          <p:cNvSpPr txBox="1"/>
          <p:nvPr/>
        </p:nvSpPr>
        <p:spPr>
          <a:xfrm>
            <a:off x="3246120" y="3721608"/>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El comparador conserva la selección</a:t>
            </a:r>
            <a:endParaRPr lang="en-US" sz="1100" dirty="0"/>
          </a:p>
        </p:txBody>
      </p:sp>
      <p:sp>
        <p:nvSpPr>
          <p:cNvPr id="32" name="@pr5#4"/>
          <p:cNvSpPr/>
          <p:nvPr/>
        </p:nvSpPr>
        <p:spPr>
          <a:xfrm>
            <a:off x="6355080" y="3822192"/>
            <a:ext cx="955548" cy="256032"/>
          </a:xfrm>
          <a:prstGeom prst="roundRect">
            <a:avLst>
              <a:gd name="adj" fmla="val 50000"/>
            </a:avLst>
          </a:prstGeom>
          <a:solidFill>
            <a:srgbClr val="0B0B0D"/>
          </a:solidFill>
          <a:ln w="9525">
            <a:solidFill>
              <a:srgbClr val="0B0B0D"/>
            </a:solidFill>
            <a:prstDash val="solid"/>
          </a:ln>
        </p:spPr>
      </p:sp>
      <p:sp>
        <p:nvSpPr>
          <p:cNvPr id="33" name="@pr5#5"/>
          <p:cNvSpPr txBox="1"/>
          <p:nvPr/>
        </p:nvSpPr>
        <p:spPr>
          <a:xfrm>
            <a:off x="6355080" y="3822192"/>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34" name="@pr6#1"/>
          <p:cNvSpPr/>
          <p:nvPr/>
        </p:nvSpPr>
        <p:spPr>
          <a:xfrm>
            <a:off x="548640" y="4187952"/>
            <a:ext cx="6903720" cy="0"/>
          </a:xfrm>
          <a:prstGeom prst="line">
            <a:avLst/>
          </a:prstGeom>
          <a:noFill/>
          <a:ln w="9525">
            <a:solidFill>
              <a:srgbClr val="E3E4E8"/>
            </a:solidFill>
            <a:prstDash val="solid"/>
          </a:ln>
        </p:spPr>
      </p:sp>
      <p:sp>
        <p:nvSpPr>
          <p:cNvPr id="35" name="@pr6#2"/>
          <p:cNvSpPr txBox="1"/>
          <p:nvPr/>
        </p:nvSpPr>
        <p:spPr>
          <a:xfrm>
            <a:off x="548640" y="4206240"/>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Pulsar «Cotizar» en la ficha</a:t>
            </a:r>
            <a:endParaRPr lang="en-US" sz="1200" dirty="0"/>
          </a:p>
        </p:txBody>
      </p:sp>
      <p:sp>
        <p:nvSpPr>
          <p:cNvPr id="36" name="@pr6#3"/>
          <p:cNvSpPr txBox="1"/>
          <p:nvPr/>
        </p:nvSpPr>
        <p:spPr>
          <a:xfrm>
            <a:off x="3246120" y="4206240"/>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WhatsApp se abre con el modelo en el mensaje</a:t>
            </a:r>
            <a:endParaRPr lang="en-US" sz="1100" dirty="0"/>
          </a:p>
        </p:txBody>
      </p:sp>
      <p:sp>
        <p:nvSpPr>
          <p:cNvPr id="37" name="@pr6#4"/>
          <p:cNvSpPr/>
          <p:nvPr/>
        </p:nvSpPr>
        <p:spPr>
          <a:xfrm>
            <a:off x="6355080" y="4306824"/>
            <a:ext cx="955548" cy="256032"/>
          </a:xfrm>
          <a:prstGeom prst="roundRect">
            <a:avLst>
              <a:gd name="adj" fmla="val 50000"/>
            </a:avLst>
          </a:prstGeom>
          <a:solidFill>
            <a:srgbClr val="0B0B0D"/>
          </a:solidFill>
          <a:ln w="9525">
            <a:solidFill>
              <a:srgbClr val="0B0B0D"/>
            </a:solidFill>
            <a:prstDash val="solid"/>
          </a:ln>
        </p:spPr>
      </p:sp>
      <p:sp>
        <p:nvSpPr>
          <p:cNvPr id="38" name="@pr6#5"/>
          <p:cNvSpPr txBox="1"/>
          <p:nvPr/>
        </p:nvSpPr>
        <p:spPr>
          <a:xfrm>
            <a:off x="6355080" y="4306824"/>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39" name="@pr7#1"/>
          <p:cNvSpPr/>
          <p:nvPr/>
        </p:nvSpPr>
        <p:spPr>
          <a:xfrm>
            <a:off x="548640" y="4672584"/>
            <a:ext cx="6903720" cy="0"/>
          </a:xfrm>
          <a:prstGeom prst="line">
            <a:avLst/>
          </a:prstGeom>
          <a:noFill/>
          <a:ln w="9525">
            <a:solidFill>
              <a:srgbClr val="E3E4E8"/>
            </a:solidFill>
            <a:prstDash val="solid"/>
          </a:ln>
        </p:spPr>
      </p:sp>
      <p:sp>
        <p:nvSpPr>
          <p:cNvPr id="40" name="@pr7#2"/>
          <p:cNvSpPr txBox="1"/>
          <p:nvPr/>
        </p:nvSpPr>
        <p:spPr>
          <a:xfrm>
            <a:off x="548640" y="4690872"/>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Menú y búsqueda en el celular</a:t>
            </a:r>
            <a:endParaRPr lang="en-US" sz="1200" dirty="0"/>
          </a:p>
        </p:txBody>
      </p:sp>
      <p:sp>
        <p:nvSpPr>
          <p:cNvPr id="41" name="@pr7#3"/>
          <p:cNvSpPr txBox="1"/>
          <p:nvPr/>
        </p:nvSpPr>
        <p:spPr>
          <a:xfrm>
            <a:off x="3246120" y="4690872"/>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Funcionan a 390 px de ancho</a:t>
            </a:r>
            <a:endParaRPr lang="en-US" sz="1100" dirty="0"/>
          </a:p>
        </p:txBody>
      </p:sp>
      <p:sp>
        <p:nvSpPr>
          <p:cNvPr id="42" name="@pr7#4"/>
          <p:cNvSpPr/>
          <p:nvPr/>
        </p:nvSpPr>
        <p:spPr>
          <a:xfrm>
            <a:off x="6355080" y="4791456"/>
            <a:ext cx="955548" cy="256032"/>
          </a:xfrm>
          <a:prstGeom prst="roundRect">
            <a:avLst>
              <a:gd name="adj" fmla="val 50000"/>
            </a:avLst>
          </a:prstGeom>
          <a:solidFill>
            <a:srgbClr val="0B0B0D"/>
          </a:solidFill>
          <a:ln w="9525">
            <a:solidFill>
              <a:srgbClr val="0B0B0D"/>
            </a:solidFill>
            <a:prstDash val="solid"/>
          </a:ln>
        </p:spPr>
      </p:sp>
      <p:sp>
        <p:nvSpPr>
          <p:cNvPr id="43" name="@pr7#5"/>
          <p:cNvSpPr txBox="1"/>
          <p:nvPr/>
        </p:nvSpPr>
        <p:spPr>
          <a:xfrm>
            <a:off x="6355080" y="4791456"/>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44" name="@pr8#1"/>
          <p:cNvSpPr/>
          <p:nvPr/>
        </p:nvSpPr>
        <p:spPr>
          <a:xfrm>
            <a:off x="548640" y="5157216"/>
            <a:ext cx="6903720" cy="0"/>
          </a:xfrm>
          <a:prstGeom prst="line">
            <a:avLst/>
          </a:prstGeom>
          <a:noFill/>
          <a:ln w="9525">
            <a:solidFill>
              <a:srgbClr val="E3E4E8"/>
            </a:solidFill>
            <a:prstDash val="solid"/>
          </a:ln>
        </p:spPr>
      </p:sp>
      <p:sp>
        <p:nvSpPr>
          <p:cNvPr id="45" name="@pr8#2"/>
          <p:cNvSpPr txBox="1"/>
          <p:nvPr/>
        </p:nvSpPr>
        <p:spPr>
          <a:xfrm>
            <a:off x="548640" y="5175504"/>
            <a:ext cx="2606040" cy="457200"/>
          </a:xfrm>
          <a:prstGeom prst="rect">
            <a:avLst/>
          </a:prstGeom>
          <a:noFill/>
          <a:ln/>
        </p:spPr>
        <p:txBody>
          <a:bodyPr wrap="square" lIns="0" tIns="0" rIns="0" bIns="0" rtlCol="0" anchor="ctr"/>
          <a:lstStyle/>
          <a:p>
            <a:pPr indent="0" marL="0">
              <a:buNone/>
            </a:pPr>
            <a:r>
              <a:rPr lang="en-US" sz="1200" b="1" dirty="0">
                <a:solidFill>
                  <a:srgbClr val="6B7280"/>
                </a:solidFill>
                <a:latin typeface="Arial" pitchFamily="34" charset="0"/>
                <a:ea typeface="Arial" pitchFamily="34" charset="-122"/>
                <a:cs typeface="Arial" pitchFamily="34" charset="-120"/>
              </a:rPr>
              <a:t>Aceptación con Black Hawk</a:t>
            </a:r>
            <a:endParaRPr lang="en-US" sz="1200" dirty="0"/>
          </a:p>
        </p:txBody>
      </p:sp>
      <p:sp>
        <p:nvSpPr>
          <p:cNvPr id="46" name="@pr8#3"/>
          <p:cNvSpPr txBox="1"/>
          <p:nvPr/>
        </p:nvSpPr>
        <p:spPr>
          <a:xfrm>
            <a:off x="3246120" y="5175504"/>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Acta de aceptación firmada</a:t>
            </a:r>
            <a:endParaRPr lang="en-US" sz="1100" dirty="0"/>
          </a:p>
        </p:txBody>
      </p:sp>
      <p:sp>
        <p:nvSpPr>
          <p:cNvPr id="47" name="@pr8#4"/>
          <p:cNvSpPr/>
          <p:nvPr/>
        </p:nvSpPr>
        <p:spPr>
          <a:xfrm>
            <a:off x="6355080" y="5276088"/>
            <a:ext cx="1025500" cy="256032"/>
          </a:xfrm>
          <a:prstGeom prst="roundRect">
            <a:avLst>
              <a:gd name="adj" fmla="val 50000"/>
            </a:avLst>
          </a:prstGeom>
          <a:solidFill>
            <a:srgbClr val="FFFFFF"/>
          </a:solidFill>
          <a:ln w="9525">
            <a:solidFill>
              <a:srgbClr val="9CA3AF"/>
            </a:solidFill>
            <a:prstDash val="solid"/>
          </a:ln>
        </p:spPr>
      </p:sp>
      <p:sp>
        <p:nvSpPr>
          <p:cNvPr id="48" name="@pr8#5"/>
          <p:cNvSpPr txBox="1"/>
          <p:nvPr/>
        </p:nvSpPr>
        <p:spPr>
          <a:xfrm>
            <a:off x="6355080" y="5276088"/>
            <a:ext cx="1025500" cy="256032"/>
          </a:xfrm>
          <a:prstGeom prst="rect">
            <a:avLst/>
          </a:prstGeom>
          <a:noFill/>
          <a:ln/>
        </p:spPr>
        <p:txBody>
          <a:bodyPr wrap="square" lIns="0" tIns="0" rIns="0" bIns="0" rtlCol="0" anchor="ctr"/>
          <a:lstStyle/>
          <a:p>
            <a:pPr algn="ctr" indent="0" marL="0">
              <a:buNone/>
            </a:pPr>
            <a:r>
              <a:rPr lang="en-US" sz="900" b="1" dirty="0">
                <a:solidFill>
                  <a:srgbClr val="6B7280"/>
                </a:solidFill>
                <a:latin typeface="Arial" pitchFamily="34" charset="0"/>
                <a:ea typeface="Arial" pitchFamily="34" charset="-122"/>
                <a:cs typeface="Arial" pitchFamily="34" charset="-120"/>
              </a:rPr>
              <a:t>Planificado</a:t>
            </a:r>
            <a:endParaRPr lang="en-US" sz="900" dirty="0"/>
          </a:p>
        </p:txBody>
      </p:sp>
      <p:sp>
        <p:nvSpPr>
          <p:cNvPr id="49" name="@pr9#1"/>
          <p:cNvSpPr/>
          <p:nvPr/>
        </p:nvSpPr>
        <p:spPr>
          <a:xfrm>
            <a:off x="548640" y="5641848"/>
            <a:ext cx="6903720" cy="0"/>
          </a:xfrm>
          <a:prstGeom prst="line">
            <a:avLst/>
          </a:prstGeom>
          <a:noFill/>
          <a:ln w="9525">
            <a:solidFill>
              <a:srgbClr val="E3E4E8"/>
            </a:solidFill>
            <a:prstDash val="solid"/>
          </a:ln>
        </p:spPr>
      </p:sp>
      <p:sp>
        <p:nvSpPr>
          <p:cNvPr id="50" name="@pr9#2"/>
          <p:cNvSpPr txBox="1"/>
          <p:nvPr/>
        </p:nvSpPr>
        <p:spPr>
          <a:xfrm>
            <a:off x="548640" y="5660136"/>
            <a:ext cx="2606040" cy="457200"/>
          </a:xfrm>
          <a:prstGeom prst="rect">
            <a:avLst/>
          </a:prstGeom>
          <a:noFill/>
          <a:ln/>
        </p:spPr>
        <p:txBody>
          <a:bodyPr wrap="square" lIns="0" tIns="0" rIns="0" bIns="0" rtlCol="0" anchor="ctr"/>
          <a:lstStyle/>
          <a:p>
            <a:pPr indent="0" marL="0">
              <a:buNone/>
            </a:pPr>
            <a:r>
              <a:rPr lang="en-US" sz="1200" b="1" dirty="0">
                <a:solidFill>
                  <a:srgbClr val="6B7280"/>
                </a:solidFill>
                <a:latin typeface="Arial" pitchFamily="34" charset="0"/>
                <a:ea typeface="Arial" pitchFamily="34" charset="-122"/>
                <a:cs typeface="Arial" pitchFamily="34" charset="-120"/>
              </a:rPr>
              <a:t>Pruebas en el dominio oficial</a:t>
            </a:r>
            <a:endParaRPr lang="en-US" sz="1200" dirty="0"/>
          </a:p>
        </p:txBody>
      </p:sp>
      <p:sp>
        <p:nvSpPr>
          <p:cNvPr id="51" name="@pr9#3"/>
          <p:cNvSpPr txBox="1"/>
          <p:nvPr/>
        </p:nvSpPr>
        <p:spPr>
          <a:xfrm>
            <a:off x="3246120" y="5660136"/>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Sin errores después de publicar</a:t>
            </a:r>
            <a:endParaRPr lang="en-US" sz="1100" dirty="0"/>
          </a:p>
        </p:txBody>
      </p:sp>
      <p:sp>
        <p:nvSpPr>
          <p:cNvPr id="52" name="@pr9#4"/>
          <p:cNvSpPr/>
          <p:nvPr/>
        </p:nvSpPr>
        <p:spPr>
          <a:xfrm>
            <a:off x="6355080" y="5760720"/>
            <a:ext cx="1025500" cy="256032"/>
          </a:xfrm>
          <a:prstGeom prst="roundRect">
            <a:avLst>
              <a:gd name="adj" fmla="val 50000"/>
            </a:avLst>
          </a:prstGeom>
          <a:solidFill>
            <a:srgbClr val="FFFFFF"/>
          </a:solidFill>
          <a:ln w="9525">
            <a:solidFill>
              <a:srgbClr val="9CA3AF"/>
            </a:solidFill>
            <a:prstDash val="solid"/>
          </a:ln>
        </p:spPr>
      </p:sp>
      <p:sp>
        <p:nvSpPr>
          <p:cNvPr id="53" name="@pr9#5"/>
          <p:cNvSpPr txBox="1"/>
          <p:nvPr/>
        </p:nvSpPr>
        <p:spPr>
          <a:xfrm>
            <a:off x="6355080" y="5760720"/>
            <a:ext cx="1025500" cy="256032"/>
          </a:xfrm>
          <a:prstGeom prst="rect">
            <a:avLst/>
          </a:prstGeom>
          <a:noFill/>
          <a:ln/>
        </p:spPr>
        <p:txBody>
          <a:bodyPr wrap="square" lIns="0" tIns="0" rIns="0" bIns="0" rtlCol="0" anchor="ctr"/>
          <a:lstStyle/>
          <a:p>
            <a:pPr algn="ctr" indent="0" marL="0">
              <a:buNone/>
            </a:pPr>
            <a:r>
              <a:rPr lang="en-US" sz="900" b="1" dirty="0">
                <a:solidFill>
                  <a:srgbClr val="6B7280"/>
                </a:solidFill>
                <a:latin typeface="Arial" pitchFamily="34" charset="0"/>
                <a:ea typeface="Arial" pitchFamily="34" charset="-122"/>
                <a:cs typeface="Arial" pitchFamily="34" charset="-120"/>
              </a:rPr>
              <a:t>Planificado</a:t>
            </a:r>
            <a:endParaRPr lang="en-US" sz="900" dirty="0"/>
          </a:p>
        </p:txBody>
      </p:sp>
      <p:pic>
        <p:nvPicPr>
          <p:cNvPr id="54" name="Image 0" descr="../../evidence/interactions/N-cmp-03-add4-limit-d.png">    </p:cNvPr>
          <p:cNvPicPr>
            <a:picLocks noChangeAspect="1"/>
          </p:cNvPicPr>
          <p:nvPr/>
        </p:nvPicPr>
        <p:blipFill>
          <a:blip r:embed="rId1"/>
          <a:stretch>
            <a:fillRect/>
          </a:stretch>
        </p:blipFill>
        <p:spPr>
          <a:xfrm>
            <a:off x="7863840" y="1539335"/>
            <a:ext cx="3779215" cy="2362010"/>
          </a:xfrm>
          <a:prstGeom prst="rect">
            <a:avLst/>
          </a:prstGeom>
        </p:spPr>
      </p:pic>
      <p:sp>
        <p:nvSpPr>
          <p:cNvPr id="55" name="Shape 51"/>
          <p:cNvSpPr/>
          <p:nvPr/>
        </p:nvSpPr>
        <p:spPr>
          <a:xfrm>
            <a:off x="7863840" y="1539335"/>
            <a:ext cx="3779215" cy="2362010"/>
          </a:xfrm>
          <a:prstGeom prst="rect">
            <a:avLst/>
          </a:prstGeom>
          <a:ln w="12700">
            <a:solidFill>
              <a:srgbClr val="E3E4E8"/>
            </a:solidFill>
            <a:prstDash val="solid"/>
          </a:ln>
        </p:spPr>
      </p:sp>
      <p:sp>
        <p:nvSpPr>
          <p:cNvPr id="56" name="Text 52"/>
          <p:cNvSpPr txBox="1"/>
          <p:nvPr/>
        </p:nvSpPr>
        <p:spPr>
          <a:xfrm>
            <a:off x="7863840" y="3974497"/>
            <a:ext cx="3779215" cy="274320"/>
          </a:xfrm>
          <a:prstGeom prst="rect">
            <a:avLst/>
          </a:prstGeom>
          <a:noFill/>
          <a:ln/>
        </p:spPr>
        <p:txBody>
          <a:bodyPr wrap="square" lIns="0" tIns="0" rIns="0" bIns="0" rtlCol="0" anchor="t"/>
          <a:lstStyle/>
          <a:p>
            <a:pPr indent="0" marL="0">
              <a:buNone/>
            </a:pPr>
            <a:r>
              <a:rPr lang="en-US" sz="1050" dirty="0">
                <a:solidFill>
                  <a:srgbClr val="6B7280"/>
                </a:solidFill>
                <a:latin typeface="Arial" pitchFamily="34" charset="0"/>
                <a:ea typeface="Arial" pitchFamily="34" charset="-122"/>
                <a:cs typeface="Arial" pitchFamily="34" charset="-120"/>
              </a:rPr>
              <a:t>Evidencia: el comparador rechaza un cuarto modelo.</a:t>
            </a:r>
            <a:endParaRPr lang="en-US" sz="1050" dirty="0"/>
          </a:p>
        </p:txBody>
      </p:sp>
      <p:sp>
        <p:nvSpPr>
          <p:cNvPr id="57" name="Shape 53"/>
          <p:cNvSpPr/>
          <p:nvPr/>
        </p:nvSpPr>
        <p:spPr>
          <a:xfrm>
            <a:off x="7863840" y="4343400"/>
            <a:ext cx="3779215" cy="1691640"/>
          </a:xfrm>
          <a:prstGeom prst="roundRect">
            <a:avLst>
              <a:gd name="adj" fmla="val 4324"/>
            </a:avLst>
          </a:prstGeom>
          <a:solidFill>
            <a:srgbClr val="0B0B0D"/>
          </a:solidFill>
          <a:ln/>
        </p:spPr>
      </p:sp>
      <p:sp>
        <p:nvSpPr>
          <p:cNvPr id="58" name="Text 54"/>
          <p:cNvSpPr txBox="1"/>
          <p:nvPr/>
        </p:nvSpPr>
        <p:spPr>
          <a:xfrm>
            <a:off x="8138160" y="4526280"/>
            <a:ext cx="731520" cy="621792"/>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7</a:t>
            </a:r>
            <a:endParaRPr lang="en-US" sz="4000" dirty="0"/>
          </a:p>
        </p:txBody>
      </p:sp>
      <p:sp>
        <p:nvSpPr>
          <p:cNvPr id="59" name="Text 55"/>
          <p:cNvSpPr txBox="1"/>
          <p:nvPr/>
        </p:nvSpPr>
        <p:spPr>
          <a:xfrm>
            <a:off x="8869680" y="4526280"/>
            <a:ext cx="2544775" cy="621792"/>
          </a:xfrm>
          <a:prstGeom prst="rect">
            <a:avLst/>
          </a:prstGeom>
          <a:noFill/>
          <a:ln/>
        </p:spPr>
        <p:txBody>
          <a:bodyPr wrap="square" lIns="0" tIns="0" rIns="0" bIns="0" rtlCol="0" anchor="ctr"/>
          <a:lstStyle/>
          <a:p>
            <a:pPr indent="0" marL="0">
              <a:buNone/>
            </a:pPr>
            <a:r>
              <a:rPr lang="en-US" sz="1250" dirty="0">
                <a:solidFill>
                  <a:srgbClr val="9CA3AF"/>
                </a:solidFill>
                <a:latin typeface="Arial" pitchFamily="34" charset="0"/>
                <a:ea typeface="Arial" pitchFamily="34" charset="-122"/>
                <a:cs typeface="Arial" pitchFamily="34" charset="-120"/>
              </a:rPr>
              <a:t>verificaciones ejecutadas y documentadas con capturas</a:t>
            </a:r>
            <a:endParaRPr lang="en-US" sz="1250" dirty="0"/>
          </a:p>
        </p:txBody>
      </p:sp>
      <p:sp>
        <p:nvSpPr>
          <p:cNvPr id="60" name="Text 56"/>
          <p:cNvSpPr txBox="1"/>
          <p:nvPr/>
        </p:nvSpPr>
        <p:spPr>
          <a:xfrm>
            <a:off x="8138160" y="5239512"/>
            <a:ext cx="731520" cy="621792"/>
          </a:xfrm>
          <a:prstGeom prst="rect">
            <a:avLst/>
          </a:prstGeom>
          <a:noFill/>
          <a:ln/>
        </p:spPr>
        <p:txBody>
          <a:bodyPr wrap="square" lIns="0" tIns="0" rIns="0" bIns="0" rtlCol="0" anchor="ctr"/>
          <a:lstStyle/>
          <a:p>
            <a:pPr indent="0" marL="0">
              <a:buNone/>
            </a:pPr>
            <a:r>
              <a:rPr lang="en-US" sz="4000" b="1" dirty="0">
                <a:solidFill>
                  <a:srgbClr val="A78BFA"/>
                </a:solidFill>
                <a:latin typeface="Arial" pitchFamily="34" charset="0"/>
                <a:ea typeface="Arial" pitchFamily="34" charset="-122"/>
                <a:cs typeface="Arial" pitchFamily="34" charset="-120"/>
              </a:rPr>
              <a:t>2</a:t>
            </a:r>
            <a:endParaRPr lang="en-US" sz="4000" dirty="0"/>
          </a:p>
        </p:txBody>
      </p:sp>
      <p:sp>
        <p:nvSpPr>
          <p:cNvPr id="61" name="Text 57"/>
          <p:cNvSpPr txBox="1"/>
          <p:nvPr/>
        </p:nvSpPr>
        <p:spPr>
          <a:xfrm>
            <a:off x="8869680" y="5239512"/>
            <a:ext cx="2544775" cy="621792"/>
          </a:xfrm>
          <a:prstGeom prst="rect">
            <a:avLst/>
          </a:prstGeom>
          <a:noFill/>
          <a:ln/>
        </p:spPr>
        <p:txBody>
          <a:bodyPr wrap="square" lIns="0" tIns="0" rIns="0" bIns="0" rtlCol="0" anchor="ctr"/>
          <a:lstStyle/>
          <a:p>
            <a:pPr indent="0" marL="0">
              <a:buNone/>
            </a:pPr>
            <a:r>
              <a:rPr lang="en-US" sz="1250" dirty="0">
                <a:solidFill>
                  <a:srgbClr val="9CA3AF"/>
                </a:solidFill>
                <a:latin typeface="Arial" pitchFamily="34" charset="0"/>
                <a:ea typeface="Arial" pitchFamily="34" charset="-122"/>
                <a:cs typeface="Arial" pitchFamily="34" charset="-120"/>
              </a:rPr>
              <a:t>pruebas planificadas para la Transición</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28" fill="hold">
                      <p:stCondLst>
                        <p:cond delay="indefinite"/>
                      </p:stCondLst>
                      <p:childTnLst>
                        <p:par>
                          <p:cTn id="2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anim calcmode="lin" valueType="num">
                                      <p:cBhvr>
                                        <p:cTn id="6" dur="400" decel="100000" fill="hold"/>
                                        <p:tgtEl>
                                          <p:spTgt spid="9"/>
                                        </p:tgtEl>
                                        <p:attrNameLst>
                                          <p:attrName>ppt_x</p:attrName>
                                        </p:attrNameLst>
                                      </p:cBhvr>
                                      <p:tavLst>
                                        <p:tav tm="0">
                                          <p:val>
                                            <p:strVal val="#ppt_x"/>
                                          </p:val>
                                        </p:tav>
                                        <p:tav tm="100000">
                                          <p:val>
                                            <p:strVal val="#ppt_x"/>
                                          </p:val>
                                        </p:tav>
                                      </p:tavLst>
                                    </p:anim>
                                    <p:anim calcmode="lin" valueType="num">
                                      <p:cBhvr>
                                        <p:cTn id="7" dur="400" decel="100000" fill="hold"/>
                                        <p:tgtEl>
                                          <p:spTgt spid="9"/>
                                        </p:tgtEl>
                                        <p:attrNameLst>
                                          <p:attrName>ppt_y</p:attrName>
                                        </p:attrNameLst>
                                      </p:cBhvr>
                                      <p:tavLst>
                                        <p:tav tm="0">
                                          <p:val>
                                            <p:strVal val="#ppt_y+0.03"/>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anim calcmode="lin" valueType="num">
                                      <p:cBhvr>
                                        <p:cTn id="11" dur="400" decel="100000" fill="hold"/>
                                        <p:tgtEl>
                                          <p:spTgt spid="10"/>
                                        </p:tgtEl>
                                        <p:attrNameLst>
                                          <p:attrName>ppt_x</p:attrName>
                                        </p:attrNameLst>
                                      </p:cBhvr>
                                      <p:tavLst>
                                        <p:tav tm="0">
                                          <p:val>
                                            <p:strVal val="#ppt_x"/>
                                          </p:val>
                                        </p:tav>
                                        <p:tav tm="100000">
                                          <p:val>
                                            <p:strVal val="#ppt_x"/>
                                          </p:val>
                                        </p:tav>
                                      </p:tavLst>
                                    </p:anim>
                                    <p:anim calcmode="lin" valueType="num">
                                      <p:cBhvr>
                                        <p:cTn id="12" dur="400" decel="100000" fill="hold"/>
                                        <p:tgtEl>
                                          <p:spTgt spid="10"/>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anim calcmode="lin" valueType="num">
                                      <p:cBhvr>
                                        <p:cTn id="16" dur="400" decel="100000" fill="hold"/>
                                        <p:tgtEl>
                                          <p:spTgt spid="11"/>
                                        </p:tgtEl>
                                        <p:attrNameLst>
                                          <p:attrName>ppt_x</p:attrName>
                                        </p:attrNameLst>
                                      </p:cBhvr>
                                      <p:tavLst>
                                        <p:tav tm="0">
                                          <p:val>
                                            <p:strVal val="#ppt_x"/>
                                          </p:val>
                                        </p:tav>
                                        <p:tav tm="100000">
                                          <p:val>
                                            <p:strVal val="#ppt_x"/>
                                          </p:val>
                                        </p:tav>
                                      </p:tavLst>
                                    </p:anim>
                                    <p:anim calcmode="lin" valueType="num">
                                      <p:cBhvr>
                                        <p:cTn id="17" dur="400" decel="100000" fill="hold"/>
                                        <p:tgtEl>
                                          <p:spTgt spid="11"/>
                                        </p:tgtEl>
                                        <p:attrNameLst>
                                          <p:attrName>ppt_y</p:attrName>
                                        </p:attrNameLst>
                                      </p:cBhvr>
                                      <p:tavLst>
                                        <p:tav tm="0">
                                          <p:val>
                                            <p:strVal val="#ppt_y+0.03"/>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anim calcmode="lin" valueType="num">
                                      <p:cBhvr>
                                        <p:cTn id="21" dur="400" decel="100000" fill="hold"/>
                                        <p:tgtEl>
                                          <p:spTgt spid="12"/>
                                        </p:tgtEl>
                                        <p:attrNameLst>
                                          <p:attrName>ppt_x</p:attrName>
                                        </p:attrNameLst>
                                      </p:cBhvr>
                                      <p:tavLst>
                                        <p:tav tm="0">
                                          <p:val>
                                            <p:strVal val="#ppt_x"/>
                                          </p:val>
                                        </p:tav>
                                        <p:tav tm="100000">
                                          <p:val>
                                            <p:strVal val="#ppt_x"/>
                                          </p:val>
                                        </p:tav>
                                      </p:tavLst>
                                    </p:anim>
                                    <p:anim calcmode="lin" valueType="num">
                                      <p:cBhvr>
                                        <p:cTn id="22" dur="400" decel="100000" fill="hold"/>
                                        <p:tgtEl>
                                          <p:spTgt spid="12"/>
                                        </p:tgtEl>
                                        <p:attrNameLst>
                                          <p:attrName>ppt_y</p:attrName>
                                        </p:attrNameLst>
                                      </p:cBhvr>
                                      <p:tavLst>
                                        <p:tav tm="0">
                                          <p:val>
                                            <p:strVal val="#ppt_y+0.03"/>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anim calcmode="lin" valueType="num">
                                      <p:cBhvr>
                                        <p:cTn id="26" dur="400" decel="100000" fill="hold"/>
                                        <p:tgtEl>
                                          <p:spTgt spid="13"/>
                                        </p:tgtEl>
                                        <p:attrNameLst>
                                          <p:attrName>ppt_x</p:attrName>
                                        </p:attrNameLst>
                                      </p:cBhvr>
                                      <p:tavLst>
                                        <p:tav tm="0">
                                          <p:val>
                                            <p:strVal val="#ppt_x"/>
                                          </p:val>
                                        </p:tav>
                                        <p:tav tm="100000">
                                          <p:val>
                                            <p:strVal val="#ppt_x"/>
                                          </p:val>
                                        </p:tav>
                                      </p:tavLst>
                                    </p:anim>
                                    <p:anim calcmode="lin" valueType="num">
                                      <p:cBhvr>
                                        <p:cTn id="27" dur="400" decel="100000" fill="hold"/>
                                        <p:tgtEl>
                                          <p:spTgt spid="13"/>
                                        </p:tgtEl>
                                        <p:attrNameLst>
                                          <p:attrName>ppt_y</p:attrName>
                                        </p:attrNameLst>
                                      </p:cBhvr>
                                      <p:tavLst>
                                        <p:tav tm="0">
                                          <p:val>
                                            <p:strVal val="#ppt_y+0.03"/>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anim calcmode="lin" valueType="num">
                                      <p:cBhvr>
                                        <p:cTn id="33" dur="400" decel="100000" fill="hold"/>
                                        <p:tgtEl>
                                          <p:spTgt spid="14"/>
                                        </p:tgtEl>
                                        <p:attrNameLst>
                                          <p:attrName>ppt_x</p:attrName>
                                        </p:attrNameLst>
                                      </p:cBhvr>
                                      <p:tavLst>
                                        <p:tav tm="0">
                                          <p:val>
                                            <p:strVal val="#ppt_x"/>
                                          </p:val>
                                        </p:tav>
                                        <p:tav tm="100000">
                                          <p:val>
                                            <p:strVal val="#ppt_x"/>
                                          </p:val>
                                        </p:tav>
                                      </p:tavLst>
                                    </p:anim>
                                    <p:anim calcmode="lin" valueType="num">
                                      <p:cBhvr>
                                        <p:cTn id="34" dur="400" decel="100000" fill="hold"/>
                                        <p:tgtEl>
                                          <p:spTgt spid="14"/>
                                        </p:tgtEl>
                                        <p:attrNameLst>
                                          <p:attrName>ppt_y</p:attrName>
                                        </p:attrNameLst>
                                      </p:cBhvr>
                                      <p:tavLst>
                                        <p:tav tm="0">
                                          <p:val>
                                            <p:strVal val="#ppt_y+0.03"/>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anim calcmode="lin" valueType="num">
                                      <p:cBhvr>
                                        <p:cTn id="38" dur="400" decel="100000" fill="hold"/>
                                        <p:tgtEl>
                                          <p:spTgt spid="15"/>
                                        </p:tgtEl>
                                        <p:attrNameLst>
                                          <p:attrName>ppt_x</p:attrName>
                                        </p:attrNameLst>
                                      </p:cBhvr>
                                      <p:tavLst>
                                        <p:tav tm="0">
                                          <p:val>
                                            <p:strVal val="#ppt_x"/>
                                          </p:val>
                                        </p:tav>
                                        <p:tav tm="100000">
                                          <p:val>
                                            <p:strVal val="#ppt_x"/>
                                          </p:val>
                                        </p:tav>
                                      </p:tavLst>
                                    </p:anim>
                                    <p:anim calcmode="lin" valueType="num">
                                      <p:cBhvr>
                                        <p:cTn id="39" dur="400" decel="100000" fill="hold"/>
                                        <p:tgtEl>
                                          <p:spTgt spid="15"/>
                                        </p:tgtEl>
                                        <p:attrNameLst>
                                          <p:attrName>ppt_y</p:attrName>
                                        </p:attrNameLst>
                                      </p:cBhvr>
                                      <p:tavLst>
                                        <p:tav tm="0">
                                          <p:val>
                                            <p:strVal val="#ppt_y+0.03"/>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anim calcmode="lin" valueType="num">
                                      <p:cBhvr>
                                        <p:cTn id="43" dur="400" decel="100000" fill="hold"/>
                                        <p:tgtEl>
                                          <p:spTgt spid="16"/>
                                        </p:tgtEl>
                                        <p:attrNameLst>
                                          <p:attrName>ppt_x</p:attrName>
                                        </p:attrNameLst>
                                      </p:cBhvr>
                                      <p:tavLst>
                                        <p:tav tm="0">
                                          <p:val>
                                            <p:strVal val="#ppt_x"/>
                                          </p:val>
                                        </p:tav>
                                        <p:tav tm="100000">
                                          <p:val>
                                            <p:strVal val="#ppt_x"/>
                                          </p:val>
                                        </p:tav>
                                      </p:tavLst>
                                    </p:anim>
                                    <p:anim calcmode="lin" valueType="num">
                                      <p:cBhvr>
                                        <p:cTn id="44" dur="400" decel="100000" fill="hold"/>
                                        <p:tgtEl>
                                          <p:spTgt spid="16"/>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anim calcmode="lin" valueType="num">
                                      <p:cBhvr>
                                        <p:cTn id="48" dur="400" decel="100000" fill="hold"/>
                                        <p:tgtEl>
                                          <p:spTgt spid="17"/>
                                        </p:tgtEl>
                                        <p:attrNameLst>
                                          <p:attrName>ppt_x</p:attrName>
                                        </p:attrNameLst>
                                      </p:cBhvr>
                                      <p:tavLst>
                                        <p:tav tm="0">
                                          <p:val>
                                            <p:strVal val="#ppt_x"/>
                                          </p:val>
                                        </p:tav>
                                        <p:tav tm="100000">
                                          <p:val>
                                            <p:strVal val="#ppt_x"/>
                                          </p:val>
                                        </p:tav>
                                      </p:tavLst>
                                    </p:anim>
                                    <p:anim calcmode="lin" valueType="num">
                                      <p:cBhvr>
                                        <p:cTn id="49" dur="400" decel="100000" fill="hold"/>
                                        <p:tgtEl>
                                          <p:spTgt spid="17"/>
                                        </p:tgtEl>
                                        <p:attrNameLst>
                                          <p:attrName>ppt_y</p:attrName>
                                        </p:attrNameLst>
                                      </p:cBhvr>
                                      <p:tavLst>
                                        <p:tav tm="0">
                                          <p:val>
                                            <p:strVal val="#ppt_y+0.03"/>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anim calcmode="lin" valueType="num">
                                      <p:cBhvr>
                                        <p:cTn id="53" dur="400" decel="100000" fill="hold"/>
                                        <p:tgtEl>
                                          <p:spTgt spid="18"/>
                                        </p:tgtEl>
                                        <p:attrNameLst>
                                          <p:attrName>ppt_x</p:attrName>
                                        </p:attrNameLst>
                                      </p:cBhvr>
                                      <p:tavLst>
                                        <p:tav tm="0">
                                          <p:val>
                                            <p:strVal val="#ppt_x"/>
                                          </p:val>
                                        </p:tav>
                                        <p:tav tm="100000">
                                          <p:val>
                                            <p:strVal val="#ppt_x"/>
                                          </p:val>
                                        </p:tav>
                                      </p:tavLst>
                                    </p:anim>
                                    <p:anim calcmode="lin" valueType="num">
                                      <p:cBhvr>
                                        <p:cTn id="54" dur="400" decel="100000" fill="hold"/>
                                        <p:tgtEl>
                                          <p:spTgt spid="18"/>
                                        </p:tgtEl>
                                        <p:attrNameLst>
                                          <p:attrName>ppt_y</p:attrName>
                                        </p:attrNameLst>
                                      </p:cBhvr>
                                      <p:tavLst>
                                        <p:tav tm="0">
                                          <p:val>
                                            <p:strVal val="#ppt_y+0.03"/>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00"/>
                                        <p:tgtEl>
                                          <p:spTgt spid="19"/>
                                        </p:tgtEl>
                                      </p:cBhvr>
                                    </p:animEffect>
                                    <p:anim calcmode="lin" valueType="num">
                                      <p:cBhvr>
                                        <p:cTn id="60" dur="400" decel="100000" fill="hold"/>
                                        <p:tgtEl>
                                          <p:spTgt spid="19"/>
                                        </p:tgtEl>
                                        <p:attrNameLst>
                                          <p:attrName>ppt_x</p:attrName>
                                        </p:attrNameLst>
                                      </p:cBhvr>
                                      <p:tavLst>
                                        <p:tav tm="0">
                                          <p:val>
                                            <p:strVal val="#ppt_x"/>
                                          </p:val>
                                        </p:tav>
                                        <p:tav tm="100000">
                                          <p:val>
                                            <p:strVal val="#ppt_x"/>
                                          </p:val>
                                        </p:tav>
                                      </p:tavLst>
                                    </p:anim>
                                    <p:anim calcmode="lin" valueType="num">
                                      <p:cBhvr>
                                        <p:cTn id="61" dur="400" decel="100000" fill="hold"/>
                                        <p:tgtEl>
                                          <p:spTgt spid="19"/>
                                        </p:tgtEl>
                                        <p:attrNameLst>
                                          <p:attrName>ppt_y</p:attrName>
                                        </p:attrNameLst>
                                      </p:cBhvr>
                                      <p:tavLst>
                                        <p:tav tm="0">
                                          <p:val>
                                            <p:strVal val="#ppt_y+0.03"/>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400"/>
                                        <p:tgtEl>
                                          <p:spTgt spid="20"/>
                                        </p:tgtEl>
                                      </p:cBhvr>
                                    </p:animEffect>
                                    <p:anim calcmode="lin" valueType="num">
                                      <p:cBhvr>
                                        <p:cTn id="65" dur="400" decel="100000" fill="hold"/>
                                        <p:tgtEl>
                                          <p:spTgt spid="20"/>
                                        </p:tgtEl>
                                        <p:attrNameLst>
                                          <p:attrName>ppt_x</p:attrName>
                                        </p:attrNameLst>
                                      </p:cBhvr>
                                      <p:tavLst>
                                        <p:tav tm="0">
                                          <p:val>
                                            <p:strVal val="#ppt_x"/>
                                          </p:val>
                                        </p:tav>
                                        <p:tav tm="100000">
                                          <p:val>
                                            <p:strVal val="#ppt_x"/>
                                          </p:val>
                                        </p:tav>
                                      </p:tavLst>
                                    </p:anim>
                                    <p:anim calcmode="lin" valueType="num">
                                      <p:cBhvr>
                                        <p:cTn id="66" dur="400" decel="100000" fill="hold"/>
                                        <p:tgtEl>
                                          <p:spTgt spid="20"/>
                                        </p:tgtEl>
                                        <p:attrNameLst>
                                          <p:attrName>ppt_y</p:attrName>
                                        </p:attrNameLst>
                                      </p:cBhvr>
                                      <p:tavLst>
                                        <p:tav tm="0">
                                          <p:val>
                                            <p:strVal val="#ppt_y+0.03"/>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400"/>
                                        <p:tgtEl>
                                          <p:spTgt spid="21"/>
                                        </p:tgtEl>
                                      </p:cBhvr>
                                    </p:animEffect>
                                    <p:anim calcmode="lin" valueType="num">
                                      <p:cBhvr>
                                        <p:cTn id="70" dur="400" decel="100000" fill="hold"/>
                                        <p:tgtEl>
                                          <p:spTgt spid="21"/>
                                        </p:tgtEl>
                                        <p:attrNameLst>
                                          <p:attrName>ppt_x</p:attrName>
                                        </p:attrNameLst>
                                      </p:cBhvr>
                                      <p:tavLst>
                                        <p:tav tm="0">
                                          <p:val>
                                            <p:strVal val="#ppt_x"/>
                                          </p:val>
                                        </p:tav>
                                        <p:tav tm="100000">
                                          <p:val>
                                            <p:strVal val="#ppt_x"/>
                                          </p:val>
                                        </p:tav>
                                      </p:tavLst>
                                    </p:anim>
                                    <p:anim calcmode="lin" valueType="num">
                                      <p:cBhvr>
                                        <p:cTn id="71" dur="400" decel="100000" fill="hold"/>
                                        <p:tgtEl>
                                          <p:spTgt spid="21"/>
                                        </p:tgtEl>
                                        <p:attrNameLst>
                                          <p:attrName>ppt_y</p:attrName>
                                        </p:attrNameLst>
                                      </p:cBhvr>
                                      <p:tavLst>
                                        <p:tav tm="0">
                                          <p:val>
                                            <p:strVal val="#ppt_y+0.03"/>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400"/>
                                        <p:tgtEl>
                                          <p:spTgt spid="22"/>
                                        </p:tgtEl>
                                      </p:cBhvr>
                                    </p:animEffect>
                                    <p:anim calcmode="lin" valueType="num">
                                      <p:cBhvr>
                                        <p:cTn id="75" dur="400" decel="100000" fill="hold"/>
                                        <p:tgtEl>
                                          <p:spTgt spid="22"/>
                                        </p:tgtEl>
                                        <p:attrNameLst>
                                          <p:attrName>ppt_x</p:attrName>
                                        </p:attrNameLst>
                                      </p:cBhvr>
                                      <p:tavLst>
                                        <p:tav tm="0">
                                          <p:val>
                                            <p:strVal val="#ppt_x"/>
                                          </p:val>
                                        </p:tav>
                                        <p:tav tm="100000">
                                          <p:val>
                                            <p:strVal val="#ppt_x"/>
                                          </p:val>
                                        </p:tav>
                                      </p:tavLst>
                                    </p:anim>
                                    <p:anim calcmode="lin" valueType="num">
                                      <p:cBhvr>
                                        <p:cTn id="76" dur="400" decel="100000" fill="hold"/>
                                        <p:tgtEl>
                                          <p:spTgt spid="22"/>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400"/>
                                        <p:tgtEl>
                                          <p:spTgt spid="23"/>
                                        </p:tgtEl>
                                      </p:cBhvr>
                                    </p:animEffect>
                                    <p:anim calcmode="lin" valueType="num">
                                      <p:cBhvr>
                                        <p:cTn id="80" dur="400" decel="100000" fill="hold"/>
                                        <p:tgtEl>
                                          <p:spTgt spid="23"/>
                                        </p:tgtEl>
                                        <p:attrNameLst>
                                          <p:attrName>ppt_x</p:attrName>
                                        </p:attrNameLst>
                                      </p:cBhvr>
                                      <p:tavLst>
                                        <p:tav tm="0">
                                          <p:val>
                                            <p:strVal val="#ppt_x"/>
                                          </p:val>
                                        </p:tav>
                                        <p:tav tm="100000">
                                          <p:val>
                                            <p:strVal val="#ppt_x"/>
                                          </p:val>
                                        </p:tav>
                                      </p:tavLst>
                                    </p:anim>
                                    <p:anim calcmode="lin" valueType="num">
                                      <p:cBhvr>
                                        <p:cTn id="81" dur="400" decel="100000" fill="hold"/>
                                        <p:tgtEl>
                                          <p:spTgt spid="23"/>
                                        </p:tgtEl>
                                        <p:attrNameLst>
                                          <p:attrName>ppt_y</p:attrName>
                                        </p:attrNameLst>
                                      </p:cBhvr>
                                      <p:tavLst>
                                        <p:tav tm="0">
                                          <p:val>
                                            <p:strVal val="#ppt_y+0.03"/>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400"/>
                                        <p:tgtEl>
                                          <p:spTgt spid="24"/>
                                        </p:tgtEl>
                                      </p:cBhvr>
                                    </p:animEffect>
                                    <p:anim calcmode="lin" valueType="num">
                                      <p:cBhvr>
                                        <p:cTn id="87" dur="400" decel="100000" fill="hold"/>
                                        <p:tgtEl>
                                          <p:spTgt spid="24"/>
                                        </p:tgtEl>
                                        <p:attrNameLst>
                                          <p:attrName>ppt_x</p:attrName>
                                        </p:attrNameLst>
                                      </p:cBhvr>
                                      <p:tavLst>
                                        <p:tav tm="0">
                                          <p:val>
                                            <p:strVal val="#ppt_x"/>
                                          </p:val>
                                        </p:tav>
                                        <p:tav tm="100000">
                                          <p:val>
                                            <p:strVal val="#ppt_x"/>
                                          </p:val>
                                        </p:tav>
                                      </p:tavLst>
                                    </p:anim>
                                    <p:anim calcmode="lin" valueType="num">
                                      <p:cBhvr>
                                        <p:cTn id="88" dur="400" decel="100000" fill="hold"/>
                                        <p:tgtEl>
                                          <p:spTgt spid="24"/>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400"/>
                                        <p:tgtEl>
                                          <p:spTgt spid="25"/>
                                        </p:tgtEl>
                                      </p:cBhvr>
                                    </p:animEffect>
                                    <p:anim calcmode="lin" valueType="num">
                                      <p:cBhvr>
                                        <p:cTn id="92" dur="400" decel="100000" fill="hold"/>
                                        <p:tgtEl>
                                          <p:spTgt spid="25"/>
                                        </p:tgtEl>
                                        <p:attrNameLst>
                                          <p:attrName>ppt_x</p:attrName>
                                        </p:attrNameLst>
                                      </p:cBhvr>
                                      <p:tavLst>
                                        <p:tav tm="0">
                                          <p:val>
                                            <p:strVal val="#ppt_x"/>
                                          </p:val>
                                        </p:tav>
                                        <p:tav tm="100000">
                                          <p:val>
                                            <p:strVal val="#ppt_x"/>
                                          </p:val>
                                        </p:tav>
                                      </p:tavLst>
                                    </p:anim>
                                    <p:anim calcmode="lin" valueType="num">
                                      <p:cBhvr>
                                        <p:cTn id="93" dur="400" decel="100000" fill="hold"/>
                                        <p:tgtEl>
                                          <p:spTgt spid="25"/>
                                        </p:tgtEl>
                                        <p:attrNameLst>
                                          <p:attrName>ppt_y</p:attrName>
                                        </p:attrNameLst>
                                      </p:cBhvr>
                                      <p:tavLst>
                                        <p:tav tm="0">
                                          <p:val>
                                            <p:strVal val="#ppt_y+0.03"/>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6"/>
                                        </p:tgtEl>
                                        <p:attrNameLst>
                                          <p:attrName>style.visibility</p:attrName>
                                        </p:attrNameLst>
                                      </p:cBhvr>
                                      <p:to>
                                        <p:strVal val="visible"/>
                                      </p:to>
                                    </p:set>
                                    <p:animEffect transition="in" filter="fade">
                                      <p:cBhvr>
                                        <p:cTn id="96" dur="400"/>
                                        <p:tgtEl>
                                          <p:spTgt spid="26"/>
                                        </p:tgtEl>
                                      </p:cBhvr>
                                    </p:animEffect>
                                    <p:anim calcmode="lin" valueType="num">
                                      <p:cBhvr>
                                        <p:cTn id="97" dur="400" decel="100000" fill="hold"/>
                                        <p:tgtEl>
                                          <p:spTgt spid="26"/>
                                        </p:tgtEl>
                                        <p:attrNameLst>
                                          <p:attrName>ppt_x</p:attrName>
                                        </p:attrNameLst>
                                      </p:cBhvr>
                                      <p:tavLst>
                                        <p:tav tm="0">
                                          <p:val>
                                            <p:strVal val="#ppt_x"/>
                                          </p:val>
                                        </p:tav>
                                        <p:tav tm="100000">
                                          <p:val>
                                            <p:strVal val="#ppt_x"/>
                                          </p:val>
                                        </p:tav>
                                      </p:tavLst>
                                    </p:anim>
                                    <p:anim calcmode="lin" valueType="num">
                                      <p:cBhvr>
                                        <p:cTn id="98" dur="400" decel="100000" fill="hold"/>
                                        <p:tgtEl>
                                          <p:spTgt spid="26"/>
                                        </p:tgtEl>
                                        <p:attrNameLst>
                                          <p:attrName>ppt_y</p:attrName>
                                        </p:attrNameLst>
                                      </p:cBhvr>
                                      <p:tavLst>
                                        <p:tav tm="0">
                                          <p:val>
                                            <p:strVal val="#ppt_y+0.03"/>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7"/>
                                        </p:tgtEl>
                                        <p:attrNameLst>
                                          <p:attrName>style.visibility</p:attrName>
                                        </p:attrNameLst>
                                      </p:cBhvr>
                                      <p:to>
                                        <p:strVal val="visible"/>
                                      </p:to>
                                    </p:set>
                                    <p:animEffect transition="in" filter="fade">
                                      <p:cBhvr>
                                        <p:cTn id="101" dur="400"/>
                                        <p:tgtEl>
                                          <p:spTgt spid="27"/>
                                        </p:tgtEl>
                                      </p:cBhvr>
                                    </p:animEffect>
                                    <p:anim calcmode="lin" valueType="num">
                                      <p:cBhvr>
                                        <p:cTn id="102" dur="400" decel="100000" fill="hold"/>
                                        <p:tgtEl>
                                          <p:spTgt spid="27"/>
                                        </p:tgtEl>
                                        <p:attrNameLst>
                                          <p:attrName>ppt_x</p:attrName>
                                        </p:attrNameLst>
                                      </p:cBhvr>
                                      <p:tavLst>
                                        <p:tav tm="0">
                                          <p:val>
                                            <p:strVal val="#ppt_x"/>
                                          </p:val>
                                        </p:tav>
                                        <p:tav tm="100000">
                                          <p:val>
                                            <p:strVal val="#ppt_x"/>
                                          </p:val>
                                        </p:tav>
                                      </p:tavLst>
                                    </p:anim>
                                    <p:anim calcmode="lin" valueType="num">
                                      <p:cBhvr>
                                        <p:cTn id="103" dur="400" decel="100000" fill="hold"/>
                                        <p:tgtEl>
                                          <p:spTgt spid="27"/>
                                        </p:tgtEl>
                                        <p:attrNameLst>
                                          <p:attrName>ppt_y</p:attrName>
                                        </p:attrNameLst>
                                      </p:cBhvr>
                                      <p:tavLst>
                                        <p:tav tm="0">
                                          <p:val>
                                            <p:strVal val="#ppt_y+0.03"/>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400"/>
                                        <p:tgtEl>
                                          <p:spTgt spid="28"/>
                                        </p:tgtEl>
                                      </p:cBhvr>
                                    </p:animEffect>
                                    <p:anim calcmode="lin" valueType="num">
                                      <p:cBhvr>
                                        <p:cTn id="107" dur="400" decel="100000" fill="hold"/>
                                        <p:tgtEl>
                                          <p:spTgt spid="28"/>
                                        </p:tgtEl>
                                        <p:attrNameLst>
                                          <p:attrName>ppt_x</p:attrName>
                                        </p:attrNameLst>
                                      </p:cBhvr>
                                      <p:tavLst>
                                        <p:tav tm="0">
                                          <p:val>
                                            <p:strVal val="#ppt_x"/>
                                          </p:val>
                                        </p:tav>
                                        <p:tav tm="100000">
                                          <p:val>
                                            <p:strVal val="#ppt_x"/>
                                          </p:val>
                                        </p:tav>
                                      </p:tavLst>
                                    </p:anim>
                                    <p:anim calcmode="lin" valueType="num">
                                      <p:cBhvr>
                                        <p:cTn id="108" dur="400" decel="100000" fill="hold"/>
                                        <p:tgtEl>
                                          <p:spTgt spid="28"/>
                                        </p:tgtEl>
                                        <p:attrNameLst>
                                          <p:attrName>ppt_y</p:attrName>
                                        </p:attrNameLst>
                                      </p:cBhvr>
                                      <p:tavLst>
                                        <p:tav tm="0">
                                          <p:val>
                                            <p:strVal val="#ppt_y+0.03"/>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9"/>
                                        </p:tgtEl>
                                        <p:attrNameLst>
                                          <p:attrName>style.visibility</p:attrName>
                                        </p:attrNameLst>
                                      </p:cBhvr>
                                      <p:to>
                                        <p:strVal val="visible"/>
                                      </p:to>
                                    </p:set>
                                    <p:animEffect transition="in" filter="fade">
                                      <p:cBhvr>
                                        <p:cTn id="113" dur="400"/>
                                        <p:tgtEl>
                                          <p:spTgt spid="29"/>
                                        </p:tgtEl>
                                      </p:cBhvr>
                                    </p:animEffect>
                                    <p:anim calcmode="lin" valueType="num">
                                      <p:cBhvr>
                                        <p:cTn id="114" dur="400" decel="100000" fill="hold"/>
                                        <p:tgtEl>
                                          <p:spTgt spid="29"/>
                                        </p:tgtEl>
                                        <p:attrNameLst>
                                          <p:attrName>ppt_x</p:attrName>
                                        </p:attrNameLst>
                                      </p:cBhvr>
                                      <p:tavLst>
                                        <p:tav tm="0">
                                          <p:val>
                                            <p:strVal val="#ppt_x"/>
                                          </p:val>
                                        </p:tav>
                                        <p:tav tm="100000">
                                          <p:val>
                                            <p:strVal val="#ppt_x"/>
                                          </p:val>
                                        </p:tav>
                                      </p:tavLst>
                                    </p:anim>
                                    <p:anim calcmode="lin" valueType="num">
                                      <p:cBhvr>
                                        <p:cTn id="115" dur="400" decel="100000" fill="hold"/>
                                        <p:tgtEl>
                                          <p:spTgt spid="29"/>
                                        </p:tgtEl>
                                        <p:attrNameLst>
                                          <p:attrName>ppt_y</p:attrName>
                                        </p:attrNameLst>
                                      </p:cBhvr>
                                      <p:tavLst>
                                        <p:tav tm="0">
                                          <p:val>
                                            <p:strVal val="#ppt_y+0.03"/>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30"/>
                                        </p:tgtEl>
                                        <p:attrNameLst>
                                          <p:attrName>style.visibility</p:attrName>
                                        </p:attrNameLst>
                                      </p:cBhvr>
                                      <p:to>
                                        <p:strVal val="visible"/>
                                      </p:to>
                                    </p:set>
                                    <p:animEffect transition="in" filter="fade">
                                      <p:cBhvr>
                                        <p:cTn id="118" dur="400"/>
                                        <p:tgtEl>
                                          <p:spTgt spid="30"/>
                                        </p:tgtEl>
                                      </p:cBhvr>
                                    </p:animEffect>
                                    <p:anim calcmode="lin" valueType="num">
                                      <p:cBhvr>
                                        <p:cTn id="119" dur="400" decel="100000" fill="hold"/>
                                        <p:tgtEl>
                                          <p:spTgt spid="30"/>
                                        </p:tgtEl>
                                        <p:attrNameLst>
                                          <p:attrName>ppt_x</p:attrName>
                                        </p:attrNameLst>
                                      </p:cBhvr>
                                      <p:tavLst>
                                        <p:tav tm="0">
                                          <p:val>
                                            <p:strVal val="#ppt_x"/>
                                          </p:val>
                                        </p:tav>
                                        <p:tav tm="100000">
                                          <p:val>
                                            <p:strVal val="#ppt_x"/>
                                          </p:val>
                                        </p:tav>
                                      </p:tavLst>
                                    </p:anim>
                                    <p:anim calcmode="lin" valueType="num">
                                      <p:cBhvr>
                                        <p:cTn id="120" dur="400" decel="100000" fill="hold"/>
                                        <p:tgtEl>
                                          <p:spTgt spid="30"/>
                                        </p:tgtEl>
                                        <p:attrNameLst>
                                          <p:attrName>ppt_y</p:attrName>
                                        </p:attrNameLst>
                                      </p:cBhvr>
                                      <p:tavLst>
                                        <p:tav tm="0">
                                          <p:val>
                                            <p:strVal val="#ppt_y+0.03"/>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31"/>
                                        </p:tgtEl>
                                        <p:attrNameLst>
                                          <p:attrName>style.visibility</p:attrName>
                                        </p:attrNameLst>
                                      </p:cBhvr>
                                      <p:to>
                                        <p:strVal val="visible"/>
                                      </p:to>
                                    </p:set>
                                    <p:animEffect transition="in" filter="fade">
                                      <p:cBhvr>
                                        <p:cTn id="123" dur="400"/>
                                        <p:tgtEl>
                                          <p:spTgt spid="31"/>
                                        </p:tgtEl>
                                      </p:cBhvr>
                                    </p:animEffect>
                                    <p:anim calcmode="lin" valueType="num">
                                      <p:cBhvr>
                                        <p:cTn id="124" dur="400" decel="100000" fill="hold"/>
                                        <p:tgtEl>
                                          <p:spTgt spid="31"/>
                                        </p:tgtEl>
                                        <p:attrNameLst>
                                          <p:attrName>ppt_x</p:attrName>
                                        </p:attrNameLst>
                                      </p:cBhvr>
                                      <p:tavLst>
                                        <p:tav tm="0">
                                          <p:val>
                                            <p:strVal val="#ppt_x"/>
                                          </p:val>
                                        </p:tav>
                                        <p:tav tm="100000">
                                          <p:val>
                                            <p:strVal val="#ppt_x"/>
                                          </p:val>
                                        </p:tav>
                                      </p:tavLst>
                                    </p:anim>
                                    <p:anim calcmode="lin" valueType="num">
                                      <p:cBhvr>
                                        <p:cTn id="125" dur="400" decel="100000" fill="hold"/>
                                        <p:tgtEl>
                                          <p:spTgt spid="31"/>
                                        </p:tgtEl>
                                        <p:attrNameLst>
                                          <p:attrName>ppt_y</p:attrName>
                                        </p:attrNameLst>
                                      </p:cBhvr>
                                      <p:tavLst>
                                        <p:tav tm="0">
                                          <p:val>
                                            <p:strVal val="#ppt_y+0.03"/>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32"/>
                                        </p:tgtEl>
                                        <p:attrNameLst>
                                          <p:attrName>style.visibility</p:attrName>
                                        </p:attrNameLst>
                                      </p:cBhvr>
                                      <p:to>
                                        <p:strVal val="visible"/>
                                      </p:to>
                                    </p:set>
                                    <p:animEffect transition="in" filter="fade">
                                      <p:cBhvr>
                                        <p:cTn id="128" dur="400"/>
                                        <p:tgtEl>
                                          <p:spTgt spid="32"/>
                                        </p:tgtEl>
                                      </p:cBhvr>
                                    </p:animEffect>
                                    <p:anim calcmode="lin" valueType="num">
                                      <p:cBhvr>
                                        <p:cTn id="129" dur="400" decel="100000" fill="hold"/>
                                        <p:tgtEl>
                                          <p:spTgt spid="32"/>
                                        </p:tgtEl>
                                        <p:attrNameLst>
                                          <p:attrName>ppt_x</p:attrName>
                                        </p:attrNameLst>
                                      </p:cBhvr>
                                      <p:tavLst>
                                        <p:tav tm="0">
                                          <p:val>
                                            <p:strVal val="#ppt_x"/>
                                          </p:val>
                                        </p:tav>
                                        <p:tav tm="100000">
                                          <p:val>
                                            <p:strVal val="#ppt_x"/>
                                          </p:val>
                                        </p:tav>
                                      </p:tavLst>
                                    </p:anim>
                                    <p:anim calcmode="lin" valueType="num">
                                      <p:cBhvr>
                                        <p:cTn id="130" dur="400" decel="100000" fill="hold"/>
                                        <p:tgtEl>
                                          <p:spTgt spid="32"/>
                                        </p:tgtEl>
                                        <p:attrNameLst>
                                          <p:attrName>ppt_y</p:attrName>
                                        </p:attrNameLst>
                                      </p:cBhvr>
                                      <p:tavLst>
                                        <p:tav tm="0">
                                          <p:val>
                                            <p:strVal val="#ppt_y+0.03"/>
                                          </p:val>
                                        </p:tav>
                                        <p:tav tm="100000">
                                          <p:val>
                                            <p:strVal val="#ppt_y"/>
                                          </p:val>
                                        </p:tav>
                                      </p:tavLst>
                                    </p:anim>
                                  </p:childTnLst>
                                </p:cTn>
                              </p:par>
                              <p:par>
                                <p:cTn id="131" presetID="42" presetClass="entr" presetSubtype="0"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Effect transition="in" filter="fade">
                                      <p:cBhvr>
                                        <p:cTn id="133" dur="400"/>
                                        <p:tgtEl>
                                          <p:spTgt spid="33"/>
                                        </p:tgtEl>
                                      </p:cBhvr>
                                    </p:animEffect>
                                    <p:anim calcmode="lin" valueType="num">
                                      <p:cBhvr>
                                        <p:cTn id="134" dur="400" decel="100000" fill="hold"/>
                                        <p:tgtEl>
                                          <p:spTgt spid="33"/>
                                        </p:tgtEl>
                                        <p:attrNameLst>
                                          <p:attrName>ppt_x</p:attrName>
                                        </p:attrNameLst>
                                      </p:cBhvr>
                                      <p:tavLst>
                                        <p:tav tm="0">
                                          <p:val>
                                            <p:strVal val="#ppt_x"/>
                                          </p:val>
                                        </p:tav>
                                        <p:tav tm="100000">
                                          <p:val>
                                            <p:strVal val="#ppt_x"/>
                                          </p:val>
                                        </p:tav>
                                      </p:tavLst>
                                    </p:anim>
                                    <p:anim calcmode="lin" valueType="num">
                                      <p:cBhvr>
                                        <p:cTn id="135" dur="400" decel="100000" fill="hold"/>
                                        <p:tgtEl>
                                          <p:spTgt spid="33"/>
                                        </p:tgtEl>
                                        <p:attrNameLst>
                                          <p:attrName>ppt_y</p:attrName>
                                        </p:attrNameLst>
                                      </p:cBhvr>
                                      <p:tavLst>
                                        <p:tav tm="0">
                                          <p:val>
                                            <p:strVal val="#ppt_y+0.03"/>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34"/>
                                        </p:tgtEl>
                                        <p:attrNameLst>
                                          <p:attrName>style.visibility</p:attrName>
                                        </p:attrNameLst>
                                      </p:cBhvr>
                                      <p:to>
                                        <p:strVal val="visible"/>
                                      </p:to>
                                    </p:set>
                                    <p:animEffect transition="in" filter="fade">
                                      <p:cBhvr>
                                        <p:cTn id="140" dur="400"/>
                                        <p:tgtEl>
                                          <p:spTgt spid="34"/>
                                        </p:tgtEl>
                                      </p:cBhvr>
                                    </p:animEffect>
                                    <p:anim calcmode="lin" valueType="num">
                                      <p:cBhvr>
                                        <p:cTn id="141" dur="400" decel="100000" fill="hold"/>
                                        <p:tgtEl>
                                          <p:spTgt spid="34"/>
                                        </p:tgtEl>
                                        <p:attrNameLst>
                                          <p:attrName>ppt_x</p:attrName>
                                        </p:attrNameLst>
                                      </p:cBhvr>
                                      <p:tavLst>
                                        <p:tav tm="0">
                                          <p:val>
                                            <p:strVal val="#ppt_x"/>
                                          </p:val>
                                        </p:tav>
                                        <p:tav tm="100000">
                                          <p:val>
                                            <p:strVal val="#ppt_x"/>
                                          </p:val>
                                        </p:tav>
                                      </p:tavLst>
                                    </p:anim>
                                    <p:anim calcmode="lin" valueType="num">
                                      <p:cBhvr>
                                        <p:cTn id="142" dur="400" decel="100000" fill="hold"/>
                                        <p:tgtEl>
                                          <p:spTgt spid="34"/>
                                        </p:tgtEl>
                                        <p:attrNameLst>
                                          <p:attrName>ppt_y</p:attrName>
                                        </p:attrNameLst>
                                      </p:cBhvr>
                                      <p:tavLst>
                                        <p:tav tm="0">
                                          <p:val>
                                            <p:strVal val="#ppt_y+0.03"/>
                                          </p:val>
                                        </p:tav>
                                        <p:tav tm="100000">
                                          <p:val>
                                            <p:strVal val="#ppt_y"/>
                                          </p:val>
                                        </p:tav>
                                      </p:tavLst>
                                    </p:anim>
                                  </p:childTnLst>
                                </p:cTn>
                              </p:par>
                              <p:par>
                                <p:cTn id="143" presetID="42" presetClass="entr" presetSubtype="0" fill="hold" grpId="0" nodeType="withEffect">
                                  <p:stCondLst>
                                    <p:cond delay="0"/>
                                  </p:stCondLst>
                                  <p:childTnLst>
                                    <p:set>
                                      <p:cBhvr>
                                        <p:cTn id="144" dur="1" fill="hold">
                                          <p:stCondLst>
                                            <p:cond delay="0"/>
                                          </p:stCondLst>
                                        </p:cTn>
                                        <p:tgtEl>
                                          <p:spTgt spid="35"/>
                                        </p:tgtEl>
                                        <p:attrNameLst>
                                          <p:attrName>style.visibility</p:attrName>
                                        </p:attrNameLst>
                                      </p:cBhvr>
                                      <p:to>
                                        <p:strVal val="visible"/>
                                      </p:to>
                                    </p:set>
                                    <p:animEffect transition="in" filter="fade">
                                      <p:cBhvr>
                                        <p:cTn id="145" dur="400"/>
                                        <p:tgtEl>
                                          <p:spTgt spid="35"/>
                                        </p:tgtEl>
                                      </p:cBhvr>
                                    </p:animEffect>
                                    <p:anim calcmode="lin" valueType="num">
                                      <p:cBhvr>
                                        <p:cTn id="146" dur="400" decel="100000" fill="hold"/>
                                        <p:tgtEl>
                                          <p:spTgt spid="35"/>
                                        </p:tgtEl>
                                        <p:attrNameLst>
                                          <p:attrName>ppt_x</p:attrName>
                                        </p:attrNameLst>
                                      </p:cBhvr>
                                      <p:tavLst>
                                        <p:tav tm="0">
                                          <p:val>
                                            <p:strVal val="#ppt_x"/>
                                          </p:val>
                                        </p:tav>
                                        <p:tav tm="100000">
                                          <p:val>
                                            <p:strVal val="#ppt_x"/>
                                          </p:val>
                                        </p:tav>
                                      </p:tavLst>
                                    </p:anim>
                                    <p:anim calcmode="lin" valueType="num">
                                      <p:cBhvr>
                                        <p:cTn id="147" dur="400" decel="100000" fill="hold"/>
                                        <p:tgtEl>
                                          <p:spTgt spid="35"/>
                                        </p:tgtEl>
                                        <p:attrNameLst>
                                          <p:attrName>ppt_y</p:attrName>
                                        </p:attrNameLst>
                                      </p:cBhvr>
                                      <p:tavLst>
                                        <p:tav tm="0">
                                          <p:val>
                                            <p:strVal val="#ppt_y+0.03"/>
                                          </p:val>
                                        </p:tav>
                                        <p:tav tm="100000">
                                          <p:val>
                                            <p:strVal val="#ppt_y"/>
                                          </p:val>
                                        </p:tav>
                                      </p:tavLst>
                                    </p:anim>
                                  </p:childTnLst>
                                </p:cTn>
                              </p:par>
                              <p:par>
                                <p:cTn id="148" presetID="42" presetClass="entr" presetSubtype="0" fill="hold" grpId="0" nodeType="withEffect">
                                  <p:stCondLst>
                                    <p:cond delay="0"/>
                                  </p:stCondLst>
                                  <p:childTnLst>
                                    <p:set>
                                      <p:cBhvr>
                                        <p:cTn id="149" dur="1" fill="hold">
                                          <p:stCondLst>
                                            <p:cond delay="0"/>
                                          </p:stCondLst>
                                        </p:cTn>
                                        <p:tgtEl>
                                          <p:spTgt spid="36"/>
                                        </p:tgtEl>
                                        <p:attrNameLst>
                                          <p:attrName>style.visibility</p:attrName>
                                        </p:attrNameLst>
                                      </p:cBhvr>
                                      <p:to>
                                        <p:strVal val="visible"/>
                                      </p:to>
                                    </p:set>
                                    <p:animEffect transition="in" filter="fade">
                                      <p:cBhvr>
                                        <p:cTn id="150" dur="400"/>
                                        <p:tgtEl>
                                          <p:spTgt spid="36"/>
                                        </p:tgtEl>
                                      </p:cBhvr>
                                    </p:animEffect>
                                    <p:anim calcmode="lin" valueType="num">
                                      <p:cBhvr>
                                        <p:cTn id="151" dur="400" decel="100000" fill="hold"/>
                                        <p:tgtEl>
                                          <p:spTgt spid="36"/>
                                        </p:tgtEl>
                                        <p:attrNameLst>
                                          <p:attrName>ppt_x</p:attrName>
                                        </p:attrNameLst>
                                      </p:cBhvr>
                                      <p:tavLst>
                                        <p:tav tm="0">
                                          <p:val>
                                            <p:strVal val="#ppt_x"/>
                                          </p:val>
                                        </p:tav>
                                        <p:tav tm="100000">
                                          <p:val>
                                            <p:strVal val="#ppt_x"/>
                                          </p:val>
                                        </p:tav>
                                      </p:tavLst>
                                    </p:anim>
                                    <p:anim calcmode="lin" valueType="num">
                                      <p:cBhvr>
                                        <p:cTn id="152" dur="400" decel="100000" fill="hold"/>
                                        <p:tgtEl>
                                          <p:spTgt spid="36"/>
                                        </p:tgtEl>
                                        <p:attrNameLst>
                                          <p:attrName>ppt_y</p:attrName>
                                        </p:attrNameLst>
                                      </p:cBhvr>
                                      <p:tavLst>
                                        <p:tav tm="0">
                                          <p:val>
                                            <p:strVal val="#ppt_y+0.03"/>
                                          </p:val>
                                        </p:tav>
                                        <p:tav tm="100000">
                                          <p:val>
                                            <p:strVal val="#ppt_y"/>
                                          </p:val>
                                        </p:tav>
                                      </p:tavLst>
                                    </p:anim>
                                  </p:childTnLst>
                                </p:cTn>
                              </p:par>
                              <p:par>
                                <p:cTn id="153" presetID="42" presetClass="entr" presetSubtype="0" fill="hold" grpId="0" nodeType="withEffect">
                                  <p:stCondLst>
                                    <p:cond delay="0"/>
                                  </p:stCondLst>
                                  <p:childTnLst>
                                    <p:set>
                                      <p:cBhvr>
                                        <p:cTn id="154" dur="1" fill="hold">
                                          <p:stCondLst>
                                            <p:cond delay="0"/>
                                          </p:stCondLst>
                                        </p:cTn>
                                        <p:tgtEl>
                                          <p:spTgt spid="37"/>
                                        </p:tgtEl>
                                        <p:attrNameLst>
                                          <p:attrName>style.visibility</p:attrName>
                                        </p:attrNameLst>
                                      </p:cBhvr>
                                      <p:to>
                                        <p:strVal val="visible"/>
                                      </p:to>
                                    </p:set>
                                    <p:animEffect transition="in" filter="fade">
                                      <p:cBhvr>
                                        <p:cTn id="155" dur="400"/>
                                        <p:tgtEl>
                                          <p:spTgt spid="37"/>
                                        </p:tgtEl>
                                      </p:cBhvr>
                                    </p:animEffect>
                                    <p:anim calcmode="lin" valueType="num">
                                      <p:cBhvr>
                                        <p:cTn id="156" dur="400" decel="100000" fill="hold"/>
                                        <p:tgtEl>
                                          <p:spTgt spid="37"/>
                                        </p:tgtEl>
                                        <p:attrNameLst>
                                          <p:attrName>ppt_x</p:attrName>
                                        </p:attrNameLst>
                                      </p:cBhvr>
                                      <p:tavLst>
                                        <p:tav tm="0">
                                          <p:val>
                                            <p:strVal val="#ppt_x"/>
                                          </p:val>
                                        </p:tav>
                                        <p:tav tm="100000">
                                          <p:val>
                                            <p:strVal val="#ppt_x"/>
                                          </p:val>
                                        </p:tav>
                                      </p:tavLst>
                                    </p:anim>
                                    <p:anim calcmode="lin" valueType="num">
                                      <p:cBhvr>
                                        <p:cTn id="157" dur="400" decel="100000" fill="hold"/>
                                        <p:tgtEl>
                                          <p:spTgt spid="37"/>
                                        </p:tgtEl>
                                        <p:attrNameLst>
                                          <p:attrName>ppt_y</p:attrName>
                                        </p:attrNameLst>
                                      </p:cBhvr>
                                      <p:tavLst>
                                        <p:tav tm="0">
                                          <p:val>
                                            <p:strVal val="#ppt_y+0.03"/>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38"/>
                                        </p:tgtEl>
                                        <p:attrNameLst>
                                          <p:attrName>style.visibility</p:attrName>
                                        </p:attrNameLst>
                                      </p:cBhvr>
                                      <p:to>
                                        <p:strVal val="visible"/>
                                      </p:to>
                                    </p:set>
                                    <p:animEffect transition="in" filter="fade">
                                      <p:cBhvr>
                                        <p:cTn id="160" dur="400"/>
                                        <p:tgtEl>
                                          <p:spTgt spid="38"/>
                                        </p:tgtEl>
                                      </p:cBhvr>
                                    </p:animEffect>
                                    <p:anim calcmode="lin" valueType="num">
                                      <p:cBhvr>
                                        <p:cTn id="161" dur="400" decel="100000" fill="hold"/>
                                        <p:tgtEl>
                                          <p:spTgt spid="38"/>
                                        </p:tgtEl>
                                        <p:attrNameLst>
                                          <p:attrName>ppt_x</p:attrName>
                                        </p:attrNameLst>
                                      </p:cBhvr>
                                      <p:tavLst>
                                        <p:tav tm="0">
                                          <p:val>
                                            <p:strVal val="#ppt_x"/>
                                          </p:val>
                                        </p:tav>
                                        <p:tav tm="100000">
                                          <p:val>
                                            <p:strVal val="#ppt_x"/>
                                          </p:val>
                                        </p:tav>
                                      </p:tavLst>
                                    </p:anim>
                                    <p:anim calcmode="lin" valueType="num">
                                      <p:cBhvr>
                                        <p:cTn id="162" dur="400" decel="100000" fill="hold"/>
                                        <p:tgtEl>
                                          <p:spTgt spid="38"/>
                                        </p:tgtEl>
                                        <p:attrNameLst>
                                          <p:attrName>ppt_y</p:attrName>
                                        </p:attrNameLst>
                                      </p:cBhvr>
                                      <p:tavLst>
                                        <p:tav tm="0">
                                          <p:val>
                                            <p:strVal val="#ppt_y+0.03"/>
                                          </p:val>
                                        </p:tav>
                                        <p:tav tm="100000">
                                          <p:val>
                                            <p:strVal val="#ppt_y"/>
                                          </p:val>
                                        </p:tav>
                                      </p:tavLst>
                                    </p:anim>
                                  </p:childTnLst>
                                </p:cTn>
                              </p:par>
                            </p:childTnLst>
                          </p:cTn>
                        </p:par>
                      </p:childTnLst>
                    </p:cTn>
                  </p:par>
                  <p:par>
                    <p:cTn id="190" fill="hold">
                      <p:stCondLst>
                        <p:cond delay="indefinite"/>
                      </p:stCondLst>
                      <p:childTnLst>
                        <p:par>
                          <p:cTn id="191" fill="hold">
                            <p:stCondLst>
                              <p:cond delay="0"/>
                            </p:stCondLst>
                            <p:childTnLst>
                              <p:par>
                                <p:cTn id="165" presetID="42" presetClass="entr" presetSubtype="0" fill="hold" grpId="0" nodeType="clickEffect">
                                  <p:stCondLst>
                                    <p:cond delay="0"/>
                                  </p:stCondLst>
                                  <p:childTnLst>
                                    <p:set>
                                      <p:cBhvr>
                                        <p:cTn id="166" dur="1" fill="hold">
                                          <p:stCondLst>
                                            <p:cond delay="0"/>
                                          </p:stCondLst>
                                        </p:cTn>
                                        <p:tgtEl>
                                          <p:spTgt spid="39"/>
                                        </p:tgtEl>
                                        <p:attrNameLst>
                                          <p:attrName>style.visibility</p:attrName>
                                        </p:attrNameLst>
                                      </p:cBhvr>
                                      <p:to>
                                        <p:strVal val="visible"/>
                                      </p:to>
                                    </p:set>
                                    <p:animEffect transition="in" filter="fade">
                                      <p:cBhvr>
                                        <p:cTn id="167" dur="400"/>
                                        <p:tgtEl>
                                          <p:spTgt spid="39"/>
                                        </p:tgtEl>
                                      </p:cBhvr>
                                    </p:animEffect>
                                    <p:anim calcmode="lin" valueType="num">
                                      <p:cBhvr>
                                        <p:cTn id="168" dur="400" decel="100000" fill="hold"/>
                                        <p:tgtEl>
                                          <p:spTgt spid="39"/>
                                        </p:tgtEl>
                                        <p:attrNameLst>
                                          <p:attrName>ppt_x</p:attrName>
                                        </p:attrNameLst>
                                      </p:cBhvr>
                                      <p:tavLst>
                                        <p:tav tm="0">
                                          <p:val>
                                            <p:strVal val="#ppt_x"/>
                                          </p:val>
                                        </p:tav>
                                        <p:tav tm="100000">
                                          <p:val>
                                            <p:strVal val="#ppt_x"/>
                                          </p:val>
                                        </p:tav>
                                      </p:tavLst>
                                    </p:anim>
                                    <p:anim calcmode="lin" valueType="num">
                                      <p:cBhvr>
                                        <p:cTn id="169" dur="400" decel="100000" fill="hold"/>
                                        <p:tgtEl>
                                          <p:spTgt spid="39"/>
                                        </p:tgtEl>
                                        <p:attrNameLst>
                                          <p:attrName>ppt_y</p:attrName>
                                        </p:attrNameLst>
                                      </p:cBhvr>
                                      <p:tavLst>
                                        <p:tav tm="0">
                                          <p:val>
                                            <p:strVal val="#ppt_y+0.03"/>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40"/>
                                        </p:tgtEl>
                                        <p:attrNameLst>
                                          <p:attrName>style.visibility</p:attrName>
                                        </p:attrNameLst>
                                      </p:cBhvr>
                                      <p:to>
                                        <p:strVal val="visible"/>
                                      </p:to>
                                    </p:set>
                                    <p:animEffect transition="in" filter="fade">
                                      <p:cBhvr>
                                        <p:cTn id="172" dur="400"/>
                                        <p:tgtEl>
                                          <p:spTgt spid="40"/>
                                        </p:tgtEl>
                                      </p:cBhvr>
                                    </p:animEffect>
                                    <p:anim calcmode="lin" valueType="num">
                                      <p:cBhvr>
                                        <p:cTn id="173" dur="400" decel="100000" fill="hold"/>
                                        <p:tgtEl>
                                          <p:spTgt spid="40"/>
                                        </p:tgtEl>
                                        <p:attrNameLst>
                                          <p:attrName>ppt_x</p:attrName>
                                        </p:attrNameLst>
                                      </p:cBhvr>
                                      <p:tavLst>
                                        <p:tav tm="0">
                                          <p:val>
                                            <p:strVal val="#ppt_x"/>
                                          </p:val>
                                        </p:tav>
                                        <p:tav tm="100000">
                                          <p:val>
                                            <p:strVal val="#ppt_x"/>
                                          </p:val>
                                        </p:tav>
                                      </p:tavLst>
                                    </p:anim>
                                    <p:anim calcmode="lin" valueType="num">
                                      <p:cBhvr>
                                        <p:cTn id="174" dur="400" decel="100000" fill="hold"/>
                                        <p:tgtEl>
                                          <p:spTgt spid="40"/>
                                        </p:tgtEl>
                                        <p:attrNameLst>
                                          <p:attrName>ppt_y</p:attrName>
                                        </p:attrNameLst>
                                      </p:cBhvr>
                                      <p:tavLst>
                                        <p:tav tm="0">
                                          <p:val>
                                            <p:strVal val="#ppt_y+0.03"/>
                                          </p:val>
                                        </p:tav>
                                        <p:tav tm="100000">
                                          <p:val>
                                            <p:strVal val="#ppt_y"/>
                                          </p:val>
                                        </p:tav>
                                      </p:tavLst>
                                    </p:anim>
                                  </p:childTnLst>
                                </p:cTn>
                              </p:par>
                              <p:par>
                                <p:cTn id="175" presetID="42" presetClass="entr" presetSubtype="0" fill="hold" grpId="0" nodeType="withEffect">
                                  <p:stCondLst>
                                    <p:cond delay="0"/>
                                  </p:stCondLst>
                                  <p:childTnLst>
                                    <p:set>
                                      <p:cBhvr>
                                        <p:cTn id="176" dur="1" fill="hold">
                                          <p:stCondLst>
                                            <p:cond delay="0"/>
                                          </p:stCondLst>
                                        </p:cTn>
                                        <p:tgtEl>
                                          <p:spTgt spid="41"/>
                                        </p:tgtEl>
                                        <p:attrNameLst>
                                          <p:attrName>style.visibility</p:attrName>
                                        </p:attrNameLst>
                                      </p:cBhvr>
                                      <p:to>
                                        <p:strVal val="visible"/>
                                      </p:to>
                                    </p:set>
                                    <p:animEffect transition="in" filter="fade">
                                      <p:cBhvr>
                                        <p:cTn id="177" dur="400"/>
                                        <p:tgtEl>
                                          <p:spTgt spid="41"/>
                                        </p:tgtEl>
                                      </p:cBhvr>
                                    </p:animEffect>
                                    <p:anim calcmode="lin" valueType="num">
                                      <p:cBhvr>
                                        <p:cTn id="178" dur="400" decel="100000" fill="hold"/>
                                        <p:tgtEl>
                                          <p:spTgt spid="41"/>
                                        </p:tgtEl>
                                        <p:attrNameLst>
                                          <p:attrName>ppt_x</p:attrName>
                                        </p:attrNameLst>
                                      </p:cBhvr>
                                      <p:tavLst>
                                        <p:tav tm="0">
                                          <p:val>
                                            <p:strVal val="#ppt_x"/>
                                          </p:val>
                                        </p:tav>
                                        <p:tav tm="100000">
                                          <p:val>
                                            <p:strVal val="#ppt_x"/>
                                          </p:val>
                                        </p:tav>
                                      </p:tavLst>
                                    </p:anim>
                                    <p:anim calcmode="lin" valueType="num">
                                      <p:cBhvr>
                                        <p:cTn id="179" dur="400" decel="100000" fill="hold"/>
                                        <p:tgtEl>
                                          <p:spTgt spid="41"/>
                                        </p:tgtEl>
                                        <p:attrNameLst>
                                          <p:attrName>ppt_y</p:attrName>
                                        </p:attrNameLst>
                                      </p:cBhvr>
                                      <p:tavLst>
                                        <p:tav tm="0">
                                          <p:val>
                                            <p:strVal val="#ppt_y+0.03"/>
                                          </p:val>
                                        </p:tav>
                                        <p:tav tm="100000">
                                          <p:val>
                                            <p:strVal val="#ppt_y"/>
                                          </p:val>
                                        </p:tav>
                                      </p:tavLst>
                                    </p:anim>
                                  </p:childTnLst>
                                </p:cTn>
                              </p:par>
                              <p:par>
                                <p:cTn id="180" presetID="42" presetClass="entr" presetSubtype="0" fill="hold" grpId="0" nodeType="withEffect">
                                  <p:stCondLst>
                                    <p:cond delay="0"/>
                                  </p:stCondLst>
                                  <p:childTnLst>
                                    <p:set>
                                      <p:cBhvr>
                                        <p:cTn id="181" dur="1" fill="hold">
                                          <p:stCondLst>
                                            <p:cond delay="0"/>
                                          </p:stCondLst>
                                        </p:cTn>
                                        <p:tgtEl>
                                          <p:spTgt spid="42"/>
                                        </p:tgtEl>
                                        <p:attrNameLst>
                                          <p:attrName>style.visibility</p:attrName>
                                        </p:attrNameLst>
                                      </p:cBhvr>
                                      <p:to>
                                        <p:strVal val="visible"/>
                                      </p:to>
                                    </p:set>
                                    <p:animEffect transition="in" filter="fade">
                                      <p:cBhvr>
                                        <p:cTn id="182" dur="400"/>
                                        <p:tgtEl>
                                          <p:spTgt spid="42"/>
                                        </p:tgtEl>
                                      </p:cBhvr>
                                    </p:animEffect>
                                    <p:anim calcmode="lin" valueType="num">
                                      <p:cBhvr>
                                        <p:cTn id="183" dur="400" decel="100000" fill="hold"/>
                                        <p:tgtEl>
                                          <p:spTgt spid="42"/>
                                        </p:tgtEl>
                                        <p:attrNameLst>
                                          <p:attrName>ppt_x</p:attrName>
                                        </p:attrNameLst>
                                      </p:cBhvr>
                                      <p:tavLst>
                                        <p:tav tm="0">
                                          <p:val>
                                            <p:strVal val="#ppt_x"/>
                                          </p:val>
                                        </p:tav>
                                        <p:tav tm="100000">
                                          <p:val>
                                            <p:strVal val="#ppt_x"/>
                                          </p:val>
                                        </p:tav>
                                      </p:tavLst>
                                    </p:anim>
                                    <p:anim calcmode="lin" valueType="num">
                                      <p:cBhvr>
                                        <p:cTn id="184" dur="400" decel="100000" fill="hold"/>
                                        <p:tgtEl>
                                          <p:spTgt spid="42"/>
                                        </p:tgtEl>
                                        <p:attrNameLst>
                                          <p:attrName>ppt_y</p:attrName>
                                        </p:attrNameLst>
                                      </p:cBhvr>
                                      <p:tavLst>
                                        <p:tav tm="0">
                                          <p:val>
                                            <p:strVal val="#ppt_y+0.03"/>
                                          </p:val>
                                        </p:tav>
                                        <p:tav tm="100000">
                                          <p:val>
                                            <p:strVal val="#ppt_y"/>
                                          </p:val>
                                        </p:tav>
                                      </p:tavLst>
                                    </p:anim>
                                  </p:childTnLst>
                                </p:cTn>
                              </p:par>
                              <p:par>
                                <p:cTn id="185" presetID="42" presetClass="entr" presetSubtype="0" fill="hold" grpId="0" nodeType="withEffect">
                                  <p:stCondLst>
                                    <p:cond delay="0"/>
                                  </p:stCondLst>
                                  <p:childTnLst>
                                    <p:set>
                                      <p:cBhvr>
                                        <p:cTn id="186" dur="1" fill="hold">
                                          <p:stCondLst>
                                            <p:cond delay="0"/>
                                          </p:stCondLst>
                                        </p:cTn>
                                        <p:tgtEl>
                                          <p:spTgt spid="43"/>
                                        </p:tgtEl>
                                        <p:attrNameLst>
                                          <p:attrName>style.visibility</p:attrName>
                                        </p:attrNameLst>
                                      </p:cBhvr>
                                      <p:to>
                                        <p:strVal val="visible"/>
                                      </p:to>
                                    </p:set>
                                    <p:animEffect transition="in" filter="fade">
                                      <p:cBhvr>
                                        <p:cTn id="187" dur="400"/>
                                        <p:tgtEl>
                                          <p:spTgt spid="43"/>
                                        </p:tgtEl>
                                      </p:cBhvr>
                                    </p:animEffect>
                                    <p:anim calcmode="lin" valueType="num">
                                      <p:cBhvr>
                                        <p:cTn id="188" dur="400" decel="100000" fill="hold"/>
                                        <p:tgtEl>
                                          <p:spTgt spid="43"/>
                                        </p:tgtEl>
                                        <p:attrNameLst>
                                          <p:attrName>ppt_x</p:attrName>
                                        </p:attrNameLst>
                                      </p:cBhvr>
                                      <p:tavLst>
                                        <p:tav tm="0">
                                          <p:val>
                                            <p:strVal val="#ppt_x"/>
                                          </p:val>
                                        </p:tav>
                                        <p:tav tm="100000">
                                          <p:val>
                                            <p:strVal val="#ppt_x"/>
                                          </p:val>
                                        </p:tav>
                                      </p:tavLst>
                                    </p:anim>
                                    <p:anim calcmode="lin" valueType="num">
                                      <p:cBhvr>
                                        <p:cTn id="189" dur="400" decel="100000" fill="hold"/>
                                        <p:tgtEl>
                                          <p:spTgt spid="43"/>
                                        </p:tgtEl>
                                        <p:attrNameLst>
                                          <p:attrName>ppt_y</p:attrName>
                                        </p:attrNameLst>
                                      </p:cBhvr>
                                      <p:tavLst>
                                        <p:tav tm="0">
                                          <p:val>
                                            <p:strVal val="#ppt_y+0.03"/>
                                          </p:val>
                                        </p:tav>
                                        <p:tav tm="100000">
                                          <p:val>
                                            <p:strVal val="#ppt_y"/>
                                          </p:val>
                                        </p:tav>
                                      </p:tavLst>
                                    </p:anim>
                                  </p:childTnLst>
                                </p:cTn>
                              </p:par>
                            </p:childTnLst>
                          </p:cTn>
                        </p:par>
                      </p:childTnLst>
                    </p:cTn>
                  </p:par>
                  <p:par>
                    <p:cTn id="217" fill="hold">
                      <p:stCondLst>
                        <p:cond delay="indefinite"/>
                      </p:stCondLst>
                      <p:childTnLst>
                        <p:par>
                          <p:cTn id="218" fill="hold">
                            <p:stCondLst>
                              <p:cond delay="0"/>
                            </p:stCondLst>
                            <p:childTnLst>
                              <p:par>
                                <p:cTn id="192" presetID="42" presetClass="entr" presetSubtype="0" fill="hold" grpId="0" nodeType="clickEffect">
                                  <p:stCondLst>
                                    <p:cond delay="0"/>
                                  </p:stCondLst>
                                  <p:childTnLst>
                                    <p:set>
                                      <p:cBhvr>
                                        <p:cTn id="193" dur="1" fill="hold">
                                          <p:stCondLst>
                                            <p:cond delay="0"/>
                                          </p:stCondLst>
                                        </p:cTn>
                                        <p:tgtEl>
                                          <p:spTgt spid="44"/>
                                        </p:tgtEl>
                                        <p:attrNameLst>
                                          <p:attrName>style.visibility</p:attrName>
                                        </p:attrNameLst>
                                      </p:cBhvr>
                                      <p:to>
                                        <p:strVal val="visible"/>
                                      </p:to>
                                    </p:set>
                                    <p:animEffect transition="in" filter="fade">
                                      <p:cBhvr>
                                        <p:cTn id="194" dur="400"/>
                                        <p:tgtEl>
                                          <p:spTgt spid="44"/>
                                        </p:tgtEl>
                                      </p:cBhvr>
                                    </p:animEffect>
                                    <p:anim calcmode="lin" valueType="num">
                                      <p:cBhvr>
                                        <p:cTn id="195" dur="400" decel="100000" fill="hold"/>
                                        <p:tgtEl>
                                          <p:spTgt spid="44"/>
                                        </p:tgtEl>
                                        <p:attrNameLst>
                                          <p:attrName>ppt_x</p:attrName>
                                        </p:attrNameLst>
                                      </p:cBhvr>
                                      <p:tavLst>
                                        <p:tav tm="0">
                                          <p:val>
                                            <p:strVal val="#ppt_x"/>
                                          </p:val>
                                        </p:tav>
                                        <p:tav tm="100000">
                                          <p:val>
                                            <p:strVal val="#ppt_x"/>
                                          </p:val>
                                        </p:tav>
                                      </p:tavLst>
                                    </p:anim>
                                    <p:anim calcmode="lin" valueType="num">
                                      <p:cBhvr>
                                        <p:cTn id="196" dur="400" decel="100000" fill="hold"/>
                                        <p:tgtEl>
                                          <p:spTgt spid="44"/>
                                        </p:tgtEl>
                                        <p:attrNameLst>
                                          <p:attrName>ppt_y</p:attrName>
                                        </p:attrNameLst>
                                      </p:cBhvr>
                                      <p:tavLst>
                                        <p:tav tm="0">
                                          <p:val>
                                            <p:strVal val="#ppt_y+0.03"/>
                                          </p:val>
                                        </p:tav>
                                        <p:tav tm="100000">
                                          <p:val>
                                            <p:strVal val="#ppt_y"/>
                                          </p:val>
                                        </p:tav>
                                      </p:tavLst>
                                    </p:anim>
                                  </p:childTnLst>
                                </p:cTn>
                              </p:par>
                              <p:par>
                                <p:cTn id="197" presetID="42" presetClass="entr" presetSubtype="0" fill="hold" grpId="0" nodeType="withEffect">
                                  <p:stCondLst>
                                    <p:cond delay="0"/>
                                  </p:stCondLst>
                                  <p:childTnLst>
                                    <p:set>
                                      <p:cBhvr>
                                        <p:cTn id="198" dur="1" fill="hold">
                                          <p:stCondLst>
                                            <p:cond delay="0"/>
                                          </p:stCondLst>
                                        </p:cTn>
                                        <p:tgtEl>
                                          <p:spTgt spid="45"/>
                                        </p:tgtEl>
                                        <p:attrNameLst>
                                          <p:attrName>style.visibility</p:attrName>
                                        </p:attrNameLst>
                                      </p:cBhvr>
                                      <p:to>
                                        <p:strVal val="visible"/>
                                      </p:to>
                                    </p:set>
                                    <p:animEffect transition="in" filter="fade">
                                      <p:cBhvr>
                                        <p:cTn id="199" dur="400"/>
                                        <p:tgtEl>
                                          <p:spTgt spid="45"/>
                                        </p:tgtEl>
                                      </p:cBhvr>
                                    </p:animEffect>
                                    <p:anim calcmode="lin" valueType="num">
                                      <p:cBhvr>
                                        <p:cTn id="200" dur="400" decel="100000" fill="hold"/>
                                        <p:tgtEl>
                                          <p:spTgt spid="45"/>
                                        </p:tgtEl>
                                        <p:attrNameLst>
                                          <p:attrName>ppt_x</p:attrName>
                                        </p:attrNameLst>
                                      </p:cBhvr>
                                      <p:tavLst>
                                        <p:tav tm="0">
                                          <p:val>
                                            <p:strVal val="#ppt_x"/>
                                          </p:val>
                                        </p:tav>
                                        <p:tav tm="100000">
                                          <p:val>
                                            <p:strVal val="#ppt_x"/>
                                          </p:val>
                                        </p:tav>
                                      </p:tavLst>
                                    </p:anim>
                                    <p:anim calcmode="lin" valueType="num">
                                      <p:cBhvr>
                                        <p:cTn id="201" dur="400" decel="100000" fill="hold"/>
                                        <p:tgtEl>
                                          <p:spTgt spid="45"/>
                                        </p:tgtEl>
                                        <p:attrNameLst>
                                          <p:attrName>ppt_y</p:attrName>
                                        </p:attrNameLst>
                                      </p:cBhvr>
                                      <p:tavLst>
                                        <p:tav tm="0">
                                          <p:val>
                                            <p:strVal val="#ppt_y+0.03"/>
                                          </p:val>
                                        </p:tav>
                                        <p:tav tm="100000">
                                          <p:val>
                                            <p:strVal val="#ppt_y"/>
                                          </p:val>
                                        </p:tav>
                                      </p:tavLst>
                                    </p:anim>
                                  </p:childTnLst>
                                </p:cTn>
                              </p:par>
                              <p:par>
                                <p:cTn id="202" presetID="42" presetClass="entr" presetSubtype="0" fill="hold" grpId="0" nodeType="withEffect">
                                  <p:stCondLst>
                                    <p:cond delay="0"/>
                                  </p:stCondLst>
                                  <p:childTnLst>
                                    <p:set>
                                      <p:cBhvr>
                                        <p:cTn id="203" dur="1" fill="hold">
                                          <p:stCondLst>
                                            <p:cond delay="0"/>
                                          </p:stCondLst>
                                        </p:cTn>
                                        <p:tgtEl>
                                          <p:spTgt spid="46"/>
                                        </p:tgtEl>
                                        <p:attrNameLst>
                                          <p:attrName>style.visibility</p:attrName>
                                        </p:attrNameLst>
                                      </p:cBhvr>
                                      <p:to>
                                        <p:strVal val="visible"/>
                                      </p:to>
                                    </p:set>
                                    <p:animEffect transition="in" filter="fade">
                                      <p:cBhvr>
                                        <p:cTn id="204" dur="400"/>
                                        <p:tgtEl>
                                          <p:spTgt spid="46"/>
                                        </p:tgtEl>
                                      </p:cBhvr>
                                    </p:animEffect>
                                    <p:anim calcmode="lin" valueType="num">
                                      <p:cBhvr>
                                        <p:cTn id="205" dur="400" decel="100000" fill="hold"/>
                                        <p:tgtEl>
                                          <p:spTgt spid="46"/>
                                        </p:tgtEl>
                                        <p:attrNameLst>
                                          <p:attrName>ppt_x</p:attrName>
                                        </p:attrNameLst>
                                      </p:cBhvr>
                                      <p:tavLst>
                                        <p:tav tm="0">
                                          <p:val>
                                            <p:strVal val="#ppt_x"/>
                                          </p:val>
                                        </p:tav>
                                        <p:tav tm="100000">
                                          <p:val>
                                            <p:strVal val="#ppt_x"/>
                                          </p:val>
                                        </p:tav>
                                      </p:tavLst>
                                    </p:anim>
                                    <p:anim calcmode="lin" valueType="num">
                                      <p:cBhvr>
                                        <p:cTn id="206" dur="400" decel="100000" fill="hold"/>
                                        <p:tgtEl>
                                          <p:spTgt spid="46"/>
                                        </p:tgtEl>
                                        <p:attrNameLst>
                                          <p:attrName>ppt_y</p:attrName>
                                        </p:attrNameLst>
                                      </p:cBhvr>
                                      <p:tavLst>
                                        <p:tav tm="0">
                                          <p:val>
                                            <p:strVal val="#ppt_y+0.03"/>
                                          </p:val>
                                        </p:tav>
                                        <p:tav tm="100000">
                                          <p:val>
                                            <p:strVal val="#ppt_y"/>
                                          </p:val>
                                        </p:tav>
                                      </p:tavLst>
                                    </p:anim>
                                  </p:childTnLst>
                                </p:cTn>
                              </p:par>
                              <p:par>
                                <p:cTn id="207" presetID="42" presetClass="entr" presetSubtype="0" fill="hold" grpId="0" nodeType="withEffect">
                                  <p:stCondLst>
                                    <p:cond delay="0"/>
                                  </p:stCondLst>
                                  <p:childTnLst>
                                    <p:set>
                                      <p:cBhvr>
                                        <p:cTn id="208" dur="1" fill="hold">
                                          <p:stCondLst>
                                            <p:cond delay="0"/>
                                          </p:stCondLst>
                                        </p:cTn>
                                        <p:tgtEl>
                                          <p:spTgt spid="47"/>
                                        </p:tgtEl>
                                        <p:attrNameLst>
                                          <p:attrName>style.visibility</p:attrName>
                                        </p:attrNameLst>
                                      </p:cBhvr>
                                      <p:to>
                                        <p:strVal val="visible"/>
                                      </p:to>
                                    </p:set>
                                    <p:animEffect transition="in" filter="fade">
                                      <p:cBhvr>
                                        <p:cTn id="209" dur="400"/>
                                        <p:tgtEl>
                                          <p:spTgt spid="47"/>
                                        </p:tgtEl>
                                      </p:cBhvr>
                                    </p:animEffect>
                                    <p:anim calcmode="lin" valueType="num">
                                      <p:cBhvr>
                                        <p:cTn id="210" dur="400" decel="100000" fill="hold"/>
                                        <p:tgtEl>
                                          <p:spTgt spid="47"/>
                                        </p:tgtEl>
                                        <p:attrNameLst>
                                          <p:attrName>ppt_x</p:attrName>
                                        </p:attrNameLst>
                                      </p:cBhvr>
                                      <p:tavLst>
                                        <p:tav tm="0">
                                          <p:val>
                                            <p:strVal val="#ppt_x"/>
                                          </p:val>
                                        </p:tav>
                                        <p:tav tm="100000">
                                          <p:val>
                                            <p:strVal val="#ppt_x"/>
                                          </p:val>
                                        </p:tav>
                                      </p:tavLst>
                                    </p:anim>
                                    <p:anim calcmode="lin" valueType="num">
                                      <p:cBhvr>
                                        <p:cTn id="211" dur="400" decel="100000" fill="hold"/>
                                        <p:tgtEl>
                                          <p:spTgt spid="47"/>
                                        </p:tgtEl>
                                        <p:attrNameLst>
                                          <p:attrName>ppt_y</p:attrName>
                                        </p:attrNameLst>
                                      </p:cBhvr>
                                      <p:tavLst>
                                        <p:tav tm="0">
                                          <p:val>
                                            <p:strVal val="#ppt_y+0.03"/>
                                          </p:val>
                                        </p:tav>
                                        <p:tav tm="100000">
                                          <p:val>
                                            <p:strVal val="#ppt_y"/>
                                          </p:val>
                                        </p:tav>
                                      </p:tavLst>
                                    </p:anim>
                                  </p:childTnLst>
                                </p:cTn>
                              </p:par>
                              <p:par>
                                <p:cTn id="212" presetID="42" presetClass="entr" presetSubtype="0" fill="hold" grpId="0" nodeType="withEffect">
                                  <p:stCondLst>
                                    <p:cond delay="0"/>
                                  </p:stCondLst>
                                  <p:childTnLst>
                                    <p:set>
                                      <p:cBhvr>
                                        <p:cTn id="213" dur="1" fill="hold">
                                          <p:stCondLst>
                                            <p:cond delay="0"/>
                                          </p:stCondLst>
                                        </p:cTn>
                                        <p:tgtEl>
                                          <p:spTgt spid="48"/>
                                        </p:tgtEl>
                                        <p:attrNameLst>
                                          <p:attrName>style.visibility</p:attrName>
                                        </p:attrNameLst>
                                      </p:cBhvr>
                                      <p:to>
                                        <p:strVal val="visible"/>
                                      </p:to>
                                    </p:set>
                                    <p:animEffect transition="in" filter="fade">
                                      <p:cBhvr>
                                        <p:cTn id="214" dur="400"/>
                                        <p:tgtEl>
                                          <p:spTgt spid="48"/>
                                        </p:tgtEl>
                                      </p:cBhvr>
                                    </p:animEffect>
                                    <p:anim calcmode="lin" valueType="num">
                                      <p:cBhvr>
                                        <p:cTn id="215" dur="400" decel="100000" fill="hold"/>
                                        <p:tgtEl>
                                          <p:spTgt spid="48"/>
                                        </p:tgtEl>
                                        <p:attrNameLst>
                                          <p:attrName>ppt_x</p:attrName>
                                        </p:attrNameLst>
                                      </p:cBhvr>
                                      <p:tavLst>
                                        <p:tav tm="0">
                                          <p:val>
                                            <p:strVal val="#ppt_x"/>
                                          </p:val>
                                        </p:tav>
                                        <p:tav tm="100000">
                                          <p:val>
                                            <p:strVal val="#ppt_x"/>
                                          </p:val>
                                        </p:tav>
                                      </p:tavLst>
                                    </p:anim>
                                    <p:anim calcmode="lin" valueType="num">
                                      <p:cBhvr>
                                        <p:cTn id="216" dur="400" decel="100000" fill="hold"/>
                                        <p:tgtEl>
                                          <p:spTgt spid="48"/>
                                        </p:tgtEl>
                                        <p:attrNameLst>
                                          <p:attrName>ppt_y</p:attrName>
                                        </p:attrNameLst>
                                      </p:cBhvr>
                                      <p:tavLst>
                                        <p:tav tm="0">
                                          <p:val>
                                            <p:strVal val="#ppt_y+0.03"/>
                                          </p:val>
                                        </p:tav>
                                        <p:tav tm="100000">
                                          <p:val>
                                            <p:strVal val="#ppt_y"/>
                                          </p:val>
                                        </p:tav>
                                      </p:tavLst>
                                    </p:anim>
                                  </p:childTnLst>
                                </p:cTn>
                              </p:par>
                            </p:childTnLst>
                          </p:cTn>
                        </p:par>
                      </p:childTnLst>
                    </p:cTn>
                  </p:par>
                  <p:par>
                    <p:cTn id="244" fill="hold">
                      <p:stCondLst>
                        <p:cond delay="indefinite"/>
                      </p:stCondLst>
                      <p:childTnLst>
                        <p:par>
                          <p:cTn id="245" fill="hold">
                            <p:stCondLst>
                              <p:cond delay="0"/>
                            </p:stCondLst>
                            <p:childTnLst>
                              <p:par>
                                <p:cTn id="219" presetID="42" presetClass="entr" presetSubtype="0" fill="hold" grpId="0" nodeType="clickEffect">
                                  <p:stCondLst>
                                    <p:cond delay="0"/>
                                  </p:stCondLst>
                                  <p:childTnLst>
                                    <p:set>
                                      <p:cBhvr>
                                        <p:cTn id="220" dur="1" fill="hold">
                                          <p:stCondLst>
                                            <p:cond delay="0"/>
                                          </p:stCondLst>
                                        </p:cTn>
                                        <p:tgtEl>
                                          <p:spTgt spid="49"/>
                                        </p:tgtEl>
                                        <p:attrNameLst>
                                          <p:attrName>style.visibility</p:attrName>
                                        </p:attrNameLst>
                                      </p:cBhvr>
                                      <p:to>
                                        <p:strVal val="visible"/>
                                      </p:to>
                                    </p:set>
                                    <p:animEffect transition="in" filter="fade">
                                      <p:cBhvr>
                                        <p:cTn id="221" dur="400"/>
                                        <p:tgtEl>
                                          <p:spTgt spid="49"/>
                                        </p:tgtEl>
                                      </p:cBhvr>
                                    </p:animEffect>
                                    <p:anim calcmode="lin" valueType="num">
                                      <p:cBhvr>
                                        <p:cTn id="222" dur="400" decel="100000" fill="hold"/>
                                        <p:tgtEl>
                                          <p:spTgt spid="49"/>
                                        </p:tgtEl>
                                        <p:attrNameLst>
                                          <p:attrName>ppt_x</p:attrName>
                                        </p:attrNameLst>
                                      </p:cBhvr>
                                      <p:tavLst>
                                        <p:tav tm="0">
                                          <p:val>
                                            <p:strVal val="#ppt_x"/>
                                          </p:val>
                                        </p:tav>
                                        <p:tav tm="100000">
                                          <p:val>
                                            <p:strVal val="#ppt_x"/>
                                          </p:val>
                                        </p:tav>
                                      </p:tavLst>
                                    </p:anim>
                                    <p:anim calcmode="lin" valueType="num">
                                      <p:cBhvr>
                                        <p:cTn id="223" dur="400" decel="100000" fill="hold"/>
                                        <p:tgtEl>
                                          <p:spTgt spid="49"/>
                                        </p:tgtEl>
                                        <p:attrNameLst>
                                          <p:attrName>ppt_y</p:attrName>
                                        </p:attrNameLst>
                                      </p:cBhvr>
                                      <p:tavLst>
                                        <p:tav tm="0">
                                          <p:val>
                                            <p:strVal val="#ppt_y+0.03"/>
                                          </p:val>
                                        </p:tav>
                                        <p:tav tm="100000">
                                          <p:val>
                                            <p:strVal val="#ppt_y"/>
                                          </p:val>
                                        </p:tav>
                                      </p:tavLst>
                                    </p:anim>
                                  </p:childTnLst>
                                </p:cTn>
                              </p:par>
                              <p:par>
                                <p:cTn id="224" presetID="42" presetClass="entr" presetSubtype="0" fill="hold" grpId="0" nodeType="withEffect">
                                  <p:stCondLst>
                                    <p:cond delay="0"/>
                                  </p:stCondLst>
                                  <p:childTnLst>
                                    <p:set>
                                      <p:cBhvr>
                                        <p:cTn id="225" dur="1" fill="hold">
                                          <p:stCondLst>
                                            <p:cond delay="0"/>
                                          </p:stCondLst>
                                        </p:cTn>
                                        <p:tgtEl>
                                          <p:spTgt spid="50"/>
                                        </p:tgtEl>
                                        <p:attrNameLst>
                                          <p:attrName>style.visibility</p:attrName>
                                        </p:attrNameLst>
                                      </p:cBhvr>
                                      <p:to>
                                        <p:strVal val="visible"/>
                                      </p:to>
                                    </p:set>
                                    <p:animEffect transition="in" filter="fade">
                                      <p:cBhvr>
                                        <p:cTn id="226" dur="400"/>
                                        <p:tgtEl>
                                          <p:spTgt spid="50"/>
                                        </p:tgtEl>
                                      </p:cBhvr>
                                    </p:animEffect>
                                    <p:anim calcmode="lin" valueType="num">
                                      <p:cBhvr>
                                        <p:cTn id="227" dur="400" decel="100000" fill="hold"/>
                                        <p:tgtEl>
                                          <p:spTgt spid="50"/>
                                        </p:tgtEl>
                                        <p:attrNameLst>
                                          <p:attrName>ppt_x</p:attrName>
                                        </p:attrNameLst>
                                      </p:cBhvr>
                                      <p:tavLst>
                                        <p:tav tm="0">
                                          <p:val>
                                            <p:strVal val="#ppt_x"/>
                                          </p:val>
                                        </p:tav>
                                        <p:tav tm="100000">
                                          <p:val>
                                            <p:strVal val="#ppt_x"/>
                                          </p:val>
                                        </p:tav>
                                      </p:tavLst>
                                    </p:anim>
                                    <p:anim calcmode="lin" valueType="num">
                                      <p:cBhvr>
                                        <p:cTn id="228" dur="400" decel="100000" fill="hold"/>
                                        <p:tgtEl>
                                          <p:spTgt spid="50"/>
                                        </p:tgtEl>
                                        <p:attrNameLst>
                                          <p:attrName>ppt_y</p:attrName>
                                        </p:attrNameLst>
                                      </p:cBhvr>
                                      <p:tavLst>
                                        <p:tav tm="0">
                                          <p:val>
                                            <p:strVal val="#ppt_y+0.03"/>
                                          </p:val>
                                        </p:tav>
                                        <p:tav tm="100000">
                                          <p:val>
                                            <p:strVal val="#ppt_y"/>
                                          </p:val>
                                        </p:tav>
                                      </p:tavLst>
                                    </p:anim>
                                  </p:childTnLst>
                                </p:cTn>
                              </p:par>
                              <p:par>
                                <p:cTn id="229" presetID="42" presetClass="entr" presetSubtype="0" fill="hold" grpId="0" nodeType="withEffect">
                                  <p:stCondLst>
                                    <p:cond delay="0"/>
                                  </p:stCondLst>
                                  <p:childTnLst>
                                    <p:set>
                                      <p:cBhvr>
                                        <p:cTn id="230" dur="1" fill="hold">
                                          <p:stCondLst>
                                            <p:cond delay="0"/>
                                          </p:stCondLst>
                                        </p:cTn>
                                        <p:tgtEl>
                                          <p:spTgt spid="51"/>
                                        </p:tgtEl>
                                        <p:attrNameLst>
                                          <p:attrName>style.visibility</p:attrName>
                                        </p:attrNameLst>
                                      </p:cBhvr>
                                      <p:to>
                                        <p:strVal val="visible"/>
                                      </p:to>
                                    </p:set>
                                    <p:animEffect transition="in" filter="fade">
                                      <p:cBhvr>
                                        <p:cTn id="231" dur="400"/>
                                        <p:tgtEl>
                                          <p:spTgt spid="51"/>
                                        </p:tgtEl>
                                      </p:cBhvr>
                                    </p:animEffect>
                                    <p:anim calcmode="lin" valueType="num">
                                      <p:cBhvr>
                                        <p:cTn id="232" dur="400" decel="100000" fill="hold"/>
                                        <p:tgtEl>
                                          <p:spTgt spid="51"/>
                                        </p:tgtEl>
                                        <p:attrNameLst>
                                          <p:attrName>ppt_x</p:attrName>
                                        </p:attrNameLst>
                                      </p:cBhvr>
                                      <p:tavLst>
                                        <p:tav tm="0">
                                          <p:val>
                                            <p:strVal val="#ppt_x"/>
                                          </p:val>
                                        </p:tav>
                                        <p:tav tm="100000">
                                          <p:val>
                                            <p:strVal val="#ppt_x"/>
                                          </p:val>
                                        </p:tav>
                                      </p:tavLst>
                                    </p:anim>
                                    <p:anim calcmode="lin" valueType="num">
                                      <p:cBhvr>
                                        <p:cTn id="233" dur="400" decel="100000" fill="hold"/>
                                        <p:tgtEl>
                                          <p:spTgt spid="51"/>
                                        </p:tgtEl>
                                        <p:attrNameLst>
                                          <p:attrName>ppt_y</p:attrName>
                                        </p:attrNameLst>
                                      </p:cBhvr>
                                      <p:tavLst>
                                        <p:tav tm="0">
                                          <p:val>
                                            <p:strVal val="#ppt_y+0.03"/>
                                          </p:val>
                                        </p:tav>
                                        <p:tav tm="100000">
                                          <p:val>
                                            <p:strVal val="#ppt_y"/>
                                          </p:val>
                                        </p:tav>
                                      </p:tavLst>
                                    </p:anim>
                                  </p:childTnLst>
                                </p:cTn>
                              </p:par>
                              <p:par>
                                <p:cTn id="234" presetID="42" presetClass="entr" presetSubtype="0" fill="hold" grpId="0" nodeType="withEffect">
                                  <p:stCondLst>
                                    <p:cond delay="0"/>
                                  </p:stCondLst>
                                  <p:childTnLst>
                                    <p:set>
                                      <p:cBhvr>
                                        <p:cTn id="235" dur="1" fill="hold">
                                          <p:stCondLst>
                                            <p:cond delay="0"/>
                                          </p:stCondLst>
                                        </p:cTn>
                                        <p:tgtEl>
                                          <p:spTgt spid="52"/>
                                        </p:tgtEl>
                                        <p:attrNameLst>
                                          <p:attrName>style.visibility</p:attrName>
                                        </p:attrNameLst>
                                      </p:cBhvr>
                                      <p:to>
                                        <p:strVal val="visible"/>
                                      </p:to>
                                    </p:set>
                                    <p:animEffect transition="in" filter="fade">
                                      <p:cBhvr>
                                        <p:cTn id="236" dur="400"/>
                                        <p:tgtEl>
                                          <p:spTgt spid="52"/>
                                        </p:tgtEl>
                                      </p:cBhvr>
                                    </p:animEffect>
                                    <p:anim calcmode="lin" valueType="num">
                                      <p:cBhvr>
                                        <p:cTn id="237" dur="400" decel="100000" fill="hold"/>
                                        <p:tgtEl>
                                          <p:spTgt spid="52"/>
                                        </p:tgtEl>
                                        <p:attrNameLst>
                                          <p:attrName>ppt_x</p:attrName>
                                        </p:attrNameLst>
                                      </p:cBhvr>
                                      <p:tavLst>
                                        <p:tav tm="0">
                                          <p:val>
                                            <p:strVal val="#ppt_x"/>
                                          </p:val>
                                        </p:tav>
                                        <p:tav tm="100000">
                                          <p:val>
                                            <p:strVal val="#ppt_x"/>
                                          </p:val>
                                        </p:tav>
                                      </p:tavLst>
                                    </p:anim>
                                    <p:anim calcmode="lin" valueType="num">
                                      <p:cBhvr>
                                        <p:cTn id="238" dur="400" decel="100000" fill="hold"/>
                                        <p:tgtEl>
                                          <p:spTgt spid="52"/>
                                        </p:tgtEl>
                                        <p:attrNameLst>
                                          <p:attrName>ppt_y</p:attrName>
                                        </p:attrNameLst>
                                      </p:cBhvr>
                                      <p:tavLst>
                                        <p:tav tm="0">
                                          <p:val>
                                            <p:strVal val="#ppt_y+0.03"/>
                                          </p:val>
                                        </p:tav>
                                        <p:tav tm="100000">
                                          <p:val>
                                            <p:strVal val="#ppt_y"/>
                                          </p:val>
                                        </p:tav>
                                      </p:tavLst>
                                    </p:anim>
                                  </p:childTnLst>
                                </p:cTn>
                              </p:par>
                              <p:par>
                                <p:cTn id="239" presetID="42" presetClass="entr" presetSubtype="0" fill="hold" grpId="0" nodeType="withEffect">
                                  <p:stCondLst>
                                    <p:cond delay="0"/>
                                  </p:stCondLst>
                                  <p:childTnLst>
                                    <p:set>
                                      <p:cBhvr>
                                        <p:cTn id="240" dur="1" fill="hold">
                                          <p:stCondLst>
                                            <p:cond delay="0"/>
                                          </p:stCondLst>
                                        </p:cTn>
                                        <p:tgtEl>
                                          <p:spTgt spid="53"/>
                                        </p:tgtEl>
                                        <p:attrNameLst>
                                          <p:attrName>style.visibility</p:attrName>
                                        </p:attrNameLst>
                                      </p:cBhvr>
                                      <p:to>
                                        <p:strVal val="visible"/>
                                      </p:to>
                                    </p:set>
                                    <p:animEffect transition="in" filter="fade">
                                      <p:cBhvr>
                                        <p:cTn id="241" dur="400"/>
                                        <p:tgtEl>
                                          <p:spTgt spid="53"/>
                                        </p:tgtEl>
                                      </p:cBhvr>
                                    </p:animEffect>
                                    <p:anim calcmode="lin" valueType="num">
                                      <p:cBhvr>
                                        <p:cTn id="242" dur="400" decel="100000" fill="hold"/>
                                        <p:tgtEl>
                                          <p:spTgt spid="53"/>
                                        </p:tgtEl>
                                        <p:attrNameLst>
                                          <p:attrName>ppt_x</p:attrName>
                                        </p:attrNameLst>
                                      </p:cBhvr>
                                      <p:tavLst>
                                        <p:tav tm="0">
                                          <p:val>
                                            <p:strVal val="#ppt_x"/>
                                          </p:val>
                                        </p:tav>
                                        <p:tav tm="100000">
                                          <p:val>
                                            <p:strVal val="#ppt_x"/>
                                          </p:val>
                                        </p:tav>
                                      </p:tavLst>
                                    </p:anim>
                                    <p:anim calcmode="lin" valueType="num">
                                      <p:cBhvr>
                                        <p:cTn id="243" dur="400" decel="100000" fill="hold"/>
                                        <p:tgtEl>
                                          <p:spTgt spid="53"/>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05 · RESULTADOS</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Resultado: la web renovada</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29</a:t>
            </a:r>
            <a:endParaRPr lang="en-US" sz="900" dirty="0"/>
          </a:p>
        </p:txBody>
      </p:sp>
      <p:pic>
        <p:nvPicPr>
          <p:cNvPr id="6" name="Image 0" descr="img/v3-N-shop.png">    </p:cNvPr>
          <p:cNvPicPr>
            <a:picLocks noChangeAspect="1"/>
          </p:cNvPicPr>
          <p:nvPr/>
        </p:nvPicPr>
        <p:blipFill>
          <a:blip r:embed="rId1"/>
          <a:stretch>
            <a:fillRect/>
          </a:stretch>
        </p:blipFill>
        <p:spPr>
          <a:xfrm>
            <a:off x="552298" y="1371600"/>
            <a:ext cx="3101645" cy="1938528"/>
          </a:xfrm>
          <a:prstGeom prst="rect">
            <a:avLst/>
          </a:prstGeom>
        </p:spPr>
      </p:pic>
      <p:sp>
        <p:nvSpPr>
          <p:cNvPr id="7" name="Shape 3"/>
          <p:cNvSpPr/>
          <p:nvPr/>
        </p:nvSpPr>
        <p:spPr>
          <a:xfrm>
            <a:off x="552298" y="1371600"/>
            <a:ext cx="3101645" cy="1938528"/>
          </a:xfrm>
          <a:prstGeom prst="rect">
            <a:avLst/>
          </a:prstGeom>
          <a:ln w="12700">
            <a:solidFill>
              <a:srgbClr val="E3E4E8"/>
            </a:solidFill>
            <a:prstDash val="solid"/>
          </a:ln>
        </p:spPr>
      </p:sp>
      <p:sp>
        <p:nvSpPr>
          <p:cNvPr id="8" name="Text 4"/>
          <p:cNvSpPr txBox="1"/>
          <p:nvPr/>
        </p:nvSpPr>
        <p:spPr>
          <a:xfrm>
            <a:off x="548640" y="3337560"/>
            <a:ext cx="3108960" cy="2286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Catálogo</a:t>
            </a:r>
            <a:endParaRPr lang="en-US" sz="1050" dirty="0"/>
          </a:p>
        </p:txBody>
      </p:sp>
      <p:pic>
        <p:nvPicPr>
          <p:cNvPr id="9" name="Image 1" descr="img/v3-N-ficha.png">    </p:cNvPr>
          <p:cNvPicPr>
            <a:picLocks noChangeAspect="1"/>
          </p:cNvPicPr>
          <p:nvPr/>
        </p:nvPicPr>
        <p:blipFill>
          <a:blip r:embed="rId2"/>
          <a:stretch>
            <a:fillRect/>
          </a:stretch>
        </p:blipFill>
        <p:spPr>
          <a:xfrm>
            <a:off x="3798418" y="1371600"/>
            <a:ext cx="3101645" cy="1938528"/>
          </a:xfrm>
          <a:prstGeom prst="rect">
            <a:avLst/>
          </a:prstGeom>
        </p:spPr>
      </p:pic>
      <p:sp>
        <p:nvSpPr>
          <p:cNvPr id="10" name="Shape 5"/>
          <p:cNvSpPr/>
          <p:nvPr/>
        </p:nvSpPr>
        <p:spPr>
          <a:xfrm>
            <a:off x="3798418" y="1371600"/>
            <a:ext cx="3101645" cy="1938528"/>
          </a:xfrm>
          <a:prstGeom prst="rect">
            <a:avLst/>
          </a:prstGeom>
          <a:ln w="12700">
            <a:solidFill>
              <a:srgbClr val="E3E4E8"/>
            </a:solidFill>
            <a:prstDash val="solid"/>
          </a:ln>
        </p:spPr>
      </p:sp>
      <p:sp>
        <p:nvSpPr>
          <p:cNvPr id="11" name="Text 6"/>
          <p:cNvSpPr txBox="1"/>
          <p:nvPr/>
        </p:nvSpPr>
        <p:spPr>
          <a:xfrm>
            <a:off x="3794760" y="3337560"/>
            <a:ext cx="3108960" cy="2286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Ficha con «Cotizar»</a:t>
            </a:r>
            <a:endParaRPr lang="en-US" sz="1050" dirty="0"/>
          </a:p>
        </p:txBody>
      </p:sp>
      <p:pic>
        <p:nvPicPr>
          <p:cNvPr id="12" name="Image 2" descr="../../evidence/interactions/N-cmp-04-open-d.png">    </p:cNvPr>
          <p:cNvPicPr>
            <a:picLocks noChangeAspect="1"/>
          </p:cNvPicPr>
          <p:nvPr/>
        </p:nvPicPr>
        <p:blipFill>
          <a:blip r:embed="rId3"/>
          <a:stretch>
            <a:fillRect/>
          </a:stretch>
        </p:blipFill>
        <p:spPr>
          <a:xfrm>
            <a:off x="552298" y="3703320"/>
            <a:ext cx="3101645" cy="1938528"/>
          </a:xfrm>
          <a:prstGeom prst="rect">
            <a:avLst/>
          </a:prstGeom>
        </p:spPr>
      </p:pic>
      <p:sp>
        <p:nvSpPr>
          <p:cNvPr id="13" name="Shape 7"/>
          <p:cNvSpPr/>
          <p:nvPr/>
        </p:nvSpPr>
        <p:spPr>
          <a:xfrm>
            <a:off x="552298" y="3703320"/>
            <a:ext cx="3101645" cy="1938528"/>
          </a:xfrm>
          <a:prstGeom prst="rect">
            <a:avLst/>
          </a:prstGeom>
          <a:ln w="12700">
            <a:solidFill>
              <a:srgbClr val="E3E4E8"/>
            </a:solidFill>
            <a:prstDash val="solid"/>
          </a:ln>
        </p:spPr>
      </p:sp>
      <p:sp>
        <p:nvSpPr>
          <p:cNvPr id="14" name="Text 8"/>
          <p:cNvSpPr txBox="1"/>
          <p:nvPr/>
        </p:nvSpPr>
        <p:spPr>
          <a:xfrm>
            <a:off x="548640" y="5669280"/>
            <a:ext cx="3108960" cy="2286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Comparador (23-09-2026)</a:t>
            </a:r>
            <a:endParaRPr lang="en-US" sz="1050" dirty="0"/>
          </a:p>
        </p:txBody>
      </p:sp>
      <p:pic>
        <p:nvPicPr>
          <p:cNvPr id="15" name="Image 3" descr="img/v3-N-distribuidores.png">    </p:cNvPr>
          <p:cNvPicPr>
            <a:picLocks noChangeAspect="1"/>
          </p:cNvPicPr>
          <p:nvPr/>
        </p:nvPicPr>
        <p:blipFill>
          <a:blip r:embed="rId4"/>
          <a:stretch>
            <a:fillRect/>
          </a:stretch>
        </p:blipFill>
        <p:spPr>
          <a:xfrm>
            <a:off x="3798418" y="3703320"/>
            <a:ext cx="3101645" cy="1938528"/>
          </a:xfrm>
          <a:prstGeom prst="rect">
            <a:avLst/>
          </a:prstGeom>
        </p:spPr>
      </p:pic>
      <p:sp>
        <p:nvSpPr>
          <p:cNvPr id="16" name="Shape 9"/>
          <p:cNvSpPr/>
          <p:nvPr/>
        </p:nvSpPr>
        <p:spPr>
          <a:xfrm>
            <a:off x="3798418" y="3703320"/>
            <a:ext cx="3101645" cy="1938528"/>
          </a:xfrm>
          <a:prstGeom prst="rect">
            <a:avLst/>
          </a:prstGeom>
          <a:ln w="12700">
            <a:solidFill>
              <a:srgbClr val="E3E4E8"/>
            </a:solidFill>
            <a:prstDash val="solid"/>
          </a:ln>
        </p:spPr>
      </p:sp>
      <p:sp>
        <p:nvSpPr>
          <p:cNvPr id="17" name="Text 10"/>
          <p:cNvSpPr txBox="1"/>
          <p:nvPr/>
        </p:nvSpPr>
        <p:spPr>
          <a:xfrm>
            <a:off x="3794760" y="5669280"/>
            <a:ext cx="3108960" cy="2286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Dónde comprar</a:t>
            </a:r>
            <a:endParaRPr lang="en-US" sz="1050" dirty="0"/>
          </a:p>
        </p:txBody>
      </p:sp>
      <p:sp>
        <p:nvSpPr>
          <p:cNvPr id="18" name="Shape 11"/>
          <p:cNvSpPr/>
          <p:nvPr/>
        </p:nvSpPr>
        <p:spPr>
          <a:xfrm>
            <a:off x="7315200" y="1371600"/>
            <a:ext cx="4327855" cy="914400"/>
          </a:xfrm>
          <a:prstGeom prst="roundRect">
            <a:avLst>
              <a:gd name="adj" fmla="val 8000"/>
            </a:avLst>
          </a:prstGeom>
          <a:solidFill>
            <a:srgbClr val="F5F5F7"/>
          </a:solidFill>
          <a:ln/>
        </p:spPr>
      </p:sp>
      <p:sp>
        <p:nvSpPr>
          <p:cNvPr id="19" name="Text 12"/>
          <p:cNvSpPr txBox="1"/>
          <p:nvPr/>
        </p:nvSpPr>
        <p:spPr>
          <a:xfrm>
            <a:off x="7498080" y="1463040"/>
            <a:ext cx="3962095" cy="274320"/>
          </a:xfrm>
          <a:prstGeom prst="rect">
            <a:avLst/>
          </a:prstGeom>
          <a:noFill/>
          <a:ln/>
        </p:spPr>
        <p:txBody>
          <a:bodyPr wrap="square" lIns="0" tIns="0" rIns="0" bIns="0" rtlCol="0" anchor="t"/>
          <a:lstStyle/>
          <a:p>
            <a:pPr indent="0" marL="0">
              <a:buNone/>
            </a:pPr>
            <a:r>
              <a:rPr lang="en-US" sz="1250" b="1" dirty="0">
                <a:solidFill>
                  <a:srgbClr val="6D28D9"/>
                </a:solidFill>
                <a:latin typeface="Arial" pitchFamily="34" charset="0"/>
                <a:ea typeface="Arial" pitchFamily="34" charset="-122"/>
                <a:cs typeface="Arial" pitchFamily="34" charset="-120"/>
              </a:rPr>
              <a:t>Guiar del interés al contacto</a:t>
            </a:r>
            <a:endParaRPr lang="en-US" sz="1250" dirty="0"/>
          </a:p>
        </p:txBody>
      </p:sp>
      <p:sp>
        <p:nvSpPr>
          <p:cNvPr id="20" name="Text 13"/>
          <p:cNvSpPr txBox="1"/>
          <p:nvPr/>
        </p:nvSpPr>
        <p:spPr>
          <a:xfrm>
            <a:off x="7498080" y="1755648"/>
            <a:ext cx="3962095" cy="502920"/>
          </a:xfrm>
          <a:prstGeom prst="rect">
            <a:avLst/>
          </a:prstGeom>
          <a:noFill/>
          <a:ln/>
        </p:spPr>
        <p:txBody>
          <a:bodyPr wrap="square" lIns="0" tIns="0" rIns="0" bIns="0" rtlCol="0" anchor="t"/>
          <a:lstStyle/>
          <a:p>
            <a:pPr indent="0" marL="0">
              <a:buNone/>
            </a:pPr>
            <a:r>
              <a:rPr lang="en-US" sz="1150" dirty="0">
                <a:solidFill>
                  <a:srgbClr val="0B0B0D"/>
                </a:solidFill>
                <a:latin typeface="Arial" pitchFamily="34" charset="0"/>
                <a:ea typeface="Arial" pitchFamily="34" charset="-122"/>
                <a:cs typeface="Arial" pitchFamily="34" charset="-120"/>
              </a:rPr>
              <a:t>«Cotizar» en encabezado y ficha; WhatsApp con el modelo</a:t>
            </a:r>
            <a:endParaRPr lang="en-US" sz="1150" dirty="0"/>
          </a:p>
        </p:txBody>
      </p:sp>
      <p:sp>
        <p:nvSpPr>
          <p:cNvPr id="21" name="Shape 14"/>
          <p:cNvSpPr/>
          <p:nvPr/>
        </p:nvSpPr>
        <p:spPr>
          <a:xfrm>
            <a:off x="7315200" y="2395728"/>
            <a:ext cx="4327855" cy="914400"/>
          </a:xfrm>
          <a:prstGeom prst="roundRect">
            <a:avLst>
              <a:gd name="adj" fmla="val 8000"/>
            </a:avLst>
          </a:prstGeom>
          <a:solidFill>
            <a:srgbClr val="F5F5F7"/>
          </a:solidFill>
          <a:ln/>
        </p:spPr>
      </p:sp>
      <p:sp>
        <p:nvSpPr>
          <p:cNvPr id="22" name="Text 15"/>
          <p:cNvSpPr txBox="1"/>
          <p:nvPr/>
        </p:nvSpPr>
        <p:spPr>
          <a:xfrm>
            <a:off x="7498080" y="2487168"/>
            <a:ext cx="3962095" cy="274320"/>
          </a:xfrm>
          <a:prstGeom prst="rect">
            <a:avLst/>
          </a:prstGeom>
          <a:noFill/>
          <a:ln/>
        </p:spPr>
        <p:txBody>
          <a:bodyPr wrap="square" lIns="0" tIns="0" rIns="0" bIns="0" rtlCol="0" anchor="t"/>
          <a:lstStyle/>
          <a:p>
            <a:pPr indent="0" marL="0">
              <a:buNone/>
            </a:pPr>
            <a:r>
              <a:rPr lang="en-US" sz="1250" b="1" dirty="0">
                <a:solidFill>
                  <a:srgbClr val="6D28D9"/>
                </a:solidFill>
                <a:latin typeface="Arial" pitchFamily="34" charset="0"/>
                <a:ea typeface="Arial" pitchFamily="34" charset="-122"/>
                <a:cs typeface="Arial" pitchFamily="34" charset="-120"/>
              </a:rPr>
              <a:t>Un catálogo claro y comparable</a:t>
            </a:r>
            <a:endParaRPr lang="en-US" sz="1250" dirty="0"/>
          </a:p>
        </p:txBody>
      </p:sp>
      <p:sp>
        <p:nvSpPr>
          <p:cNvPr id="23" name="Text 16"/>
          <p:cNvSpPr txBox="1"/>
          <p:nvPr/>
        </p:nvSpPr>
        <p:spPr>
          <a:xfrm>
            <a:off x="7498080" y="2779776"/>
            <a:ext cx="3962095" cy="502920"/>
          </a:xfrm>
          <a:prstGeom prst="rect">
            <a:avLst/>
          </a:prstGeom>
          <a:noFill/>
          <a:ln/>
        </p:spPr>
        <p:txBody>
          <a:bodyPr wrap="square" lIns="0" tIns="0" rIns="0" bIns="0" rtlCol="0" anchor="t"/>
          <a:lstStyle/>
          <a:p>
            <a:pPr indent="0" marL="0">
              <a:buNone/>
            </a:pPr>
            <a:r>
              <a:rPr lang="en-US" sz="1150" dirty="0">
                <a:solidFill>
                  <a:srgbClr val="0B0B0D"/>
                </a:solidFill>
                <a:latin typeface="Arial" pitchFamily="34" charset="0"/>
                <a:ea typeface="Arial" pitchFamily="34" charset="-122"/>
                <a:cs typeface="Arial" pitchFamily="34" charset="-120"/>
              </a:rPr>
              <a:t>118 productos, filtros, fichas en lista y comparador</a:t>
            </a:r>
            <a:endParaRPr lang="en-US" sz="1150" dirty="0"/>
          </a:p>
        </p:txBody>
      </p:sp>
      <p:sp>
        <p:nvSpPr>
          <p:cNvPr id="24" name="Shape 17"/>
          <p:cNvSpPr/>
          <p:nvPr/>
        </p:nvSpPr>
        <p:spPr>
          <a:xfrm>
            <a:off x="7315200" y="3419856"/>
            <a:ext cx="4327855" cy="914400"/>
          </a:xfrm>
          <a:prstGeom prst="roundRect">
            <a:avLst>
              <a:gd name="adj" fmla="val 8000"/>
            </a:avLst>
          </a:prstGeom>
          <a:solidFill>
            <a:srgbClr val="F5F5F7"/>
          </a:solidFill>
          <a:ln/>
        </p:spPr>
      </p:sp>
      <p:sp>
        <p:nvSpPr>
          <p:cNvPr id="25" name="Text 18"/>
          <p:cNvSpPr txBox="1"/>
          <p:nvPr/>
        </p:nvSpPr>
        <p:spPr>
          <a:xfrm>
            <a:off x="7498080" y="3511296"/>
            <a:ext cx="3962095" cy="274320"/>
          </a:xfrm>
          <a:prstGeom prst="rect">
            <a:avLst/>
          </a:prstGeom>
          <a:noFill/>
          <a:ln/>
        </p:spPr>
        <p:txBody>
          <a:bodyPr wrap="square" lIns="0" tIns="0" rIns="0" bIns="0" rtlCol="0" anchor="t"/>
          <a:lstStyle/>
          <a:p>
            <a:pPr indent="0" marL="0">
              <a:buNone/>
            </a:pPr>
            <a:r>
              <a:rPr lang="en-US" sz="1250" b="1" dirty="0">
                <a:solidFill>
                  <a:srgbClr val="6D28D9"/>
                </a:solidFill>
                <a:latin typeface="Arial" pitchFamily="34" charset="0"/>
                <a:ea typeface="Arial" pitchFamily="34" charset="-122"/>
                <a:cs typeface="Arial" pitchFamily="34" charset="-120"/>
              </a:rPr>
              <a:t>Una marca moderna, también en el celular</a:t>
            </a:r>
            <a:endParaRPr lang="en-US" sz="1250" dirty="0"/>
          </a:p>
        </p:txBody>
      </p:sp>
      <p:sp>
        <p:nvSpPr>
          <p:cNvPr id="26" name="Text 19"/>
          <p:cNvSpPr txBox="1"/>
          <p:nvPr/>
        </p:nvSpPr>
        <p:spPr>
          <a:xfrm>
            <a:off x="7498080" y="3803904"/>
            <a:ext cx="3962095" cy="502920"/>
          </a:xfrm>
          <a:prstGeom prst="rect">
            <a:avLst/>
          </a:prstGeom>
          <a:noFill/>
          <a:ln/>
        </p:spPr>
        <p:txBody>
          <a:bodyPr wrap="square" lIns="0" tIns="0" rIns="0" bIns="0" rtlCol="0" anchor="t"/>
          <a:lstStyle/>
          <a:p>
            <a:pPr indent="0" marL="0">
              <a:buNone/>
            </a:pPr>
            <a:r>
              <a:rPr lang="en-US" sz="1150" dirty="0">
                <a:solidFill>
                  <a:srgbClr val="0B0B0D"/>
                </a:solidFill>
                <a:latin typeface="Arial" pitchFamily="34" charset="0"/>
                <a:ea typeface="Arial" pitchFamily="34" charset="-122"/>
                <a:cs typeface="Arial" pitchFamily="34" charset="-120"/>
              </a:rPr>
              <a:t>Identidad renovada, diseño adaptable y páginas propias</a:t>
            </a:r>
            <a:endParaRPr lang="en-US" sz="1150" dirty="0"/>
          </a:p>
        </p:txBody>
      </p:sp>
      <p:sp>
        <p:nvSpPr>
          <p:cNvPr id="27" name="Shape 20"/>
          <p:cNvSpPr/>
          <p:nvPr/>
        </p:nvSpPr>
        <p:spPr>
          <a:xfrm>
            <a:off x="7315200" y="4480560"/>
            <a:ext cx="4327855" cy="1508760"/>
          </a:xfrm>
          <a:prstGeom prst="roundRect">
            <a:avLst>
              <a:gd name="adj" fmla="val 4848"/>
            </a:avLst>
          </a:prstGeom>
          <a:solidFill>
            <a:srgbClr val="0B0B0D"/>
          </a:solidFill>
          <a:ln/>
        </p:spPr>
      </p:sp>
      <p:sp>
        <p:nvSpPr>
          <p:cNvPr id="28" name="Text 21"/>
          <p:cNvSpPr txBox="1"/>
          <p:nvPr/>
        </p:nvSpPr>
        <p:spPr>
          <a:xfrm>
            <a:off x="7498080" y="4572000"/>
            <a:ext cx="3962095" cy="228600"/>
          </a:xfrm>
          <a:prstGeom prst="rect">
            <a:avLst/>
          </a:prstGeom>
          <a:noFill/>
          <a:ln/>
        </p:spPr>
        <p:txBody>
          <a:bodyPr wrap="square" lIns="0" tIns="0" rIns="0" bIns="0" rtlCol="0" anchor="t"/>
          <a:lstStyle/>
          <a:p>
            <a:pPr indent="0" marL="0">
              <a:buNone/>
            </a:pPr>
            <a:r>
              <a:rPr lang="en-US" sz="950" b="1" spc="100" kern="0" dirty="0">
                <a:solidFill>
                  <a:srgbClr val="A78BFA"/>
                </a:solidFill>
                <a:latin typeface="Arial" pitchFamily="34" charset="0"/>
                <a:ea typeface="Arial" pitchFamily="34" charset="-122"/>
                <a:cs typeface="Arial" pitchFamily="34" charset="-120"/>
              </a:rPr>
              <a:t>MEDIDO (LIGHTHOUSE, 23-09-2026)</a:t>
            </a:r>
            <a:endParaRPr lang="en-US" sz="950" dirty="0"/>
          </a:p>
        </p:txBody>
      </p:sp>
      <p:sp>
        <p:nvSpPr>
          <p:cNvPr id="29" name="Text 22"/>
          <p:cNvSpPr txBox="1"/>
          <p:nvPr/>
        </p:nvSpPr>
        <p:spPr>
          <a:xfrm>
            <a:off x="7498080" y="4846320"/>
            <a:ext cx="2590495" cy="347472"/>
          </a:xfrm>
          <a:prstGeom prst="rect">
            <a:avLst/>
          </a:prstGeom>
          <a:noFill/>
          <a:ln/>
        </p:spPr>
        <p:txBody>
          <a:bodyPr wrap="square" lIns="0" tIns="0" rIns="0" bIns="0" rtlCol="0" anchor="t"/>
          <a:lstStyle/>
          <a:p>
            <a:pPr indent="0" marL="0">
              <a:buNone/>
            </a:pPr>
            <a:r>
              <a:rPr lang="en-US" sz="1000" dirty="0">
                <a:solidFill>
                  <a:srgbClr val="9CA3AF"/>
                </a:solidFill>
                <a:latin typeface="Arial" pitchFamily="34" charset="0"/>
                <a:ea typeface="Arial" pitchFamily="34" charset="-122"/>
                <a:cs typeface="Arial" pitchFamily="34" charset="-120"/>
              </a:rPr>
              <a:t>Peso de la ficha BH-SW12XXG (escritorio)</a:t>
            </a:r>
            <a:endParaRPr lang="en-US" sz="1000" dirty="0"/>
          </a:p>
        </p:txBody>
      </p:sp>
      <p:sp>
        <p:nvSpPr>
          <p:cNvPr id="30" name="Text 23"/>
          <p:cNvSpPr txBox="1"/>
          <p:nvPr/>
        </p:nvSpPr>
        <p:spPr>
          <a:xfrm>
            <a:off x="10042855" y="4846320"/>
            <a:ext cx="1463040" cy="347472"/>
          </a:xfrm>
          <a:prstGeom prst="rect">
            <a:avLst/>
          </a:prstGeom>
          <a:noFill/>
          <a:ln/>
        </p:spPr>
        <p:txBody>
          <a:bodyPr wrap="square" lIns="0" tIns="0" rIns="0" bIns="0" rtlCol="0" anchor="t"/>
          <a:lstStyle/>
          <a:p>
            <a:pPr algn="r" indent="0" marL="0">
              <a:buNone/>
            </a:pPr>
            <a:r>
              <a:rPr lang="en-US" sz="1100" b="1" dirty="0">
                <a:solidFill>
                  <a:srgbClr val="FFFFFF"/>
                </a:solidFill>
                <a:latin typeface="Arial" pitchFamily="34" charset="0"/>
                <a:ea typeface="Arial" pitchFamily="34" charset="-122"/>
                <a:cs typeface="Arial" pitchFamily="34" charset="-120"/>
              </a:rPr>
              <a:t>5,28 MB → 0,38 MB</a:t>
            </a:r>
            <a:endParaRPr lang="en-US" sz="1100" dirty="0"/>
          </a:p>
        </p:txBody>
      </p:sp>
      <p:sp>
        <p:nvSpPr>
          <p:cNvPr id="31" name="Text 24"/>
          <p:cNvSpPr txBox="1"/>
          <p:nvPr/>
        </p:nvSpPr>
        <p:spPr>
          <a:xfrm>
            <a:off x="7498080" y="5212080"/>
            <a:ext cx="2590495" cy="347472"/>
          </a:xfrm>
          <a:prstGeom prst="rect">
            <a:avLst/>
          </a:prstGeom>
          <a:noFill/>
          <a:ln/>
        </p:spPr>
        <p:txBody>
          <a:bodyPr wrap="square" lIns="0" tIns="0" rIns="0" bIns="0" rtlCol="0" anchor="t"/>
          <a:lstStyle/>
          <a:p>
            <a:pPr indent="0" marL="0">
              <a:buNone/>
            </a:pPr>
            <a:r>
              <a:rPr lang="en-US" sz="1000" dirty="0">
                <a:solidFill>
                  <a:srgbClr val="9CA3AF"/>
                </a:solidFill>
                <a:latin typeface="Arial" pitchFamily="34" charset="0"/>
                <a:ea typeface="Arial" pitchFamily="34" charset="-122"/>
                <a:cs typeface="Arial" pitchFamily="34" charset="-120"/>
              </a:rPr>
              <a:t>Peticiones de la ficha (escritorio)</a:t>
            </a:r>
            <a:endParaRPr lang="en-US" sz="1000" dirty="0"/>
          </a:p>
        </p:txBody>
      </p:sp>
      <p:sp>
        <p:nvSpPr>
          <p:cNvPr id="32" name="Text 25"/>
          <p:cNvSpPr txBox="1"/>
          <p:nvPr/>
        </p:nvSpPr>
        <p:spPr>
          <a:xfrm>
            <a:off x="10042855" y="5212080"/>
            <a:ext cx="1463040" cy="347472"/>
          </a:xfrm>
          <a:prstGeom prst="rect">
            <a:avLst/>
          </a:prstGeom>
          <a:noFill/>
          <a:ln/>
        </p:spPr>
        <p:txBody>
          <a:bodyPr wrap="square" lIns="0" tIns="0" rIns="0" bIns="0" rtlCol="0" anchor="t"/>
          <a:lstStyle/>
          <a:p>
            <a:pPr algn="r" indent="0" marL="0">
              <a:buNone/>
            </a:pPr>
            <a:r>
              <a:rPr lang="en-US" sz="1100" b="1" dirty="0">
                <a:solidFill>
                  <a:srgbClr val="FFFFFF"/>
                </a:solidFill>
                <a:latin typeface="Arial" pitchFamily="34" charset="0"/>
                <a:ea typeface="Arial" pitchFamily="34" charset="-122"/>
                <a:cs typeface="Arial" pitchFamily="34" charset="-120"/>
              </a:rPr>
              <a:t>61 → 35</a:t>
            </a:r>
            <a:endParaRPr lang="en-US" sz="1100" dirty="0"/>
          </a:p>
        </p:txBody>
      </p:sp>
      <p:sp>
        <p:nvSpPr>
          <p:cNvPr id="33" name="Text 26"/>
          <p:cNvSpPr txBox="1"/>
          <p:nvPr/>
        </p:nvSpPr>
        <p:spPr>
          <a:xfrm>
            <a:off x="7498080" y="5577840"/>
            <a:ext cx="2590495" cy="347472"/>
          </a:xfrm>
          <a:prstGeom prst="rect">
            <a:avLst/>
          </a:prstGeom>
          <a:noFill/>
          <a:ln/>
        </p:spPr>
        <p:txBody>
          <a:bodyPr wrap="square" lIns="0" tIns="0" rIns="0" bIns="0" rtlCol="0" anchor="t"/>
          <a:lstStyle/>
          <a:p>
            <a:pPr indent="0" marL="0">
              <a:buNone/>
            </a:pPr>
            <a:r>
              <a:rPr lang="en-US" sz="1000" dirty="0">
                <a:solidFill>
                  <a:srgbClr val="9CA3AF"/>
                </a:solidFill>
                <a:latin typeface="Arial" pitchFamily="34" charset="0"/>
                <a:ea typeface="Arial" pitchFamily="34" charset="-122"/>
                <a:cs typeface="Arial" pitchFamily="34" charset="-120"/>
              </a:rPr>
              <a:t>Peso de la home (escritorio)</a:t>
            </a:r>
            <a:endParaRPr lang="en-US" sz="1000" dirty="0"/>
          </a:p>
        </p:txBody>
      </p:sp>
      <p:sp>
        <p:nvSpPr>
          <p:cNvPr id="34" name="Text 27"/>
          <p:cNvSpPr txBox="1"/>
          <p:nvPr/>
        </p:nvSpPr>
        <p:spPr>
          <a:xfrm>
            <a:off x="10042855" y="5577840"/>
            <a:ext cx="1463040" cy="347472"/>
          </a:xfrm>
          <a:prstGeom prst="rect">
            <a:avLst/>
          </a:prstGeom>
          <a:noFill/>
          <a:ln/>
        </p:spPr>
        <p:txBody>
          <a:bodyPr wrap="square" lIns="0" tIns="0" rIns="0" bIns="0" rtlCol="0" anchor="t"/>
          <a:lstStyle/>
          <a:p>
            <a:pPr algn="r" indent="0" marL="0">
              <a:buNone/>
            </a:pPr>
            <a:r>
              <a:rPr lang="en-US" sz="1100" b="1" dirty="0">
                <a:solidFill>
                  <a:srgbClr val="FFFFFF"/>
                </a:solidFill>
                <a:latin typeface="Arial" pitchFamily="34" charset="0"/>
                <a:ea typeface="Arial" pitchFamily="34" charset="-122"/>
                <a:cs typeface="Arial" pitchFamily="34" charset="-120"/>
              </a:rPr>
              <a:t>2,53 MB → 1,15 MB</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05 · TRANSICIÓN</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Plan de transición y capacitación por rol</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30</a:t>
            </a:r>
            <a:endParaRPr lang="en-US" sz="900" dirty="0"/>
          </a:p>
        </p:txBody>
      </p:sp>
      <p:sp>
        <p:nvSpPr>
          <p:cNvPr id="6" name="Shape 3"/>
          <p:cNvSpPr/>
          <p:nvPr/>
        </p:nvSpPr>
        <p:spPr>
          <a:xfrm>
            <a:off x="10500055" y="804672"/>
            <a:ext cx="1110996" cy="256032"/>
          </a:xfrm>
          <a:prstGeom prst="roundRect">
            <a:avLst>
              <a:gd name="adj" fmla="val 50000"/>
            </a:avLst>
          </a:prstGeom>
          <a:solidFill>
            <a:srgbClr val="FFFFFF"/>
          </a:solidFill>
          <a:ln w="9525">
            <a:solidFill>
              <a:srgbClr val="9CA3AF"/>
            </a:solidFill>
            <a:prstDash val="solid"/>
          </a:ln>
        </p:spPr>
      </p:sp>
      <p:sp>
        <p:nvSpPr>
          <p:cNvPr id="7" name="Text 4"/>
          <p:cNvSpPr txBox="1"/>
          <p:nvPr/>
        </p:nvSpPr>
        <p:spPr>
          <a:xfrm>
            <a:off x="10500055" y="804672"/>
            <a:ext cx="1110996" cy="256032"/>
          </a:xfrm>
          <a:prstGeom prst="rect">
            <a:avLst/>
          </a:prstGeom>
          <a:noFill/>
          <a:ln/>
        </p:spPr>
        <p:txBody>
          <a:bodyPr wrap="square" lIns="0" tIns="0" rIns="0" bIns="0" rtlCol="0" anchor="ctr"/>
          <a:lstStyle/>
          <a:p>
            <a:pPr algn="ctr" indent="0" marL="0">
              <a:buNone/>
            </a:pPr>
            <a:r>
              <a:rPr lang="en-US" sz="1000" b="1" dirty="0">
                <a:solidFill>
                  <a:srgbClr val="6B7280"/>
                </a:solidFill>
                <a:latin typeface="Arial" pitchFamily="34" charset="0"/>
                <a:ea typeface="Arial" pitchFamily="34" charset="-122"/>
                <a:cs typeface="Arial" pitchFamily="34" charset="-120"/>
              </a:rPr>
              <a:t>Planificado</a:t>
            </a:r>
            <a:endParaRPr lang="en-US" sz="1000" dirty="0"/>
          </a:p>
        </p:txBody>
      </p:sp>
      <p:sp>
        <p:nvSpPr>
          <p:cNvPr id="8" name="Text 5"/>
          <p:cNvSpPr txBox="1"/>
          <p:nvPr/>
        </p:nvSpPr>
        <p:spPr>
          <a:xfrm>
            <a:off x="548640" y="1463040"/>
            <a:ext cx="45720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PUESTA EN PRODUCCIÓN</a:t>
            </a:r>
            <a:endParaRPr lang="en-US" sz="950" dirty="0"/>
          </a:p>
        </p:txBody>
      </p:sp>
      <p:sp>
        <p:nvSpPr>
          <p:cNvPr id="9" name="@tr1#1"/>
          <p:cNvSpPr/>
          <p:nvPr/>
        </p:nvSpPr>
        <p:spPr>
          <a:xfrm>
            <a:off x="548640" y="1810512"/>
            <a:ext cx="457200" cy="457200"/>
          </a:xfrm>
          <a:prstGeom prst="ellipse">
            <a:avLst/>
          </a:prstGeom>
          <a:solidFill>
            <a:srgbClr val="0B0B0D"/>
          </a:solidFill>
          <a:ln w="15875">
            <a:solidFill>
              <a:srgbClr val="0B0B0D"/>
            </a:solidFill>
            <a:prstDash val="solid"/>
          </a:ln>
        </p:spPr>
      </p:sp>
      <p:sp>
        <p:nvSpPr>
          <p:cNvPr id="10" name="@tr1#2"/>
          <p:cNvSpPr txBox="1"/>
          <p:nvPr/>
        </p:nvSpPr>
        <p:spPr>
          <a:xfrm>
            <a:off x="548640" y="18105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r1#3"/>
          <p:cNvSpPr/>
          <p:nvPr/>
        </p:nvSpPr>
        <p:spPr>
          <a:xfrm>
            <a:off x="777240" y="2267712"/>
            <a:ext cx="0" cy="301752"/>
          </a:xfrm>
          <a:prstGeom prst="line">
            <a:avLst/>
          </a:prstGeom>
          <a:noFill/>
          <a:ln w="12700">
            <a:solidFill>
              <a:srgbClr val="9CA3AF"/>
            </a:solidFill>
            <a:prstDash val="solid"/>
          </a:ln>
        </p:spPr>
      </p:sp>
      <p:sp>
        <p:nvSpPr>
          <p:cNvPr id="12" name="@tr1#4"/>
          <p:cNvSpPr txBox="1"/>
          <p:nvPr/>
        </p:nvSpPr>
        <p:spPr>
          <a:xfrm>
            <a:off x="1188720" y="1792224"/>
            <a:ext cx="4206240" cy="27432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Aceptación</a:t>
            </a:r>
            <a:endParaRPr lang="en-US" sz="1350" dirty="0"/>
          </a:p>
        </p:txBody>
      </p:sp>
      <p:sp>
        <p:nvSpPr>
          <p:cNvPr id="13" name="@tr1#5"/>
          <p:cNvSpPr txBox="1"/>
          <p:nvPr/>
        </p:nvSpPr>
        <p:spPr>
          <a:xfrm>
            <a:off x="1188720" y="2057400"/>
            <a:ext cx="4480560" cy="41148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Black Hawk revisa la web en el entorno de prueba y la aprueba.</a:t>
            </a:r>
            <a:endParaRPr lang="en-US" sz="1100" dirty="0"/>
          </a:p>
        </p:txBody>
      </p:sp>
      <p:sp>
        <p:nvSpPr>
          <p:cNvPr id="14" name="@tr2#1"/>
          <p:cNvSpPr/>
          <p:nvPr/>
        </p:nvSpPr>
        <p:spPr>
          <a:xfrm>
            <a:off x="548640" y="2569464"/>
            <a:ext cx="457200" cy="457200"/>
          </a:xfrm>
          <a:prstGeom prst="ellipse">
            <a:avLst/>
          </a:prstGeom>
          <a:solidFill>
            <a:srgbClr val="0B0B0D"/>
          </a:solidFill>
          <a:ln w="15875">
            <a:solidFill>
              <a:srgbClr val="0B0B0D"/>
            </a:solidFill>
            <a:prstDash val="solid"/>
          </a:ln>
        </p:spPr>
      </p:sp>
      <p:sp>
        <p:nvSpPr>
          <p:cNvPr id="15" name="@tr2#2"/>
          <p:cNvSpPr txBox="1"/>
          <p:nvPr/>
        </p:nvSpPr>
        <p:spPr>
          <a:xfrm>
            <a:off x="548640" y="256946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r2#3"/>
          <p:cNvSpPr/>
          <p:nvPr/>
        </p:nvSpPr>
        <p:spPr>
          <a:xfrm>
            <a:off x="777240" y="3026664"/>
            <a:ext cx="0" cy="301752"/>
          </a:xfrm>
          <a:prstGeom prst="line">
            <a:avLst/>
          </a:prstGeom>
          <a:noFill/>
          <a:ln w="12700">
            <a:solidFill>
              <a:srgbClr val="9CA3AF"/>
            </a:solidFill>
            <a:prstDash val="solid"/>
          </a:ln>
        </p:spPr>
      </p:sp>
      <p:sp>
        <p:nvSpPr>
          <p:cNvPr id="17" name="@tr2#4"/>
          <p:cNvSpPr txBox="1"/>
          <p:nvPr/>
        </p:nvSpPr>
        <p:spPr>
          <a:xfrm>
            <a:off x="1188720" y="2551176"/>
            <a:ext cx="4206240" cy="27432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Respaldo</a:t>
            </a:r>
            <a:endParaRPr lang="en-US" sz="1350" dirty="0"/>
          </a:p>
        </p:txBody>
      </p:sp>
      <p:sp>
        <p:nvSpPr>
          <p:cNvPr id="18" name="@tr2#5"/>
          <p:cNvSpPr txBox="1"/>
          <p:nvPr/>
        </p:nvSpPr>
        <p:spPr>
          <a:xfrm>
            <a:off x="1188720" y="2816352"/>
            <a:ext cx="4480560" cy="41148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Copia completa del sitio actual: archivos y base de datos.</a:t>
            </a:r>
            <a:endParaRPr lang="en-US" sz="1100" dirty="0"/>
          </a:p>
        </p:txBody>
      </p:sp>
      <p:sp>
        <p:nvSpPr>
          <p:cNvPr id="19" name="@tr3#1"/>
          <p:cNvSpPr/>
          <p:nvPr/>
        </p:nvSpPr>
        <p:spPr>
          <a:xfrm>
            <a:off x="548640" y="3328416"/>
            <a:ext cx="457200" cy="457200"/>
          </a:xfrm>
          <a:prstGeom prst="ellipse">
            <a:avLst/>
          </a:prstGeom>
          <a:solidFill>
            <a:srgbClr val="0B0B0D"/>
          </a:solidFill>
          <a:ln w="15875">
            <a:solidFill>
              <a:srgbClr val="0B0B0D"/>
            </a:solidFill>
            <a:prstDash val="solid"/>
          </a:ln>
        </p:spPr>
      </p:sp>
      <p:sp>
        <p:nvSpPr>
          <p:cNvPr id="20" name="@tr3#2"/>
          <p:cNvSpPr txBox="1"/>
          <p:nvPr/>
        </p:nvSpPr>
        <p:spPr>
          <a:xfrm>
            <a:off x="548640" y="33284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r3#3"/>
          <p:cNvSpPr/>
          <p:nvPr/>
        </p:nvSpPr>
        <p:spPr>
          <a:xfrm>
            <a:off x="777240" y="3785616"/>
            <a:ext cx="0" cy="301752"/>
          </a:xfrm>
          <a:prstGeom prst="line">
            <a:avLst/>
          </a:prstGeom>
          <a:noFill/>
          <a:ln w="12700">
            <a:solidFill>
              <a:srgbClr val="9CA3AF"/>
            </a:solidFill>
            <a:prstDash val="solid"/>
          </a:ln>
        </p:spPr>
      </p:sp>
      <p:sp>
        <p:nvSpPr>
          <p:cNvPr id="22" name="@tr3#4"/>
          <p:cNvSpPr txBox="1"/>
          <p:nvPr/>
        </p:nvSpPr>
        <p:spPr>
          <a:xfrm>
            <a:off x="1188720" y="3310128"/>
            <a:ext cx="4206240" cy="27432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Publicación</a:t>
            </a:r>
            <a:endParaRPr lang="en-US" sz="1350" dirty="0"/>
          </a:p>
        </p:txBody>
      </p:sp>
      <p:sp>
        <p:nvSpPr>
          <p:cNvPr id="23" name="@tr3#5"/>
          <p:cNvSpPr txBox="1"/>
          <p:nvPr/>
        </p:nvSpPr>
        <p:spPr>
          <a:xfrm>
            <a:off x="1188720" y="3575304"/>
            <a:ext cx="4480560" cy="41148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El tema hijo, las páginas y los contenidos pasan a blackhawkcaraudio.com.</a:t>
            </a:r>
            <a:endParaRPr lang="en-US" sz="1100" dirty="0"/>
          </a:p>
        </p:txBody>
      </p:sp>
      <p:sp>
        <p:nvSpPr>
          <p:cNvPr id="24" name="@tr4#1"/>
          <p:cNvSpPr/>
          <p:nvPr/>
        </p:nvSpPr>
        <p:spPr>
          <a:xfrm>
            <a:off x="548640" y="4087368"/>
            <a:ext cx="457200" cy="457200"/>
          </a:xfrm>
          <a:prstGeom prst="ellipse">
            <a:avLst/>
          </a:prstGeom>
          <a:solidFill>
            <a:srgbClr val="0B0B0D"/>
          </a:solidFill>
          <a:ln w="15875">
            <a:solidFill>
              <a:srgbClr val="0B0B0D"/>
            </a:solidFill>
            <a:prstDash val="solid"/>
          </a:ln>
        </p:spPr>
      </p:sp>
      <p:sp>
        <p:nvSpPr>
          <p:cNvPr id="25" name="@tr4#2"/>
          <p:cNvSpPr txBox="1"/>
          <p:nvPr/>
        </p:nvSpPr>
        <p:spPr>
          <a:xfrm>
            <a:off x="548640" y="4087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r4#3"/>
          <p:cNvSpPr/>
          <p:nvPr/>
        </p:nvSpPr>
        <p:spPr>
          <a:xfrm>
            <a:off x="777240" y="4544568"/>
            <a:ext cx="0" cy="301752"/>
          </a:xfrm>
          <a:prstGeom prst="line">
            <a:avLst/>
          </a:prstGeom>
          <a:noFill/>
          <a:ln w="12700">
            <a:solidFill>
              <a:srgbClr val="9CA3AF"/>
            </a:solidFill>
            <a:prstDash val="dash"/>
          </a:ln>
        </p:spPr>
      </p:sp>
      <p:sp>
        <p:nvSpPr>
          <p:cNvPr id="27" name="@tr4#4"/>
          <p:cNvSpPr txBox="1"/>
          <p:nvPr/>
        </p:nvSpPr>
        <p:spPr>
          <a:xfrm>
            <a:off x="1188720" y="4069080"/>
            <a:ext cx="4206240" cy="27432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Verificación</a:t>
            </a:r>
            <a:endParaRPr lang="en-US" sz="1350" dirty="0"/>
          </a:p>
        </p:txBody>
      </p:sp>
      <p:sp>
        <p:nvSpPr>
          <p:cNvPr id="28" name="@tr4#5"/>
          <p:cNvSpPr txBox="1"/>
          <p:nvPr/>
        </p:nvSpPr>
        <p:spPr>
          <a:xfrm>
            <a:off x="1188720" y="4334256"/>
            <a:ext cx="4480560" cy="41148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Fichas, «Cotizar», celular y enlaces en el dominio oficial.</a:t>
            </a:r>
            <a:endParaRPr lang="en-US" sz="1100" dirty="0"/>
          </a:p>
        </p:txBody>
      </p:sp>
      <p:sp>
        <p:nvSpPr>
          <p:cNvPr id="29" name="@tr5#1"/>
          <p:cNvSpPr/>
          <p:nvPr/>
        </p:nvSpPr>
        <p:spPr>
          <a:xfrm>
            <a:off x="548640" y="4846320"/>
            <a:ext cx="457200" cy="457200"/>
          </a:xfrm>
          <a:prstGeom prst="ellipse">
            <a:avLst/>
          </a:prstGeom>
          <a:solidFill>
            <a:srgbClr val="FFFFFF"/>
          </a:solidFill>
          <a:ln w="15875">
            <a:solidFill>
              <a:srgbClr val="0B0B0D"/>
            </a:solidFill>
            <a:prstDash val="solid"/>
          </a:ln>
        </p:spPr>
      </p:sp>
      <p:sp>
        <p:nvSpPr>
          <p:cNvPr id="30" name="@tr5#2"/>
          <p:cNvSpPr txBox="1"/>
          <p:nvPr/>
        </p:nvSpPr>
        <p:spPr>
          <a:xfrm>
            <a:off x="548640" y="4846320"/>
            <a:ext cx="457200" cy="457200"/>
          </a:xfrm>
          <a:prstGeom prst="rect">
            <a:avLst/>
          </a:prstGeom>
          <a:noFill/>
          <a:ln/>
        </p:spPr>
        <p:txBody>
          <a:bodyPr wrap="square" lIns="0" tIns="0" rIns="0" bIns="0" rtlCol="0" anchor="ctr"/>
          <a:lstStyle/>
          <a:p>
            <a:pPr algn="ctr" indent="0" marL="0">
              <a:buNone/>
            </a:pPr>
            <a:r>
              <a:rPr lang="en-US" sz="1400" b="1" dirty="0">
                <a:solidFill>
                  <a:srgbClr val="0B0B0D"/>
                </a:solidFill>
                <a:latin typeface="Arial" pitchFamily="34" charset="0"/>
                <a:ea typeface="Arial" pitchFamily="34" charset="-122"/>
                <a:cs typeface="Arial" pitchFamily="34" charset="-120"/>
              </a:rPr>
              <a:t>5</a:t>
            </a:r>
            <a:endParaRPr lang="en-US" sz="1400" dirty="0"/>
          </a:p>
        </p:txBody>
      </p:sp>
      <p:sp>
        <p:nvSpPr>
          <p:cNvPr id="31" name="@tr5#3"/>
          <p:cNvSpPr txBox="1"/>
          <p:nvPr/>
        </p:nvSpPr>
        <p:spPr>
          <a:xfrm>
            <a:off x="1188720" y="4828032"/>
            <a:ext cx="4206240" cy="27432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Reversión</a:t>
            </a:r>
            <a:endParaRPr lang="en-US" sz="1350" dirty="0"/>
          </a:p>
        </p:txBody>
      </p:sp>
      <p:sp>
        <p:nvSpPr>
          <p:cNvPr id="32" name="@tr5#4"/>
          <p:cNvSpPr txBox="1"/>
          <p:nvPr/>
        </p:nvSpPr>
        <p:spPr>
          <a:xfrm>
            <a:off x="1188720" y="5093208"/>
            <a:ext cx="4480560" cy="41148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Si algo falla, se restaura el respaldo.</a:t>
            </a:r>
            <a:endParaRPr lang="en-US" sz="1100" dirty="0"/>
          </a:p>
        </p:txBody>
      </p:sp>
      <p:sp>
        <p:nvSpPr>
          <p:cNvPr id="33" name="Text 30"/>
          <p:cNvSpPr txBox="1"/>
          <p:nvPr/>
        </p:nvSpPr>
        <p:spPr>
          <a:xfrm>
            <a:off x="6080760" y="1463040"/>
            <a:ext cx="45720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CAPACITACIÓN POR ROL</a:t>
            </a:r>
            <a:endParaRPr lang="en-US" sz="950" dirty="0"/>
          </a:p>
        </p:txBody>
      </p:sp>
      <p:sp>
        <p:nvSpPr>
          <p:cNvPr id="34" name="Shape 31"/>
          <p:cNvSpPr/>
          <p:nvPr/>
        </p:nvSpPr>
        <p:spPr>
          <a:xfrm>
            <a:off x="6080760" y="1783080"/>
            <a:ext cx="5562295" cy="1078992"/>
          </a:xfrm>
          <a:prstGeom prst="roundRect">
            <a:avLst>
              <a:gd name="adj" fmla="val 6780"/>
            </a:avLst>
          </a:prstGeom>
          <a:solidFill>
            <a:srgbClr val="F5F5F7"/>
          </a:solidFill>
          <a:ln/>
        </p:spPr>
      </p:sp>
      <p:sp>
        <p:nvSpPr>
          <p:cNvPr id="35" name="Shape 32"/>
          <p:cNvSpPr/>
          <p:nvPr/>
        </p:nvSpPr>
        <p:spPr>
          <a:xfrm>
            <a:off x="6309360" y="2020824"/>
            <a:ext cx="603504" cy="603504"/>
          </a:xfrm>
          <a:prstGeom prst="ellipse">
            <a:avLst/>
          </a:prstGeom>
          <a:solidFill>
            <a:srgbClr val="EDE4FB"/>
          </a:solidFill>
          <a:ln/>
        </p:spPr>
      </p:sp>
      <p:pic>
        <p:nvPicPr>
          <p:cNvPr id="36" name="Image 0" descr="preencoded.png">    </p:cNvPr>
          <p:cNvPicPr>
            <a:picLocks noChangeAspect="1"/>
          </p:cNvPicPr>
          <p:nvPr/>
        </p:nvPicPr>
        <p:blipFill>
          <a:blip r:embed="rId1"/>
          <a:stretch>
            <a:fillRect/>
          </a:stretch>
        </p:blipFill>
        <p:spPr>
          <a:xfrm>
            <a:off x="6454201" y="2165665"/>
            <a:ext cx="313822" cy="313822"/>
          </a:xfrm>
          <a:prstGeom prst="rect">
            <a:avLst/>
          </a:prstGeom>
        </p:spPr>
      </p:pic>
      <p:sp>
        <p:nvSpPr>
          <p:cNvPr id="37" name="Text 33"/>
          <p:cNvSpPr txBox="1"/>
          <p:nvPr/>
        </p:nvSpPr>
        <p:spPr>
          <a:xfrm>
            <a:off x="7132320" y="1938528"/>
            <a:ext cx="4282135" cy="292608"/>
          </a:xfrm>
          <a:prstGeom prst="rect">
            <a:avLst/>
          </a:prstGeom>
          <a:noFill/>
          <a:ln/>
        </p:spPr>
        <p:txBody>
          <a:bodyPr wrap="square" lIns="0" tIns="0" rIns="0" bIns="0" rtlCol="0" anchor="t"/>
          <a:lstStyle/>
          <a:p>
            <a:pPr indent="0" marL="0">
              <a:buNone/>
            </a:pPr>
            <a:r>
              <a:rPr lang="en-US" sz="1400" b="1" dirty="0">
                <a:solidFill>
                  <a:srgbClr val="0B0B0D"/>
                </a:solidFill>
                <a:latin typeface="Arial" pitchFamily="34" charset="0"/>
                <a:ea typeface="Arial" pitchFamily="34" charset="-122"/>
                <a:cs typeface="Arial" pitchFamily="34" charset="-120"/>
              </a:rPr>
              <a:t>Gestor de contenidos</a:t>
            </a:r>
            <a:endParaRPr lang="en-US" sz="1400" dirty="0"/>
          </a:p>
        </p:txBody>
      </p:sp>
      <p:sp>
        <p:nvSpPr>
          <p:cNvPr id="38" name="Text 34"/>
          <p:cNvSpPr txBox="1"/>
          <p:nvPr/>
        </p:nvSpPr>
        <p:spPr>
          <a:xfrm>
            <a:off x="7132320" y="2240280"/>
            <a:ext cx="4282135" cy="548640"/>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Productos, categorías, fichas e imágenes en WooCommerce; páginas en WordPress.</a:t>
            </a:r>
            <a:endParaRPr lang="en-US" sz="1150" dirty="0"/>
          </a:p>
        </p:txBody>
      </p:sp>
      <p:sp>
        <p:nvSpPr>
          <p:cNvPr id="39" name="Shape 35"/>
          <p:cNvSpPr/>
          <p:nvPr/>
        </p:nvSpPr>
        <p:spPr>
          <a:xfrm>
            <a:off x="6080760" y="2999232"/>
            <a:ext cx="5562295" cy="1078992"/>
          </a:xfrm>
          <a:prstGeom prst="roundRect">
            <a:avLst>
              <a:gd name="adj" fmla="val 6780"/>
            </a:avLst>
          </a:prstGeom>
          <a:solidFill>
            <a:srgbClr val="F5F5F7"/>
          </a:solidFill>
          <a:ln/>
        </p:spPr>
      </p:sp>
      <p:sp>
        <p:nvSpPr>
          <p:cNvPr id="40" name="Shape 36"/>
          <p:cNvSpPr/>
          <p:nvPr/>
        </p:nvSpPr>
        <p:spPr>
          <a:xfrm>
            <a:off x="6309360" y="3236976"/>
            <a:ext cx="603504" cy="603504"/>
          </a:xfrm>
          <a:prstGeom prst="ellipse">
            <a:avLst/>
          </a:prstGeom>
          <a:solidFill>
            <a:srgbClr val="EDE4FB"/>
          </a:solidFill>
          <a:ln/>
        </p:spPr>
      </p:sp>
      <p:pic>
        <p:nvPicPr>
          <p:cNvPr id="41" name="Image 1" descr="preencoded.png">    </p:cNvPr>
          <p:cNvPicPr>
            <a:picLocks noChangeAspect="1"/>
          </p:cNvPicPr>
          <p:nvPr/>
        </p:nvPicPr>
        <p:blipFill>
          <a:blip r:embed="rId2"/>
          <a:stretch>
            <a:fillRect/>
          </a:stretch>
        </p:blipFill>
        <p:spPr>
          <a:xfrm>
            <a:off x="6454201" y="3381817"/>
            <a:ext cx="313822" cy="313822"/>
          </a:xfrm>
          <a:prstGeom prst="rect">
            <a:avLst/>
          </a:prstGeom>
        </p:spPr>
      </p:pic>
      <p:sp>
        <p:nvSpPr>
          <p:cNvPr id="42" name="Text 37"/>
          <p:cNvSpPr txBox="1"/>
          <p:nvPr/>
        </p:nvSpPr>
        <p:spPr>
          <a:xfrm>
            <a:off x="7132320" y="3154680"/>
            <a:ext cx="4282135" cy="292608"/>
          </a:xfrm>
          <a:prstGeom prst="rect">
            <a:avLst/>
          </a:prstGeom>
          <a:noFill/>
          <a:ln/>
        </p:spPr>
        <p:txBody>
          <a:bodyPr wrap="square" lIns="0" tIns="0" rIns="0" bIns="0" rtlCol="0" anchor="t"/>
          <a:lstStyle/>
          <a:p>
            <a:pPr indent="0" marL="0">
              <a:buNone/>
            </a:pPr>
            <a:r>
              <a:rPr lang="en-US" sz="1400" b="1" dirty="0">
                <a:solidFill>
                  <a:srgbClr val="0B0B0D"/>
                </a:solidFill>
                <a:latin typeface="Arial" pitchFamily="34" charset="0"/>
                <a:ea typeface="Arial" pitchFamily="34" charset="-122"/>
                <a:cs typeface="Arial" pitchFamily="34" charset="-120"/>
              </a:rPr>
              <a:t>Área comercial</a:t>
            </a:r>
            <a:endParaRPr lang="en-US" sz="1400" dirty="0"/>
          </a:p>
        </p:txBody>
      </p:sp>
      <p:sp>
        <p:nvSpPr>
          <p:cNvPr id="43" name="Text 38"/>
          <p:cNvSpPr txBox="1"/>
          <p:nvPr/>
        </p:nvSpPr>
        <p:spPr>
          <a:xfrm>
            <a:off x="7132320" y="3456432"/>
            <a:ext cx="4282135" cy="548640"/>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Cómo llega el mensaje con el modelo; atender la consulta y derivar al distribuidor.</a:t>
            </a:r>
            <a:endParaRPr lang="en-US" sz="1150" dirty="0"/>
          </a:p>
        </p:txBody>
      </p:sp>
      <p:sp>
        <p:nvSpPr>
          <p:cNvPr id="44" name="Shape 39"/>
          <p:cNvSpPr/>
          <p:nvPr/>
        </p:nvSpPr>
        <p:spPr>
          <a:xfrm>
            <a:off x="6080760" y="4215384"/>
            <a:ext cx="5562295" cy="1078992"/>
          </a:xfrm>
          <a:prstGeom prst="roundRect">
            <a:avLst>
              <a:gd name="adj" fmla="val 6780"/>
            </a:avLst>
          </a:prstGeom>
          <a:solidFill>
            <a:srgbClr val="F5F5F7"/>
          </a:solidFill>
          <a:ln/>
        </p:spPr>
      </p:sp>
      <p:sp>
        <p:nvSpPr>
          <p:cNvPr id="45" name="Shape 40"/>
          <p:cNvSpPr/>
          <p:nvPr/>
        </p:nvSpPr>
        <p:spPr>
          <a:xfrm>
            <a:off x="6309360" y="4453128"/>
            <a:ext cx="603504" cy="603504"/>
          </a:xfrm>
          <a:prstGeom prst="ellipse">
            <a:avLst/>
          </a:prstGeom>
          <a:solidFill>
            <a:srgbClr val="EDE4FB"/>
          </a:solidFill>
          <a:ln/>
        </p:spPr>
      </p:sp>
      <p:pic>
        <p:nvPicPr>
          <p:cNvPr id="46" name="Image 2" descr="preencoded.png">    </p:cNvPr>
          <p:cNvPicPr>
            <a:picLocks noChangeAspect="1"/>
          </p:cNvPicPr>
          <p:nvPr/>
        </p:nvPicPr>
        <p:blipFill>
          <a:blip r:embed="rId3"/>
          <a:stretch>
            <a:fillRect/>
          </a:stretch>
        </p:blipFill>
        <p:spPr>
          <a:xfrm>
            <a:off x="6454201" y="4597969"/>
            <a:ext cx="313822" cy="313822"/>
          </a:xfrm>
          <a:prstGeom prst="rect">
            <a:avLst/>
          </a:prstGeom>
        </p:spPr>
      </p:pic>
      <p:sp>
        <p:nvSpPr>
          <p:cNvPr id="47" name="Text 41"/>
          <p:cNvSpPr txBox="1"/>
          <p:nvPr/>
        </p:nvSpPr>
        <p:spPr>
          <a:xfrm>
            <a:off x="7132320" y="4370832"/>
            <a:ext cx="4282135" cy="292608"/>
          </a:xfrm>
          <a:prstGeom prst="rect">
            <a:avLst/>
          </a:prstGeom>
          <a:noFill/>
          <a:ln/>
        </p:spPr>
        <p:txBody>
          <a:bodyPr wrap="square" lIns="0" tIns="0" rIns="0" bIns="0" rtlCol="0" anchor="t"/>
          <a:lstStyle/>
          <a:p>
            <a:pPr indent="0" marL="0">
              <a:buNone/>
            </a:pPr>
            <a:r>
              <a:rPr lang="en-US" sz="1400" b="1" dirty="0">
                <a:solidFill>
                  <a:srgbClr val="0B0B0D"/>
                </a:solidFill>
                <a:latin typeface="Arial" pitchFamily="34" charset="0"/>
                <a:ea typeface="Arial" pitchFamily="34" charset="-122"/>
                <a:cs typeface="Arial" pitchFamily="34" charset="-120"/>
              </a:rPr>
              <a:t>Administrador del sitio</a:t>
            </a:r>
            <a:endParaRPr lang="en-US" sz="1400" dirty="0"/>
          </a:p>
        </p:txBody>
      </p:sp>
      <p:sp>
        <p:nvSpPr>
          <p:cNvPr id="48" name="Text 42"/>
          <p:cNvSpPr txBox="1"/>
          <p:nvPr/>
        </p:nvSpPr>
        <p:spPr>
          <a:xfrm>
            <a:off x="7132320" y="4672584"/>
            <a:ext cx="4282135" cy="548640"/>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Actualizar primero en el entorno de prueba; usuarios, roles y respaldos.</a:t>
            </a:r>
            <a:endParaRPr lang="en-US" sz="1150" dirty="0"/>
          </a:p>
        </p:txBody>
      </p:sp>
      <p:sp>
        <p:nvSpPr>
          <p:cNvPr id="49" name="Shape 43"/>
          <p:cNvSpPr/>
          <p:nvPr/>
        </p:nvSpPr>
        <p:spPr>
          <a:xfrm>
            <a:off x="548640" y="5669280"/>
            <a:ext cx="11094415" cy="566928"/>
          </a:xfrm>
          <a:prstGeom prst="roundRect">
            <a:avLst>
              <a:gd name="adj" fmla="val 12903"/>
            </a:avLst>
          </a:prstGeom>
          <a:solidFill>
            <a:srgbClr val="0B0B0D"/>
          </a:solidFill>
          <a:ln/>
        </p:spPr>
      </p:sp>
      <p:sp>
        <p:nvSpPr>
          <p:cNvPr id="50" name="Text 44"/>
          <p:cNvSpPr txBox="1"/>
          <p:nvPr/>
        </p:nvSpPr>
        <p:spPr>
          <a:xfrm>
            <a:off x="822960" y="5669280"/>
            <a:ext cx="10545775" cy="566928"/>
          </a:xfrm>
          <a:prstGeom prst="rect">
            <a:avLst/>
          </a:prstGeom>
          <a:noFill/>
          <a:ln/>
        </p:spPr>
        <p:txBody>
          <a:bodyPr wrap="square" lIns="0" tIns="0" rIns="0" bIns="0" rtlCol="0" anchor="ctr"/>
          <a:lstStyle/>
          <a:p>
            <a:pPr indent="0" marL="0">
              <a:buNone/>
            </a:pPr>
            <a:r>
              <a:rPr lang="en-US" sz="1300" b="1" dirty="0">
                <a:solidFill>
                  <a:srgbClr val="A78BFA"/>
                </a:solidFill>
                <a:latin typeface="Arial" pitchFamily="34" charset="0"/>
                <a:ea typeface="Arial" pitchFamily="34" charset="-122"/>
                <a:cs typeface="Arial" pitchFamily="34" charset="-120"/>
              </a:rPr>
              <a:t>Hito PR · </a:t>
            </a:r>
            <a:pPr indent="0" marL="0">
              <a:buNone/>
            </a:pPr>
            <a:r>
              <a:rPr lang="en-US" sz="1300" dirty="0">
                <a:solidFill>
                  <a:srgbClr val="FFFFFF"/>
                </a:solidFill>
                <a:latin typeface="Arial" pitchFamily="34" charset="0"/>
                <a:ea typeface="Arial" pitchFamily="34" charset="-122"/>
                <a:cs typeface="Arial" pitchFamily="34" charset="-120"/>
              </a:rPr>
              <a:t>web aceptada por Black Hawk, publicada en su dominio oficial y con cada rol capacitado.</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28" fill="hold">
                      <p:stCondLst>
                        <p:cond delay="indefinite"/>
                      </p:stCondLst>
                      <p:childTnLst>
                        <p:par>
                          <p:cTn id="2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anim calcmode="lin" valueType="num">
                                      <p:cBhvr>
                                        <p:cTn id="6" dur="400" decel="100000" fill="hold"/>
                                        <p:tgtEl>
                                          <p:spTgt spid="9"/>
                                        </p:tgtEl>
                                        <p:attrNameLst>
                                          <p:attrName>ppt_x</p:attrName>
                                        </p:attrNameLst>
                                      </p:cBhvr>
                                      <p:tavLst>
                                        <p:tav tm="0">
                                          <p:val>
                                            <p:strVal val="#ppt_x"/>
                                          </p:val>
                                        </p:tav>
                                        <p:tav tm="100000">
                                          <p:val>
                                            <p:strVal val="#ppt_x"/>
                                          </p:val>
                                        </p:tav>
                                      </p:tavLst>
                                    </p:anim>
                                    <p:anim calcmode="lin" valueType="num">
                                      <p:cBhvr>
                                        <p:cTn id="7" dur="400" decel="100000" fill="hold"/>
                                        <p:tgtEl>
                                          <p:spTgt spid="9"/>
                                        </p:tgtEl>
                                        <p:attrNameLst>
                                          <p:attrName>ppt_y</p:attrName>
                                        </p:attrNameLst>
                                      </p:cBhvr>
                                      <p:tavLst>
                                        <p:tav tm="0">
                                          <p:val>
                                            <p:strVal val="#ppt_y+0.03"/>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anim calcmode="lin" valueType="num">
                                      <p:cBhvr>
                                        <p:cTn id="11" dur="400" decel="100000" fill="hold"/>
                                        <p:tgtEl>
                                          <p:spTgt spid="10"/>
                                        </p:tgtEl>
                                        <p:attrNameLst>
                                          <p:attrName>ppt_x</p:attrName>
                                        </p:attrNameLst>
                                      </p:cBhvr>
                                      <p:tavLst>
                                        <p:tav tm="0">
                                          <p:val>
                                            <p:strVal val="#ppt_x"/>
                                          </p:val>
                                        </p:tav>
                                        <p:tav tm="100000">
                                          <p:val>
                                            <p:strVal val="#ppt_x"/>
                                          </p:val>
                                        </p:tav>
                                      </p:tavLst>
                                    </p:anim>
                                    <p:anim calcmode="lin" valueType="num">
                                      <p:cBhvr>
                                        <p:cTn id="12" dur="400" decel="100000" fill="hold"/>
                                        <p:tgtEl>
                                          <p:spTgt spid="10"/>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anim calcmode="lin" valueType="num">
                                      <p:cBhvr>
                                        <p:cTn id="16" dur="400" decel="100000" fill="hold"/>
                                        <p:tgtEl>
                                          <p:spTgt spid="11"/>
                                        </p:tgtEl>
                                        <p:attrNameLst>
                                          <p:attrName>ppt_x</p:attrName>
                                        </p:attrNameLst>
                                      </p:cBhvr>
                                      <p:tavLst>
                                        <p:tav tm="0">
                                          <p:val>
                                            <p:strVal val="#ppt_x"/>
                                          </p:val>
                                        </p:tav>
                                        <p:tav tm="100000">
                                          <p:val>
                                            <p:strVal val="#ppt_x"/>
                                          </p:val>
                                        </p:tav>
                                      </p:tavLst>
                                    </p:anim>
                                    <p:anim calcmode="lin" valueType="num">
                                      <p:cBhvr>
                                        <p:cTn id="17" dur="400" decel="100000" fill="hold"/>
                                        <p:tgtEl>
                                          <p:spTgt spid="11"/>
                                        </p:tgtEl>
                                        <p:attrNameLst>
                                          <p:attrName>ppt_y</p:attrName>
                                        </p:attrNameLst>
                                      </p:cBhvr>
                                      <p:tavLst>
                                        <p:tav tm="0">
                                          <p:val>
                                            <p:strVal val="#ppt_y+0.03"/>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anim calcmode="lin" valueType="num">
                                      <p:cBhvr>
                                        <p:cTn id="21" dur="400" decel="100000" fill="hold"/>
                                        <p:tgtEl>
                                          <p:spTgt spid="12"/>
                                        </p:tgtEl>
                                        <p:attrNameLst>
                                          <p:attrName>ppt_x</p:attrName>
                                        </p:attrNameLst>
                                      </p:cBhvr>
                                      <p:tavLst>
                                        <p:tav tm="0">
                                          <p:val>
                                            <p:strVal val="#ppt_x"/>
                                          </p:val>
                                        </p:tav>
                                        <p:tav tm="100000">
                                          <p:val>
                                            <p:strVal val="#ppt_x"/>
                                          </p:val>
                                        </p:tav>
                                      </p:tavLst>
                                    </p:anim>
                                    <p:anim calcmode="lin" valueType="num">
                                      <p:cBhvr>
                                        <p:cTn id="22" dur="400" decel="100000" fill="hold"/>
                                        <p:tgtEl>
                                          <p:spTgt spid="12"/>
                                        </p:tgtEl>
                                        <p:attrNameLst>
                                          <p:attrName>ppt_y</p:attrName>
                                        </p:attrNameLst>
                                      </p:cBhvr>
                                      <p:tavLst>
                                        <p:tav tm="0">
                                          <p:val>
                                            <p:strVal val="#ppt_y+0.03"/>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anim calcmode="lin" valueType="num">
                                      <p:cBhvr>
                                        <p:cTn id="26" dur="400" decel="100000" fill="hold"/>
                                        <p:tgtEl>
                                          <p:spTgt spid="13"/>
                                        </p:tgtEl>
                                        <p:attrNameLst>
                                          <p:attrName>ppt_x</p:attrName>
                                        </p:attrNameLst>
                                      </p:cBhvr>
                                      <p:tavLst>
                                        <p:tav tm="0">
                                          <p:val>
                                            <p:strVal val="#ppt_x"/>
                                          </p:val>
                                        </p:tav>
                                        <p:tav tm="100000">
                                          <p:val>
                                            <p:strVal val="#ppt_x"/>
                                          </p:val>
                                        </p:tav>
                                      </p:tavLst>
                                    </p:anim>
                                    <p:anim calcmode="lin" valueType="num">
                                      <p:cBhvr>
                                        <p:cTn id="27" dur="400" decel="100000" fill="hold"/>
                                        <p:tgtEl>
                                          <p:spTgt spid="13"/>
                                        </p:tgtEl>
                                        <p:attrNameLst>
                                          <p:attrName>ppt_y</p:attrName>
                                        </p:attrNameLst>
                                      </p:cBhvr>
                                      <p:tavLst>
                                        <p:tav tm="0">
                                          <p:val>
                                            <p:strVal val="#ppt_y+0.03"/>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anim calcmode="lin" valueType="num">
                                      <p:cBhvr>
                                        <p:cTn id="33" dur="400" decel="100000" fill="hold"/>
                                        <p:tgtEl>
                                          <p:spTgt spid="14"/>
                                        </p:tgtEl>
                                        <p:attrNameLst>
                                          <p:attrName>ppt_x</p:attrName>
                                        </p:attrNameLst>
                                      </p:cBhvr>
                                      <p:tavLst>
                                        <p:tav tm="0">
                                          <p:val>
                                            <p:strVal val="#ppt_x"/>
                                          </p:val>
                                        </p:tav>
                                        <p:tav tm="100000">
                                          <p:val>
                                            <p:strVal val="#ppt_x"/>
                                          </p:val>
                                        </p:tav>
                                      </p:tavLst>
                                    </p:anim>
                                    <p:anim calcmode="lin" valueType="num">
                                      <p:cBhvr>
                                        <p:cTn id="34" dur="400" decel="100000" fill="hold"/>
                                        <p:tgtEl>
                                          <p:spTgt spid="14"/>
                                        </p:tgtEl>
                                        <p:attrNameLst>
                                          <p:attrName>ppt_y</p:attrName>
                                        </p:attrNameLst>
                                      </p:cBhvr>
                                      <p:tavLst>
                                        <p:tav tm="0">
                                          <p:val>
                                            <p:strVal val="#ppt_y+0.03"/>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anim calcmode="lin" valueType="num">
                                      <p:cBhvr>
                                        <p:cTn id="38" dur="400" decel="100000" fill="hold"/>
                                        <p:tgtEl>
                                          <p:spTgt spid="15"/>
                                        </p:tgtEl>
                                        <p:attrNameLst>
                                          <p:attrName>ppt_x</p:attrName>
                                        </p:attrNameLst>
                                      </p:cBhvr>
                                      <p:tavLst>
                                        <p:tav tm="0">
                                          <p:val>
                                            <p:strVal val="#ppt_x"/>
                                          </p:val>
                                        </p:tav>
                                        <p:tav tm="100000">
                                          <p:val>
                                            <p:strVal val="#ppt_x"/>
                                          </p:val>
                                        </p:tav>
                                      </p:tavLst>
                                    </p:anim>
                                    <p:anim calcmode="lin" valueType="num">
                                      <p:cBhvr>
                                        <p:cTn id="39" dur="400" decel="100000" fill="hold"/>
                                        <p:tgtEl>
                                          <p:spTgt spid="15"/>
                                        </p:tgtEl>
                                        <p:attrNameLst>
                                          <p:attrName>ppt_y</p:attrName>
                                        </p:attrNameLst>
                                      </p:cBhvr>
                                      <p:tavLst>
                                        <p:tav tm="0">
                                          <p:val>
                                            <p:strVal val="#ppt_y+0.03"/>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anim calcmode="lin" valueType="num">
                                      <p:cBhvr>
                                        <p:cTn id="43" dur="400" decel="100000" fill="hold"/>
                                        <p:tgtEl>
                                          <p:spTgt spid="16"/>
                                        </p:tgtEl>
                                        <p:attrNameLst>
                                          <p:attrName>ppt_x</p:attrName>
                                        </p:attrNameLst>
                                      </p:cBhvr>
                                      <p:tavLst>
                                        <p:tav tm="0">
                                          <p:val>
                                            <p:strVal val="#ppt_x"/>
                                          </p:val>
                                        </p:tav>
                                        <p:tav tm="100000">
                                          <p:val>
                                            <p:strVal val="#ppt_x"/>
                                          </p:val>
                                        </p:tav>
                                      </p:tavLst>
                                    </p:anim>
                                    <p:anim calcmode="lin" valueType="num">
                                      <p:cBhvr>
                                        <p:cTn id="44" dur="400" decel="100000" fill="hold"/>
                                        <p:tgtEl>
                                          <p:spTgt spid="16"/>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anim calcmode="lin" valueType="num">
                                      <p:cBhvr>
                                        <p:cTn id="48" dur="400" decel="100000" fill="hold"/>
                                        <p:tgtEl>
                                          <p:spTgt spid="17"/>
                                        </p:tgtEl>
                                        <p:attrNameLst>
                                          <p:attrName>ppt_x</p:attrName>
                                        </p:attrNameLst>
                                      </p:cBhvr>
                                      <p:tavLst>
                                        <p:tav tm="0">
                                          <p:val>
                                            <p:strVal val="#ppt_x"/>
                                          </p:val>
                                        </p:tav>
                                        <p:tav tm="100000">
                                          <p:val>
                                            <p:strVal val="#ppt_x"/>
                                          </p:val>
                                        </p:tav>
                                      </p:tavLst>
                                    </p:anim>
                                    <p:anim calcmode="lin" valueType="num">
                                      <p:cBhvr>
                                        <p:cTn id="49" dur="400" decel="100000" fill="hold"/>
                                        <p:tgtEl>
                                          <p:spTgt spid="17"/>
                                        </p:tgtEl>
                                        <p:attrNameLst>
                                          <p:attrName>ppt_y</p:attrName>
                                        </p:attrNameLst>
                                      </p:cBhvr>
                                      <p:tavLst>
                                        <p:tav tm="0">
                                          <p:val>
                                            <p:strVal val="#ppt_y+0.03"/>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anim calcmode="lin" valueType="num">
                                      <p:cBhvr>
                                        <p:cTn id="53" dur="400" decel="100000" fill="hold"/>
                                        <p:tgtEl>
                                          <p:spTgt spid="18"/>
                                        </p:tgtEl>
                                        <p:attrNameLst>
                                          <p:attrName>ppt_x</p:attrName>
                                        </p:attrNameLst>
                                      </p:cBhvr>
                                      <p:tavLst>
                                        <p:tav tm="0">
                                          <p:val>
                                            <p:strVal val="#ppt_x"/>
                                          </p:val>
                                        </p:tav>
                                        <p:tav tm="100000">
                                          <p:val>
                                            <p:strVal val="#ppt_x"/>
                                          </p:val>
                                        </p:tav>
                                      </p:tavLst>
                                    </p:anim>
                                    <p:anim calcmode="lin" valueType="num">
                                      <p:cBhvr>
                                        <p:cTn id="54" dur="400" decel="100000" fill="hold"/>
                                        <p:tgtEl>
                                          <p:spTgt spid="18"/>
                                        </p:tgtEl>
                                        <p:attrNameLst>
                                          <p:attrName>ppt_y</p:attrName>
                                        </p:attrNameLst>
                                      </p:cBhvr>
                                      <p:tavLst>
                                        <p:tav tm="0">
                                          <p:val>
                                            <p:strVal val="#ppt_y+0.03"/>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00"/>
                                        <p:tgtEl>
                                          <p:spTgt spid="19"/>
                                        </p:tgtEl>
                                      </p:cBhvr>
                                    </p:animEffect>
                                    <p:anim calcmode="lin" valueType="num">
                                      <p:cBhvr>
                                        <p:cTn id="60" dur="400" decel="100000" fill="hold"/>
                                        <p:tgtEl>
                                          <p:spTgt spid="19"/>
                                        </p:tgtEl>
                                        <p:attrNameLst>
                                          <p:attrName>ppt_x</p:attrName>
                                        </p:attrNameLst>
                                      </p:cBhvr>
                                      <p:tavLst>
                                        <p:tav tm="0">
                                          <p:val>
                                            <p:strVal val="#ppt_x"/>
                                          </p:val>
                                        </p:tav>
                                        <p:tav tm="100000">
                                          <p:val>
                                            <p:strVal val="#ppt_x"/>
                                          </p:val>
                                        </p:tav>
                                      </p:tavLst>
                                    </p:anim>
                                    <p:anim calcmode="lin" valueType="num">
                                      <p:cBhvr>
                                        <p:cTn id="61" dur="400" decel="100000" fill="hold"/>
                                        <p:tgtEl>
                                          <p:spTgt spid="19"/>
                                        </p:tgtEl>
                                        <p:attrNameLst>
                                          <p:attrName>ppt_y</p:attrName>
                                        </p:attrNameLst>
                                      </p:cBhvr>
                                      <p:tavLst>
                                        <p:tav tm="0">
                                          <p:val>
                                            <p:strVal val="#ppt_y+0.03"/>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400"/>
                                        <p:tgtEl>
                                          <p:spTgt spid="20"/>
                                        </p:tgtEl>
                                      </p:cBhvr>
                                    </p:animEffect>
                                    <p:anim calcmode="lin" valueType="num">
                                      <p:cBhvr>
                                        <p:cTn id="65" dur="400" decel="100000" fill="hold"/>
                                        <p:tgtEl>
                                          <p:spTgt spid="20"/>
                                        </p:tgtEl>
                                        <p:attrNameLst>
                                          <p:attrName>ppt_x</p:attrName>
                                        </p:attrNameLst>
                                      </p:cBhvr>
                                      <p:tavLst>
                                        <p:tav tm="0">
                                          <p:val>
                                            <p:strVal val="#ppt_x"/>
                                          </p:val>
                                        </p:tav>
                                        <p:tav tm="100000">
                                          <p:val>
                                            <p:strVal val="#ppt_x"/>
                                          </p:val>
                                        </p:tav>
                                      </p:tavLst>
                                    </p:anim>
                                    <p:anim calcmode="lin" valueType="num">
                                      <p:cBhvr>
                                        <p:cTn id="66" dur="400" decel="100000" fill="hold"/>
                                        <p:tgtEl>
                                          <p:spTgt spid="20"/>
                                        </p:tgtEl>
                                        <p:attrNameLst>
                                          <p:attrName>ppt_y</p:attrName>
                                        </p:attrNameLst>
                                      </p:cBhvr>
                                      <p:tavLst>
                                        <p:tav tm="0">
                                          <p:val>
                                            <p:strVal val="#ppt_y+0.03"/>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400"/>
                                        <p:tgtEl>
                                          <p:spTgt spid="21"/>
                                        </p:tgtEl>
                                      </p:cBhvr>
                                    </p:animEffect>
                                    <p:anim calcmode="lin" valueType="num">
                                      <p:cBhvr>
                                        <p:cTn id="70" dur="400" decel="100000" fill="hold"/>
                                        <p:tgtEl>
                                          <p:spTgt spid="21"/>
                                        </p:tgtEl>
                                        <p:attrNameLst>
                                          <p:attrName>ppt_x</p:attrName>
                                        </p:attrNameLst>
                                      </p:cBhvr>
                                      <p:tavLst>
                                        <p:tav tm="0">
                                          <p:val>
                                            <p:strVal val="#ppt_x"/>
                                          </p:val>
                                        </p:tav>
                                        <p:tav tm="100000">
                                          <p:val>
                                            <p:strVal val="#ppt_x"/>
                                          </p:val>
                                        </p:tav>
                                      </p:tavLst>
                                    </p:anim>
                                    <p:anim calcmode="lin" valueType="num">
                                      <p:cBhvr>
                                        <p:cTn id="71" dur="400" decel="100000" fill="hold"/>
                                        <p:tgtEl>
                                          <p:spTgt spid="21"/>
                                        </p:tgtEl>
                                        <p:attrNameLst>
                                          <p:attrName>ppt_y</p:attrName>
                                        </p:attrNameLst>
                                      </p:cBhvr>
                                      <p:tavLst>
                                        <p:tav tm="0">
                                          <p:val>
                                            <p:strVal val="#ppt_y+0.03"/>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400"/>
                                        <p:tgtEl>
                                          <p:spTgt spid="22"/>
                                        </p:tgtEl>
                                      </p:cBhvr>
                                    </p:animEffect>
                                    <p:anim calcmode="lin" valueType="num">
                                      <p:cBhvr>
                                        <p:cTn id="75" dur="400" decel="100000" fill="hold"/>
                                        <p:tgtEl>
                                          <p:spTgt spid="22"/>
                                        </p:tgtEl>
                                        <p:attrNameLst>
                                          <p:attrName>ppt_x</p:attrName>
                                        </p:attrNameLst>
                                      </p:cBhvr>
                                      <p:tavLst>
                                        <p:tav tm="0">
                                          <p:val>
                                            <p:strVal val="#ppt_x"/>
                                          </p:val>
                                        </p:tav>
                                        <p:tav tm="100000">
                                          <p:val>
                                            <p:strVal val="#ppt_x"/>
                                          </p:val>
                                        </p:tav>
                                      </p:tavLst>
                                    </p:anim>
                                    <p:anim calcmode="lin" valueType="num">
                                      <p:cBhvr>
                                        <p:cTn id="76" dur="400" decel="100000" fill="hold"/>
                                        <p:tgtEl>
                                          <p:spTgt spid="22"/>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400"/>
                                        <p:tgtEl>
                                          <p:spTgt spid="23"/>
                                        </p:tgtEl>
                                      </p:cBhvr>
                                    </p:animEffect>
                                    <p:anim calcmode="lin" valueType="num">
                                      <p:cBhvr>
                                        <p:cTn id="80" dur="400" decel="100000" fill="hold"/>
                                        <p:tgtEl>
                                          <p:spTgt spid="23"/>
                                        </p:tgtEl>
                                        <p:attrNameLst>
                                          <p:attrName>ppt_x</p:attrName>
                                        </p:attrNameLst>
                                      </p:cBhvr>
                                      <p:tavLst>
                                        <p:tav tm="0">
                                          <p:val>
                                            <p:strVal val="#ppt_x"/>
                                          </p:val>
                                        </p:tav>
                                        <p:tav tm="100000">
                                          <p:val>
                                            <p:strVal val="#ppt_x"/>
                                          </p:val>
                                        </p:tav>
                                      </p:tavLst>
                                    </p:anim>
                                    <p:anim calcmode="lin" valueType="num">
                                      <p:cBhvr>
                                        <p:cTn id="81" dur="400" decel="100000" fill="hold"/>
                                        <p:tgtEl>
                                          <p:spTgt spid="23"/>
                                        </p:tgtEl>
                                        <p:attrNameLst>
                                          <p:attrName>ppt_y</p:attrName>
                                        </p:attrNameLst>
                                      </p:cBhvr>
                                      <p:tavLst>
                                        <p:tav tm="0">
                                          <p:val>
                                            <p:strVal val="#ppt_y+0.03"/>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400"/>
                                        <p:tgtEl>
                                          <p:spTgt spid="24"/>
                                        </p:tgtEl>
                                      </p:cBhvr>
                                    </p:animEffect>
                                    <p:anim calcmode="lin" valueType="num">
                                      <p:cBhvr>
                                        <p:cTn id="87" dur="400" decel="100000" fill="hold"/>
                                        <p:tgtEl>
                                          <p:spTgt spid="24"/>
                                        </p:tgtEl>
                                        <p:attrNameLst>
                                          <p:attrName>ppt_x</p:attrName>
                                        </p:attrNameLst>
                                      </p:cBhvr>
                                      <p:tavLst>
                                        <p:tav tm="0">
                                          <p:val>
                                            <p:strVal val="#ppt_x"/>
                                          </p:val>
                                        </p:tav>
                                        <p:tav tm="100000">
                                          <p:val>
                                            <p:strVal val="#ppt_x"/>
                                          </p:val>
                                        </p:tav>
                                      </p:tavLst>
                                    </p:anim>
                                    <p:anim calcmode="lin" valueType="num">
                                      <p:cBhvr>
                                        <p:cTn id="88" dur="400" decel="100000" fill="hold"/>
                                        <p:tgtEl>
                                          <p:spTgt spid="24"/>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400"/>
                                        <p:tgtEl>
                                          <p:spTgt spid="25"/>
                                        </p:tgtEl>
                                      </p:cBhvr>
                                    </p:animEffect>
                                    <p:anim calcmode="lin" valueType="num">
                                      <p:cBhvr>
                                        <p:cTn id="92" dur="400" decel="100000" fill="hold"/>
                                        <p:tgtEl>
                                          <p:spTgt spid="25"/>
                                        </p:tgtEl>
                                        <p:attrNameLst>
                                          <p:attrName>ppt_x</p:attrName>
                                        </p:attrNameLst>
                                      </p:cBhvr>
                                      <p:tavLst>
                                        <p:tav tm="0">
                                          <p:val>
                                            <p:strVal val="#ppt_x"/>
                                          </p:val>
                                        </p:tav>
                                        <p:tav tm="100000">
                                          <p:val>
                                            <p:strVal val="#ppt_x"/>
                                          </p:val>
                                        </p:tav>
                                      </p:tavLst>
                                    </p:anim>
                                    <p:anim calcmode="lin" valueType="num">
                                      <p:cBhvr>
                                        <p:cTn id="93" dur="400" decel="100000" fill="hold"/>
                                        <p:tgtEl>
                                          <p:spTgt spid="25"/>
                                        </p:tgtEl>
                                        <p:attrNameLst>
                                          <p:attrName>ppt_y</p:attrName>
                                        </p:attrNameLst>
                                      </p:cBhvr>
                                      <p:tavLst>
                                        <p:tav tm="0">
                                          <p:val>
                                            <p:strVal val="#ppt_y+0.03"/>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6"/>
                                        </p:tgtEl>
                                        <p:attrNameLst>
                                          <p:attrName>style.visibility</p:attrName>
                                        </p:attrNameLst>
                                      </p:cBhvr>
                                      <p:to>
                                        <p:strVal val="visible"/>
                                      </p:to>
                                    </p:set>
                                    <p:animEffect transition="in" filter="fade">
                                      <p:cBhvr>
                                        <p:cTn id="96" dur="400"/>
                                        <p:tgtEl>
                                          <p:spTgt spid="26"/>
                                        </p:tgtEl>
                                      </p:cBhvr>
                                    </p:animEffect>
                                    <p:anim calcmode="lin" valueType="num">
                                      <p:cBhvr>
                                        <p:cTn id="97" dur="400" decel="100000" fill="hold"/>
                                        <p:tgtEl>
                                          <p:spTgt spid="26"/>
                                        </p:tgtEl>
                                        <p:attrNameLst>
                                          <p:attrName>ppt_x</p:attrName>
                                        </p:attrNameLst>
                                      </p:cBhvr>
                                      <p:tavLst>
                                        <p:tav tm="0">
                                          <p:val>
                                            <p:strVal val="#ppt_x"/>
                                          </p:val>
                                        </p:tav>
                                        <p:tav tm="100000">
                                          <p:val>
                                            <p:strVal val="#ppt_x"/>
                                          </p:val>
                                        </p:tav>
                                      </p:tavLst>
                                    </p:anim>
                                    <p:anim calcmode="lin" valueType="num">
                                      <p:cBhvr>
                                        <p:cTn id="98" dur="400" decel="100000" fill="hold"/>
                                        <p:tgtEl>
                                          <p:spTgt spid="26"/>
                                        </p:tgtEl>
                                        <p:attrNameLst>
                                          <p:attrName>ppt_y</p:attrName>
                                        </p:attrNameLst>
                                      </p:cBhvr>
                                      <p:tavLst>
                                        <p:tav tm="0">
                                          <p:val>
                                            <p:strVal val="#ppt_y+0.03"/>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7"/>
                                        </p:tgtEl>
                                        <p:attrNameLst>
                                          <p:attrName>style.visibility</p:attrName>
                                        </p:attrNameLst>
                                      </p:cBhvr>
                                      <p:to>
                                        <p:strVal val="visible"/>
                                      </p:to>
                                    </p:set>
                                    <p:animEffect transition="in" filter="fade">
                                      <p:cBhvr>
                                        <p:cTn id="101" dur="400"/>
                                        <p:tgtEl>
                                          <p:spTgt spid="27"/>
                                        </p:tgtEl>
                                      </p:cBhvr>
                                    </p:animEffect>
                                    <p:anim calcmode="lin" valueType="num">
                                      <p:cBhvr>
                                        <p:cTn id="102" dur="400" decel="100000" fill="hold"/>
                                        <p:tgtEl>
                                          <p:spTgt spid="27"/>
                                        </p:tgtEl>
                                        <p:attrNameLst>
                                          <p:attrName>ppt_x</p:attrName>
                                        </p:attrNameLst>
                                      </p:cBhvr>
                                      <p:tavLst>
                                        <p:tav tm="0">
                                          <p:val>
                                            <p:strVal val="#ppt_x"/>
                                          </p:val>
                                        </p:tav>
                                        <p:tav tm="100000">
                                          <p:val>
                                            <p:strVal val="#ppt_x"/>
                                          </p:val>
                                        </p:tav>
                                      </p:tavLst>
                                    </p:anim>
                                    <p:anim calcmode="lin" valueType="num">
                                      <p:cBhvr>
                                        <p:cTn id="103" dur="400" decel="100000" fill="hold"/>
                                        <p:tgtEl>
                                          <p:spTgt spid="27"/>
                                        </p:tgtEl>
                                        <p:attrNameLst>
                                          <p:attrName>ppt_y</p:attrName>
                                        </p:attrNameLst>
                                      </p:cBhvr>
                                      <p:tavLst>
                                        <p:tav tm="0">
                                          <p:val>
                                            <p:strVal val="#ppt_y+0.03"/>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400"/>
                                        <p:tgtEl>
                                          <p:spTgt spid="28"/>
                                        </p:tgtEl>
                                      </p:cBhvr>
                                    </p:animEffect>
                                    <p:anim calcmode="lin" valueType="num">
                                      <p:cBhvr>
                                        <p:cTn id="107" dur="400" decel="100000" fill="hold"/>
                                        <p:tgtEl>
                                          <p:spTgt spid="28"/>
                                        </p:tgtEl>
                                        <p:attrNameLst>
                                          <p:attrName>ppt_x</p:attrName>
                                        </p:attrNameLst>
                                      </p:cBhvr>
                                      <p:tavLst>
                                        <p:tav tm="0">
                                          <p:val>
                                            <p:strVal val="#ppt_x"/>
                                          </p:val>
                                        </p:tav>
                                        <p:tav tm="100000">
                                          <p:val>
                                            <p:strVal val="#ppt_x"/>
                                          </p:val>
                                        </p:tav>
                                      </p:tavLst>
                                    </p:anim>
                                    <p:anim calcmode="lin" valueType="num">
                                      <p:cBhvr>
                                        <p:cTn id="108" dur="400" decel="100000" fill="hold"/>
                                        <p:tgtEl>
                                          <p:spTgt spid="28"/>
                                        </p:tgtEl>
                                        <p:attrNameLst>
                                          <p:attrName>ppt_y</p:attrName>
                                        </p:attrNameLst>
                                      </p:cBhvr>
                                      <p:tavLst>
                                        <p:tav tm="0">
                                          <p:val>
                                            <p:strVal val="#ppt_y+0.03"/>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9"/>
                                        </p:tgtEl>
                                        <p:attrNameLst>
                                          <p:attrName>style.visibility</p:attrName>
                                        </p:attrNameLst>
                                      </p:cBhvr>
                                      <p:to>
                                        <p:strVal val="visible"/>
                                      </p:to>
                                    </p:set>
                                    <p:animEffect transition="in" filter="fade">
                                      <p:cBhvr>
                                        <p:cTn id="113" dur="400"/>
                                        <p:tgtEl>
                                          <p:spTgt spid="29"/>
                                        </p:tgtEl>
                                      </p:cBhvr>
                                    </p:animEffect>
                                    <p:anim calcmode="lin" valueType="num">
                                      <p:cBhvr>
                                        <p:cTn id="114" dur="400" decel="100000" fill="hold"/>
                                        <p:tgtEl>
                                          <p:spTgt spid="29"/>
                                        </p:tgtEl>
                                        <p:attrNameLst>
                                          <p:attrName>ppt_x</p:attrName>
                                        </p:attrNameLst>
                                      </p:cBhvr>
                                      <p:tavLst>
                                        <p:tav tm="0">
                                          <p:val>
                                            <p:strVal val="#ppt_x"/>
                                          </p:val>
                                        </p:tav>
                                        <p:tav tm="100000">
                                          <p:val>
                                            <p:strVal val="#ppt_x"/>
                                          </p:val>
                                        </p:tav>
                                      </p:tavLst>
                                    </p:anim>
                                    <p:anim calcmode="lin" valueType="num">
                                      <p:cBhvr>
                                        <p:cTn id="115" dur="400" decel="100000" fill="hold"/>
                                        <p:tgtEl>
                                          <p:spTgt spid="29"/>
                                        </p:tgtEl>
                                        <p:attrNameLst>
                                          <p:attrName>ppt_y</p:attrName>
                                        </p:attrNameLst>
                                      </p:cBhvr>
                                      <p:tavLst>
                                        <p:tav tm="0">
                                          <p:val>
                                            <p:strVal val="#ppt_y+0.03"/>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30"/>
                                        </p:tgtEl>
                                        <p:attrNameLst>
                                          <p:attrName>style.visibility</p:attrName>
                                        </p:attrNameLst>
                                      </p:cBhvr>
                                      <p:to>
                                        <p:strVal val="visible"/>
                                      </p:to>
                                    </p:set>
                                    <p:animEffect transition="in" filter="fade">
                                      <p:cBhvr>
                                        <p:cTn id="118" dur="400"/>
                                        <p:tgtEl>
                                          <p:spTgt spid="30"/>
                                        </p:tgtEl>
                                      </p:cBhvr>
                                    </p:animEffect>
                                    <p:anim calcmode="lin" valueType="num">
                                      <p:cBhvr>
                                        <p:cTn id="119" dur="400" decel="100000" fill="hold"/>
                                        <p:tgtEl>
                                          <p:spTgt spid="30"/>
                                        </p:tgtEl>
                                        <p:attrNameLst>
                                          <p:attrName>ppt_x</p:attrName>
                                        </p:attrNameLst>
                                      </p:cBhvr>
                                      <p:tavLst>
                                        <p:tav tm="0">
                                          <p:val>
                                            <p:strVal val="#ppt_x"/>
                                          </p:val>
                                        </p:tav>
                                        <p:tav tm="100000">
                                          <p:val>
                                            <p:strVal val="#ppt_x"/>
                                          </p:val>
                                        </p:tav>
                                      </p:tavLst>
                                    </p:anim>
                                    <p:anim calcmode="lin" valueType="num">
                                      <p:cBhvr>
                                        <p:cTn id="120" dur="400" decel="100000" fill="hold"/>
                                        <p:tgtEl>
                                          <p:spTgt spid="30"/>
                                        </p:tgtEl>
                                        <p:attrNameLst>
                                          <p:attrName>ppt_y</p:attrName>
                                        </p:attrNameLst>
                                      </p:cBhvr>
                                      <p:tavLst>
                                        <p:tav tm="0">
                                          <p:val>
                                            <p:strVal val="#ppt_y+0.03"/>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31"/>
                                        </p:tgtEl>
                                        <p:attrNameLst>
                                          <p:attrName>style.visibility</p:attrName>
                                        </p:attrNameLst>
                                      </p:cBhvr>
                                      <p:to>
                                        <p:strVal val="visible"/>
                                      </p:to>
                                    </p:set>
                                    <p:animEffect transition="in" filter="fade">
                                      <p:cBhvr>
                                        <p:cTn id="123" dur="400"/>
                                        <p:tgtEl>
                                          <p:spTgt spid="31"/>
                                        </p:tgtEl>
                                      </p:cBhvr>
                                    </p:animEffect>
                                    <p:anim calcmode="lin" valueType="num">
                                      <p:cBhvr>
                                        <p:cTn id="124" dur="400" decel="100000" fill="hold"/>
                                        <p:tgtEl>
                                          <p:spTgt spid="31"/>
                                        </p:tgtEl>
                                        <p:attrNameLst>
                                          <p:attrName>ppt_x</p:attrName>
                                        </p:attrNameLst>
                                      </p:cBhvr>
                                      <p:tavLst>
                                        <p:tav tm="0">
                                          <p:val>
                                            <p:strVal val="#ppt_x"/>
                                          </p:val>
                                        </p:tav>
                                        <p:tav tm="100000">
                                          <p:val>
                                            <p:strVal val="#ppt_x"/>
                                          </p:val>
                                        </p:tav>
                                      </p:tavLst>
                                    </p:anim>
                                    <p:anim calcmode="lin" valueType="num">
                                      <p:cBhvr>
                                        <p:cTn id="125" dur="400" decel="100000" fill="hold"/>
                                        <p:tgtEl>
                                          <p:spTgt spid="31"/>
                                        </p:tgtEl>
                                        <p:attrNameLst>
                                          <p:attrName>ppt_y</p:attrName>
                                        </p:attrNameLst>
                                      </p:cBhvr>
                                      <p:tavLst>
                                        <p:tav tm="0">
                                          <p:val>
                                            <p:strVal val="#ppt_y+0.03"/>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32"/>
                                        </p:tgtEl>
                                        <p:attrNameLst>
                                          <p:attrName>style.visibility</p:attrName>
                                        </p:attrNameLst>
                                      </p:cBhvr>
                                      <p:to>
                                        <p:strVal val="visible"/>
                                      </p:to>
                                    </p:set>
                                    <p:animEffect transition="in" filter="fade">
                                      <p:cBhvr>
                                        <p:cTn id="128" dur="400"/>
                                        <p:tgtEl>
                                          <p:spTgt spid="32"/>
                                        </p:tgtEl>
                                      </p:cBhvr>
                                    </p:animEffect>
                                    <p:anim calcmode="lin" valueType="num">
                                      <p:cBhvr>
                                        <p:cTn id="129" dur="400" decel="100000" fill="hold"/>
                                        <p:tgtEl>
                                          <p:spTgt spid="32"/>
                                        </p:tgtEl>
                                        <p:attrNameLst>
                                          <p:attrName>ppt_x</p:attrName>
                                        </p:attrNameLst>
                                      </p:cBhvr>
                                      <p:tavLst>
                                        <p:tav tm="0">
                                          <p:val>
                                            <p:strVal val="#ppt_x"/>
                                          </p:val>
                                        </p:tav>
                                        <p:tav tm="100000">
                                          <p:val>
                                            <p:strVal val="#ppt_x"/>
                                          </p:val>
                                        </p:tav>
                                      </p:tavLst>
                                    </p:anim>
                                    <p:anim calcmode="lin" valueType="num">
                                      <p:cBhvr>
                                        <p:cTn id="130" dur="400" decel="100000" fill="hold"/>
                                        <p:tgtEl>
                                          <p:spTgt spid="32"/>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B0D"/>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A78BFA"/>
                </a:solidFill>
                <a:latin typeface="Arial" pitchFamily="34" charset="0"/>
                <a:ea typeface="Arial" pitchFamily="34" charset="-122"/>
                <a:cs typeface="Arial" pitchFamily="34" charset="-120"/>
              </a:rPr>
              <a:t>05 · CIERRE</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Conclusiones y próximos pasos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Black Hawk · RUP   31</a:t>
            </a:r>
            <a:endParaRPr lang="en-US" sz="900" dirty="0"/>
          </a:p>
        </p:txBody>
      </p:sp>
      <p:sp>
        <p:nvSpPr>
          <p:cNvPr id="6" name="@co1#1"/>
          <p:cNvSpPr txBox="1"/>
          <p:nvPr/>
        </p:nvSpPr>
        <p:spPr>
          <a:xfrm>
            <a:off x="548640" y="1463040"/>
            <a:ext cx="914400" cy="548640"/>
          </a:xfrm>
          <a:prstGeom prst="rect">
            <a:avLst/>
          </a:prstGeom>
          <a:noFill/>
          <a:ln/>
        </p:spPr>
        <p:txBody>
          <a:bodyPr wrap="square" lIns="0" tIns="0" rIns="0" bIns="0" rtlCol="0" anchor="t"/>
          <a:lstStyle/>
          <a:p>
            <a:pPr indent="0" marL="0">
              <a:buNone/>
            </a:pPr>
            <a:r>
              <a:rPr lang="en-US" sz="2800" b="1" dirty="0">
                <a:solidFill>
                  <a:srgbClr val="A78BFA"/>
                </a:solidFill>
                <a:latin typeface="Arial" pitchFamily="34" charset="0"/>
                <a:ea typeface="Arial" pitchFamily="34" charset="-122"/>
                <a:cs typeface="Arial" pitchFamily="34" charset="-120"/>
              </a:rPr>
              <a:t>01</a:t>
            </a:r>
            <a:endParaRPr lang="en-US" sz="2800" dirty="0"/>
          </a:p>
        </p:txBody>
      </p:sp>
      <p:sp>
        <p:nvSpPr>
          <p:cNvPr id="7" name="@co1#2"/>
          <p:cNvSpPr txBox="1"/>
          <p:nvPr/>
        </p:nvSpPr>
        <p:spPr>
          <a:xfrm>
            <a:off x="548640" y="2057400"/>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El punto de partida</a:t>
            </a:r>
            <a:endParaRPr lang="en-US" sz="1700" dirty="0"/>
          </a:p>
        </p:txBody>
      </p:sp>
      <p:sp>
        <p:nvSpPr>
          <p:cNvPr id="8" name="@co1#3"/>
          <p:cNvSpPr txBox="1"/>
          <p:nvPr/>
        </p:nvSpPr>
        <p:spPr>
          <a:xfrm>
            <a:off x="548640" y="2468880"/>
            <a:ext cx="3474720" cy="1554480"/>
          </a:xfrm>
          <a:prstGeom prst="rect">
            <a:avLst/>
          </a:prstGeom>
          <a:noFill/>
          <a:ln/>
        </p:spPr>
        <p:txBody>
          <a:bodyPr wrap="square" lIns="0" tIns="0" rIns="0" bIns="0" rtlCol="0" anchor="t"/>
          <a:lstStyle/>
          <a:p>
            <a:pPr indent="0" marL="0">
              <a:buNone/>
            </a:pPr>
            <a:r>
              <a:rPr lang="en-US" sz="1300" dirty="0">
                <a:solidFill>
                  <a:srgbClr val="9CA3AF"/>
                </a:solidFill>
                <a:latin typeface="Arial" pitchFamily="34" charset="0"/>
                <a:ea typeface="Arial" pitchFamily="34" charset="-122"/>
                <a:cs typeface="Arial" pitchFamily="34" charset="-120"/>
              </a:rPr>
              <a:t>Black Hawk ya tenía una plataforma con catálogo; su limitación era que no guiaba al usuario hacia una acción comercial.</a:t>
            </a:r>
            <a:endParaRPr lang="en-US" sz="1300" dirty="0"/>
          </a:p>
        </p:txBody>
      </p:sp>
      <p:sp>
        <p:nvSpPr>
          <p:cNvPr id="9" name="@co2#1"/>
          <p:cNvSpPr txBox="1"/>
          <p:nvPr/>
        </p:nvSpPr>
        <p:spPr>
          <a:xfrm>
            <a:off x="4297680" y="1463040"/>
            <a:ext cx="914400" cy="548640"/>
          </a:xfrm>
          <a:prstGeom prst="rect">
            <a:avLst/>
          </a:prstGeom>
          <a:noFill/>
          <a:ln/>
        </p:spPr>
        <p:txBody>
          <a:bodyPr wrap="square" lIns="0" tIns="0" rIns="0" bIns="0" rtlCol="0" anchor="t"/>
          <a:lstStyle/>
          <a:p>
            <a:pPr indent="0" marL="0">
              <a:buNone/>
            </a:pPr>
            <a:r>
              <a:rPr lang="en-US" sz="2800" b="1" dirty="0">
                <a:solidFill>
                  <a:srgbClr val="A78BFA"/>
                </a:solidFill>
                <a:latin typeface="Arial" pitchFamily="34" charset="0"/>
                <a:ea typeface="Arial" pitchFamily="34" charset="-122"/>
                <a:cs typeface="Arial" pitchFamily="34" charset="-120"/>
              </a:rPr>
              <a:t>02</a:t>
            </a:r>
            <a:endParaRPr lang="en-US" sz="2800" dirty="0"/>
          </a:p>
        </p:txBody>
      </p:sp>
      <p:sp>
        <p:nvSpPr>
          <p:cNvPr id="10" name="@co2#2"/>
          <p:cNvSpPr txBox="1"/>
          <p:nvPr/>
        </p:nvSpPr>
        <p:spPr>
          <a:xfrm>
            <a:off x="4297680" y="2057400"/>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La solución</a:t>
            </a:r>
            <a:endParaRPr lang="en-US" sz="1700" dirty="0"/>
          </a:p>
        </p:txBody>
      </p:sp>
      <p:sp>
        <p:nvSpPr>
          <p:cNvPr id="11" name="@co2#3"/>
          <p:cNvSpPr txBox="1"/>
          <p:nvPr/>
        </p:nvSpPr>
        <p:spPr>
          <a:xfrm>
            <a:off x="4297680" y="2468880"/>
            <a:ext cx="3474720" cy="1554480"/>
          </a:xfrm>
          <a:prstGeom prst="rect">
            <a:avLst/>
          </a:prstGeom>
          <a:noFill/>
          <a:ln/>
        </p:spPr>
        <p:txBody>
          <a:bodyPr wrap="square" lIns="0" tIns="0" rIns="0" bIns="0" rtlCol="0" anchor="t"/>
          <a:lstStyle/>
          <a:p>
            <a:pPr indent="0" marL="0">
              <a:buNone/>
            </a:pPr>
            <a:r>
              <a:rPr lang="en-US" sz="1300" dirty="0">
                <a:solidFill>
                  <a:srgbClr val="9CA3AF"/>
                </a:solidFill>
                <a:latin typeface="Arial" pitchFamily="34" charset="0"/>
                <a:ea typeface="Arial" pitchFamily="34" charset="-122"/>
                <a:cs typeface="Arial" pitchFamily="34" charset="-120"/>
              </a:rPr>
              <a:t>La web renovada rediseña la marca, ordena el catálogo y lleva cada producto a una consulta con el modelo identificado, sobre la misma base tecnológica.</a:t>
            </a:r>
            <a:endParaRPr lang="en-US" sz="1300" dirty="0"/>
          </a:p>
        </p:txBody>
      </p:sp>
      <p:sp>
        <p:nvSpPr>
          <p:cNvPr id="12" name="@co3#1"/>
          <p:cNvSpPr txBox="1"/>
          <p:nvPr/>
        </p:nvSpPr>
        <p:spPr>
          <a:xfrm>
            <a:off x="8046720" y="1463040"/>
            <a:ext cx="914400" cy="548640"/>
          </a:xfrm>
          <a:prstGeom prst="rect">
            <a:avLst/>
          </a:prstGeom>
          <a:noFill/>
          <a:ln/>
        </p:spPr>
        <p:txBody>
          <a:bodyPr wrap="square" lIns="0" tIns="0" rIns="0" bIns="0" rtlCol="0" anchor="t"/>
          <a:lstStyle/>
          <a:p>
            <a:pPr indent="0" marL="0">
              <a:buNone/>
            </a:pPr>
            <a:r>
              <a:rPr lang="en-US" sz="2800" b="1" dirty="0">
                <a:solidFill>
                  <a:srgbClr val="A78BFA"/>
                </a:solidFill>
                <a:latin typeface="Arial" pitchFamily="34" charset="0"/>
                <a:ea typeface="Arial" pitchFamily="34" charset="-122"/>
                <a:cs typeface="Arial" pitchFamily="34" charset="-120"/>
              </a:rPr>
              <a:t>03</a:t>
            </a:r>
            <a:endParaRPr lang="en-US" sz="2800" dirty="0"/>
          </a:p>
        </p:txBody>
      </p:sp>
      <p:sp>
        <p:nvSpPr>
          <p:cNvPr id="13" name="@co3#2"/>
          <p:cNvSpPr txBox="1"/>
          <p:nvPr/>
        </p:nvSpPr>
        <p:spPr>
          <a:xfrm>
            <a:off x="8046720" y="2057400"/>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La metodología</a:t>
            </a:r>
            <a:endParaRPr lang="en-US" sz="1700" dirty="0"/>
          </a:p>
        </p:txBody>
      </p:sp>
      <p:sp>
        <p:nvSpPr>
          <p:cNvPr id="14" name="@co3#3"/>
          <p:cNvSpPr txBox="1"/>
          <p:nvPr/>
        </p:nvSpPr>
        <p:spPr>
          <a:xfrm>
            <a:off x="8046720" y="2468880"/>
            <a:ext cx="3474720" cy="1554480"/>
          </a:xfrm>
          <a:prstGeom prst="rect">
            <a:avLst/>
          </a:prstGeom>
          <a:noFill/>
          <a:ln/>
        </p:spPr>
        <p:txBody>
          <a:bodyPr wrap="square" lIns="0" tIns="0" rIns="0" bIns="0" rtlCol="0" anchor="t"/>
          <a:lstStyle/>
          <a:p>
            <a:pPr indent="0" marL="0">
              <a:buNone/>
            </a:pPr>
            <a:r>
              <a:rPr lang="en-US" sz="1300" dirty="0">
                <a:solidFill>
                  <a:srgbClr val="9CA3AF"/>
                </a:solidFill>
                <a:latin typeface="Arial" pitchFamily="34" charset="0"/>
                <a:ea typeface="Arial" pitchFamily="34" charset="-122"/>
                <a:cs typeface="Arial" pitchFamily="34" charset="-120"/>
              </a:rPr>
              <a:t>RUP organizó el trabajo: Inicio y Elaboración realizados, Construcción avanzada y Transición planificada, con modelos UML que sustentan cada decisión.</a:t>
            </a:r>
            <a:endParaRPr lang="en-US" sz="1300" dirty="0"/>
          </a:p>
        </p:txBody>
      </p:sp>
      <p:sp>
        <p:nvSpPr>
          <p:cNvPr id="15" name="@co4#1"/>
          <p:cNvSpPr/>
          <p:nvPr/>
        </p:nvSpPr>
        <p:spPr>
          <a:xfrm>
            <a:off x="548640" y="4206240"/>
            <a:ext cx="11094415" cy="1783080"/>
          </a:xfrm>
          <a:prstGeom prst="roundRect">
            <a:avLst>
              <a:gd name="adj" fmla="val 4103"/>
            </a:avLst>
          </a:prstGeom>
          <a:solidFill>
            <a:srgbClr val="1A1B1F"/>
          </a:solidFill>
          <a:ln/>
        </p:spPr>
      </p:sp>
      <p:sp>
        <p:nvSpPr>
          <p:cNvPr id="16" name="@co4#2"/>
          <p:cNvSpPr txBox="1"/>
          <p:nvPr/>
        </p:nvSpPr>
        <p:spPr>
          <a:xfrm>
            <a:off x="822960" y="4343400"/>
            <a:ext cx="3657600" cy="274320"/>
          </a:xfrm>
          <a:prstGeom prst="rect">
            <a:avLst/>
          </a:prstGeom>
          <a:noFill/>
          <a:ln/>
        </p:spPr>
        <p:txBody>
          <a:bodyPr wrap="square" lIns="0" tIns="0" rIns="0" bIns="0" rtlCol="0" anchor="t"/>
          <a:lstStyle/>
          <a:p>
            <a:pPr indent="0" marL="0">
              <a:buNone/>
            </a:pPr>
            <a:r>
              <a:rPr lang="en-US" sz="1050" b="1" spc="200" kern="0" dirty="0">
                <a:solidFill>
                  <a:srgbClr val="A78BFA"/>
                </a:solidFill>
                <a:latin typeface="Arial" pitchFamily="34" charset="0"/>
                <a:ea typeface="Arial" pitchFamily="34" charset="-122"/>
                <a:cs typeface="Arial" pitchFamily="34" charset="-120"/>
              </a:rPr>
              <a:t>PRÓXIMOS PASOS</a:t>
            </a:r>
            <a:endParaRPr lang="en-US" sz="1050" dirty="0"/>
          </a:p>
        </p:txBody>
      </p:sp>
      <p:sp>
        <p:nvSpPr>
          <p:cNvPr id="17" name="@co4#3"/>
          <p:cNvSpPr txBox="1"/>
          <p:nvPr/>
        </p:nvSpPr>
        <p:spPr>
          <a:xfrm>
            <a:off x="822960" y="4709160"/>
            <a:ext cx="457200" cy="457200"/>
          </a:xfrm>
          <a:prstGeom prst="rect">
            <a:avLst/>
          </a:prstGeom>
          <a:noFill/>
          <a:ln/>
        </p:spPr>
        <p:txBody>
          <a:bodyPr wrap="square" lIns="0" tIns="0" rIns="0" bIns="0" rtlCol="0" anchor="t"/>
          <a:lstStyle/>
          <a:p>
            <a:pPr indent="0" marL="0">
              <a:buNone/>
            </a:pPr>
            <a:r>
              <a:rPr lang="en-US" sz="2200" b="1" dirty="0">
                <a:solidFill>
                  <a:srgbClr val="6D28D9"/>
                </a:solidFill>
                <a:latin typeface="Arial" pitchFamily="34" charset="0"/>
                <a:ea typeface="Arial" pitchFamily="34" charset="-122"/>
                <a:cs typeface="Arial" pitchFamily="34" charset="-120"/>
              </a:rPr>
              <a:t>1</a:t>
            </a:r>
            <a:endParaRPr lang="en-US" sz="2200" dirty="0"/>
          </a:p>
        </p:txBody>
      </p:sp>
      <p:sp>
        <p:nvSpPr>
          <p:cNvPr id="18" name="@co4#4"/>
          <p:cNvSpPr txBox="1"/>
          <p:nvPr/>
        </p:nvSpPr>
        <p:spPr>
          <a:xfrm>
            <a:off x="1234440" y="4736592"/>
            <a:ext cx="2194560" cy="109728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Validar la web renovada con Black Hawk</a:t>
            </a:r>
            <a:endParaRPr lang="en-US" sz="1250" dirty="0"/>
          </a:p>
        </p:txBody>
      </p:sp>
      <p:sp>
        <p:nvSpPr>
          <p:cNvPr id="19" name="@co4#5"/>
          <p:cNvSpPr txBox="1"/>
          <p:nvPr/>
        </p:nvSpPr>
        <p:spPr>
          <a:xfrm>
            <a:off x="3566160" y="4709160"/>
            <a:ext cx="457200" cy="457200"/>
          </a:xfrm>
          <a:prstGeom prst="rect">
            <a:avLst/>
          </a:prstGeom>
          <a:noFill/>
          <a:ln/>
        </p:spPr>
        <p:txBody>
          <a:bodyPr wrap="square" lIns="0" tIns="0" rIns="0" bIns="0" rtlCol="0" anchor="t"/>
          <a:lstStyle/>
          <a:p>
            <a:pPr indent="0" marL="0">
              <a:buNone/>
            </a:pPr>
            <a:r>
              <a:rPr lang="en-US" sz="2200" b="1" dirty="0">
                <a:solidFill>
                  <a:srgbClr val="6D28D9"/>
                </a:solidFill>
                <a:latin typeface="Arial" pitchFamily="34" charset="0"/>
                <a:ea typeface="Arial" pitchFamily="34" charset="-122"/>
                <a:cs typeface="Arial" pitchFamily="34" charset="-120"/>
              </a:rPr>
              <a:t>2</a:t>
            </a:r>
            <a:endParaRPr lang="en-US" sz="2200" dirty="0"/>
          </a:p>
        </p:txBody>
      </p:sp>
      <p:sp>
        <p:nvSpPr>
          <p:cNvPr id="20" name="@co4#6"/>
          <p:cNvSpPr txBox="1"/>
          <p:nvPr/>
        </p:nvSpPr>
        <p:spPr>
          <a:xfrm>
            <a:off x="3977640" y="4736592"/>
            <a:ext cx="2194560" cy="109728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Publicarla en el dominio oficial y medir con datos reales</a:t>
            </a:r>
            <a:endParaRPr lang="en-US" sz="1250" dirty="0"/>
          </a:p>
        </p:txBody>
      </p:sp>
      <p:sp>
        <p:nvSpPr>
          <p:cNvPr id="21" name="@co4#7"/>
          <p:cNvSpPr txBox="1"/>
          <p:nvPr/>
        </p:nvSpPr>
        <p:spPr>
          <a:xfrm>
            <a:off x="6309360" y="4709160"/>
            <a:ext cx="457200" cy="457200"/>
          </a:xfrm>
          <a:prstGeom prst="rect">
            <a:avLst/>
          </a:prstGeom>
          <a:noFill/>
          <a:ln/>
        </p:spPr>
        <p:txBody>
          <a:bodyPr wrap="square" lIns="0" tIns="0" rIns="0" bIns="0" rtlCol="0" anchor="t"/>
          <a:lstStyle/>
          <a:p>
            <a:pPr indent="0" marL="0">
              <a:buNone/>
            </a:pPr>
            <a:r>
              <a:rPr lang="en-US" sz="2200" b="1" dirty="0">
                <a:solidFill>
                  <a:srgbClr val="6D28D9"/>
                </a:solidFill>
                <a:latin typeface="Arial" pitchFamily="34" charset="0"/>
                <a:ea typeface="Arial" pitchFamily="34" charset="-122"/>
                <a:cs typeface="Arial" pitchFamily="34" charset="-120"/>
              </a:rPr>
              <a:t>3</a:t>
            </a:r>
            <a:endParaRPr lang="en-US" sz="2200" dirty="0"/>
          </a:p>
        </p:txBody>
      </p:sp>
      <p:sp>
        <p:nvSpPr>
          <p:cNvPr id="22" name="@co4#8"/>
          <p:cNvSpPr txBox="1"/>
          <p:nvPr/>
        </p:nvSpPr>
        <p:spPr>
          <a:xfrm>
            <a:off x="6720840" y="4736592"/>
            <a:ext cx="2194560" cy="109728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Implementar el registro de consultas y el directorio</a:t>
            </a:r>
            <a:endParaRPr lang="en-US" sz="1250" dirty="0"/>
          </a:p>
        </p:txBody>
      </p:sp>
      <p:sp>
        <p:nvSpPr>
          <p:cNvPr id="23" name="@co4#9"/>
          <p:cNvSpPr txBox="1"/>
          <p:nvPr/>
        </p:nvSpPr>
        <p:spPr>
          <a:xfrm>
            <a:off x="9052560" y="4709160"/>
            <a:ext cx="457200" cy="457200"/>
          </a:xfrm>
          <a:prstGeom prst="rect">
            <a:avLst/>
          </a:prstGeom>
          <a:noFill/>
          <a:ln/>
        </p:spPr>
        <p:txBody>
          <a:bodyPr wrap="square" lIns="0" tIns="0" rIns="0" bIns="0" rtlCol="0" anchor="t"/>
          <a:lstStyle/>
          <a:p>
            <a:pPr indent="0" marL="0">
              <a:buNone/>
            </a:pPr>
            <a:r>
              <a:rPr lang="en-US" sz="2200" b="1" dirty="0">
                <a:solidFill>
                  <a:srgbClr val="6D28D9"/>
                </a:solidFill>
                <a:latin typeface="Arial" pitchFamily="34" charset="0"/>
                <a:ea typeface="Arial" pitchFamily="34" charset="-122"/>
                <a:cs typeface="Arial" pitchFamily="34" charset="-120"/>
              </a:rPr>
              <a:t>4</a:t>
            </a:r>
            <a:endParaRPr lang="en-US" sz="2200" dirty="0"/>
          </a:p>
        </p:txBody>
      </p:sp>
      <p:sp>
        <p:nvSpPr>
          <p:cNvPr id="24" name="@co4#10"/>
          <p:cNvSpPr txBox="1"/>
          <p:nvPr/>
        </p:nvSpPr>
        <p:spPr>
          <a:xfrm>
            <a:off x="9464040" y="4736592"/>
            <a:ext cx="2194560" cy="109728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Capacitar al gestor de contenidos</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anim calcmode="lin" valueType="num">
                                      <p:cBhvr>
                                        <p:cTn id="6" dur="400" decel="100000" fill="hold"/>
                                        <p:tgtEl>
                                          <p:spTgt spid="6"/>
                                        </p:tgtEl>
                                        <p:attrNameLst>
                                          <p:attrName>ppt_x</p:attrName>
                                        </p:attrNameLst>
                                      </p:cBhvr>
                                      <p:tavLst>
                                        <p:tav tm="0">
                                          <p:val>
                                            <p:strVal val="#ppt_x"/>
                                          </p:val>
                                        </p:tav>
                                        <p:tav tm="100000">
                                          <p:val>
                                            <p:strVal val="#ppt_x"/>
                                          </p:val>
                                        </p:tav>
                                      </p:tavLst>
                                    </p:anim>
                                    <p:anim calcmode="lin" valueType="num">
                                      <p:cBhvr>
                                        <p:cTn id="7" dur="400" decel="100000" fill="hold"/>
                                        <p:tgtEl>
                                          <p:spTgt spid="6"/>
                                        </p:tgtEl>
                                        <p:attrNameLst>
                                          <p:attrName>ppt_y</p:attrName>
                                        </p:attrNameLst>
                                      </p:cBhvr>
                                      <p:tavLst>
                                        <p:tav tm="0">
                                          <p:val>
                                            <p:strVal val="#ppt_y+0.03"/>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anim calcmode="lin" valueType="num">
                                      <p:cBhvr>
                                        <p:cTn id="11" dur="400" decel="100000" fill="hold"/>
                                        <p:tgtEl>
                                          <p:spTgt spid="7"/>
                                        </p:tgtEl>
                                        <p:attrNameLst>
                                          <p:attrName>ppt_x</p:attrName>
                                        </p:attrNameLst>
                                      </p:cBhvr>
                                      <p:tavLst>
                                        <p:tav tm="0">
                                          <p:val>
                                            <p:strVal val="#ppt_x"/>
                                          </p:val>
                                        </p:tav>
                                        <p:tav tm="100000">
                                          <p:val>
                                            <p:strVal val="#ppt_x"/>
                                          </p:val>
                                        </p:tav>
                                      </p:tavLst>
                                    </p:anim>
                                    <p:anim calcmode="lin" valueType="num">
                                      <p:cBhvr>
                                        <p:cTn id="12" dur="400" decel="100000" fill="hold"/>
                                        <p:tgtEl>
                                          <p:spTgt spid="7"/>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anim calcmode="lin" valueType="num">
                                      <p:cBhvr>
                                        <p:cTn id="16" dur="400" decel="100000" fill="hold"/>
                                        <p:tgtEl>
                                          <p:spTgt spid="8"/>
                                        </p:tgtEl>
                                        <p:attrNameLst>
                                          <p:attrName>ppt_x</p:attrName>
                                        </p:attrNameLst>
                                      </p:cBhvr>
                                      <p:tavLst>
                                        <p:tav tm="0">
                                          <p:val>
                                            <p:strVal val="#ppt_x"/>
                                          </p:val>
                                        </p:tav>
                                        <p:tav tm="100000">
                                          <p:val>
                                            <p:strVal val="#ppt_x"/>
                                          </p:val>
                                        </p:tav>
                                      </p:tavLst>
                                    </p:anim>
                                    <p:anim calcmode="lin" valueType="num">
                                      <p:cBhvr>
                                        <p:cTn id="17" dur="400" decel="100000" fill="hold"/>
                                        <p:tgtEl>
                                          <p:spTgt spid="8"/>
                                        </p:tgtEl>
                                        <p:attrNameLst>
                                          <p:attrName>ppt_y</p:attrName>
                                        </p:attrNameLst>
                                      </p:cBhvr>
                                      <p:tavLst>
                                        <p:tav tm="0">
                                          <p:val>
                                            <p:strVal val="#ppt_y+0.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anim calcmode="lin" valueType="num">
                                      <p:cBhvr>
                                        <p:cTn id="23" dur="400" decel="100000" fill="hold"/>
                                        <p:tgtEl>
                                          <p:spTgt spid="9"/>
                                        </p:tgtEl>
                                        <p:attrNameLst>
                                          <p:attrName>ppt_x</p:attrName>
                                        </p:attrNameLst>
                                      </p:cBhvr>
                                      <p:tavLst>
                                        <p:tav tm="0">
                                          <p:val>
                                            <p:strVal val="#ppt_x"/>
                                          </p:val>
                                        </p:tav>
                                        <p:tav tm="100000">
                                          <p:val>
                                            <p:strVal val="#ppt_x"/>
                                          </p:val>
                                        </p:tav>
                                      </p:tavLst>
                                    </p:anim>
                                    <p:anim calcmode="lin" valueType="num">
                                      <p:cBhvr>
                                        <p:cTn id="24" dur="400" decel="100000" fill="hold"/>
                                        <p:tgtEl>
                                          <p:spTgt spid="9"/>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00"/>
                                        <p:tgtEl>
                                          <p:spTgt spid="10"/>
                                        </p:tgtEl>
                                      </p:cBhvr>
                                    </p:animEffect>
                                    <p:anim calcmode="lin" valueType="num">
                                      <p:cBhvr>
                                        <p:cTn id="28" dur="400" decel="100000" fill="hold"/>
                                        <p:tgtEl>
                                          <p:spTgt spid="10"/>
                                        </p:tgtEl>
                                        <p:attrNameLst>
                                          <p:attrName>ppt_x</p:attrName>
                                        </p:attrNameLst>
                                      </p:cBhvr>
                                      <p:tavLst>
                                        <p:tav tm="0">
                                          <p:val>
                                            <p:strVal val="#ppt_x"/>
                                          </p:val>
                                        </p:tav>
                                        <p:tav tm="100000">
                                          <p:val>
                                            <p:strVal val="#ppt_x"/>
                                          </p:val>
                                        </p:tav>
                                      </p:tavLst>
                                    </p:anim>
                                    <p:anim calcmode="lin" valueType="num">
                                      <p:cBhvr>
                                        <p:cTn id="29" dur="400" decel="100000" fill="hold"/>
                                        <p:tgtEl>
                                          <p:spTgt spid="10"/>
                                        </p:tgtEl>
                                        <p:attrNameLst>
                                          <p:attrName>ppt_y</p:attrName>
                                        </p:attrNameLst>
                                      </p:cBhvr>
                                      <p:tavLst>
                                        <p:tav tm="0">
                                          <p:val>
                                            <p:strVal val="#ppt_y+0.03"/>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00"/>
                                        <p:tgtEl>
                                          <p:spTgt spid="11"/>
                                        </p:tgtEl>
                                      </p:cBhvr>
                                    </p:animEffect>
                                    <p:anim calcmode="lin" valueType="num">
                                      <p:cBhvr>
                                        <p:cTn id="33" dur="400" decel="100000" fill="hold"/>
                                        <p:tgtEl>
                                          <p:spTgt spid="11"/>
                                        </p:tgtEl>
                                        <p:attrNameLst>
                                          <p:attrName>ppt_x</p:attrName>
                                        </p:attrNameLst>
                                      </p:cBhvr>
                                      <p:tavLst>
                                        <p:tav tm="0">
                                          <p:val>
                                            <p:strVal val="#ppt_x"/>
                                          </p:val>
                                        </p:tav>
                                        <p:tav tm="100000">
                                          <p:val>
                                            <p:strVal val="#ppt_x"/>
                                          </p:val>
                                        </p:tav>
                                      </p:tavLst>
                                    </p:anim>
                                    <p:anim calcmode="lin" valueType="num">
                                      <p:cBhvr>
                                        <p:cTn id="34" dur="400" decel="100000" fill="hold"/>
                                        <p:tgtEl>
                                          <p:spTgt spid="11"/>
                                        </p:tgtEl>
                                        <p:attrNameLst>
                                          <p:attrName>ppt_y</p:attrName>
                                        </p:attrNameLst>
                                      </p:cBhvr>
                                      <p:tavLst>
                                        <p:tav tm="0">
                                          <p:val>
                                            <p:strVal val="#ppt_y+0.03"/>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00"/>
                                        <p:tgtEl>
                                          <p:spTgt spid="12"/>
                                        </p:tgtEl>
                                      </p:cBhvr>
                                    </p:animEffect>
                                    <p:anim calcmode="lin" valueType="num">
                                      <p:cBhvr>
                                        <p:cTn id="40" dur="400" decel="100000" fill="hold"/>
                                        <p:tgtEl>
                                          <p:spTgt spid="12"/>
                                        </p:tgtEl>
                                        <p:attrNameLst>
                                          <p:attrName>ppt_x</p:attrName>
                                        </p:attrNameLst>
                                      </p:cBhvr>
                                      <p:tavLst>
                                        <p:tav tm="0">
                                          <p:val>
                                            <p:strVal val="#ppt_x"/>
                                          </p:val>
                                        </p:tav>
                                        <p:tav tm="100000">
                                          <p:val>
                                            <p:strVal val="#ppt_x"/>
                                          </p:val>
                                        </p:tav>
                                      </p:tavLst>
                                    </p:anim>
                                    <p:anim calcmode="lin" valueType="num">
                                      <p:cBhvr>
                                        <p:cTn id="41" dur="400" decel="100000" fill="hold"/>
                                        <p:tgtEl>
                                          <p:spTgt spid="12"/>
                                        </p:tgtEl>
                                        <p:attrNameLst>
                                          <p:attrName>ppt_y</p:attrName>
                                        </p:attrNameLst>
                                      </p:cBhvr>
                                      <p:tavLst>
                                        <p:tav tm="0">
                                          <p:val>
                                            <p:strVal val="#ppt_y+0.03"/>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400"/>
                                        <p:tgtEl>
                                          <p:spTgt spid="13"/>
                                        </p:tgtEl>
                                      </p:cBhvr>
                                    </p:animEffect>
                                    <p:anim calcmode="lin" valueType="num">
                                      <p:cBhvr>
                                        <p:cTn id="45" dur="400" decel="100000" fill="hold"/>
                                        <p:tgtEl>
                                          <p:spTgt spid="13"/>
                                        </p:tgtEl>
                                        <p:attrNameLst>
                                          <p:attrName>ppt_x</p:attrName>
                                        </p:attrNameLst>
                                      </p:cBhvr>
                                      <p:tavLst>
                                        <p:tav tm="0">
                                          <p:val>
                                            <p:strVal val="#ppt_x"/>
                                          </p:val>
                                        </p:tav>
                                        <p:tav tm="100000">
                                          <p:val>
                                            <p:strVal val="#ppt_x"/>
                                          </p:val>
                                        </p:tav>
                                      </p:tavLst>
                                    </p:anim>
                                    <p:anim calcmode="lin" valueType="num">
                                      <p:cBhvr>
                                        <p:cTn id="46" dur="400" decel="100000" fill="hold"/>
                                        <p:tgtEl>
                                          <p:spTgt spid="13"/>
                                        </p:tgtEl>
                                        <p:attrNameLst>
                                          <p:attrName>ppt_y</p:attrName>
                                        </p:attrNameLst>
                                      </p:cBhvr>
                                      <p:tavLst>
                                        <p:tav tm="0">
                                          <p:val>
                                            <p:strVal val="#ppt_y+0.03"/>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400"/>
                                        <p:tgtEl>
                                          <p:spTgt spid="14"/>
                                        </p:tgtEl>
                                      </p:cBhvr>
                                    </p:animEffect>
                                    <p:anim calcmode="lin" valueType="num">
                                      <p:cBhvr>
                                        <p:cTn id="50" dur="400" decel="100000" fill="hold"/>
                                        <p:tgtEl>
                                          <p:spTgt spid="14"/>
                                        </p:tgtEl>
                                        <p:attrNameLst>
                                          <p:attrName>ppt_x</p:attrName>
                                        </p:attrNameLst>
                                      </p:cBhvr>
                                      <p:tavLst>
                                        <p:tav tm="0">
                                          <p:val>
                                            <p:strVal val="#ppt_x"/>
                                          </p:val>
                                        </p:tav>
                                        <p:tav tm="100000">
                                          <p:val>
                                            <p:strVal val="#ppt_x"/>
                                          </p:val>
                                        </p:tav>
                                      </p:tavLst>
                                    </p:anim>
                                    <p:anim calcmode="lin" valueType="num">
                                      <p:cBhvr>
                                        <p:cTn id="51" dur="400" decel="100000" fill="hold"/>
                                        <p:tgtEl>
                                          <p:spTgt spid="14"/>
                                        </p:tgtEl>
                                        <p:attrNameLst>
                                          <p:attrName>ppt_y</p:attrName>
                                        </p:attrNameLst>
                                      </p:cBhvr>
                                      <p:tavLst>
                                        <p:tav tm="0">
                                          <p:val>
                                            <p:strVal val="#ppt_y+0.03"/>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00"/>
                                        <p:tgtEl>
                                          <p:spTgt spid="15"/>
                                        </p:tgtEl>
                                      </p:cBhvr>
                                    </p:animEffect>
                                    <p:anim calcmode="lin" valueType="num">
                                      <p:cBhvr>
                                        <p:cTn id="57" dur="400" decel="100000" fill="hold"/>
                                        <p:tgtEl>
                                          <p:spTgt spid="15"/>
                                        </p:tgtEl>
                                        <p:attrNameLst>
                                          <p:attrName>ppt_x</p:attrName>
                                        </p:attrNameLst>
                                      </p:cBhvr>
                                      <p:tavLst>
                                        <p:tav tm="0">
                                          <p:val>
                                            <p:strVal val="#ppt_x"/>
                                          </p:val>
                                        </p:tav>
                                        <p:tav tm="100000">
                                          <p:val>
                                            <p:strVal val="#ppt_x"/>
                                          </p:val>
                                        </p:tav>
                                      </p:tavLst>
                                    </p:anim>
                                    <p:anim calcmode="lin" valueType="num">
                                      <p:cBhvr>
                                        <p:cTn id="58" dur="400" decel="100000" fill="hold"/>
                                        <p:tgtEl>
                                          <p:spTgt spid="15"/>
                                        </p:tgtEl>
                                        <p:attrNameLst>
                                          <p:attrName>ppt_y</p:attrName>
                                        </p:attrNameLst>
                                      </p:cBhvr>
                                      <p:tavLst>
                                        <p:tav tm="0">
                                          <p:val>
                                            <p:strVal val="#ppt_y+0.03"/>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400"/>
                                        <p:tgtEl>
                                          <p:spTgt spid="16"/>
                                        </p:tgtEl>
                                      </p:cBhvr>
                                    </p:animEffect>
                                    <p:anim calcmode="lin" valueType="num">
                                      <p:cBhvr>
                                        <p:cTn id="62" dur="400" decel="100000" fill="hold"/>
                                        <p:tgtEl>
                                          <p:spTgt spid="16"/>
                                        </p:tgtEl>
                                        <p:attrNameLst>
                                          <p:attrName>ppt_x</p:attrName>
                                        </p:attrNameLst>
                                      </p:cBhvr>
                                      <p:tavLst>
                                        <p:tav tm="0">
                                          <p:val>
                                            <p:strVal val="#ppt_x"/>
                                          </p:val>
                                        </p:tav>
                                        <p:tav tm="100000">
                                          <p:val>
                                            <p:strVal val="#ppt_x"/>
                                          </p:val>
                                        </p:tav>
                                      </p:tavLst>
                                    </p:anim>
                                    <p:anim calcmode="lin" valueType="num">
                                      <p:cBhvr>
                                        <p:cTn id="63" dur="400" decel="100000" fill="hold"/>
                                        <p:tgtEl>
                                          <p:spTgt spid="16"/>
                                        </p:tgtEl>
                                        <p:attrNameLst>
                                          <p:attrName>ppt_y</p:attrName>
                                        </p:attrNameLst>
                                      </p:cBhvr>
                                      <p:tavLst>
                                        <p:tav tm="0">
                                          <p:val>
                                            <p:strVal val="#ppt_y+0.03"/>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400"/>
                                        <p:tgtEl>
                                          <p:spTgt spid="17"/>
                                        </p:tgtEl>
                                      </p:cBhvr>
                                    </p:animEffect>
                                    <p:anim calcmode="lin" valueType="num">
                                      <p:cBhvr>
                                        <p:cTn id="67" dur="400" decel="100000" fill="hold"/>
                                        <p:tgtEl>
                                          <p:spTgt spid="17"/>
                                        </p:tgtEl>
                                        <p:attrNameLst>
                                          <p:attrName>ppt_x</p:attrName>
                                        </p:attrNameLst>
                                      </p:cBhvr>
                                      <p:tavLst>
                                        <p:tav tm="0">
                                          <p:val>
                                            <p:strVal val="#ppt_x"/>
                                          </p:val>
                                        </p:tav>
                                        <p:tav tm="100000">
                                          <p:val>
                                            <p:strVal val="#ppt_x"/>
                                          </p:val>
                                        </p:tav>
                                      </p:tavLst>
                                    </p:anim>
                                    <p:anim calcmode="lin" valueType="num">
                                      <p:cBhvr>
                                        <p:cTn id="68" dur="400" decel="100000" fill="hold"/>
                                        <p:tgtEl>
                                          <p:spTgt spid="17"/>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00"/>
                                        <p:tgtEl>
                                          <p:spTgt spid="18"/>
                                        </p:tgtEl>
                                      </p:cBhvr>
                                    </p:animEffect>
                                    <p:anim calcmode="lin" valueType="num">
                                      <p:cBhvr>
                                        <p:cTn id="72" dur="400" decel="100000" fill="hold"/>
                                        <p:tgtEl>
                                          <p:spTgt spid="18"/>
                                        </p:tgtEl>
                                        <p:attrNameLst>
                                          <p:attrName>ppt_x</p:attrName>
                                        </p:attrNameLst>
                                      </p:cBhvr>
                                      <p:tavLst>
                                        <p:tav tm="0">
                                          <p:val>
                                            <p:strVal val="#ppt_x"/>
                                          </p:val>
                                        </p:tav>
                                        <p:tav tm="100000">
                                          <p:val>
                                            <p:strVal val="#ppt_x"/>
                                          </p:val>
                                        </p:tav>
                                      </p:tavLst>
                                    </p:anim>
                                    <p:anim calcmode="lin" valueType="num">
                                      <p:cBhvr>
                                        <p:cTn id="73" dur="400" decel="100000" fill="hold"/>
                                        <p:tgtEl>
                                          <p:spTgt spid="18"/>
                                        </p:tgtEl>
                                        <p:attrNameLst>
                                          <p:attrName>ppt_y</p:attrName>
                                        </p:attrNameLst>
                                      </p:cBhvr>
                                      <p:tavLst>
                                        <p:tav tm="0">
                                          <p:val>
                                            <p:strVal val="#ppt_y+0.03"/>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400"/>
                                        <p:tgtEl>
                                          <p:spTgt spid="19"/>
                                        </p:tgtEl>
                                      </p:cBhvr>
                                    </p:animEffect>
                                    <p:anim calcmode="lin" valueType="num">
                                      <p:cBhvr>
                                        <p:cTn id="77" dur="400" decel="100000" fill="hold"/>
                                        <p:tgtEl>
                                          <p:spTgt spid="19"/>
                                        </p:tgtEl>
                                        <p:attrNameLst>
                                          <p:attrName>ppt_x</p:attrName>
                                        </p:attrNameLst>
                                      </p:cBhvr>
                                      <p:tavLst>
                                        <p:tav tm="0">
                                          <p:val>
                                            <p:strVal val="#ppt_x"/>
                                          </p:val>
                                        </p:tav>
                                        <p:tav tm="100000">
                                          <p:val>
                                            <p:strVal val="#ppt_x"/>
                                          </p:val>
                                        </p:tav>
                                      </p:tavLst>
                                    </p:anim>
                                    <p:anim calcmode="lin" valueType="num">
                                      <p:cBhvr>
                                        <p:cTn id="78" dur="400" decel="100000" fill="hold"/>
                                        <p:tgtEl>
                                          <p:spTgt spid="19"/>
                                        </p:tgtEl>
                                        <p:attrNameLst>
                                          <p:attrName>ppt_y</p:attrName>
                                        </p:attrNameLst>
                                      </p:cBhvr>
                                      <p:tavLst>
                                        <p:tav tm="0">
                                          <p:val>
                                            <p:strVal val="#ppt_y+0.03"/>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400"/>
                                        <p:tgtEl>
                                          <p:spTgt spid="20"/>
                                        </p:tgtEl>
                                      </p:cBhvr>
                                    </p:animEffect>
                                    <p:anim calcmode="lin" valueType="num">
                                      <p:cBhvr>
                                        <p:cTn id="82" dur="400" decel="100000" fill="hold"/>
                                        <p:tgtEl>
                                          <p:spTgt spid="20"/>
                                        </p:tgtEl>
                                        <p:attrNameLst>
                                          <p:attrName>ppt_x</p:attrName>
                                        </p:attrNameLst>
                                      </p:cBhvr>
                                      <p:tavLst>
                                        <p:tav tm="0">
                                          <p:val>
                                            <p:strVal val="#ppt_x"/>
                                          </p:val>
                                        </p:tav>
                                        <p:tav tm="100000">
                                          <p:val>
                                            <p:strVal val="#ppt_x"/>
                                          </p:val>
                                        </p:tav>
                                      </p:tavLst>
                                    </p:anim>
                                    <p:anim calcmode="lin" valueType="num">
                                      <p:cBhvr>
                                        <p:cTn id="83" dur="400" decel="100000" fill="hold"/>
                                        <p:tgtEl>
                                          <p:spTgt spid="20"/>
                                        </p:tgtEl>
                                        <p:attrNameLst>
                                          <p:attrName>ppt_y</p:attrName>
                                        </p:attrNameLst>
                                      </p:cBhvr>
                                      <p:tavLst>
                                        <p:tav tm="0">
                                          <p:val>
                                            <p:strVal val="#ppt_y+0.03"/>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400"/>
                                        <p:tgtEl>
                                          <p:spTgt spid="21"/>
                                        </p:tgtEl>
                                      </p:cBhvr>
                                    </p:animEffect>
                                    <p:anim calcmode="lin" valueType="num">
                                      <p:cBhvr>
                                        <p:cTn id="87" dur="400" decel="100000" fill="hold"/>
                                        <p:tgtEl>
                                          <p:spTgt spid="21"/>
                                        </p:tgtEl>
                                        <p:attrNameLst>
                                          <p:attrName>ppt_x</p:attrName>
                                        </p:attrNameLst>
                                      </p:cBhvr>
                                      <p:tavLst>
                                        <p:tav tm="0">
                                          <p:val>
                                            <p:strVal val="#ppt_x"/>
                                          </p:val>
                                        </p:tav>
                                        <p:tav tm="100000">
                                          <p:val>
                                            <p:strVal val="#ppt_x"/>
                                          </p:val>
                                        </p:tav>
                                      </p:tavLst>
                                    </p:anim>
                                    <p:anim calcmode="lin" valueType="num">
                                      <p:cBhvr>
                                        <p:cTn id="88" dur="400" decel="10000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400"/>
                                        <p:tgtEl>
                                          <p:spTgt spid="22"/>
                                        </p:tgtEl>
                                      </p:cBhvr>
                                    </p:animEffect>
                                    <p:anim calcmode="lin" valueType="num">
                                      <p:cBhvr>
                                        <p:cTn id="92" dur="400" decel="100000" fill="hold"/>
                                        <p:tgtEl>
                                          <p:spTgt spid="22"/>
                                        </p:tgtEl>
                                        <p:attrNameLst>
                                          <p:attrName>ppt_x</p:attrName>
                                        </p:attrNameLst>
                                      </p:cBhvr>
                                      <p:tavLst>
                                        <p:tav tm="0">
                                          <p:val>
                                            <p:strVal val="#ppt_x"/>
                                          </p:val>
                                        </p:tav>
                                        <p:tav tm="100000">
                                          <p:val>
                                            <p:strVal val="#ppt_x"/>
                                          </p:val>
                                        </p:tav>
                                      </p:tavLst>
                                    </p:anim>
                                    <p:anim calcmode="lin" valueType="num">
                                      <p:cBhvr>
                                        <p:cTn id="93" dur="400" decel="100000" fill="hold"/>
                                        <p:tgtEl>
                                          <p:spTgt spid="22"/>
                                        </p:tgtEl>
                                        <p:attrNameLst>
                                          <p:attrName>ppt_y</p:attrName>
                                        </p:attrNameLst>
                                      </p:cBhvr>
                                      <p:tavLst>
                                        <p:tav tm="0">
                                          <p:val>
                                            <p:strVal val="#ppt_y+0.03"/>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400"/>
                                        <p:tgtEl>
                                          <p:spTgt spid="23"/>
                                        </p:tgtEl>
                                      </p:cBhvr>
                                    </p:animEffect>
                                    <p:anim calcmode="lin" valueType="num">
                                      <p:cBhvr>
                                        <p:cTn id="97" dur="400" decel="100000" fill="hold"/>
                                        <p:tgtEl>
                                          <p:spTgt spid="23"/>
                                        </p:tgtEl>
                                        <p:attrNameLst>
                                          <p:attrName>ppt_x</p:attrName>
                                        </p:attrNameLst>
                                      </p:cBhvr>
                                      <p:tavLst>
                                        <p:tav tm="0">
                                          <p:val>
                                            <p:strVal val="#ppt_x"/>
                                          </p:val>
                                        </p:tav>
                                        <p:tav tm="100000">
                                          <p:val>
                                            <p:strVal val="#ppt_x"/>
                                          </p:val>
                                        </p:tav>
                                      </p:tavLst>
                                    </p:anim>
                                    <p:anim calcmode="lin" valueType="num">
                                      <p:cBhvr>
                                        <p:cTn id="98" dur="400" decel="100000" fill="hold"/>
                                        <p:tgtEl>
                                          <p:spTgt spid="23"/>
                                        </p:tgtEl>
                                        <p:attrNameLst>
                                          <p:attrName>ppt_y</p:attrName>
                                        </p:attrNameLst>
                                      </p:cBhvr>
                                      <p:tavLst>
                                        <p:tav tm="0">
                                          <p:val>
                                            <p:strVal val="#ppt_y+0.03"/>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400"/>
                                        <p:tgtEl>
                                          <p:spTgt spid="24"/>
                                        </p:tgtEl>
                                      </p:cBhvr>
                                    </p:animEffect>
                                    <p:anim calcmode="lin" valueType="num">
                                      <p:cBhvr>
                                        <p:cTn id="102" dur="400" decel="100000" fill="hold"/>
                                        <p:tgtEl>
                                          <p:spTgt spid="24"/>
                                        </p:tgtEl>
                                        <p:attrNameLst>
                                          <p:attrName>ppt_x</p:attrName>
                                        </p:attrNameLst>
                                      </p:cBhvr>
                                      <p:tavLst>
                                        <p:tav tm="0">
                                          <p:val>
                                            <p:strVal val="#ppt_x"/>
                                          </p:val>
                                        </p:tav>
                                        <p:tav tm="100000">
                                          <p:val>
                                            <p:strVal val="#ppt_x"/>
                                          </p:val>
                                        </p:tav>
                                      </p:tavLst>
                                    </p:anim>
                                    <p:anim calcmode="lin" valueType="num">
                                      <p:cBhvr>
                                        <p:cTn id="103" dur="400" decel="100000" fill="hold"/>
                                        <p:tgtEl>
                                          <p:spTgt spid="24"/>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B0D"/>
        </a:solidFill>
      </p:bgPr>
    </p:bg>
    <p:spTree>
      <p:nvGrpSpPr>
        <p:cNvPr id="1" name=""/>
        <p:cNvGrpSpPr/>
        <p:nvPr/>
      </p:nvGrpSpPr>
      <p:grpSpPr>
        <a:xfrm>
          <a:off x="0" y="0"/>
          <a:ext cx="0" cy="0"/>
          <a:chOff x="0" y="0"/>
          <a:chExt cx="0" cy="0"/>
        </a:xfrm>
      </p:grpSpPr>
      <p:pic>
        <p:nvPicPr>
          <p:cNvPr id="3" name="Image 0" descr="research/logo-w-t.png">    </p:cNvPr>
          <p:cNvPicPr>
            <a:picLocks noChangeAspect="1"/>
          </p:cNvPicPr>
          <p:nvPr/>
        </p:nvPicPr>
        <p:blipFill>
          <a:blip r:embed="rId1"/>
          <a:stretch>
            <a:fillRect/>
          </a:stretch>
        </p:blipFill>
        <p:spPr>
          <a:xfrm>
            <a:off x="5090008" y="1554480"/>
            <a:ext cx="2011680" cy="1069848"/>
          </a:xfrm>
          <a:prstGeom prst="rect">
            <a:avLst/>
          </a:prstGeom>
        </p:spPr>
      </p:pic>
      <p:sp>
        <p:nvSpPr>
          <p:cNvPr id="4" name="Text 0"/>
          <p:cNvSpPr txBox="1"/>
          <p:nvPr/>
        </p:nvSpPr>
        <p:spPr>
          <a:xfrm>
            <a:off x="0" y="4206240"/>
            <a:ext cx="12191695" cy="457200"/>
          </a:xfrm>
          <a:prstGeom prst="rect">
            <a:avLst/>
          </a:prstGeom>
          <a:noFill/>
          <a:ln/>
        </p:spPr>
        <p:txBody>
          <a:bodyPr wrap="square" lIns="0" tIns="0" rIns="0" bIns="0" rtlCol="0" anchor="t"/>
          <a:lstStyle/>
          <a:p>
            <a:pPr algn="ctr" indent="0" marL="0">
              <a:buNone/>
            </a:pPr>
            <a:r>
              <a:rPr lang="en-US" sz="1600" dirty="0">
                <a:solidFill>
                  <a:srgbClr val="9CA3AF"/>
                </a:solidFill>
                <a:latin typeface="Arial" pitchFamily="34" charset="0"/>
                <a:ea typeface="Arial" pitchFamily="34" charset="-122"/>
                <a:cs typeface="Arial" pitchFamily="34" charset="-120"/>
              </a:rPr>
              <a:t>Web renovada de Black Hawk · Aplicación de RUP</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med" p14:dur="45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SITUACIÓN ORIGINAL</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Análisis del sitio original: qué se observa</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4</a:t>
            </a:r>
            <a:endParaRPr lang="en-US" sz="900" dirty="0"/>
          </a:p>
        </p:txBody>
      </p:sp>
      <p:pic>
        <p:nvPicPr>
          <p:cNvPr id="6" name="!!cap-shop#1" descr="img/v3-A-shop.png">    </p:cNvPr>
          <p:cNvPicPr>
            <a:picLocks noChangeAspect="1"/>
          </p:cNvPicPr>
          <p:nvPr/>
        </p:nvPicPr>
        <p:blipFill>
          <a:blip r:embed="rId1"/>
          <a:stretch>
            <a:fillRect/>
          </a:stretch>
        </p:blipFill>
        <p:spPr>
          <a:xfrm>
            <a:off x="548640" y="1418463"/>
            <a:ext cx="3566160" cy="2228850"/>
          </a:xfrm>
          <a:prstGeom prst="rect">
            <a:avLst/>
          </a:prstGeom>
        </p:spPr>
      </p:pic>
      <p:sp>
        <p:nvSpPr>
          <p:cNvPr id="7" name="!!cap-shop#2"/>
          <p:cNvSpPr/>
          <p:nvPr/>
        </p:nvSpPr>
        <p:spPr>
          <a:xfrm>
            <a:off x="548640" y="1418463"/>
            <a:ext cx="3566160" cy="2228850"/>
          </a:xfrm>
          <a:prstGeom prst="rect">
            <a:avLst/>
          </a:prstGeom>
          <a:ln w="12700">
            <a:solidFill>
              <a:srgbClr val="E3E4E8"/>
            </a:solidFill>
            <a:prstDash val="solid"/>
          </a:ln>
        </p:spPr>
      </p:sp>
      <p:sp>
        <p:nvSpPr>
          <p:cNvPr id="8" name="!!hall1#1"/>
          <p:cNvSpPr/>
          <p:nvPr/>
        </p:nvSpPr>
        <p:spPr>
          <a:xfrm>
            <a:off x="2585923" y="2849499"/>
            <a:ext cx="347472" cy="347472"/>
          </a:xfrm>
          <a:prstGeom prst="ellipse">
            <a:avLst/>
          </a:prstGeom>
          <a:solidFill>
            <a:srgbClr val="6D28D9"/>
          </a:solidFill>
          <a:ln w="19050">
            <a:solidFill>
              <a:srgbClr val="FFFFFF"/>
            </a:solidFill>
            <a:prstDash val="solid"/>
          </a:ln>
        </p:spPr>
      </p:sp>
      <p:sp>
        <p:nvSpPr>
          <p:cNvPr id="9" name="!!hall1#2"/>
          <p:cNvSpPr txBox="1"/>
          <p:nvPr/>
        </p:nvSpPr>
        <p:spPr>
          <a:xfrm>
            <a:off x="2585923" y="2849499"/>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2" name="!!lbl-shop#1"/>
          <p:cNvSpPr txBox="1"/>
          <p:nvPr/>
        </p:nvSpPr>
        <p:spPr>
          <a:xfrm>
            <a:off x="54864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Tienda (/shop/)</a:t>
            </a:r>
            <a:endParaRPr lang="en-US" sz="1000" dirty="0"/>
          </a:p>
        </p:txBody>
      </p:sp>
      <p:pic>
        <p:nvPicPr>
          <p:cNvPr id="13" name="!!cap-ficha#1" descr="img/v3-A-ficha.png">    </p:cNvPr>
          <p:cNvPicPr>
            <a:picLocks noChangeAspect="1"/>
          </p:cNvPicPr>
          <p:nvPr/>
        </p:nvPicPr>
        <p:blipFill>
          <a:blip r:embed="rId2"/>
          <a:stretch>
            <a:fillRect/>
          </a:stretch>
        </p:blipFill>
        <p:spPr>
          <a:xfrm>
            <a:off x="4251960" y="1418463"/>
            <a:ext cx="3566160" cy="2228850"/>
          </a:xfrm>
          <a:prstGeom prst="rect">
            <a:avLst/>
          </a:prstGeom>
        </p:spPr>
      </p:pic>
      <p:sp>
        <p:nvSpPr>
          <p:cNvPr id="14" name="!!cap-ficha#2"/>
          <p:cNvSpPr/>
          <p:nvPr/>
        </p:nvSpPr>
        <p:spPr>
          <a:xfrm>
            <a:off x="4251960" y="1418463"/>
            <a:ext cx="3566160" cy="2228850"/>
          </a:xfrm>
          <a:prstGeom prst="rect">
            <a:avLst/>
          </a:prstGeom>
          <a:ln w="12700">
            <a:solidFill>
              <a:srgbClr val="E3E4E8"/>
            </a:solidFill>
            <a:prstDash val="solid"/>
          </a:ln>
        </p:spPr>
      </p:sp>
      <p:sp>
        <p:nvSpPr>
          <p:cNvPr id="17" name="!!lbl-ficha#1"/>
          <p:cNvSpPr txBox="1"/>
          <p:nvPr/>
        </p:nvSpPr>
        <p:spPr>
          <a:xfrm>
            <a:off x="425196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Ficha BH-SW12XXG</a:t>
            </a:r>
            <a:endParaRPr lang="en-US" sz="1000" dirty="0"/>
          </a:p>
        </p:txBody>
      </p:sp>
      <p:pic>
        <p:nvPicPr>
          <p:cNvPr id="18" name="!!cap-may#1" descr="img/v3-A-mayoristas.png">    </p:cNvPr>
          <p:cNvPicPr>
            <a:picLocks noChangeAspect="1"/>
          </p:cNvPicPr>
          <p:nvPr/>
        </p:nvPicPr>
        <p:blipFill>
          <a:blip r:embed="rId3"/>
          <a:stretch>
            <a:fillRect/>
          </a:stretch>
        </p:blipFill>
        <p:spPr>
          <a:xfrm>
            <a:off x="722376" y="4023360"/>
            <a:ext cx="3218688" cy="2011680"/>
          </a:xfrm>
          <a:prstGeom prst="rect">
            <a:avLst/>
          </a:prstGeom>
        </p:spPr>
      </p:pic>
      <p:sp>
        <p:nvSpPr>
          <p:cNvPr id="19" name="!!cap-may#2"/>
          <p:cNvSpPr/>
          <p:nvPr/>
        </p:nvSpPr>
        <p:spPr>
          <a:xfrm>
            <a:off x="722376" y="4023360"/>
            <a:ext cx="3218688" cy="2011680"/>
          </a:xfrm>
          <a:prstGeom prst="rect">
            <a:avLst/>
          </a:prstGeom>
          <a:ln w="12700">
            <a:solidFill>
              <a:srgbClr val="E3E4E8"/>
            </a:solidFill>
            <a:prstDash val="solid"/>
          </a:ln>
        </p:spPr>
      </p:sp>
      <p:sp>
        <p:nvSpPr>
          <p:cNvPr id="22" name="!!lbl-may#1"/>
          <p:cNvSpPr txBox="1"/>
          <p:nvPr/>
        </p:nvSpPr>
        <p:spPr>
          <a:xfrm>
            <a:off x="54864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«Ventas al mayor»</a:t>
            </a:r>
            <a:endParaRPr lang="en-US" sz="1000" dirty="0"/>
          </a:p>
        </p:txBody>
      </p:sp>
      <p:pic>
        <p:nvPicPr>
          <p:cNvPr id="23" name="!!cap-cat#1" descr="../../evidence/screens/A-cat-sub-d-view.png">    </p:cNvPr>
          <p:cNvPicPr>
            <a:picLocks noChangeAspect="1"/>
          </p:cNvPicPr>
          <p:nvPr/>
        </p:nvPicPr>
        <p:blipFill>
          <a:blip r:embed="rId4"/>
          <a:stretch>
            <a:fillRect/>
          </a:stretch>
        </p:blipFill>
        <p:spPr>
          <a:xfrm>
            <a:off x="4425696" y="4023360"/>
            <a:ext cx="3218688" cy="2011680"/>
          </a:xfrm>
          <a:prstGeom prst="rect">
            <a:avLst/>
          </a:prstGeom>
        </p:spPr>
      </p:pic>
      <p:sp>
        <p:nvSpPr>
          <p:cNvPr id="24" name="!!cap-cat#2"/>
          <p:cNvSpPr/>
          <p:nvPr/>
        </p:nvSpPr>
        <p:spPr>
          <a:xfrm>
            <a:off x="4425696" y="4023360"/>
            <a:ext cx="3218688" cy="2011680"/>
          </a:xfrm>
          <a:prstGeom prst="rect">
            <a:avLst/>
          </a:prstGeom>
          <a:ln w="12700">
            <a:solidFill>
              <a:srgbClr val="E3E4E8"/>
            </a:solidFill>
            <a:prstDash val="solid"/>
          </a:ln>
        </p:spPr>
      </p:sp>
      <p:sp>
        <p:nvSpPr>
          <p:cNvPr id="27" name="!!lbl-cat#1"/>
          <p:cNvSpPr txBox="1"/>
          <p:nvPr/>
        </p:nvSpPr>
        <p:spPr>
          <a:xfrm>
            <a:off x="425196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Categoría Subwoofer</a:t>
            </a:r>
            <a:endParaRPr lang="en-US" sz="1000" dirty="0"/>
          </a:p>
        </p:txBody>
      </p:sp>
      <p:sp>
        <p:nvSpPr>
          <p:cNvPr id="28" name="!!hall1#3"/>
          <p:cNvSpPr/>
          <p:nvPr/>
        </p:nvSpPr>
        <p:spPr>
          <a:xfrm>
            <a:off x="8001000" y="1426464"/>
            <a:ext cx="347472" cy="347472"/>
          </a:xfrm>
          <a:prstGeom prst="ellipse">
            <a:avLst/>
          </a:prstGeom>
          <a:solidFill>
            <a:srgbClr val="6D28D9"/>
          </a:solidFill>
          <a:ln w="19050">
            <a:solidFill>
              <a:srgbClr val="FFFFFF"/>
            </a:solidFill>
            <a:prstDash val="solid"/>
          </a:ln>
        </p:spPr>
      </p:sp>
      <p:sp>
        <p:nvSpPr>
          <p:cNvPr id="29" name="!!hall1#4"/>
          <p:cNvSpPr txBox="1"/>
          <p:nvPr/>
        </p:nvSpPr>
        <p:spPr>
          <a:xfrm>
            <a:off x="8001000" y="14264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0" name="!!hall1#5"/>
          <p:cNvSpPr txBox="1"/>
          <p:nvPr/>
        </p:nvSpPr>
        <p:spPr>
          <a:xfrm>
            <a:off x="8458200" y="1380744"/>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«Productos» abre una tienda sin productos</a:t>
            </a:r>
            <a:endParaRPr lang="en-US" sz="1150" dirty="0"/>
          </a:p>
        </p:txBody>
      </p:sp>
      <p:sp>
        <p:nvSpPr>
          <p:cNvPr id="31" name="!!hall1#6"/>
          <p:cNvSpPr/>
          <p:nvPr/>
        </p:nvSpPr>
        <p:spPr>
          <a:xfrm>
            <a:off x="8458200" y="1874520"/>
            <a:ext cx="1511275" cy="256032"/>
          </a:xfrm>
          <a:prstGeom prst="roundRect">
            <a:avLst>
              <a:gd name="adj" fmla="val 50000"/>
            </a:avLst>
          </a:prstGeom>
          <a:solidFill>
            <a:srgbClr val="EDE4FB"/>
          </a:solidFill>
          <a:ln w="9525">
            <a:solidFill>
              <a:srgbClr val="6D28D9"/>
            </a:solidFill>
            <a:prstDash val="solid"/>
          </a:ln>
        </p:spPr>
      </p:sp>
      <p:sp>
        <p:nvSpPr>
          <p:cNvPr id="32" name="!!hall1#7"/>
          <p:cNvSpPr txBox="1"/>
          <p:nvPr/>
        </p:nvSpPr>
        <p:spPr>
          <a:xfrm>
            <a:off x="8458200" y="1874520"/>
            <a:ext cx="1511275" cy="256032"/>
          </a:xfrm>
          <a:prstGeom prst="rect">
            <a:avLst/>
          </a:prstGeom>
          <a:noFill/>
          <a:ln/>
        </p:spPr>
        <p:txBody>
          <a:bodyPr wrap="square" lIns="0" tIns="0" rIns="0" bIns="0" rtlCol="0" anchor="ctr"/>
          <a:lstStyle/>
          <a:p>
            <a:pPr algn="ctr" indent="0" marL="0">
              <a:buNone/>
            </a:pPr>
            <a:r>
              <a:rPr lang="en-US" sz="850" b="1" dirty="0">
                <a:solidFill>
                  <a:srgbClr val="6D28D9"/>
                </a:solidFill>
                <a:latin typeface="Arial" pitchFamily="34" charset="0"/>
                <a:ea typeface="Arial" pitchFamily="34" charset="-122"/>
                <a:cs typeface="Arial" pitchFamily="34" charset="-120"/>
              </a:rPr>
              <a:t>Recorrido mejorable</a:t>
            </a:r>
            <a:endParaRPr lang="en-US" sz="8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500">
        <p159:morph option="byObject"/>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SITUACIÓN ORIGINAL</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Análisis del sitio original: qué se observa</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4</a:t>
            </a:r>
            <a:endParaRPr lang="en-US" sz="900" dirty="0"/>
          </a:p>
        </p:txBody>
      </p:sp>
      <p:pic>
        <p:nvPicPr>
          <p:cNvPr id="6" name="!!cap-shop#1" descr="img/v3-A-shop.png">    </p:cNvPr>
          <p:cNvPicPr>
            <a:picLocks noChangeAspect="1"/>
          </p:cNvPicPr>
          <p:nvPr/>
        </p:nvPicPr>
        <p:blipFill>
          <a:blip r:embed="rId1"/>
          <a:stretch>
            <a:fillRect/>
          </a:stretch>
        </p:blipFill>
        <p:spPr>
          <a:xfrm>
            <a:off x="548640" y="1418463"/>
            <a:ext cx="3566160" cy="2228850"/>
          </a:xfrm>
          <a:prstGeom prst="rect">
            <a:avLst/>
          </a:prstGeom>
        </p:spPr>
      </p:pic>
      <p:sp>
        <p:nvSpPr>
          <p:cNvPr id="7" name="!!cap-shop#2"/>
          <p:cNvSpPr/>
          <p:nvPr/>
        </p:nvSpPr>
        <p:spPr>
          <a:xfrm>
            <a:off x="548640" y="1418463"/>
            <a:ext cx="3566160" cy="2228850"/>
          </a:xfrm>
          <a:prstGeom prst="rect">
            <a:avLst/>
          </a:prstGeom>
          <a:ln w="12700">
            <a:solidFill>
              <a:srgbClr val="E3E4E8"/>
            </a:solidFill>
            <a:prstDash val="solid"/>
          </a:ln>
        </p:spPr>
      </p:sp>
      <p:sp>
        <p:nvSpPr>
          <p:cNvPr id="8" name="!!hall1#1"/>
          <p:cNvSpPr/>
          <p:nvPr/>
        </p:nvSpPr>
        <p:spPr>
          <a:xfrm>
            <a:off x="2585923" y="2849499"/>
            <a:ext cx="347472" cy="347472"/>
          </a:xfrm>
          <a:prstGeom prst="ellipse">
            <a:avLst/>
          </a:prstGeom>
          <a:solidFill>
            <a:srgbClr val="6D28D9"/>
          </a:solidFill>
          <a:ln w="19050">
            <a:solidFill>
              <a:srgbClr val="FFFFFF"/>
            </a:solidFill>
            <a:prstDash val="solid"/>
          </a:ln>
        </p:spPr>
      </p:sp>
      <p:sp>
        <p:nvSpPr>
          <p:cNvPr id="9" name="!!hall1#2"/>
          <p:cNvSpPr txBox="1"/>
          <p:nvPr/>
        </p:nvSpPr>
        <p:spPr>
          <a:xfrm>
            <a:off x="2585923" y="2849499"/>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2" name="!!lbl-shop#1"/>
          <p:cNvSpPr txBox="1"/>
          <p:nvPr/>
        </p:nvSpPr>
        <p:spPr>
          <a:xfrm>
            <a:off x="54864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Tienda (/shop/)</a:t>
            </a:r>
            <a:endParaRPr lang="en-US" sz="1000" dirty="0"/>
          </a:p>
        </p:txBody>
      </p:sp>
      <p:pic>
        <p:nvPicPr>
          <p:cNvPr id="13" name="!!cap-ficha#1" descr="img/v3-A-ficha.png">    </p:cNvPr>
          <p:cNvPicPr>
            <a:picLocks noChangeAspect="1"/>
          </p:cNvPicPr>
          <p:nvPr/>
        </p:nvPicPr>
        <p:blipFill>
          <a:blip r:embed="rId2"/>
          <a:stretch>
            <a:fillRect/>
          </a:stretch>
        </p:blipFill>
        <p:spPr>
          <a:xfrm>
            <a:off x="4251960" y="1418463"/>
            <a:ext cx="3566160" cy="2228850"/>
          </a:xfrm>
          <a:prstGeom prst="rect">
            <a:avLst/>
          </a:prstGeom>
        </p:spPr>
      </p:pic>
      <p:sp>
        <p:nvSpPr>
          <p:cNvPr id="14" name="!!cap-ficha#2"/>
          <p:cNvSpPr/>
          <p:nvPr/>
        </p:nvSpPr>
        <p:spPr>
          <a:xfrm>
            <a:off x="4251960" y="1418463"/>
            <a:ext cx="3566160" cy="2228850"/>
          </a:xfrm>
          <a:prstGeom prst="rect">
            <a:avLst/>
          </a:prstGeom>
          <a:ln w="12700">
            <a:solidFill>
              <a:srgbClr val="E3E4E8"/>
            </a:solidFill>
            <a:prstDash val="solid"/>
          </a:ln>
        </p:spPr>
      </p:sp>
      <p:sp>
        <p:nvSpPr>
          <p:cNvPr id="15" name="!!hall2#1"/>
          <p:cNvSpPr/>
          <p:nvPr/>
        </p:nvSpPr>
        <p:spPr>
          <a:xfrm>
            <a:off x="6752844" y="3139250"/>
            <a:ext cx="347472" cy="347472"/>
          </a:xfrm>
          <a:prstGeom prst="ellipse">
            <a:avLst/>
          </a:prstGeom>
          <a:solidFill>
            <a:srgbClr val="6D28D9"/>
          </a:solidFill>
          <a:ln w="19050">
            <a:solidFill>
              <a:srgbClr val="FFFFFF"/>
            </a:solidFill>
            <a:prstDash val="solid"/>
          </a:ln>
        </p:spPr>
      </p:sp>
      <p:sp>
        <p:nvSpPr>
          <p:cNvPr id="16" name="!!hall2#2"/>
          <p:cNvSpPr txBox="1"/>
          <p:nvPr/>
        </p:nvSpPr>
        <p:spPr>
          <a:xfrm>
            <a:off x="6752844" y="313925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lbl-ficha#1"/>
          <p:cNvSpPr txBox="1"/>
          <p:nvPr/>
        </p:nvSpPr>
        <p:spPr>
          <a:xfrm>
            <a:off x="425196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Ficha BH-SW12XXG</a:t>
            </a:r>
            <a:endParaRPr lang="en-US" sz="1000" dirty="0"/>
          </a:p>
        </p:txBody>
      </p:sp>
      <p:pic>
        <p:nvPicPr>
          <p:cNvPr id="18" name="!!cap-may#1" descr="img/v3-A-mayoristas.png">    </p:cNvPr>
          <p:cNvPicPr>
            <a:picLocks noChangeAspect="1"/>
          </p:cNvPicPr>
          <p:nvPr/>
        </p:nvPicPr>
        <p:blipFill>
          <a:blip r:embed="rId3"/>
          <a:stretch>
            <a:fillRect/>
          </a:stretch>
        </p:blipFill>
        <p:spPr>
          <a:xfrm>
            <a:off x="722376" y="4023360"/>
            <a:ext cx="3218688" cy="2011680"/>
          </a:xfrm>
          <a:prstGeom prst="rect">
            <a:avLst/>
          </a:prstGeom>
        </p:spPr>
      </p:pic>
      <p:sp>
        <p:nvSpPr>
          <p:cNvPr id="19" name="!!cap-may#2"/>
          <p:cNvSpPr/>
          <p:nvPr/>
        </p:nvSpPr>
        <p:spPr>
          <a:xfrm>
            <a:off x="722376" y="4023360"/>
            <a:ext cx="3218688" cy="2011680"/>
          </a:xfrm>
          <a:prstGeom prst="rect">
            <a:avLst/>
          </a:prstGeom>
          <a:ln w="12700">
            <a:solidFill>
              <a:srgbClr val="E3E4E8"/>
            </a:solidFill>
            <a:prstDash val="solid"/>
          </a:ln>
        </p:spPr>
      </p:sp>
      <p:sp>
        <p:nvSpPr>
          <p:cNvPr id="22" name="!!lbl-may#1"/>
          <p:cNvSpPr txBox="1"/>
          <p:nvPr/>
        </p:nvSpPr>
        <p:spPr>
          <a:xfrm>
            <a:off x="54864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«Ventas al mayor»</a:t>
            </a:r>
            <a:endParaRPr lang="en-US" sz="1000" dirty="0"/>
          </a:p>
        </p:txBody>
      </p:sp>
      <p:pic>
        <p:nvPicPr>
          <p:cNvPr id="23" name="!!cap-cat#1" descr="../../evidence/screens/A-cat-sub-d-view.png">    </p:cNvPr>
          <p:cNvPicPr>
            <a:picLocks noChangeAspect="1"/>
          </p:cNvPicPr>
          <p:nvPr/>
        </p:nvPicPr>
        <p:blipFill>
          <a:blip r:embed="rId4"/>
          <a:stretch>
            <a:fillRect/>
          </a:stretch>
        </p:blipFill>
        <p:spPr>
          <a:xfrm>
            <a:off x="4425696" y="4023360"/>
            <a:ext cx="3218688" cy="2011680"/>
          </a:xfrm>
          <a:prstGeom prst="rect">
            <a:avLst/>
          </a:prstGeom>
        </p:spPr>
      </p:pic>
      <p:sp>
        <p:nvSpPr>
          <p:cNvPr id="24" name="!!cap-cat#2"/>
          <p:cNvSpPr/>
          <p:nvPr/>
        </p:nvSpPr>
        <p:spPr>
          <a:xfrm>
            <a:off x="4425696" y="4023360"/>
            <a:ext cx="3218688" cy="2011680"/>
          </a:xfrm>
          <a:prstGeom prst="rect">
            <a:avLst/>
          </a:prstGeom>
          <a:ln w="12700">
            <a:solidFill>
              <a:srgbClr val="E3E4E8"/>
            </a:solidFill>
            <a:prstDash val="solid"/>
          </a:ln>
        </p:spPr>
      </p:sp>
      <p:sp>
        <p:nvSpPr>
          <p:cNvPr id="27" name="!!lbl-cat#1"/>
          <p:cNvSpPr txBox="1"/>
          <p:nvPr/>
        </p:nvSpPr>
        <p:spPr>
          <a:xfrm>
            <a:off x="425196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Categoría Subwoofer</a:t>
            </a:r>
            <a:endParaRPr lang="en-US" sz="1000" dirty="0"/>
          </a:p>
        </p:txBody>
      </p:sp>
      <p:sp>
        <p:nvSpPr>
          <p:cNvPr id="28" name="!!hall1#3"/>
          <p:cNvSpPr/>
          <p:nvPr/>
        </p:nvSpPr>
        <p:spPr>
          <a:xfrm>
            <a:off x="8001000" y="1426464"/>
            <a:ext cx="347472" cy="347472"/>
          </a:xfrm>
          <a:prstGeom prst="ellipse">
            <a:avLst/>
          </a:prstGeom>
          <a:solidFill>
            <a:srgbClr val="6D28D9"/>
          </a:solidFill>
          <a:ln w="19050">
            <a:solidFill>
              <a:srgbClr val="FFFFFF"/>
            </a:solidFill>
            <a:prstDash val="solid"/>
          </a:ln>
        </p:spPr>
      </p:sp>
      <p:sp>
        <p:nvSpPr>
          <p:cNvPr id="29" name="!!hall1#4"/>
          <p:cNvSpPr txBox="1"/>
          <p:nvPr/>
        </p:nvSpPr>
        <p:spPr>
          <a:xfrm>
            <a:off x="8001000" y="14264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0" name="!!hall1#5"/>
          <p:cNvSpPr txBox="1"/>
          <p:nvPr/>
        </p:nvSpPr>
        <p:spPr>
          <a:xfrm>
            <a:off x="8458200" y="1380744"/>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«Productos» abre una tienda sin productos</a:t>
            </a:r>
            <a:endParaRPr lang="en-US" sz="1150" dirty="0"/>
          </a:p>
        </p:txBody>
      </p:sp>
      <p:sp>
        <p:nvSpPr>
          <p:cNvPr id="31" name="!!hall1#6"/>
          <p:cNvSpPr/>
          <p:nvPr/>
        </p:nvSpPr>
        <p:spPr>
          <a:xfrm>
            <a:off x="8458200" y="1874520"/>
            <a:ext cx="1511275" cy="256032"/>
          </a:xfrm>
          <a:prstGeom prst="roundRect">
            <a:avLst>
              <a:gd name="adj" fmla="val 50000"/>
            </a:avLst>
          </a:prstGeom>
          <a:solidFill>
            <a:srgbClr val="EDE4FB"/>
          </a:solidFill>
          <a:ln w="9525">
            <a:solidFill>
              <a:srgbClr val="6D28D9"/>
            </a:solidFill>
            <a:prstDash val="solid"/>
          </a:ln>
        </p:spPr>
      </p:sp>
      <p:sp>
        <p:nvSpPr>
          <p:cNvPr id="32" name="!!hall1#7"/>
          <p:cNvSpPr txBox="1"/>
          <p:nvPr/>
        </p:nvSpPr>
        <p:spPr>
          <a:xfrm>
            <a:off x="8458200" y="1874520"/>
            <a:ext cx="1511275" cy="256032"/>
          </a:xfrm>
          <a:prstGeom prst="rect">
            <a:avLst/>
          </a:prstGeom>
          <a:noFill/>
          <a:ln/>
        </p:spPr>
        <p:txBody>
          <a:bodyPr wrap="square" lIns="0" tIns="0" rIns="0" bIns="0" rtlCol="0" anchor="ctr"/>
          <a:lstStyle/>
          <a:p>
            <a:pPr algn="ctr" indent="0" marL="0">
              <a:buNone/>
            </a:pPr>
            <a:r>
              <a:rPr lang="en-US" sz="850" b="1" dirty="0">
                <a:solidFill>
                  <a:srgbClr val="6D28D9"/>
                </a:solidFill>
                <a:latin typeface="Arial" pitchFamily="34" charset="0"/>
                <a:ea typeface="Arial" pitchFamily="34" charset="-122"/>
                <a:cs typeface="Arial" pitchFamily="34" charset="-120"/>
              </a:rPr>
              <a:t>Recorrido mejorable</a:t>
            </a:r>
            <a:endParaRPr lang="en-US" sz="850" dirty="0"/>
          </a:p>
        </p:txBody>
      </p:sp>
      <p:sp>
        <p:nvSpPr>
          <p:cNvPr id="33" name="!!hall2#3"/>
          <p:cNvSpPr/>
          <p:nvPr/>
        </p:nvSpPr>
        <p:spPr>
          <a:xfrm>
            <a:off x="8001000" y="2212848"/>
            <a:ext cx="347472" cy="347472"/>
          </a:xfrm>
          <a:prstGeom prst="ellipse">
            <a:avLst/>
          </a:prstGeom>
          <a:solidFill>
            <a:srgbClr val="6D28D9"/>
          </a:solidFill>
          <a:ln w="19050">
            <a:solidFill>
              <a:srgbClr val="FFFFFF"/>
            </a:solidFill>
            <a:prstDash val="solid"/>
          </a:ln>
        </p:spPr>
      </p:sp>
      <p:sp>
        <p:nvSpPr>
          <p:cNvPr id="34" name="!!hall2#4"/>
          <p:cNvSpPr txBox="1"/>
          <p:nvPr/>
        </p:nvSpPr>
        <p:spPr>
          <a:xfrm>
            <a:off x="8001000" y="2212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5" name="!!hall2#5"/>
          <p:cNvSpPr txBox="1"/>
          <p:nvPr/>
        </p:nvSpPr>
        <p:spPr>
          <a:xfrm>
            <a:off x="8458200" y="2167128"/>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La ficha no tiene un paso de consulta</a:t>
            </a:r>
            <a:endParaRPr lang="en-US" sz="1150" dirty="0"/>
          </a:p>
        </p:txBody>
      </p:sp>
      <p:sp>
        <p:nvSpPr>
          <p:cNvPr id="36" name="!!hall2#6"/>
          <p:cNvSpPr/>
          <p:nvPr/>
        </p:nvSpPr>
        <p:spPr>
          <a:xfrm>
            <a:off x="8458200" y="2660904"/>
            <a:ext cx="982751" cy="256032"/>
          </a:xfrm>
          <a:prstGeom prst="roundRect">
            <a:avLst>
              <a:gd name="adj" fmla="val 50000"/>
            </a:avLst>
          </a:prstGeom>
          <a:solidFill>
            <a:srgbClr val="0B0B0D"/>
          </a:solidFill>
          <a:ln w="9525">
            <a:solidFill>
              <a:srgbClr val="0B0B0D"/>
            </a:solidFill>
            <a:prstDash val="solid"/>
          </a:ln>
        </p:spPr>
      </p:sp>
      <p:sp>
        <p:nvSpPr>
          <p:cNvPr id="37" name="!!hall2#7"/>
          <p:cNvSpPr txBox="1"/>
          <p:nvPr/>
        </p:nvSpPr>
        <p:spPr>
          <a:xfrm>
            <a:off x="8458200" y="2660904"/>
            <a:ext cx="98275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Inexistente</a:t>
            </a:r>
            <a:endParaRPr lang="en-US" sz="8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500">
        <p159:morph option="byObject"/>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SITUACIÓN ORIGINAL</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Análisis del sitio original: qué se observa</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4</a:t>
            </a:r>
            <a:endParaRPr lang="en-US" sz="900" dirty="0"/>
          </a:p>
        </p:txBody>
      </p:sp>
      <p:pic>
        <p:nvPicPr>
          <p:cNvPr id="6" name="!!cap-shop#1" descr="img/v3-A-shop.png">    </p:cNvPr>
          <p:cNvPicPr>
            <a:picLocks noChangeAspect="1"/>
          </p:cNvPicPr>
          <p:nvPr/>
        </p:nvPicPr>
        <p:blipFill>
          <a:blip r:embed="rId1"/>
          <a:stretch>
            <a:fillRect/>
          </a:stretch>
        </p:blipFill>
        <p:spPr>
          <a:xfrm>
            <a:off x="548640" y="1418463"/>
            <a:ext cx="3566160" cy="2228850"/>
          </a:xfrm>
          <a:prstGeom prst="rect">
            <a:avLst/>
          </a:prstGeom>
        </p:spPr>
      </p:pic>
      <p:sp>
        <p:nvSpPr>
          <p:cNvPr id="7" name="!!cap-shop#2"/>
          <p:cNvSpPr/>
          <p:nvPr/>
        </p:nvSpPr>
        <p:spPr>
          <a:xfrm>
            <a:off x="548640" y="1418463"/>
            <a:ext cx="3566160" cy="2228850"/>
          </a:xfrm>
          <a:prstGeom prst="rect">
            <a:avLst/>
          </a:prstGeom>
          <a:ln w="12700">
            <a:solidFill>
              <a:srgbClr val="E3E4E8"/>
            </a:solidFill>
            <a:prstDash val="solid"/>
          </a:ln>
        </p:spPr>
      </p:sp>
      <p:sp>
        <p:nvSpPr>
          <p:cNvPr id="8" name="!!hall1#1"/>
          <p:cNvSpPr/>
          <p:nvPr/>
        </p:nvSpPr>
        <p:spPr>
          <a:xfrm>
            <a:off x="2585923" y="2849499"/>
            <a:ext cx="347472" cy="347472"/>
          </a:xfrm>
          <a:prstGeom prst="ellipse">
            <a:avLst/>
          </a:prstGeom>
          <a:solidFill>
            <a:srgbClr val="6D28D9"/>
          </a:solidFill>
          <a:ln w="19050">
            <a:solidFill>
              <a:srgbClr val="FFFFFF"/>
            </a:solidFill>
            <a:prstDash val="solid"/>
          </a:ln>
        </p:spPr>
      </p:sp>
      <p:sp>
        <p:nvSpPr>
          <p:cNvPr id="9" name="!!hall1#2"/>
          <p:cNvSpPr txBox="1"/>
          <p:nvPr/>
        </p:nvSpPr>
        <p:spPr>
          <a:xfrm>
            <a:off x="2585923" y="2849499"/>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hall3#1"/>
          <p:cNvSpPr/>
          <p:nvPr/>
        </p:nvSpPr>
        <p:spPr>
          <a:xfrm>
            <a:off x="731520" y="1389602"/>
            <a:ext cx="347472" cy="347472"/>
          </a:xfrm>
          <a:prstGeom prst="ellipse">
            <a:avLst/>
          </a:prstGeom>
          <a:solidFill>
            <a:srgbClr val="6D28D9"/>
          </a:solidFill>
          <a:ln w="19050">
            <a:solidFill>
              <a:srgbClr val="FFFFFF"/>
            </a:solidFill>
            <a:prstDash val="solid"/>
          </a:ln>
        </p:spPr>
      </p:sp>
      <p:sp>
        <p:nvSpPr>
          <p:cNvPr id="11" name="!!hall3#2"/>
          <p:cNvSpPr txBox="1"/>
          <p:nvPr/>
        </p:nvSpPr>
        <p:spPr>
          <a:xfrm>
            <a:off x="731520" y="138960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2" name="!!lbl-shop#1"/>
          <p:cNvSpPr txBox="1"/>
          <p:nvPr/>
        </p:nvSpPr>
        <p:spPr>
          <a:xfrm>
            <a:off x="54864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Tienda (/shop/)</a:t>
            </a:r>
            <a:endParaRPr lang="en-US" sz="1000" dirty="0"/>
          </a:p>
        </p:txBody>
      </p:sp>
      <p:pic>
        <p:nvPicPr>
          <p:cNvPr id="13" name="!!cap-ficha#1" descr="img/v3-A-ficha.png">    </p:cNvPr>
          <p:cNvPicPr>
            <a:picLocks noChangeAspect="1"/>
          </p:cNvPicPr>
          <p:nvPr/>
        </p:nvPicPr>
        <p:blipFill>
          <a:blip r:embed="rId2"/>
          <a:stretch>
            <a:fillRect/>
          </a:stretch>
        </p:blipFill>
        <p:spPr>
          <a:xfrm>
            <a:off x="4251960" y="1418463"/>
            <a:ext cx="3566160" cy="2228850"/>
          </a:xfrm>
          <a:prstGeom prst="rect">
            <a:avLst/>
          </a:prstGeom>
        </p:spPr>
      </p:pic>
      <p:sp>
        <p:nvSpPr>
          <p:cNvPr id="14" name="!!cap-ficha#2"/>
          <p:cNvSpPr/>
          <p:nvPr/>
        </p:nvSpPr>
        <p:spPr>
          <a:xfrm>
            <a:off x="4251960" y="1418463"/>
            <a:ext cx="3566160" cy="2228850"/>
          </a:xfrm>
          <a:prstGeom prst="rect">
            <a:avLst/>
          </a:prstGeom>
          <a:ln w="12700">
            <a:solidFill>
              <a:srgbClr val="E3E4E8"/>
            </a:solidFill>
            <a:prstDash val="solid"/>
          </a:ln>
        </p:spPr>
      </p:sp>
      <p:sp>
        <p:nvSpPr>
          <p:cNvPr id="15" name="!!hall2#1"/>
          <p:cNvSpPr/>
          <p:nvPr/>
        </p:nvSpPr>
        <p:spPr>
          <a:xfrm>
            <a:off x="6752844" y="3139250"/>
            <a:ext cx="347472" cy="347472"/>
          </a:xfrm>
          <a:prstGeom prst="ellipse">
            <a:avLst/>
          </a:prstGeom>
          <a:solidFill>
            <a:srgbClr val="6D28D9"/>
          </a:solidFill>
          <a:ln w="19050">
            <a:solidFill>
              <a:srgbClr val="FFFFFF"/>
            </a:solidFill>
            <a:prstDash val="solid"/>
          </a:ln>
        </p:spPr>
      </p:sp>
      <p:sp>
        <p:nvSpPr>
          <p:cNvPr id="16" name="!!hall2#2"/>
          <p:cNvSpPr txBox="1"/>
          <p:nvPr/>
        </p:nvSpPr>
        <p:spPr>
          <a:xfrm>
            <a:off x="6752844" y="313925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lbl-ficha#1"/>
          <p:cNvSpPr txBox="1"/>
          <p:nvPr/>
        </p:nvSpPr>
        <p:spPr>
          <a:xfrm>
            <a:off x="425196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Ficha BH-SW12XXG</a:t>
            </a:r>
            <a:endParaRPr lang="en-US" sz="1000" dirty="0"/>
          </a:p>
        </p:txBody>
      </p:sp>
      <p:pic>
        <p:nvPicPr>
          <p:cNvPr id="18" name="!!cap-may#1" descr="img/v3-A-mayoristas.png">    </p:cNvPr>
          <p:cNvPicPr>
            <a:picLocks noChangeAspect="1"/>
          </p:cNvPicPr>
          <p:nvPr/>
        </p:nvPicPr>
        <p:blipFill>
          <a:blip r:embed="rId3"/>
          <a:stretch>
            <a:fillRect/>
          </a:stretch>
        </p:blipFill>
        <p:spPr>
          <a:xfrm>
            <a:off x="722376" y="4023360"/>
            <a:ext cx="3218688" cy="2011680"/>
          </a:xfrm>
          <a:prstGeom prst="rect">
            <a:avLst/>
          </a:prstGeom>
        </p:spPr>
      </p:pic>
      <p:sp>
        <p:nvSpPr>
          <p:cNvPr id="19" name="!!cap-may#2"/>
          <p:cNvSpPr/>
          <p:nvPr/>
        </p:nvSpPr>
        <p:spPr>
          <a:xfrm>
            <a:off x="722376" y="4023360"/>
            <a:ext cx="3218688" cy="2011680"/>
          </a:xfrm>
          <a:prstGeom prst="rect">
            <a:avLst/>
          </a:prstGeom>
          <a:ln w="12700">
            <a:solidFill>
              <a:srgbClr val="E3E4E8"/>
            </a:solidFill>
            <a:prstDash val="solid"/>
          </a:ln>
        </p:spPr>
      </p:sp>
      <p:sp>
        <p:nvSpPr>
          <p:cNvPr id="22" name="!!lbl-may#1"/>
          <p:cNvSpPr txBox="1"/>
          <p:nvPr/>
        </p:nvSpPr>
        <p:spPr>
          <a:xfrm>
            <a:off x="54864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«Ventas al mayor»</a:t>
            </a:r>
            <a:endParaRPr lang="en-US" sz="1000" dirty="0"/>
          </a:p>
        </p:txBody>
      </p:sp>
      <p:pic>
        <p:nvPicPr>
          <p:cNvPr id="23" name="!!cap-cat#1" descr="../../evidence/screens/A-cat-sub-d-view.png">    </p:cNvPr>
          <p:cNvPicPr>
            <a:picLocks noChangeAspect="1"/>
          </p:cNvPicPr>
          <p:nvPr/>
        </p:nvPicPr>
        <p:blipFill>
          <a:blip r:embed="rId4"/>
          <a:stretch>
            <a:fillRect/>
          </a:stretch>
        </p:blipFill>
        <p:spPr>
          <a:xfrm>
            <a:off x="4425696" y="4023360"/>
            <a:ext cx="3218688" cy="2011680"/>
          </a:xfrm>
          <a:prstGeom prst="rect">
            <a:avLst/>
          </a:prstGeom>
        </p:spPr>
      </p:pic>
      <p:sp>
        <p:nvSpPr>
          <p:cNvPr id="24" name="!!cap-cat#2"/>
          <p:cNvSpPr/>
          <p:nvPr/>
        </p:nvSpPr>
        <p:spPr>
          <a:xfrm>
            <a:off x="4425696" y="4023360"/>
            <a:ext cx="3218688" cy="2011680"/>
          </a:xfrm>
          <a:prstGeom prst="rect">
            <a:avLst/>
          </a:prstGeom>
          <a:ln w="12700">
            <a:solidFill>
              <a:srgbClr val="E3E4E8"/>
            </a:solidFill>
            <a:prstDash val="solid"/>
          </a:ln>
        </p:spPr>
      </p:sp>
      <p:sp>
        <p:nvSpPr>
          <p:cNvPr id="27" name="!!lbl-cat#1"/>
          <p:cNvSpPr txBox="1"/>
          <p:nvPr/>
        </p:nvSpPr>
        <p:spPr>
          <a:xfrm>
            <a:off x="425196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Categoría Subwoofer</a:t>
            </a:r>
            <a:endParaRPr lang="en-US" sz="1000" dirty="0"/>
          </a:p>
        </p:txBody>
      </p:sp>
      <p:sp>
        <p:nvSpPr>
          <p:cNvPr id="28" name="!!hall1#3"/>
          <p:cNvSpPr/>
          <p:nvPr/>
        </p:nvSpPr>
        <p:spPr>
          <a:xfrm>
            <a:off x="8001000" y="1426464"/>
            <a:ext cx="347472" cy="347472"/>
          </a:xfrm>
          <a:prstGeom prst="ellipse">
            <a:avLst/>
          </a:prstGeom>
          <a:solidFill>
            <a:srgbClr val="6D28D9"/>
          </a:solidFill>
          <a:ln w="19050">
            <a:solidFill>
              <a:srgbClr val="FFFFFF"/>
            </a:solidFill>
            <a:prstDash val="solid"/>
          </a:ln>
        </p:spPr>
      </p:sp>
      <p:sp>
        <p:nvSpPr>
          <p:cNvPr id="29" name="!!hall1#4"/>
          <p:cNvSpPr txBox="1"/>
          <p:nvPr/>
        </p:nvSpPr>
        <p:spPr>
          <a:xfrm>
            <a:off x="8001000" y="14264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0" name="!!hall1#5"/>
          <p:cNvSpPr txBox="1"/>
          <p:nvPr/>
        </p:nvSpPr>
        <p:spPr>
          <a:xfrm>
            <a:off x="8458200" y="1380744"/>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«Productos» abre una tienda sin productos</a:t>
            </a:r>
            <a:endParaRPr lang="en-US" sz="1150" dirty="0"/>
          </a:p>
        </p:txBody>
      </p:sp>
      <p:sp>
        <p:nvSpPr>
          <p:cNvPr id="31" name="!!hall1#6"/>
          <p:cNvSpPr/>
          <p:nvPr/>
        </p:nvSpPr>
        <p:spPr>
          <a:xfrm>
            <a:off x="8458200" y="1874520"/>
            <a:ext cx="1511275" cy="256032"/>
          </a:xfrm>
          <a:prstGeom prst="roundRect">
            <a:avLst>
              <a:gd name="adj" fmla="val 50000"/>
            </a:avLst>
          </a:prstGeom>
          <a:solidFill>
            <a:srgbClr val="EDE4FB"/>
          </a:solidFill>
          <a:ln w="9525">
            <a:solidFill>
              <a:srgbClr val="6D28D9"/>
            </a:solidFill>
            <a:prstDash val="solid"/>
          </a:ln>
        </p:spPr>
      </p:sp>
      <p:sp>
        <p:nvSpPr>
          <p:cNvPr id="32" name="!!hall1#7"/>
          <p:cNvSpPr txBox="1"/>
          <p:nvPr/>
        </p:nvSpPr>
        <p:spPr>
          <a:xfrm>
            <a:off x="8458200" y="1874520"/>
            <a:ext cx="1511275" cy="256032"/>
          </a:xfrm>
          <a:prstGeom prst="rect">
            <a:avLst/>
          </a:prstGeom>
          <a:noFill/>
          <a:ln/>
        </p:spPr>
        <p:txBody>
          <a:bodyPr wrap="square" lIns="0" tIns="0" rIns="0" bIns="0" rtlCol="0" anchor="ctr"/>
          <a:lstStyle/>
          <a:p>
            <a:pPr algn="ctr" indent="0" marL="0">
              <a:buNone/>
            </a:pPr>
            <a:r>
              <a:rPr lang="en-US" sz="850" b="1" dirty="0">
                <a:solidFill>
                  <a:srgbClr val="6D28D9"/>
                </a:solidFill>
                <a:latin typeface="Arial" pitchFamily="34" charset="0"/>
                <a:ea typeface="Arial" pitchFamily="34" charset="-122"/>
                <a:cs typeface="Arial" pitchFamily="34" charset="-120"/>
              </a:rPr>
              <a:t>Recorrido mejorable</a:t>
            </a:r>
            <a:endParaRPr lang="en-US" sz="850" dirty="0"/>
          </a:p>
        </p:txBody>
      </p:sp>
      <p:sp>
        <p:nvSpPr>
          <p:cNvPr id="33" name="!!hall2#3"/>
          <p:cNvSpPr/>
          <p:nvPr/>
        </p:nvSpPr>
        <p:spPr>
          <a:xfrm>
            <a:off x="8001000" y="2212848"/>
            <a:ext cx="347472" cy="347472"/>
          </a:xfrm>
          <a:prstGeom prst="ellipse">
            <a:avLst/>
          </a:prstGeom>
          <a:solidFill>
            <a:srgbClr val="6D28D9"/>
          </a:solidFill>
          <a:ln w="19050">
            <a:solidFill>
              <a:srgbClr val="FFFFFF"/>
            </a:solidFill>
            <a:prstDash val="solid"/>
          </a:ln>
        </p:spPr>
      </p:sp>
      <p:sp>
        <p:nvSpPr>
          <p:cNvPr id="34" name="!!hall2#4"/>
          <p:cNvSpPr txBox="1"/>
          <p:nvPr/>
        </p:nvSpPr>
        <p:spPr>
          <a:xfrm>
            <a:off x="8001000" y="2212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5" name="!!hall2#5"/>
          <p:cNvSpPr txBox="1"/>
          <p:nvPr/>
        </p:nvSpPr>
        <p:spPr>
          <a:xfrm>
            <a:off x="8458200" y="2167128"/>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La ficha no tiene un paso de consulta</a:t>
            </a:r>
            <a:endParaRPr lang="en-US" sz="1150" dirty="0"/>
          </a:p>
        </p:txBody>
      </p:sp>
      <p:sp>
        <p:nvSpPr>
          <p:cNvPr id="36" name="!!hall2#6"/>
          <p:cNvSpPr/>
          <p:nvPr/>
        </p:nvSpPr>
        <p:spPr>
          <a:xfrm>
            <a:off x="8458200" y="2660904"/>
            <a:ext cx="982751" cy="256032"/>
          </a:xfrm>
          <a:prstGeom prst="roundRect">
            <a:avLst>
              <a:gd name="adj" fmla="val 50000"/>
            </a:avLst>
          </a:prstGeom>
          <a:solidFill>
            <a:srgbClr val="0B0B0D"/>
          </a:solidFill>
          <a:ln w="9525">
            <a:solidFill>
              <a:srgbClr val="0B0B0D"/>
            </a:solidFill>
            <a:prstDash val="solid"/>
          </a:ln>
        </p:spPr>
      </p:sp>
      <p:sp>
        <p:nvSpPr>
          <p:cNvPr id="37" name="!!hall2#7"/>
          <p:cNvSpPr txBox="1"/>
          <p:nvPr/>
        </p:nvSpPr>
        <p:spPr>
          <a:xfrm>
            <a:off x="8458200" y="2660904"/>
            <a:ext cx="98275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Inexistente</a:t>
            </a:r>
            <a:endParaRPr lang="en-US" sz="850" dirty="0"/>
          </a:p>
        </p:txBody>
      </p:sp>
      <p:sp>
        <p:nvSpPr>
          <p:cNvPr id="38" name="!!hall3#3"/>
          <p:cNvSpPr/>
          <p:nvPr/>
        </p:nvSpPr>
        <p:spPr>
          <a:xfrm>
            <a:off x="8001000" y="2999232"/>
            <a:ext cx="347472" cy="347472"/>
          </a:xfrm>
          <a:prstGeom prst="ellipse">
            <a:avLst/>
          </a:prstGeom>
          <a:solidFill>
            <a:srgbClr val="6D28D9"/>
          </a:solidFill>
          <a:ln w="19050">
            <a:solidFill>
              <a:srgbClr val="FFFFFF"/>
            </a:solidFill>
            <a:prstDash val="solid"/>
          </a:ln>
        </p:spPr>
      </p:sp>
      <p:sp>
        <p:nvSpPr>
          <p:cNvPr id="39" name="!!hall3#4"/>
          <p:cNvSpPr txBox="1"/>
          <p:nvPr/>
        </p:nvSpPr>
        <p:spPr>
          <a:xfrm>
            <a:off x="8001000" y="29992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40" name="!!hall3#5"/>
          <p:cNvSpPr txBox="1"/>
          <p:nvPr/>
        </p:nvSpPr>
        <p:spPr>
          <a:xfrm>
            <a:off x="8458200" y="2953512"/>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El menú no lleva a contacto ni a dónde comprar</a:t>
            </a:r>
            <a:endParaRPr lang="en-US" sz="1150" dirty="0"/>
          </a:p>
        </p:txBody>
      </p:sp>
      <p:sp>
        <p:nvSpPr>
          <p:cNvPr id="41" name="!!hall3#6"/>
          <p:cNvSpPr/>
          <p:nvPr/>
        </p:nvSpPr>
        <p:spPr>
          <a:xfrm>
            <a:off x="8458200" y="3447288"/>
            <a:ext cx="1577340" cy="256032"/>
          </a:xfrm>
          <a:prstGeom prst="roundRect">
            <a:avLst>
              <a:gd name="adj" fmla="val 50000"/>
            </a:avLst>
          </a:prstGeom>
          <a:solidFill>
            <a:srgbClr val="FFFFFF"/>
          </a:solidFill>
          <a:ln w="9525">
            <a:solidFill>
              <a:srgbClr val="0B0B0D"/>
            </a:solidFill>
            <a:prstDash val="solid"/>
          </a:ln>
        </p:spPr>
      </p:sp>
      <p:sp>
        <p:nvSpPr>
          <p:cNvPr id="42" name="!!hall3#7"/>
          <p:cNvSpPr txBox="1"/>
          <p:nvPr/>
        </p:nvSpPr>
        <p:spPr>
          <a:xfrm>
            <a:off x="8458200" y="3447288"/>
            <a:ext cx="1577340"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Existe, poco visible</a:t>
            </a:r>
            <a:endParaRPr lang="en-US" sz="8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500">
        <p159:morph option="byObject"/>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SITUACIÓN ORIGINAL</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Análisis del sitio original: qué se observa</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4</a:t>
            </a:r>
            <a:endParaRPr lang="en-US" sz="900" dirty="0"/>
          </a:p>
        </p:txBody>
      </p:sp>
      <p:pic>
        <p:nvPicPr>
          <p:cNvPr id="6" name="!!cap-shop#1" descr="img/v3-A-shop.png">    </p:cNvPr>
          <p:cNvPicPr>
            <a:picLocks noChangeAspect="1"/>
          </p:cNvPicPr>
          <p:nvPr/>
        </p:nvPicPr>
        <p:blipFill>
          <a:blip r:embed="rId1"/>
          <a:stretch>
            <a:fillRect/>
          </a:stretch>
        </p:blipFill>
        <p:spPr>
          <a:xfrm>
            <a:off x="548640" y="1418463"/>
            <a:ext cx="3566160" cy="2228850"/>
          </a:xfrm>
          <a:prstGeom prst="rect">
            <a:avLst/>
          </a:prstGeom>
        </p:spPr>
      </p:pic>
      <p:sp>
        <p:nvSpPr>
          <p:cNvPr id="7" name="!!cap-shop#2"/>
          <p:cNvSpPr/>
          <p:nvPr/>
        </p:nvSpPr>
        <p:spPr>
          <a:xfrm>
            <a:off x="548640" y="1418463"/>
            <a:ext cx="3566160" cy="2228850"/>
          </a:xfrm>
          <a:prstGeom prst="rect">
            <a:avLst/>
          </a:prstGeom>
          <a:ln w="12700">
            <a:solidFill>
              <a:srgbClr val="E3E4E8"/>
            </a:solidFill>
            <a:prstDash val="solid"/>
          </a:ln>
        </p:spPr>
      </p:sp>
      <p:sp>
        <p:nvSpPr>
          <p:cNvPr id="8" name="!!hall1#1"/>
          <p:cNvSpPr/>
          <p:nvPr/>
        </p:nvSpPr>
        <p:spPr>
          <a:xfrm>
            <a:off x="2585923" y="2849499"/>
            <a:ext cx="347472" cy="347472"/>
          </a:xfrm>
          <a:prstGeom prst="ellipse">
            <a:avLst/>
          </a:prstGeom>
          <a:solidFill>
            <a:srgbClr val="6D28D9"/>
          </a:solidFill>
          <a:ln w="19050">
            <a:solidFill>
              <a:srgbClr val="FFFFFF"/>
            </a:solidFill>
            <a:prstDash val="solid"/>
          </a:ln>
        </p:spPr>
      </p:sp>
      <p:sp>
        <p:nvSpPr>
          <p:cNvPr id="9" name="!!hall1#2"/>
          <p:cNvSpPr txBox="1"/>
          <p:nvPr/>
        </p:nvSpPr>
        <p:spPr>
          <a:xfrm>
            <a:off x="2585923" y="2849499"/>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hall3#1"/>
          <p:cNvSpPr/>
          <p:nvPr/>
        </p:nvSpPr>
        <p:spPr>
          <a:xfrm>
            <a:off x="731520" y="1389602"/>
            <a:ext cx="347472" cy="347472"/>
          </a:xfrm>
          <a:prstGeom prst="ellipse">
            <a:avLst/>
          </a:prstGeom>
          <a:solidFill>
            <a:srgbClr val="6D28D9"/>
          </a:solidFill>
          <a:ln w="19050">
            <a:solidFill>
              <a:srgbClr val="FFFFFF"/>
            </a:solidFill>
            <a:prstDash val="solid"/>
          </a:ln>
        </p:spPr>
      </p:sp>
      <p:sp>
        <p:nvSpPr>
          <p:cNvPr id="11" name="!!hall3#2"/>
          <p:cNvSpPr txBox="1"/>
          <p:nvPr/>
        </p:nvSpPr>
        <p:spPr>
          <a:xfrm>
            <a:off x="731520" y="138960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2" name="!!lbl-shop#1"/>
          <p:cNvSpPr txBox="1"/>
          <p:nvPr/>
        </p:nvSpPr>
        <p:spPr>
          <a:xfrm>
            <a:off x="54864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Tienda (/shop/)</a:t>
            </a:r>
            <a:endParaRPr lang="en-US" sz="1000" dirty="0"/>
          </a:p>
        </p:txBody>
      </p:sp>
      <p:pic>
        <p:nvPicPr>
          <p:cNvPr id="13" name="!!cap-ficha#1" descr="img/v3-A-ficha.png">    </p:cNvPr>
          <p:cNvPicPr>
            <a:picLocks noChangeAspect="1"/>
          </p:cNvPicPr>
          <p:nvPr/>
        </p:nvPicPr>
        <p:blipFill>
          <a:blip r:embed="rId2"/>
          <a:stretch>
            <a:fillRect/>
          </a:stretch>
        </p:blipFill>
        <p:spPr>
          <a:xfrm>
            <a:off x="4251960" y="1418463"/>
            <a:ext cx="3566160" cy="2228850"/>
          </a:xfrm>
          <a:prstGeom prst="rect">
            <a:avLst/>
          </a:prstGeom>
        </p:spPr>
      </p:pic>
      <p:sp>
        <p:nvSpPr>
          <p:cNvPr id="14" name="!!cap-ficha#2"/>
          <p:cNvSpPr/>
          <p:nvPr/>
        </p:nvSpPr>
        <p:spPr>
          <a:xfrm>
            <a:off x="4251960" y="1418463"/>
            <a:ext cx="3566160" cy="2228850"/>
          </a:xfrm>
          <a:prstGeom prst="rect">
            <a:avLst/>
          </a:prstGeom>
          <a:ln w="12700">
            <a:solidFill>
              <a:srgbClr val="E3E4E8"/>
            </a:solidFill>
            <a:prstDash val="solid"/>
          </a:ln>
        </p:spPr>
      </p:sp>
      <p:sp>
        <p:nvSpPr>
          <p:cNvPr id="15" name="!!hall2#1"/>
          <p:cNvSpPr/>
          <p:nvPr/>
        </p:nvSpPr>
        <p:spPr>
          <a:xfrm>
            <a:off x="6752844" y="3139250"/>
            <a:ext cx="347472" cy="347472"/>
          </a:xfrm>
          <a:prstGeom prst="ellipse">
            <a:avLst/>
          </a:prstGeom>
          <a:solidFill>
            <a:srgbClr val="6D28D9"/>
          </a:solidFill>
          <a:ln w="19050">
            <a:solidFill>
              <a:srgbClr val="FFFFFF"/>
            </a:solidFill>
            <a:prstDash val="solid"/>
          </a:ln>
        </p:spPr>
      </p:sp>
      <p:sp>
        <p:nvSpPr>
          <p:cNvPr id="16" name="!!hall2#2"/>
          <p:cNvSpPr txBox="1"/>
          <p:nvPr/>
        </p:nvSpPr>
        <p:spPr>
          <a:xfrm>
            <a:off x="6752844" y="313925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lbl-ficha#1"/>
          <p:cNvSpPr txBox="1"/>
          <p:nvPr/>
        </p:nvSpPr>
        <p:spPr>
          <a:xfrm>
            <a:off x="425196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Ficha BH-SW12XXG</a:t>
            </a:r>
            <a:endParaRPr lang="en-US" sz="1000" dirty="0"/>
          </a:p>
        </p:txBody>
      </p:sp>
      <p:pic>
        <p:nvPicPr>
          <p:cNvPr id="18" name="!!cap-may#1" descr="img/v3-A-mayoristas.png">    </p:cNvPr>
          <p:cNvPicPr>
            <a:picLocks noChangeAspect="1"/>
          </p:cNvPicPr>
          <p:nvPr/>
        </p:nvPicPr>
        <p:blipFill>
          <a:blip r:embed="rId3"/>
          <a:stretch>
            <a:fillRect/>
          </a:stretch>
        </p:blipFill>
        <p:spPr>
          <a:xfrm>
            <a:off x="722376" y="4023360"/>
            <a:ext cx="3218688" cy="2011680"/>
          </a:xfrm>
          <a:prstGeom prst="rect">
            <a:avLst/>
          </a:prstGeom>
        </p:spPr>
      </p:pic>
      <p:sp>
        <p:nvSpPr>
          <p:cNvPr id="19" name="!!cap-may#2"/>
          <p:cNvSpPr/>
          <p:nvPr/>
        </p:nvSpPr>
        <p:spPr>
          <a:xfrm>
            <a:off x="722376" y="4023360"/>
            <a:ext cx="3218688" cy="2011680"/>
          </a:xfrm>
          <a:prstGeom prst="rect">
            <a:avLst/>
          </a:prstGeom>
          <a:ln w="12700">
            <a:solidFill>
              <a:srgbClr val="E3E4E8"/>
            </a:solidFill>
            <a:prstDash val="solid"/>
          </a:ln>
        </p:spPr>
      </p:sp>
      <p:sp>
        <p:nvSpPr>
          <p:cNvPr id="20" name="!!hall4#1"/>
          <p:cNvSpPr/>
          <p:nvPr/>
        </p:nvSpPr>
        <p:spPr>
          <a:xfrm>
            <a:off x="2157984" y="4654296"/>
            <a:ext cx="347472" cy="347472"/>
          </a:xfrm>
          <a:prstGeom prst="ellipse">
            <a:avLst/>
          </a:prstGeom>
          <a:solidFill>
            <a:srgbClr val="6D28D9"/>
          </a:solidFill>
          <a:ln w="19050">
            <a:solidFill>
              <a:srgbClr val="FFFFFF"/>
            </a:solidFill>
            <a:prstDash val="solid"/>
          </a:ln>
        </p:spPr>
      </p:sp>
      <p:sp>
        <p:nvSpPr>
          <p:cNvPr id="21" name="!!hall4#2"/>
          <p:cNvSpPr txBox="1"/>
          <p:nvPr/>
        </p:nvSpPr>
        <p:spPr>
          <a:xfrm>
            <a:off x="2157984" y="46542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2" name="!!lbl-may#1"/>
          <p:cNvSpPr txBox="1"/>
          <p:nvPr/>
        </p:nvSpPr>
        <p:spPr>
          <a:xfrm>
            <a:off x="54864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«Ventas al mayor»</a:t>
            </a:r>
            <a:endParaRPr lang="en-US" sz="1000" dirty="0"/>
          </a:p>
        </p:txBody>
      </p:sp>
      <p:pic>
        <p:nvPicPr>
          <p:cNvPr id="23" name="!!cap-cat#1" descr="../../evidence/screens/A-cat-sub-d-view.png">    </p:cNvPr>
          <p:cNvPicPr>
            <a:picLocks noChangeAspect="1"/>
          </p:cNvPicPr>
          <p:nvPr/>
        </p:nvPicPr>
        <p:blipFill>
          <a:blip r:embed="rId4"/>
          <a:stretch>
            <a:fillRect/>
          </a:stretch>
        </p:blipFill>
        <p:spPr>
          <a:xfrm>
            <a:off x="4425696" y="4023360"/>
            <a:ext cx="3218688" cy="2011680"/>
          </a:xfrm>
          <a:prstGeom prst="rect">
            <a:avLst/>
          </a:prstGeom>
        </p:spPr>
      </p:pic>
      <p:sp>
        <p:nvSpPr>
          <p:cNvPr id="24" name="!!cap-cat#2"/>
          <p:cNvSpPr/>
          <p:nvPr/>
        </p:nvSpPr>
        <p:spPr>
          <a:xfrm>
            <a:off x="4425696" y="4023360"/>
            <a:ext cx="3218688" cy="2011680"/>
          </a:xfrm>
          <a:prstGeom prst="rect">
            <a:avLst/>
          </a:prstGeom>
          <a:ln w="12700">
            <a:solidFill>
              <a:srgbClr val="E3E4E8"/>
            </a:solidFill>
            <a:prstDash val="solid"/>
          </a:ln>
        </p:spPr>
      </p:sp>
      <p:sp>
        <p:nvSpPr>
          <p:cNvPr id="27" name="!!lbl-cat#1"/>
          <p:cNvSpPr txBox="1"/>
          <p:nvPr/>
        </p:nvSpPr>
        <p:spPr>
          <a:xfrm>
            <a:off x="425196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Categoría Subwoofer</a:t>
            </a:r>
            <a:endParaRPr lang="en-US" sz="1000" dirty="0"/>
          </a:p>
        </p:txBody>
      </p:sp>
      <p:sp>
        <p:nvSpPr>
          <p:cNvPr id="28" name="!!hall1#3"/>
          <p:cNvSpPr/>
          <p:nvPr/>
        </p:nvSpPr>
        <p:spPr>
          <a:xfrm>
            <a:off x="8001000" y="1426464"/>
            <a:ext cx="347472" cy="347472"/>
          </a:xfrm>
          <a:prstGeom prst="ellipse">
            <a:avLst/>
          </a:prstGeom>
          <a:solidFill>
            <a:srgbClr val="6D28D9"/>
          </a:solidFill>
          <a:ln w="19050">
            <a:solidFill>
              <a:srgbClr val="FFFFFF"/>
            </a:solidFill>
            <a:prstDash val="solid"/>
          </a:ln>
        </p:spPr>
      </p:sp>
      <p:sp>
        <p:nvSpPr>
          <p:cNvPr id="29" name="!!hall1#4"/>
          <p:cNvSpPr txBox="1"/>
          <p:nvPr/>
        </p:nvSpPr>
        <p:spPr>
          <a:xfrm>
            <a:off x="8001000" y="14264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0" name="!!hall1#5"/>
          <p:cNvSpPr txBox="1"/>
          <p:nvPr/>
        </p:nvSpPr>
        <p:spPr>
          <a:xfrm>
            <a:off x="8458200" y="1380744"/>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«Productos» abre una tienda sin productos</a:t>
            </a:r>
            <a:endParaRPr lang="en-US" sz="1150" dirty="0"/>
          </a:p>
        </p:txBody>
      </p:sp>
      <p:sp>
        <p:nvSpPr>
          <p:cNvPr id="31" name="!!hall1#6"/>
          <p:cNvSpPr/>
          <p:nvPr/>
        </p:nvSpPr>
        <p:spPr>
          <a:xfrm>
            <a:off x="8458200" y="1874520"/>
            <a:ext cx="1511275" cy="256032"/>
          </a:xfrm>
          <a:prstGeom prst="roundRect">
            <a:avLst>
              <a:gd name="adj" fmla="val 50000"/>
            </a:avLst>
          </a:prstGeom>
          <a:solidFill>
            <a:srgbClr val="EDE4FB"/>
          </a:solidFill>
          <a:ln w="9525">
            <a:solidFill>
              <a:srgbClr val="6D28D9"/>
            </a:solidFill>
            <a:prstDash val="solid"/>
          </a:ln>
        </p:spPr>
      </p:sp>
      <p:sp>
        <p:nvSpPr>
          <p:cNvPr id="32" name="!!hall1#7"/>
          <p:cNvSpPr txBox="1"/>
          <p:nvPr/>
        </p:nvSpPr>
        <p:spPr>
          <a:xfrm>
            <a:off x="8458200" y="1874520"/>
            <a:ext cx="1511275" cy="256032"/>
          </a:xfrm>
          <a:prstGeom prst="rect">
            <a:avLst/>
          </a:prstGeom>
          <a:noFill/>
          <a:ln/>
        </p:spPr>
        <p:txBody>
          <a:bodyPr wrap="square" lIns="0" tIns="0" rIns="0" bIns="0" rtlCol="0" anchor="ctr"/>
          <a:lstStyle/>
          <a:p>
            <a:pPr algn="ctr" indent="0" marL="0">
              <a:buNone/>
            </a:pPr>
            <a:r>
              <a:rPr lang="en-US" sz="850" b="1" dirty="0">
                <a:solidFill>
                  <a:srgbClr val="6D28D9"/>
                </a:solidFill>
                <a:latin typeface="Arial" pitchFamily="34" charset="0"/>
                <a:ea typeface="Arial" pitchFamily="34" charset="-122"/>
                <a:cs typeface="Arial" pitchFamily="34" charset="-120"/>
              </a:rPr>
              <a:t>Recorrido mejorable</a:t>
            </a:r>
            <a:endParaRPr lang="en-US" sz="850" dirty="0"/>
          </a:p>
        </p:txBody>
      </p:sp>
      <p:sp>
        <p:nvSpPr>
          <p:cNvPr id="33" name="!!hall2#3"/>
          <p:cNvSpPr/>
          <p:nvPr/>
        </p:nvSpPr>
        <p:spPr>
          <a:xfrm>
            <a:off x="8001000" y="2212848"/>
            <a:ext cx="347472" cy="347472"/>
          </a:xfrm>
          <a:prstGeom prst="ellipse">
            <a:avLst/>
          </a:prstGeom>
          <a:solidFill>
            <a:srgbClr val="6D28D9"/>
          </a:solidFill>
          <a:ln w="19050">
            <a:solidFill>
              <a:srgbClr val="FFFFFF"/>
            </a:solidFill>
            <a:prstDash val="solid"/>
          </a:ln>
        </p:spPr>
      </p:sp>
      <p:sp>
        <p:nvSpPr>
          <p:cNvPr id="34" name="!!hall2#4"/>
          <p:cNvSpPr txBox="1"/>
          <p:nvPr/>
        </p:nvSpPr>
        <p:spPr>
          <a:xfrm>
            <a:off x="8001000" y="2212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5" name="!!hall2#5"/>
          <p:cNvSpPr txBox="1"/>
          <p:nvPr/>
        </p:nvSpPr>
        <p:spPr>
          <a:xfrm>
            <a:off x="8458200" y="2167128"/>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La ficha no tiene un paso de consulta</a:t>
            </a:r>
            <a:endParaRPr lang="en-US" sz="1150" dirty="0"/>
          </a:p>
        </p:txBody>
      </p:sp>
      <p:sp>
        <p:nvSpPr>
          <p:cNvPr id="36" name="!!hall2#6"/>
          <p:cNvSpPr/>
          <p:nvPr/>
        </p:nvSpPr>
        <p:spPr>
          <a:xfrm>
            <a:off x="8458200" y="2660904"/>
            <a:ext cx="982751" cy="256032"/>
          </a:xfrm>
          <a:prstGeom prst="roundRect">
            <a:avLst>
              <a:gd name="adj" fmla="val 50000"/>
            </a:avLst>
          </a:prstGeom>
          <a:solidFill>
            <a:srgbClr val="0B0B0D"/>
          </a:solidFill>
          <a:ln w="9525">
            <a:solidFill>
              <a:srgbClr val="0B0B0D"/>
            </a:solidFill>
            <a:prstDash val="solid"/>
          </a:ln>
        </p:spPr>
      </p:sp>
      <p:sp>
        <p:nvSpPr>
          <p:cNvPr id="37" name="!!hall2#7"/>
          <p:cNvSpPr txBox="1"/>
          <p:nvPr/>
        </p:nvSpPr>
        <p:spPr>
          <a:xfrm>
            <a:off x="8458200" y="2660904"/>
            <a:ext cx="98275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Inexistente</a:t>
            </a:r>
            <a:endParaRPr lang="en-US" sz="850" dirty="0"/>
          </a:p>
        </p:txBody>
      </p:sp>
      <p:sp>
        <p:nvSpPr>
          <p:cNvPr id="38" name="!!hall3#3"/>
          <p:cNvSpPr/>
          <p:nvPr/>
        </p:nvSpPr>
        <p:spPr>
          <a:xfrm>
            <a:off x="8001000" y="2999232"/>
            <a:ext cx="347472" cy="347472"/>
          </a:xfrm>
          <a:prstGeom prst="ellipse">
            <a:avLst/>
          </a:prstGeom>
          <a:solidFill>
            <a:srgbClr val="6D28D9"/>
          </a:solidFill>
          <a:ln w="19050">
            <a:solidFill>
              <a:srgbClr val="FFFFFF"/>
            </a:solidFill>
            <a:prstDash val="solid"/>
          </a:ln>
        </p:spPr>
      </p:sp>
      <p:sp>
        <p:nvSpPr>
          <p:cNvPr id="39" name="!!hall3#4"/>
          <p:cNvSpPr txBox="1"/>
          <p:nvPr/>
        </p:nvSpPr>
        <p:spPr>
          <a:xfrm>
            <a:off x="8001000" y="29992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40" name="!!hall3#5"/>
          <p:cNvSpPr txBox="1"/>
          <p:nvPr/>
        </p:nvSpPr>
        <p:spPr>
          <a:xfrm>
            <a:off x="8458200" y="2953512"/>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El menú no lleva a contacto ni a dónde comprar</a:t>
            </a:r>
            <a:endParaRPr lang="en-US" sz="1150" dirty="0"/>
          </a:p>
        </p:txBody>
      </p:sp>
      <p:sp>
        <p:nvSpPr>
          <p:cNvPr id="41" name="!!hall3#6"/>
          <p:cNvSpPr/>
          <p:nvPr/>
        </p:nvSpPr>
        <p:spPr>
          <a:xfrm>
            <a:off x="8458200" y="3447288"/>
            <a:ext cx="1577340" cy="256032"/>
          </a:xfrm>
          <a:prstGeom prst="roundRect">
            <a:avLst>
              <a:gd name="adj" fmla="val 50000"/>
            </a:avLst>
          </a:prstGeom>
          <a:solidFill>
            <a:srgbClr val="FFFFFF"/>
          </a:solidFill>
          <a:ln w="9525">
            <a:solidFill>
              <a:srgbClr val="0B0B0D"/>
            </a:solidFill>
            <a:prstDash val="solid"/>
          </a:ln>
        </p:spPr>
      </p:sp>
      <p:sp>
        <p:nvSpPr>
          <p:cNvPr id="42" name="!!hall3#7"/>
          <p:cNvSpPr txBox="1"/>
          <p:nvPr/>
        </p:nvSpPr>
        <p:spPr>
          <a:xfrm>
            <a:off x="8458200" y="3447288"/>
            <a:ext cx="1577340"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Existe, poco visible</a:t>
            </a:r>
            <a:endParaRPr lang="en-US" sz="850" dirty="0"/>
          </a:p>
        </p:txBody>
      </p:sp>
      <p:sp>
        <p:nvSpPr>
          <p:cNvPr id="43" name="!!hall4#3"/>
          <p:cNvSpPr/>
          <p:nvPr/>
        </p:nvSpPr>
        <p:spPr>
          <a:xfrm>
            <a:off x="8001000" y="3785616"/>
            <a:ext cx="347472" cy="347472"/>
          </a:xfrm>
          <a:prstGeom prst="ellipse">
            <a:avLst/>
          </a:prstGeom>
          <a:solidFill>
            <a:srgbClr val="6D28D9"/>
          </a:solidFill>
          <a:ln w="19050">
            <a:solidFill>
              <a:srgbClr val="FFFFFF"/>
            </a:solidFill>
            <a:prstDash val="solid"/>
          </a:ln>
        </p:spPr>
      </p:sp>
      <p:sp>
        <p:nvSpPr>
          <p:cNvPr id="44" name="!!hall4#4"/>
          <p:cNvSpPr txBox="1"/>
          <p:nvPr/>
        </p:nvSpPr>
        <p:spPr>
          <a:xfrm>
            <a:off x="8001000" y="37856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45" name="!!hall4#5"/>
          <p:cNvSpPr txBox="1"/>
          <p:nvPr/>
        </p:nvSpPr>
        <p:spPr>
          <a:xfrm>
            <a:off x="8458200" y="3739896"/>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El canal mayorista está oculto</a:t>
            </a:r>
            <a:endParaRPr lang="en-US" sz="1150" dirty="0"/>
          </a:p>
        </p:txBody>
      </p:sp>
      <p:sp>
        <p:nvSpPr>
          <p:cNvPr id="46" name="!!hall4#6"/>
          <p:cNvSpPr/>
          <p:nvPr/>
        </p:nvSpPr>
        <p:spPr>
          <a:xfrm>
            <a:off x="8458200" y="4233672"/>
            <a:ext cx="1577340" cy="256032"/>
          </a:xfrm>
          <a:prstGeom prst="roundRect">
            <a:avLst>
              <a:gd name="adj" fmla="val 50000"/>
            </a:avLst>
          </a:prstGeom>
          <a:solidFill>
            <a:srgbClr val="FFFFFF"/>
          </a:solidFill>
          <a:ln w="9525">
            <a:solidFill>
              <a:srgbClr val="0B0B0D"/>
            </a:solidFill>
            <a:prstDash val="solid"/>
          </a:ln>
        </p:spPr>
      </p:sp>
      <p:sp>
        <p:nvSpPr>
          <p:cNvPr id="47" name="!!hall4#7"/>
          <p:cNvSpPr txBox="1"/>
          <p:nvPr/>
        </p:nvSpPr>
        <p:spPr>
          <a:xfrm>
            <a:off x="8458200" y="4233672"/>
            <a:ext cx="1577340"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Existe, poco visible</a:t>
            </a:r>
            <a:endParaRPr lang="en-US" sz="8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500">
        <p159:morph option="byObject"/>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SITUACIÓN ORIGINAL</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Análisis del sitio original: qué se observa</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4</a:t>
            </a:r>
            <a:endParaRPr lang="en-US" sz="900" dirty="0"/>
          </a:p>
        </p:txBody>
      </p:sp>
      <p:pic>
        <p:nvPicPr>
          <p:cNvPr id="6" name="!!cap-shop#1" descr="img/v3-A-shop.png">    </p:cNvPr>
          <p:cNvPicPr>
            <a:picLocks noChangeAspect="1"/>
          </p:cNvPicPr>
          <p:nvPr/>
        </p:nvPicPr>
        <p:blipFill>
          <a:blip r:embed="rId1"/>
          <a:stretch>
            <a:fillRect/>
          </a:stretch>
        </p:blipFill>
        <p:spPr>
          <a:xfrm>
            <a:off x="548640" y="1418463"/>
            <a:ext cx="3566160" cy="2228850"/>
          </a:xfrm>
          <a:prstGeom prst="rect">
            <a:avLst/>
          </a:prstGeom>
        </p:spPr>
      </p:pic>
      <p:sp>
        <p:nvSpPr>
          <p:cNvPr id="7" name="!!cap-shop#2"/>
          <p:cNvSpPr/>
          <p:nvPr/>
        </p:nvSpPr>
        <p:spPr>
          <a:xfrm>
            <a:off x="548640" y="1418463"/>
            <a:ext cx="3566160" cy="2228850"/>
          </a:xfrm>
          <a:prstGeom prst="rect">
            <a:avLst/>
          </a:prstGeom>
          <a:ln w="12700">
            <a:solidFill>
              <a:srgbClr val="E3E4E8"/>
            </a:solidFill>
            <a:prstDash val="solid"/>
          </a:ln>
        </p:spPr>
      </p:sp>
      <p:sp>
        <p:nvSpPr>
          <p:cNvPr id="8" name="!!hall1#1"/>
          <p:cNvSpPr/>
          <p:nvPr/>
        </p:nvSpPr>
        <p:spPr>
          <a:xfrm>
            <a:off x="2585923" y="2849499"/>
            <a:ext cx="347472" cy="347472"/>
          </a:xfrm>
          <a:prstGeom prst="ellipse">
            <a:avLst/>
          </a:prstGeom>
          <a:solidFill>
            <a:srgbClr val="6D28D9"/>
          </a:solidFill>
          <a:ln w="19050">
            <a:solidFill>
              <a:srgbClr val="FFFFFF"/>
            </a:solidFill>
            <a:prstDash val="solid"/>
          </a:ln>
        </p:spPr>
      </p:sp>
      <p:sp>
        <p:nvSpPr>
          <p:cNvPr id="9" name="!!hall1#2"/>
          <p:cNvSpPr txBox="1"/>
          <p:nvPr/>
        </p:nvSpPr>
        <p:spPr>
          <a:xfrm>
            <a:off x="2585923" y="2849499"/>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hall3#1"/>
          <p:cNvSpPr/>
          <p:nvPr/>
        </p:nvSpPr>
        <p:spPr>
          <a:xfrm>
            <a:off x="731520" y="1389602"/>
            <a:ext cx="347472" cy="347472"/>
          </a:xfrm>
          <a:prstGeom prst="ellipse">
            <a:avLst/>
          </a:prstGeom>
          <a:solidFill>
            <a:srgbClr val="6D28D9"/>
          </a:solidFill>
          <a:ln w="19050">
            <a:solidFill>
              <a:srgbClr val="FFFFFF"/>
            </a:solidFill>
            <a:prstDash val="solid"/>
          </a:ln>
        </p:spPr>
      </p:sp>
      <p:sp>
        <p:nvSpPr>
          <p:cNvPr id="11" name="!!hall3#2"/>
          <p:cNvSpPr txBox="1"/>
          <p:nvPr/>
        </p:nvSpPr>
        <p:spPr>
          <a:xfrm>
            <a:off x="731520" y="138960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2" name="!!lbl-shop#1"/>
          <p:cNvSpPr txBox="1"/>
          <p:nvPr/>
        </p:nvSpPr>
        <p:spPr>
          <a:xfrm>
            <a:off x="54864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Tienda (/shop/)</a:t>
            </a:r>
            <a:endParaRPr lang="en-US" sz="1000" dirty="0"/>
          </a:p>
        </p:txBody>
      </p:sp>
      <p:pic>
        <p:nvPicPr>
          <p:cNvPr id="13" name="!!cap-ficha#1" descr="img/v3-A-ficha.png">    </p:cNvPr>
          <p:cNvPicPr>
            <a:picLocks noChangeAspect="1"/>
          </p:cNvPicPr>
          <p:nvPr/>
        </p:nvPicPr>
        <p:blipFill>
          <a:blip r:embed="rId2"/>
          <a:stretch>
            <a:fillRect/>
          </a:stretch>
        </p:blipFill>
        <p:spPr>
          <a:xfrm>
            <a:off x="4251960" y="1418463"/>
            <a:ext cx="3566160" cy="2228850"/>
          </a:xfrm>
          <a:prstGeom prst="rect">
            <a:avLst/>
          </a:prstGeom>
        </p:spPr>
      </p:pic>
      <p:sp>
        <p:nvSpPr>
          <p:cNvPr id="14" name="!!cap-ficha#2"/>
          <p:cNvSpPr/>
          <p:nvPr/>
        </p:nvSpPr>
        <p:spPr>
          <a:xfrm>
            <a:off x="4251960" y="1418463"/>
            <a:ext cx="3566160" cy="2228850"/>
          </a:xfrm>
          <a:prstGeom prst="rect">
            <a:avLst/>
          </a:prstGeom>
          <a:ln w="12700">
            <a:solidFill>
              <a:srgbClr val="E3E4E8"/>
            </a:solidFill>
            <a:prstDash val="solid"/>
          </a:ln>
        </p:spPr>
      </p:sp>
      <p:sp>
        <p:nvSpPr>
          <p:cNvPr id="15" name="!!hall2#1"/>
          <p:cNvSpPr/>
          <p:nvPr/>
        </p:nvSpPr>
        <p:spPr>
          <a:xfrm>
            <a:off x="6752844" y="3139250"/>
            <a:ext cx="347472" cy="347472"/>
          </a:xfrm>
          <a:prstGeom prst="ellipse">
            <a:avLst/>
          </a:prstGeom>
          <a:solidFill>
            <a:srgbClr val="6D28D9"/>
          </a:solidFill>
          <a:ln w="19050">
            <a:solidFill>
              <a:srgbClr val="FFFFFF"/>
            </a:solidFill>
            <a:prstDash val="solid"/>
          </a:ln>
        </p:spPr>
      </p:sp>
      <p:sp>
        <p:nvSpPr>
          <p:cNvPr id="16" name="!!hall2#2"/>
          <p:cNvSpPr txBox="1"/>
          <p:nvPr/>
        </p:nvSpPr>
        <p:spPr>
          <a:xfrm>
            <a:off x="6752844" y="313925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lbl-ficha#1"/>
          <p:cNvSpPr txBox="1"/>
          <p:nvPr/>
        </p:nvSpPr>
        <p:spPr>
          <a:xfrm>
            <a:off x="425196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Ficha BH-SW12XXG</a:t>
            </a:r>
            <a:endParaRPr lang="en-US" sz="1000" dirty="0"/>
          </a:p>
        </p:txBody>
      </p:sp>
      <p:pic>
        <p:nvPicPr>
          <p:cNvPr id="18" name="!!cap-may#1" descr="img/v3-A-mayoristas.png">    </p:cNvPr>
          <p:cNvPicPr>
            <a:picLocks noChangeAspect="1"/>
          </p:cNvPicPr>
          <p:nvPr/>
        </p:nvPicPr>
        <p:blipFill>
          <a:blip r:embed="rId3"/>
          <a:stretch>
            <a:fillRect/>
          </a:stretch>
        </p:blipFill>
        <p:spPr>
          <a:xfrm>
            <a:off x="722376" y="4023360"/>
            <a:ext cx="3218688" cy="2011680"/>
          </a:xfrm>
          <a:prstGeom prst="rect">
            <a:avLst/>
          </a:prstGeom>
        </p:spPr>
      </p:pic>
      <p:sp>
        <p:nvSpPr>
          <p:cNvPr id="19" name="!!cap-may#2"/>
          <p:cNvSpPr/>
          <p:nvPr/>
        </p:nvSpPr>
        <p:spPr>
          <a:xfrm>
            <a:off x="722376" y="4023360"/>
            <a:ext cx="3218688" cy="2011680"/>
          </a:xfrm>
          <a:prstGeom prst="rect">
            <a:avLst/>
          </a:prstGeom>
          <a:ln w="12700">
            <a:solidFill>
              <a:srgbClr val="E3E4E8"/>
            </a:solidFill>
            <a:prstDash val="solid"/>
          </a:ln>
        </p:spPr>
      </p:sp>
      <p:sp>
        <p:nvSpPr>
          <p:cNvPr id="20" name="!!hall4#1"/>
          <p:cNvSpPr/>
          <p:nvPr/>
        </p:nvSpPr>
        <p:spPr>
          <a:xfrm>
            <a:off x="2157984" y="4654296"/>
            <a:ext cx="347472" cy="347472"/>
          </a:xfrm>
          <a:prstGeom prst="ellipse">
            <a:avLst/>
          </a:prstGeom>
          <a:solidFill>
            <a:srgbClr val="6D28D9"/>
          </a:solidFill>
          <a:ln w="19050">
            <a:solidFill>
              <a:srgbClr val="FFFFFF"/>
            </a:solidFill>
            <a:prstDash val="solid"/>
          </a:ln>
        </p:spPr>
      </p:sp>
      <p:sp>
        <p:nvSpPr>
          <p:cNvPr id="21" name="!!hall4#2"/>
          <p:cNvSpPr txBox="1"/>
          <p:nvPr/>
        </p:nvSpPr>
        <p:spPr>
          <a:xfrm>
            <a:off x="2157984" y="46542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2" name="!!lbl-may#1"/>
          <p:cNvSpPr txBox="1"/>
          <p:nvPr/>
        </p:nvSpPr>
        <p:spPr>
          <a:xfrm>
            <a:off x="54864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«Ventas al mayor»</a:t>
            </a:r>
            <a:endParaRPr lang="en-US" sz="1000" dirty="0"/>
          </a:p>
        </p:txBody>
      </p:sp>
      <p:pic>
        <p:nvPicPr>
          <p:cNvPr id="23" name="!!cap-cat#1" descr="../../evidence/screens/A-cat-sub-d-view.png">    </p:cNvPr>
          <p:cNvPicPr>
            <a:picLocks noChangeAspect="1"/>
          </p:cNvPicPr>
          <p:nvPr/>
        </p:nvPicPr>
        <p:blipFill>
          <a:blip r:embed="rId4"/>
          <a:stretch>
            <a:fillRect/>
          </a:stretch>
        </p:blipFill>
        <p:spPr>
          <a:xfrm>
            <a:off x="4425696" y="4023360"/>
            <a:ext cx="3218688" cy="2011680"/>
          </a:xfrm>
          <a:prstGeom prst="rect">
            <a:avLst/>
          </a:prstGeom>
        </p:spPr>
      </p:pic>
      <p:sp>
        <p:nvSpPr>
          <p:cNvPr id="24" name="!!cap-cat#2"/>
          <p:cNvSpPr/>
          <p:nvPr/>
        </p:nvSpPr>
        <p:spPr>
          <a:xfrm>
            <a:off x="4425696" y="4023360"/>
            <a:ext cx="3218688" cy="2011680"/>
          </a:xfrm>
          <a:prstGeom prst="rect">
            <a:avLst/>
          </a:prstGeom>
          <a:ln w="12700">
            <a:solidFill>
              <a:srgbClr val="E3E4E8"/>
            </a:solidFill>
            <a:prstDash val="solid"/>
          </a:ln>
        </p:spPr>
      </p:sp>
      <p:sp>
        <p:nvSpPr>
          <p:cNvPr id="25" name="!!hall5#1"/>
          <p:cNvSpPr/>
          <p:nvPr/>
        </p:nvSpPr>
        <p:spPr>
          <a:xfrm>
            <a:off x="5700370" y="4593946"/>
            <a:ext cx="347472" cy="347472"/>
          </a:xfrm>
          <a:prstGeom prst="ellipse">
            <a:avLst/>
          </a:prstGeom>
          <a:solidFill>
            <a:srgbClr val="6D28D9"/>
          </a:solidFill>
          <a:ln w="19050">
            <a:solidFill>
              <a:srgbClr val="FFFFFF"/>
            </a:solidFill>
            <a:prstDash val="solid"/>
          </a:ln>
        </p:spPr>
      </p:sp>
      <p:sp>
        <p:nvSpPr>
          <p:cNvPr id="26" name="!!hall5#2"/>
          <p:cNvSpPr txBox="1"/>
          <p:nvPr/>
        </p:nvSpPr>
        <p:spPr>
          <a:xfrm>
            <a:off x="5700370" y="459394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7" name="!!lbl-cat#1"/>
          <p:cNvSpPr txBox="1"/>
          <p:nvPr/>
        </p:nvSpPr>
        <p:spPr>
          <a:xfrm>
            <a:off x="425196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Categoría Subwoofer</a:t>
            </a:r>
            <a:endParaRPr lang="en-US" sz="1000" dirty="0"/>
          </a:p>
        </p:txBody>
      </p:sp>
      <p:sp>
        <p:nvSpPr>
          <p:cNvPr id="28" name="!!hall1#3"/>
          <p:cNvSpPr/>
          <p:nvPr/>
        </p:nvSpPr>
        <p:spPr>
          <a:xfrm>
            <a:off x="8001000" y="1426464"/>
            <a:ext cx="347472" cy="347472"/>
          </a:xfrm>
          <a:prstGeom prst="ellipse">
            <a:avLst/>
          </a:prstGeom>
          <a:solidFill>
            <a:srgbClr val="6D28D9"/>
          </a:solidFill>
          <a:ln w="19050">
            <a:solidFill>
              <a:srgbClr val="FFFFFF"/>
            </a:solidFill>
            <a:prstDash val="solid"/>
          </a:ln>
        </p:spPr>
      </p:sp>
      <p:sp>
        <p:nvSpPr>
          <p:cNvPr id="29" name="!!hall1#4"/>
          <p:cNvSpPr txBox="1"/>
          <p:nvPr/>
        </p:nvSpPr>
        <p:spPr>
          <a:xfrm>
            <a:off x="8001000" y="14264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0" name="!!hall1#5"/>
          <p:cNvSpPr txBox="1"/>
          <p:nvPr/>
        </p:nvSpPr>
        <p:spPr>
          <a:xfrm>
            <a:off x="8458200" y="1380744"/>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«Productos» abre una tienda sin productos</a:t>
            </a:r>
            <a:endParaRPr lang="en-US" sz="1150" dirty="0"/>
          </a:p>
        </p:txBody>
      </p:sp>
      <p:sp>
        <p:nvSpPr>
          <p:cNvPr id="31" name="!!hall1#6"/>
          <p:cNvSpPr/>
          <p:nvPr/>
        </p:nvSpPr>
        <p:spPr>
          <a:xfrm>
            <a:off x="8458200" y="1874520"/>
            <a:ext cx="1511275" cy="256032"/>
          </a:xfrm>
          <a:prstGeom prst="roundRect">
            <a:avLst>
              <a:gd name="adj" fmla="val 50000"/>
            </a:avLst>
          </a:prstGeom>
          <a:solidFill>
            <a:srgbClr val="EDE4FB"/>
          </a:solidFill>
          <a:ln w="9525">
            <a:solidFill>
              <a:srgbClr val="6D28D9"/>
            </a:solidFill>
            <a:prstDash val="solid"/>
          </a:ln>
        </p:spPr>
      </p:sp>
      <p:sp>
        <p:nvSpPr>
          <p:cNvPr id="32" name="!!hall1#7"/>
          <p:cNvSpPr txBox="1"/>
          <p:nvPr/>
        </p:nvSpPr>
        <p:spPr>
          <a:xfrm>
            <a:off x="8458200" y="1874520"/>
            <a:ext cx="1511275" cy="256032"/>
          </a:xfrm>
          <a:prstGeom prst="rect">
            <a:avLst/>
          </a:prstGeom>
          <a:noFill/>
          <a:ln/>
        </p:spPr>
        <p:txBody>
          <a:bodyPr wrap="square" lIns="0" tIns="0" rIns="0" bIns="0" rtlCol="0" anchor="ctr"/>
          <a:lstStyle/>
          <a:p>
            <a:pPr algn="ctr" indent="0" marL="0">
              <a:buNone/>
            </a:pPr>
            <a:r>
              <a:rPr lang="en-US" sz="850" b="1" dirty="0">
                <a:solidFill>
                  <a:srgbClr val="6D28D9"/>
                </a:solidFill>
                <a:latin typeface="Arial" pitchFamily="34" charset="0"/>
                <a:ea typeface="Arial" pitchFamily="34" charset="-122"/>
                <a:cs typeface="Arial" pitchFamily="34" charset="-120"/>
              </a:rPr>
              <a:t>Recorrido mejorable</a:t>
            </a:r>
            <a:endParaRPr lang="en-US" sz="850" dirty="0"/>
          </a:p>
        </p:txBody>
      </p:sp>
      <p:sp>
        <p:nvSpPr>
          <p:cNvPr id="33" name="!!hall2#3"/>
          <p:cNvSpPr/>
          <p:nvPr/>
        </p:nvSpPr>
        <p:spPr>
          <a:xfrm>
            <a:off x="8001000" y="2212848"/>
            <a:ext cx="347472" cy="347472"/>
          </a:xfrm>
          <a:prstGeom prst="ellipse">
            <a:avLst/>
          </a:prstGeom>
          <a:solidFill>
            <a:srgbClr val="6D28D9"/>
          </a:solidFill>
          <a:ln w="19050">
            <a:solidFill>
              <a:srgbClr val="FFFFFF"/>
            </a:solidFill>
            <a:prstDash val="solid"/>
          </a:ln>
        </p:spPr>
      </p:sp>
      <p:sp>
        <p:nvSpPr>
          <p:cNvPr id="34" name="!!hall2#4"/>
          <p:cNvSpPr txBox="1"/>
          <p:nvPr/>
        </p:nvSpPr>
        <p:spPr>
          <a:xfrm>
            <a:off x="8001000" y="2212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5" name="!!hall2#5"/>
          <p:cNvSpPr txBox="1"/>
          <p:nvPr/>
        </p:nvSpPr>
        <p:spPr>
          <a:xfrm>
            <a:off x="8458200" y="2167128"/>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La ficha no tiene un paso de consulta</a:t>
            </a:r>
            <a:endParaRPr lang="en-US" sz="1150" dirty="0"/>
          </a:p>
        </p:txBody>
      </p:sp>
      <p:sp>
        <p:nvSpPr>
          <p:cNvPr id="36" name="!!hall2#6"/>
          <p:cNvSpPr/>
          <p:nvPr/>
        </p:nvSpPr>
        <p:spPr>
          <a:xfrm>
            <a:off x="8458200" y="2660904"/>
            <a:ext cx="982751" cy="256032"/>
          </a:xfrm>
          <a:prstGeom prst="roundRect">
            <a:avLst>
              <a:gd name="adj" fmla="val 50000"/>
            </a:avLst>
          </a:prstGeom>
          <a:solidFill>
            <a:srgbClr val="0B0B0D"/>
          </a:solidFill>
          <a:ln w="9525">
            <a:solidFill>
              <a:srgbClr val="0B0B0D"/>
            </a:solidFill>
            <a:prstDash val="solid"/>
          </a:ln>
        </p:spPr>
      </p:sp>
      <p:sp>
        <p:nvSpPr>
          <p:cNvPr id="37" name="!!hall2#7"/>
          <p:cNvSpPr txBox="1"/>
          <p:nvPr/>
        </p:nvSpPr>
        <p:spPr>
          <a:xfrm>
            <a:off x="8458200" y="2660904"/>
            <a:ext cx="98275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Inexistente</a:t>
            </a:r>
            <a:endParaRPr lang="en-US" sz="850" dirty="0"/>
          </a:p>
        </p:txBody>
      </p:sp>
      <p:sp>
        <p:nvSpPr>
          <p:cNvPr id="38" name="!!hall3#3"/>
          <p:cNvSpPr/>
          <p:nvPr/>
        </p:nvSpPr>
        <p:spPr>
          <a:xfrm>
            <a:off x="8001000" y="2999232"/>
            <a:ext cx="347472" cy="347472"/>
          </a:xfrm>
          <a:prstGeom prst="ellipse">
            <a:avLst/>
          </a:prstGeom>
          <a:solidFill>
            <a:srgbClr val="6D28D9"/>
          </a:solidFill>
          <a:ln w="19050">
            <a:solidFill>
              <a:srgbClr val="FFFFFF"/>
            </a:solidFill>
            <a:prstDash val="solid"/>
          </a:ln>
        </p:spPr>
      </p:sp>
      <p:sp>
        <p:nvSpPr>
          <p:cNvPr id="39" name="!!hall3#4"/>
          <p:cNvSpPr txBox="1"/>
          <p:nvPr/>
        </p:nvSpPr>
        <p:spPr>
          <a:xfrm>
            <a:off x="8001000" y="29992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40" name="!!hall3#5"/>
          <p:cNvSpPr txBox="1"/>
          <p:nvPr/>
        </p:nvSpPr>
        <p:spPr>
          <a:xfrm>
            <a:off x="8458200" y="2953512"/>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El menú no lleva a contacto ni a dónde comprar</a:t>
            </a:r>
            <a:endParaRPr lang="en-US" sz="1150" dirty="0"/>
          </a:p>
        </p:txBody>
      </p:sp>
      <p:sp>
        <p:nvSpPr>
          <p:cNvPr id="41" name="!!hall3#6"/>
          <p:cNvSpPr/>
          <p:nvPr/>
        </p:nvSpPr>
        <p:spPr>
          <a:xfrm>
            <a:off x="8458200" y="3447288"/>
            <a:ext cx="1577340" cy="256032"/>
          </a:xfrm>
          <a:prstGeom prst="roundRect">
            <a:avLst>
              <a:gd name="adj" fmla="val 50000"/>
            </a:avLst>
          </a:prstGeom>
          <a:solidFill>
            <a:srgbClr val="FFFFFF"/>
          </a:solidFill>
          <a:ln w="9525">
            <a:solidFill>
              <a:srgbClr val="0B0B0D"/>
            </a:solidFill>
            <a:prstDash val="solid"/>
          </a:ln>
        </p:spPr>
      </p:sp>
      <p:sp>
        <p:nvSpPr>
          <p:cNvPr id="42" name="!!hall3#7"/>
          <p:cNvSpPr txBox="1"/>
          <p:nvPr/>
        </p:nvSpPr>
        <p:spPr>
          <a:xfrm>
            <a:off x="8458200" y="3447288"/>
            <a:ext cx="1577340"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Existe, poco visible</a:t>
            </a:r>
            <a:endParaRPr lang="en-US" sz="850" dirty="0"/>
          </a:p>
        </p:txBody>
      </p:sp>
      <p:sp>
        <p:nvSpPr>
          <p:cNvPr id="43" name="!!hall4#3"/>
          <p:cNvSpPr/>
          <p:nvPr/>
        </p:nvSpPr>
        <p:spPr>
          <a:xfrm>
            <a:off x="8001000" y="3785616"/>
            <a:ext cx="347472" cy="347472"/>
          </a:xfrm>
          <a:prstGeom prst="ellipse">
            <a:avLst/>
          </a:prstGeom>
          <a:solidFill>
            <a:srgbClr val="6D28D9"/>
          </a:solidFill>
          <a:ln w="19050">
            <a:solidFill>
              <a:srgbClr val="FFFFFF"/>
            </a:solidFill>
            <a:prstDash val="solid"/>
          </a:ln>
        </p:spPr>
      </p:sp>
      <p:sp>
        <p:nvSpPr>
          <p:cNvPr id="44" name="!!hall4#4"/>
          <p:cNvSpPr txBox="1"/>
          <p:nvPr/>
        </p:nvSpPr>
        <p:spPr>
          <a:xfrm>
            <a:off x="8001000" y="37856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45" name="!!hall4#5"/>
          <p:cNvSpPr txBox="1"/>
          <p:nvPr/>
        </p:nvSpPr>
        <p:spPr>
          <a:xfrm>
            <a:off x="8458200" y="3739896"/>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El canal mayorista está oculto</a:t>
            </a:r>
            <a:endParaRPr lang="en-US" sz="1150" dirty="0"/>
          </a:p>
        </p:txBody>
      </p:sp>
      <p:sp>
        <p:nvSpPr>
          <p:cNvPr id="46" name="!!hall4#6"/>
          <p:cNvSpPr/>
          <p:nvPr/>
        </p:nvSpPr>
        <p:spPr>
          <a:xfrm>
            <a:off x="8458200" y="4233672"/>
            <a:ext cx="1577340" cy="256032"/>
          </a:xfrm>
          <a:prstGeom prst="roundRect">
            <a:avLst>
              <a:gd name="adj" fmla="val 50000"/>
            </a:avLst>
          </a:prstGeom>
          <a:solidFill>
            <a:srgbClr val="FFFFFF"/>
          </a:solidFill>
          <a:ln w="9525">
            <a:solidFill>
              <a:srgbClr val="0B0B0D"/>
            </a:solidFill>
            <a:prstDash val="solid"/>
          </a:ln>
        </p:spPr>
      </p:sp>
      <p:sp>
        <p:nvSpPr>
          <p:cNvPr id="47" name="!!hall4#7"/>
          <p:cNvSpPr txBox="1"/>
          <p:nvPr/>
        </p:nvSpPr>
        <p:spPr>
          <a:xfrm>
            <a:off x="8458200" y="4233672"/>
            <a:ext cx="1577340"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Existe, poco visible</a:t>
            </a:r>
            <a:endParaRPr lang="en-US" sz="850" dirty="0"/>
          </a:p>
        </p:txBody>
      </p:sp>
      <p:sp>
        <p:nvSpPr>
          <p:cNvPr id="48" name="!!hall5#3"/>
          <p:cNvSpPr/>
          <p:nvPr/>
        </p:nvSpPr>
        <p:spPr>
          <a:xfrm>
            <a:off x="8001000" y="4572000"/>
            <a:ext cx="347472" cy="347472"/>
          </a:xfrm>
          <a:prstGeom prst="ellipse">
            <a:avLst/>
          </a:prstGeom>
          <a:solidFill>
            <a:srgbClr val="6D28D9"/>
          </a:solidFill>
          <a:ln w="19050">
            <a:solidFill>
              <a:srgbClr val="FFFFFF"/>
            </a:solidFill>
            <a:prstDash val="solid"/>
          </a:ln>
        </p:spPr>
      </p:sp>
      <p:sp>
        <p:nvSpPr>
          <p:cNvPr id="49" name="!!hall5#4"/>
          <p:cNvSpPr txBox="1"/>
          <p:nvPr/>
        </p:nvSpPr>
        <p:spPr>
          <a:xfrm>
            <a:off x="8001000" y="45720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50" name="!!hall5#5"/>
          <p:cNvSpPr txBox="1"/>
          <p:nvPr/>
        </p:nvSpPr>
        <p:spPr>
          <a:xfrm>
            <a:off x="8458200" y="4526280"/>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Catálogo poco informativo</a:t>
            </a:r>
            <a:endParaRPr lang="en-US" sz="1150" dirty="0"/>
          </a:p>
        </p:txBody>
      </p:sp>
      <p:sp>
        <p:nvSpPr>
          <p:cNvPr id="51" name="!!hall5#6"/>
          <p:cNvSpPr/>
          <p:nvPr/>
        </p:nvSpPr>
        <p:spPr>
          <a:xfrm>
            <a:off x="8458200" y="5020056"/>
            <a:ext cx="1511275" cy="256032"/>
          </a:xfrm>
          <a:prstGeom prst="roundRect">
            <a:avLst>
              <a:gd name="adj" fmla="val 50000"/>
            </a:avLst>
          </a:prstGeom>
          <a:solidFill>
            <a:srgbClr val="EDE4FB"/>
          </a:solidFill>
          <a:ln w="9525">
            <a:solidFill>
              <a:srgbClr val="6D28D9"/>
            </a:solidFill>
            <a:prstDash val="solid"/>
          </a:ln>
        </p:spPr>
      </p:sp>
      <p:sp>
        <p:nvSpPr>
          <p:cNvPr id="52" name="!!hall5#7"/>
          <p:cNvSpPr txBox="1"/>
          <p:nvPr/>
        </p:nvSpPr>
        <p:spPr>
          <a:xfrm>
            <a:off x="8458200" y="5020056"/>
            <a:ext cx="1511275" cy="256032"/>
          </a:xfrm>
          <a:prstGeom prst="rect">
            <a:avLst/>
          </a:prstGeom>
          <a:noFill/>
          <a:ln/>
        </p:spPr>
        <p:txBody>
          <a:bodyPr wrap="square" lIns="0" tIns="0" rIns="0" bIns="0" rtlCol="0" anchor="ctr"/>
          <a:lstStyle/>
          <a:p>
            <a:pPr algn="ctr" indent="0" marL="0">
              <a:buNone/>
            </a:pPr>
            <a:r>
              <a:rPr lang="en-US" sz="850" b="1" dirty="0">
                <a:solidFill>
                  <a:srgbClr val="6D28D9"/>
                </a:solidFill>
                <a:latin typeface="Arial" pitchFamily="34" charset="0"/>
                <a:ea typeface="Arial" pitchFamily="34" charset="-122"/>
                <a:cs typeface="Arial" pitchFamily="34" charset="-120"/>
              </a:rPr>
              <a:t>Recorrido mejorable</a:t>
            </a:r>
            <a:endParaRPr lang="en-US" sz="8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500">
        <p159:morph option="byObject"/>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SITUACIÓN ORIGINAL</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Análisis del sitio original: qué se observa</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4</a:t>
            </a:r>
            <a:endParaRPr lang="en-US" sz="900" dirty="0"/>
          </a:p>
        </p:txBody>
      </p:sp>
      <p:pic>
        <p:nvPicPr>
          <p:cNvPr id="6" name="!!cap-shop#1" descr="img/v3-A-shop.png">    </p:cNvPr>
          <p:cNvPicPr>
            <a:picLocks noChangeAspect="1"/>
          </p:cNvPicPr>
          <p:nvPr/>
        </p:nvPicPr>
        <p:blipFill>
          <a:blip r:embed="rId1"/>
          <a:stretch>
            <a:fillRect/>
          </a:stretch>
        </p:blipFill>
        <p:spPr>
          <a:xfrm>
            <a:off x="548640" y="1418463"/>
            <a:ext cx="3566160" cy="2228850"/>
          </a:xfrm>
          <a:prstGeom prst="rect">
            <a:avLst/>
          </a:prstGeom>
        </p:spPr>
      </p:pic>
      <p:sp>
        <p:nvSpPr>
          <p:cNvPr id="7" name="!!cap-shop#2"/>
          <p:cNvSpPr/>
          <p:nvPr/>
        </p:nvSpPr>
        <p:spPr>
          <a:xfrm>
            <a:off x="548640" y="1418463"/>
            <a:ext cx="3566160" cy="2228850"/>
          </a:xfrm>
          <a:prstGeom prst="rect">
            <a:avLst/>
          </a:prstGeom>
          <a:ln w="12700">
            <a:solidFill>
              <a:srgbClr val="E3E4E8"/>
            </a:solidFill>
            <a:prstDash val="solid"/>
          </a:ln>
        </p:spPr>
      </p:sp>
      <p:sp>
        <p:nvSpPr>
          <p:cNvPr id="8" name="!!hall1#1"/>
          <p:cNvSpPr/>
          <p:nvPr/>
        </p:nvSpPr>
        <p:spPr>
          <a:xfrm>
            <a:off x="2585923" y="2849499"/>
            <a:ext cx="347472" cy="347472"/>
          </a:xfrm>
          <a:prstGeom prst="ellipse">
            <a:avLst/>
          </a:prstGeom>
          <a:solidFill>
            <a:srgbClr val="6D28D9"/>
          </a:solidFill>
          <a:ln w="19050">
            <a:solidFill>
              <a:srgbClr val="FFFFFF"/>
            </a:solidFill>
            <a:prstDash val="solid"/>
          </a:ln>
        </p:spPr>
      </p:sp>
      <p:sp>
        <p:nvSpPr>
          <p:cNvPr id="9" name="!!hall1#2"/>
          <p:cNvSpPr txBox="1"/>
          <p:nvPr/>
        </p:nvSpPr>
        <p:spPr>
          <a:xfrm>
            <a:off x="2585923" y="2849499"/>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hall3#1"/>
          <p:cNvSpPr/>
          <p:nvPr/>
        </p:nvSpPr>
        <p:spPr>
          <a:xfrm>
            <a:off x="731520" y="1389602"/>
            <a:ext cx="347472" cy="347472"/>
          </a:xfrm>
          <a:prstGeom prst="ellipse">
            <a:avLst/>
          </a:prstGeom>
          <a:solidFill>
            <a:srgbClr val="6D28D9"/>
          </a:solidFill>
          <a:ln w="19050">
            <a:solidFill>
              <a:srgbClr val="FFFFFF"/>
            </a:solidFill>
            <a:prstDash val="solid"/>
          </a:ln>
        </p:spPr>
      </p:sp>
      <p:sp>
        <p:nvSpPr>
          <p:cNvPr id="11" name="!!hall3#2"/>
          <p:cNvSpPr txBox="1"/>
          <p:nvPr/>
        </p:nvSpPr>
        <p:spPr>
          <a:xfrm>
            <a:off x="731520" y="138960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2" name="!!lbl-shop#1"/>
          <p:cNvSpPr txBox="1"/>
          <p:nvPr/>
        </p:nvSpPr>
        <p:spPr>
          <a:xfrm>
            <a:off x="54864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Tienda (/shop/)</a:t>
            </a:r>
            <a:endParaRPr lang="en-US" sz="1000" dirty="0"/>
          </a:p>
        </p:txBody>
      </p:sp>
      <p:pic>
        <p:nvPicPr>
          <p:cNvPr id="13" name="!!cap-ficha#1" descr="img/v3-A-ficha.png">    </p:cNvPr>
          <p:cNvPicPr>
            <a:picLocks noChangeAspect="1"/>
          </p:cNvPicPr>
          <p:nvPr/>
        </p:nvPicPr>
        <p:blipFill>
          <a:blip r:embed="rId2"/>
          <a:stretch>
            <a:fillRect/>
          </a:stretch>
        </p:blipFill>
        <p:spPr>
          <a:xfrm>
            <a:off x="4251960" y="1418463"/>
            <a:ext cx="3566160" cy="2228850"/>
          </a:xfrm>
          <a:prstGeom prst="rect">
            <a:avLst/>
          </a:prstGeom>
        </p:spPr>
      </p:pic>
      <p:sp>
        <p:nvSpPr>
          <p:cNvPr id="14" name="!!cap-ficha#2"/>
          <p:cNvSpPr/>
          <p:nvPr/>
        </p:nvSpPr>
        <p:spPr>
          <a:xfrm>
            <a:off x="4251960" y="1418463"/>
            <a:ext cx="3566160" cy="2228850"/>
          </a:xfrm>
          <a:prstGeom prst="rect">
            <a:avLst/>
          </a:prstGeom>
          <a:ln w="12700">
            <a:solidFill>
              <a:srgbClr val="E3E4E8"/>
            </a:solidFill>
            <a:prstDash val="solid"/>
          </a:ln>
        </p:spPr>
      </p:sp>
      <p:sp>
        <p:nvSpPr>
          <p:cNvPr id="15" name="!!hall2#1"/>
          <p:cNvSpPr/>
          <p:nvPr/>
        </p:nvSpPr>
        <p:spPr>
          <a:xfrm>
            <a:off x="6752844" y="3139250"/>
            <a:ext cx="347472" cy="347472"/>
          </a:xfrm>
          <a:prstGeom prst="ellipse">
            <a:avLst/>
          </a:prstGeom>
          <a:solidFill>
            <a:srgbClr val="6D28D9"/>
          </a:solidFill>
          <a:ln w="19050">
            <a:solidFill>
              <a:srgbClr val="FFFFFF"/>
            </a:solidFill>
            <a:prstDash val="solid"/>
          </a:ln>
        </p:spPr>
      </p:sp>
      <p:sp>
        <p:nvSpPr>
          <p:cNvPr id="16" name="!!hall2#2"/>
          <p:cNvSpPr txBox="1"/>
          <p:nvPr/>
        </p:nvSpPr>
        <p:spPr>
          <a:xfrm>
            <a:off x="6752844" y="313925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lbl-ficha#1"/>
          <p:cNvSpPr txBox="1"/>
          <p:nvPr/>
        </p:nvSpPr>
        <p:spPr>
          <a:xfrm>
            <a:off x="425196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Ficha BH-SW12XXG</a:t>
            </a:r>
            <a:endParaRPr lang="en-US" sz="1000" dirty="0"/>
          </a:p>
        </p:txBody>
      </p:sp>
      <p:pic>
        <p:nvPicPr>
          <p:cNvPr id="18" name="!!cap-may#1" descr="img/v3-A-mayoristas.png">    </p:cNvPr>
          <p:cNvPicPr>
            <a:picLocks noChangeAspect="1"/>
          </p:cNvPicPr>
          <p:nvPr/>
        </p:nvPicPr>
        <p:blipFill>
          <a:blip r:embed="rId3"/>
          <a:stretch>
            <a:fillRect/>
          </a:stretch>
        </p:blipFill>
        <p:spPr>
          <a:xfrm>
            <a:off x="722376" y="4023360"/>
            <a:ext cx="3218688" cy="2011680"/>
          </a:xfrm>
          <a:prstGeom prst="rect">
            <a:avLst/>
          </a:prstGeom>
        </p:spPr>
      </p:pic>
      <p:sp>
        <p:nvSpPr>
          <p:cNvPr id="19" name="!!cap-may#2"/>
          <p:cNvSpPr/>
          <p:nvPr/>
        </p:nvSpPr>
        <p:spPr>
          <a:xfrm>
            <a:off x="722376" y="4023360"/>
            <a:ext cx="3218688" cy="2011680"/>
          </a:xfrm>
          <a:prstGeom prst="rect">
            <a:avLst/>
          </a:prstGeom>
          <a:ln w="12700">
            <a:solidFill>
              <a:srgbClr val="E3E4E8"/>
            </a:solidFill>
            <a:prstDash val="solid"/>
          </a:ln>
        </p:spPr>
      </p:sp>
      <p:sp>
        <p:nvSpPr>
          <p:cNvPr id="20" name="!!hall4#1"/>
          <p:cNvSpPr/>
          <p:nvPr/>
        </p:nvSpPr>
        <p:spPr>
          <a:xfrm>
            <a:off x="2157984" y="4654296"/>
            <a:ext cx="347472" cy="347472"/>
          </a:xfrm>
          <a:prstGeom prst="ellipse">
            <a:avLst/>
          </a:prstGeom>
          <a:solidFill>
            <a:srgbClr val="6D28D9"/>
          </a:solidFill>
          <a:ln w="19050">
            <a:solidFill>
              <a:srgbClr val="FFFFFF"/>
            </a:solidFill>
            <a:prstDash val="solid"/>
          </a:ln>
        </p:spPr>
      </p:sp>
      <p:sp>
        <p:nvSpPr>
          <p:cNvPr id="21" name="!!hall4#2"/>
          <p:cNvSpPr txBox="1"/>
          <p:nvPr/>
        </p:nvSpPr>
        <p:spPr>
          <a:xfrm>
            <a:off x="2157984" y="46542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2" name="!!lbl-may#1"/>
          <p:cNvSpPr txBox="1"/>
          <p:nvPr/>
        </p:nvSpPr>
        <p:spPr>
          <a:xfrm>
            <a:off x="54864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«Ventas al mayor»</a:t>
            </a:r>
            <a:endParaRPr lang="en-US" sz="1000" dirty="0"/>
          </a:p>
        </p:txBody>
      </p:sp>
      <p:pic>
        <p:nvPicPr>
          <p:cNvPr id="23" name="!!cap-cat#1" descr="../../evidence/screens/A-cat-sub-d-view.png">    </p:cNvPr>
          <p:cNvPicPr>
            <a:picLocks noChangeAspect="1"/>
          </p:cNvPicPr>
          <p:nvPr/>
        </p:nvPicPr>
        <p:blipFill>
          <a:blip r:embed="rId4"/>
          <a:stretch>
            <a:fillRect/>
          </a:stretch>
        </p:blipFill>
        <p:spPr>
          <a:xfrm>
            <a:off x="4425696" y="4023360"/>
            <a:ext cx="3218688" cy="2011680"/>
          </a:xfrm>
          <a:prstGeom prst="rect">
            <a:avLst/>
          </a:prstGeom>
        </p:spPr>
      </p:pic>
      <p:sp>
        <p:nvSpPr>
          <p:cNvPr id="24" name="!!cap-cat#2"/>
          <p:cNvSpPr/>
          <p:nvPr/>
        </p:nvSpPr>
        <p:spPr>
          <a:xfrm>
            <a:off x="4425696" y="4023360"/>
            <a:ext cx="3218688" cy="2011680"/>
          </a:xfrm>
          <a:prstGeom prst="rect">
            <a:avLst/>
          </a:prstGeom>
          <a:ln w="12700">
            <a:solidFill>
              <a:srgbClr val="E3E4E8"/>
            </a:solidFill>
            <a:prstDash val="solid"/>
          </a:ln>
        </p:spPr>
      </p:sp>
      <p:sp>
        <p:nvSpPr>
          <p:cNvPr id="25" name="!!hall5#1"/>
          <p:cNvSpPr/>
          <p:nvPr/>
        </p:nvSpPr>
        <p:spPr>
          <a:xfrm>
            <a:off x="5700370" y="4593946"/>
            <a:ext cx="347472" cy="347472"/>
          </a:xfrm>
          <a:prstGeom prst="ellipse">
            <a:avLst/>
          </a:prstGeom>
          <a:solidFill>
            <a:srgbClr val="6D28D9"/>
          </a:solidFill>
          <a:ln w="19050">
            <a:solidFill>
              <a:srgbClr val="FFFFFF"/>
            </a:solidFill>
            <a:prstDash val="solid"/>
          </a:ln>
        </p:spPr>
      </p:sp>
      <p:sp>
        <p:nvSpPr>
          <p:cNvPr id="26" name="!!hall5#2"/>
          <p:cNvSpPr txBox="1"/>
          <p:nvPr/>
        </p:nvSpPr>
        <p:spPr>
          <a:xfrm>
            <a:off x="5700370" y="459394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7" name="!!lbl-cat#1"/>
          <p:cNvSpPr txBox="1"/>
          <p:nvPr/>
        </p:nvSpPr>
        <p:spPr>
          <a:xfrm>
            <a:off x="425196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Categoría Subwoofer</a:t>
            </a:r>
            <a:endParaRPr lang="en-US" sz="1000" dirty="0"/>
          </a:p>
        </p:txBody>
      </p:sp>
      <p:sp>
        <p:nvSpPr>
          <p:cNvPr id="28" name="!!hall1#3"/>
          <p:cNvSpPr/>
          <p:nvPr/>
        </p:nvSpPr>
        <p:spPr>
          <a:xfrm>
            <a:off x="8001000" y="1426464"/>
            <a:ext cx="347472" cy="347472"/>
          </a:xfrm>
          <a:prstGeom prst="ellipse">
            <a:avLst/>
          </a:prstGeom>
          <a:solidFill>
            <a:srgbClr val="6D28D9"/>
          </a:solidFill>
          <a:ln w="19050">
            <a:solidFill>
              <a:srgbClr val="FFFFFF"/>
            </a:solidFill>
            <a:prstDash val="solid"/>
          </a:ln>
        </p:spPr>
      </p:sp>
      <p:sp>
        <p:nvSpPr>
          <p:cNvPr id="29" name="!!hall1#4"/>
          <p:cNvSpPr txBox="1"/>
          <p:nvPr/>
        </p:nvSpPr>
        <p:spPr>
          <a:xfrm>
            <a:off x="8001000" y="14264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0" name="!!hall1#5"/>
          <p:cNvSpPr txBox="1"/>
          <p:nvPr/>
        </p:nvSpPr>
        <p:spPr>
          <a:xfrm>
            <a:off x="8458200" y="1380744"/>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«Productos» abre una tienda sin productos</a:t>
            </a:r>
            <a:endParaRPr lang="en-US" sz="1150" dirty="0"/>
          </a:p>
        </p:txBody>
      </p:sp>
      <p:sp>
        <p:nvSpPr>
          <p:cNvPr id="31" name="!!hall1#6"/>
          <p:cNvSpPr/>
          <p:nvPr/>
        </p:nvSpPr>
        <p:spPr>
          <a:xfrm>
            <a:off x="8458200" y="1874520"/>
            <a:ext cx="1511275" cy="256032"/>
          </a:xfrm>
          <a:prstGeom prst="roundRect">
            <a:avLst>
              <a:gd name="adj" fmla="val 50000"/>
            </a:avLst>
          </a:prstGeom>
          <a:solidFill>
            <a:srgbClr val="EDE4FB"/>
          </a:solidFill>
          <a:ln w="9525">
            <a:solidFill>
              <a:srgbClr val="6D28D9"/>
            </a:solidFill>
            <a:prstDash val="solid"/>
          </a:ln>
        </p:spPr>
      </p:sp>
      <p:sp>
        <p:nvSpPr>
          <p:cNvPr id="32" name="!!hall1#7"/>
          <p:cNvSpPr txBox="1"/>
          <p:nvPr/>
        </p:nvSpPr>
        <p:spPr>
          <a:xfrm>
            <a:off x="8458200" y="1874520"/>
            <a:ext cx="1511275" cy="256032"/>
          </a:xfrm>
          <a:prstGeom prst="rect">
            <a:avLst/>
          </a:prstGeom>
          <a:noFill/>
          <a:ln/>
        </p:spPr>
        <p:txBody>
          <a:bodyPr wrap="square" lIns="0" tIns="0" rIns="0" bIns="0" rtlCol="0" anchor="ctr"/>
          <a:lstStyle/>
          <a:p>
            <a:pPr algn="ctr" indent="0" marL="0">
              <a:buNone/>
            </a:pPr>
            <a:r>
              <a:rPr lang="en-US" sz="850" b="1" dirty="0">
                <a:solidFill>
                  <a:srgbClr val="6D28D9"/>
                </a:solidFill>
                <a:latin typeface="Arial" pitchFamily="34" charset="0"/>
                <a:ea typeface="Arial" pitchFamily="34" charset="-122"/>
                <a:cs typeface="Arial" pitchFamily="34" charset="-120"/>
              </a:rPr>
              <a:t>Recorrido mejorable</a:t>
            </a:r>
            <a:endParaRPr lang="en-US" sz="850" dirty="0"/>
          </a:p>
        </p:txBody>
      </p:sp>
      <p:sp>
        <p:nvSpPr>
          <p:cNvPr id="33" name="!!hall2#3"/>
          <p:cNvSpPr/>
          <p:nvPr/>
        </p:nvSpPr>
        <p:spPr>
          <a:xfrm>
            <a:off x="8001000" y="2212848"/>
            <a:ext cx="347472" cy="347472"/>
          </a:xfrm>
          <a:prstGeom prst="ellipse">
            <a:avLst/>
          </a:prstGeom>
          <a:solidFill>
            <a:srgbClr val="6D28D9"/>
          </a:solidFill>
          <a:ln w="19050">
            <a:solidFill>
              <a:srgbClr val="FFFFFF"/>
            </a:solidFill>
            <a:prstDash val="solid"/>
          </a:ln>
        </p:spPr>
      </p:sp>
      <p:sp>
        <p:nvSpPr>
          <p:cNvPr id="34" name="!!hall2#4"/>
          <p:cNvSpPr txBox="1"/>
          <p:nvPr/>
        </p:nvSpPr>
        <p:spPr>
          <a:xfrm>
            <a:off x="8001000" y="2212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5" name="!!hall2#5"/>
          <p:cNvSpPr txBox="1"/>
          <p:nvPr/>
        </p:nvSpPr>
        <p:spPr>
          <a:xfrm>
            <a:off x="8458200" y="2167128"/>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La ficha no tiene un paso de consulta</a:t>
            </a:r>
            <a:endParaRPr lang="en-US" sz="1150" dirty="0"/>
          </a:p>
        </p:txBody>
      </p:sp>
      <p:sp>
        <p:nvSpPr>
          <p:cNvPr id="36" name="!!hall2#6"/>
          <p:cNvSpPr/>
          <p:nvPr/>
        </p:nvSpPr>
        <p:spPr>
          <a:xfrm>
            <a:off x="8458200" y="2660904"/>
            <a:ext cx="982751" cy="256032"/>
          </a:xfrm>
          <a:prstGeom prst="roundRect">
            <a:avLst>
              <a:gd name="adj" fmla="val 50000"/>
            </a:avLst>
          </a:prstGeom>
          <a:solidFill>
            <a:srgbClr val="0B0B0D"/>
          </a:solidFill>
          <a:ln w="9525">
            <a:solidFill>
              <a:srgbClr val="0B0B0D"/>
            </a:solidFill>
            <a:prstDash val="solid"/>
          </a:ln>
        </p:spPr>
      </p:sp>
      <p:sp>
        <p:nvSpPr>
          <p:cNvPr id="37" name="!!hall2#7"/>
          <p:cNvSpPr txBox="1"/>
          <p:nvPr/>
        </p:nvSpPr>
        <p:spPr>
          <a:xfrm>
            <a:off x="8458200" y="2660904"/>
            <a:ext cx="98275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Inexistente</a:t>
            </a:r>
            <a:endParaRPr lang="en-US" sz="850" dirty="0"/>
          </a:p>
        </p:txBody>
      </p:sp>
      <p:sp>
        <p:nvSpPr>
          <p:cNvPr id="38" name="!!hall3#3"/>
          <p:cNvSpPr/>
          <p:nvPr/>
        </p:nvSpPr>
        <p:spPr>
          <a:xfrm>
            <a:off x="8001000" y="2999232"/>
            <a:ext cx="347472" cy="347472"/>
          </a:xfrm>
          <a:prstGeom prst="ellipse">
            <a:avLst/>
          </a:prstGeom>
          <a:solidFill>
            <a:srgbClr val="6D28D9"/>
          </a:solidFill>
          <a:ln w="19050">
            <a:solidFill>
              <a:srgbClr val="FFFFFF"/>
            </a:solidFill>
            <a:prstDash val="solid"/>
          </a:ln>
        </p:spPr>
      </p:sp>
      <p:sp>
        <p:nvSpPr>
          <p:cNvPr id="39" name="!!hall3#4"/>
          <p:cNvSpPr txBox="1"/>
          <p:nvPr/>
        </p:nvSpPr>
        <p:spPr>
          <a:xfrm>
            <a:off x="8001000" y="29992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40" name="!!hall3#5"/>
          <p:cNvSpPr txBox="1"/>
          <p:nvPr/>
        </p:nvSpPr>
        <p:spPr>
          <a:xfrm>
            <a:off x="8458200" y="2953512"/>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El menú no lleva a contacto ni a dónde comprar</a:t>
            </a:r>
            <a:endParaRPr lang="en-US" sz="1150" dirty="0"/>
          </a:p>
        </p:txBody>
      </p:sp>
      <p:sp>
        <p:nvSpPr>
          <p:cNvPr id="41" name="!!hall3#6"/>
          <p:cNvSpPr/>
          <p:nvPr/>
        </p:nvSpPr>
        <p:spPr>
          <a:xfrm>
            <a:off x="8458200" y="3447288"/>
            <a:ext cx="1577340" cy="256032"/>
          </a:xfrm>
          <a:prstGeom prst="roundRect">
            <a:avLst>
              <a:gd name="adj" fmla="val 50000"/>
            </a:avLst>
          </a:prstGeom>
          <a:solidFill>
            <a:srgbClr val="FFFFFF"/>
          </a:solidFill>
          <a:ln w="9525">
            <a:solidFill>
              <a:srgbClr val="0B0B0D"/>
            </a:solidFill>
            <a:prstDash val="solid"/>
          </a:ln>
        </p:spPr>
      </p:sp>
      <p:sp>
        <p:nvSpPr>
          <p:cNvPr id="42" name="!!hall3#7"/>
          <p:cNvSpPr txBox="1"/>
          <p:nvPr/>
        </p:nvSpPr>
        <p:spPr>
          <a:xfrm>
            <a:off x="8458200" y="3447288"/>
            <a:ext cx="1577340"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Existe, poco visible</a:t>
            </a:r>
            <a:endParaRPr lang="en-US" sz="850" dirty="0"/>
          </a:p>
        </p:txBody>
      </p:sp>
      <p:sp>
        <p:nvSpPr>
          <p:cNvPr id="43" name="!!hall4#3"/>
          <p:cNvSpPr/>
          <p:nvPr/>
        </p:nvSpPr>
        <p:spPr>
          <a:xfrm>
            <a:off x="8001000" y="3785616"/>
            <a:ext cx="347472" cy="347472"/>
          </a:xfrm>
          <a:prstGeom prst="ellipse">
            <a:avLst/>
          </a:prstGeom>
          <a:solidFill>
            <a:srgbClr val="6D28D9"/>
          </a:solidFill>
          <a:ln w="19050">
            <a:solidFill>
              <a:srgbClr val="FFFFFF"/>
            </a:solidFill>
            <a:prstDash val="solid"/>
          </a:ln>
        </p:spPr>
      </p:sp>
      <p:sp>
        <p:nvSpPr>
          <p:cNvPr id="44" name="!!hall4#4"/>
          <p:cNvSpPr txBox="1"/>
          <p:nvPr/>
        </p:nvSpPr>
        <p:spPr>
          <a:xfrm>
            <a:off x="8001000" y="37856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45" name="!!hall4#5"/>
          <p:cNvSpPr txBox="1"/>
          <p:nvPr/>
        </p:nvSpPr>
        <p:spPr>
          <a:xfrm>
            <a:off x="8458200" y="3739896"/>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El canal mayorista está oculto</a:t>
            </a:r>
            <a:endParaRPr lang="en-US" sz="1150" dirty="0"/>
          </a:p>
        </p:txBody>
      </p:sp>
      <p:sp>
        <p:nvSpPr>
          <p:cNvPr id="46" name="!!hall4#6"/>
          <p:cNvSpPr/>
          <p:nvPr/>
        </p:nvSpPr>
        <p:spPr>
          <a:xfrm>
            <a:off x="8458200" y="4233672"/>
            <a:ext cx="1577340" cy="256032"/>
          </a:xfrm>
          <a:prstGeom prst="roundRect">
            <a:avLst>
              <a:gd name="adj" fmla="val 50000"/>
            </a:avLst>
          </a:prstGeom>
          <a:solidFill>
            <a:srgbClr val="FFFFFF"/>
          </a:solidFill>
          <a:ln w="9525">
            <a:solidFill>
              <a:srgbClr val="0B0B0D"/>
            </a:solidFill>
            <a:prstDash val="solid"/>
          </a:ln>
        </p:spPr>
      </p:sp>
      <p:sp>
        <p:nvSpPr>
          <p:cNvPr id="47" name="!!hall4#7"/>
          <p:cNvSpPr txBox="1"/>
          <p:nvPr/>
        </p:nvSpPr>
        <p:spPr>
          <a:xfrm>
            <a:off x="8458200" y="4233672"/>
            <a:ext cx="1577340"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Existe, poco visible</a:t>
            </a:r>
            <a:endParaRPr lang="en-US" sz="850" dirty="0"/>
          </a:p>
        </p:txBody>
      </p:sp>
      <p:sp>
        <p:nvSpPr>
          <p:cNvPr id="48" name="!!hall5#3"/>
          <p:cNvSpPr/>
          <p:nvPr/>
        </p:nvSpPr>
        <p:spPr>
          <a:xfrm>
            <a:off x="8001000" y="4572000"/>
            <a:ext cx="347472" cy="347472"/>
          </a:xfrm>
          <a:prstGeom prst="ellipse">
            <a:avLst/>
          </a:prstGeom>
          <a:solidFill>
            <a:srgbClr val="6D28D9"/>
          </a:solidFill>
          <a:ln w="19050">
            <a:solidFill>
              <a:srgbClr val="FFFFFF"/>
            </a:solidFill>
            <a:prstDash val="solid"/>
          </a:ln>
        </p:spPr>
      </p:sp>
      <p:sp>
        <p:nvSpPr>
          <p:cNvPr id="49" name="!!hall5#4"/>
          <p:cNvSpPr txBox="1"/>
          <p:nvPr/>
        </p:nvSpPr>
        <p:spPr>
          <a:xfrm>
            <a:off x="8001000" y="45720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50" name="!!hall5#5"/>
          <p:cNvSpPr txBox="1"/>
          <p:nvPr/>
        </p:nvSpPr>
        <p:spPr>
          <a:xfrm>
            <a:off x="8458200" y="4526280"/>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Catálogo poco informativo</a:t>
            </a:r>
            <a:endParaRPr lang="en-US" sz="1150" dirty="0"/>
          </a:p>
        </p:txBody>
      </p:sp>
      <p:sp>
        <p:nvSpPr>
          <p:cNvPr id="51" name="!!hall5#6"/>
          <p:cNvSpPr/>
          <p:nvPr/>
        </p:nvSpPr>
        <p:spPr>
          <a:xfrm>
            <a:off x="8458200" y="5020056"/>
            <a:ext cx="1511275" cy="256032"/>
          </a:xfrm>
          <a:prstGeom prst="roundRect">
            <a:avLst>
              <a:gd name="adj" fmla="val 50000"/>
            </a:avLst>
          </a:prstGeom>
          <a:solidFill>
            <a:srgbClr val="EDE4FB"/>
          </a:solidFill>
          <a:ln w="9525">
            <a:solidFill>
              <a:srgbClr val="6D28D9"/>
            </a:solidFill>
            <a:prstDash val="solid"/>
          </a:ln>
        </p:spPr>
      </p:sp>
      <p:sp>
        <p:nvSpPr>
          <p:cNvPr id="52" name="!!hall5#7"/>
          <p:cNvSpPr txBox="1"/>
          <p:nvPr/>
        </p:nvSpPr>
        <p:spPr>
          <a:xfrm>
            <a:off x="8458200" y="5020056"/>
            <a:ext cx="1511275" cy="256032"/>
          </a:xfrm>
          <a:prstGeom prst="rect">
            <a:avLst/>
          </a:prstGeom>
          <a:noFill/>
          <a:ln/>
        </p:spPr>
        <p:txBody>
          <a:bodyPr wrap="square" lIns="0" tIns="0" rIns="0" bIns="0" rtlCol="0" anchor="ctr"/>
          <a:lstStyle/>
          <a:p>
            <a:pPr algn="ctr" indent="0" marL="0">
              <a:buNone/>
            </a:pPr>
            <a:r>
              <a:rPr lang="en-US" sz="850" b="1" dirty="0">
                <a:solidFill>
                  <a:srgbClr val="6D28D9"/>
                </a:solidFill>
                <a:latin typeface="Arial" pitchFamily="34" charset="0"/>
                <a:ea typeface="Arial" pitchFamily="34" charset="-122"/>
                <a:cs typeface="Arial" pitchFamily="34" charset="-120"/>
              </a:rPr>
              <a:t>Recorrido mejorable</a:t>
            </a:r>
            <a:endParaRPr lang="en-US" sz="850" dirty="0"/>
          </a:p>
        </p:txBody>
      </p:sp>
      <p:sp>
        <p:nvSpPr>
          <p:cNvPr id="53" name="!!hall6#1"/>
          <p:cNvSpPr/>
          <p:nvPr/>
        </p:nvSpPr>
        <p:spPr>
          <a:xfrm>
            <a:off x="8001000" y="5358384"/>
            <a:ext cx="347472" cy="347472"/>
          </a:xfrm>
          <a:prstGeom prst="ellipse">
            <a:avLst/>
          </a:prstGeom>
          <a:solidFill>
            <a:srgbClr val="6D28D9"/>
          </a:solidFill>
          <a:ln w="19050">
            <a:solidFill>
              <a:srgbClr val="FFFFFF"/>
            </a:solidFill>
            <a:prstDash val="solid"/>
          </a:ln>
        </p:spPr>
      </p:sp>
      <p:sp>
        <p:nvSpPr>
          <p:cNvPr id="54" name="!!hall6#2"/>
          <p:cNvSpPr txBox="1"/>
          <p:nvPr/>
        </p:nvSpPr>
        <p:spPr>
          <a:xfrm>
            <a:off x="8001000" y="535838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55" name="!!hall6#3"/>
          <p:cNvSpPr txBox="1"/>
          <p:nvPr/>
        </p:nvSpPr>
        <p:spPr>
          <a:xfrm>
            <a:off x="8458200" y="5312664"/>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Sin comparador ni «Dónde comprar»</a:t>
            </a:r>
            <a:endParaRPr lang="en-US" sz="1150" dirty="0"/>
          </a:p>
        </p:txBody>
      </p:sp>
      <p:sp>
        <p:nvSpPr>
          <p:cNvPr id="56" name="!!hall6#4"/>
          <p:cNvSpPr/>
          <p:nvPr/>
        </p:nvSpPr>
        <p:spPr>
          <a:xfrm>
            <a:off x="8458200" y="5806440"/>
            <a:ext cx="982751" cy="256032"/>
          </a:xfrm>
          <a:prstGeom prst="roundRect">
            <a:avLst>
              <a:gd name="adj" fmla="val 50000"/>
            </a:avLst>
          </a:prstGeom>
          <a:solidFill>
            <a:srgbClr val="0B0B0D"/>
          </a:solidFill>
          <a:ln w="9525">
            <a:solidFill>
              <a:srgbClr val="0B0B0D"/>
            </a:solidFill>
            <a:prstDash val="solid"/>
          </a:ln>
        </p:spPr>
      </p:sp>
      <p:sp>
        <p:nvSpPr>
          <p:cNvPr id="57" name="!!hall6#5"/>
          <p:cNvSpPr txBox="1"/>
          <p:nvPr/>
        </p:nvSpPr>
        <p:spPr>
          <a:xfrm>
            <a:off x="8458200" y="5806440"/>
            <a:ext cx="98275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Inexistente</a:t>
            </a:r>
            <a:endParaRPr lang="en-US" sz="8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500">
        <p159:morph option="byObject"/>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Estructura de RUP: fases, iteraciones y disciplinas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8</a:t>
            </a:r>
            <a:endParaRPr lang="en-US" sz="900" dirty="0"/>
          </a:p>
        </p:txBody>
      </p:sp>
      <p:sp>
        <p:nvSpPr>
          <p:cNvPr id="6" name="Shape 3"/>
          <p:cNvSpPr/>
          <p:nvPr/>
        </p:nvSpPr>
        <p:spPr>
          <a:xfrm>
            <a:off x="3319272" y="1417320"/>
            <a:ext cx="2032940" cy="411480"/>
          </a:xfrm>
          <a:prstGeom prst="rect">
            <a:avLst/>
          </a:prstGeom>
          <a:solidFill>
            <a:srgbClr val="9CA3AF"/>
          </a:solidFill>
          <a:ln/>
        </p:spPr>
      </p:sp>
      <p:sp>
        <p:nvSpPr>
          <p:cNvPr id="7" name="Text 4"/>
          <p:cNvSpPr txBox="1"/>
          <p:nvPr/>
        </p:nvSpPr>
        <p:spPr>
          <a:xfrm>
            <a:off x="3319272"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Inicio</a:t>
            </a:r>
            <a:endParaRPr lang="en-US" sz="1300" dirty="0"/>
          </a:p>
        </p:txBody>
      </p:sp>
      <p:sp>
        <p:nvSpPr>
          <p:cNvPr id="8" name="Shape 5"/>
          <p:cNvSpPr/>
          <p:nvPr/>
        </p:nvSpPr>
        <p:spPr>
          <a:xfrm>
            <a:off x="3337560" y="1892808"/>
            <a:ext cx="1996364" cy="292608"/>
          </a:xfrm>
          <a:prstGeom prst="roundRect">
            <a:avLst>
              <a:gd name="adj" fmla="val 25000"/>
            </a:avLst>
          </a:prstGeom>
          <a:solidFill>
            <a:srgbClr val="F5F5F7"/>
          </a:solidFill>
          <a:ln/>
        </p:spPr>
      </p:sp>
      <p:sp>
        <p:nvSpPr>
          <p:cNvPr id="9" name="Text 6"/>
          <p:cNvSpPr txBox="1"/>
          <p:nvPr/>
        </p:nvSpPr>
        <p:spPr>
          <a:xfrm>
            <a:off x="3319272"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I1</a:t>
            </a:r>
            <a:endParaRPr lang="en-US" sz="1000" dirty="0"/>
          </a:p>
        </p:txBody>
      </p:sp>
      <p:sp>
        <p:nvSpPr>
          <p:cNvPr id="10" name="Shape 7"/>
          <p:cNvSpPr/>
          <p:nvPr/>
        </p:nvSpPr>
        <p:spPr>
          <a:xfrm>
            <a:off x="5407076" y="1417320"/>
            <a:ext cx="2032940" cy="411480"/>
          </a:xfrm>
          <a:prstGeom prst="rect">
            <a:avLst/>
          </a:prstGeom>
          <a:solidFill>
            <a:srgbClr val="A78BFA"/>
          </a:solidFill>
          <a:ln/>
        </p:spPr>
      </p:sp>
      <p:sp>
        <p:nvSpPr>
          <p:cNvPr id="11" name="Text 8"/>
          <p:cNvSpPr txBox="1"/>
          <p:nvPr/>
        </p:nvSpPr>
        <p:spPr>
          <a:xfrm>
            <a:off x="5407076"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Elaboración</a:t>
            </a:r>
            <a:endParaRPr lang="en-US" sz="1300" dirty="0"/>
          </a:p>
        </p:txBody>
      </p:sp>
      <p:sp>
        <p:nvSpPr>
          <p:cNvPr id="12" name="Shape 9"/>
          <p:cNvSpPr/>
          <p:nvPr/>
        </p:nvSpPr>
        <p:spPr>
          <a:xfrm>
            <a:off x="5425364" y="1892808"/>
            <a:ext cx="979894" cy="292608"/>
          </a:xfrm>
          <a:prstGeom prst="roundRect">
            <a:avLst>
              <a:gd name="adj" fmla="val 25000"/>
            </a:avLst>
          </a:prstGeom>
          <a:solidFill>
            <a:srgbClr val="F5F5F7"/>
          </a:solidFill>
          <a:ln/>
        </p:spPr>
      </p:sp>
      <p:sp>
        <p:nvSpPr>
          <p:cNvPr id="13" name="Text 10"/>
          <p:cNvSpPr txBox="1"/>
          <p:nvPr/>
        </p:nvSpPr>
        <p:spPr>
          <a:xfrm>
            <a:off x="540707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E1</a:t>
            </a:r>
            <a:endParaRPr lang="en-US" sz="1000" dirty="0"/>
          </a:p>
        </p:txBody>
      </p:sp>
      <p:sp>
        <p:nvSpPr>
          <p:cNvPr id="14" name="Shape 11"/>
          <p:cNvSpPr/>
          <p:nvPr/>
        </p:nvSpPr>
        <p:spPr>
          <a:xfrm>
            <a:off x="6441834" y="1892808"/>
            <a:ext cx="979894" cy="292608"/>
          </a:xfrm>
          <a:prstGeom prst="roundRect">
            <a:avLst>
              <a:gd name="adj" fmla="val 25000"/>
            </a:avLst>
          </a:prstGeom>
          <a:solidFill>
            <a:srgbClr val="F5F5F7"/>
          </a:solidFill>
          <a:ln/>
        </p:spPr>
      </p:sp>
      <p:sp>
        <p:nvSpPr>
          <p:cNvPr id="15" name="Text 12"/>
          <p:cNvSpPr txBox="1"/>
          <p:nvPr/>
        </p:nvSpPr>
        <p:spPr>
          <a:xfrm>
            <a:off x="642354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E2</a:t>
            </a:r>
            <a:endParaRPr lang="en-US" sz="1000" dirty="0"/>
          </a:p>
        </p:txBody>
      </p:sp>
      <p:sp>
        <p:nvSpPr>
          <p:cNvPr id="16" name="Shape 13"/>
          <p:cNvSpPr/>
          <p:nvPr/>
        </p:nvSpPr>
        <p:spPr>
          <a:xfrm>
            <a:off x="7494880" y="1417320"/>
            <a:ext cx="2032940" cy="411480"/>
          </a:xfrm>
          <a:prstGeom prst="rect">
            <a:avLst/>
          </a:prstGeom>
          <a:solidFill>
            <a:srgbClr val="6D28D9"/>
          </a:solidFill>
          <a:ln/>
        </p:spPr>
      </p:sp>
      <p:sp>
        <p:nvSpPr>
          <p:cNvPr id="17" name="Text 14"/>
          <p:cNvSpPr txBox="1"/>
          <p:nvPr/>
        </p:nvSpPr>
        <p:spPr>
          <a:xfrm>
            <a:off x="7494880"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Construcción</a:t>
            </a:r>
            <a:endParaRPr lang="en-US" sz="1300" dirty="0"/>
          </a:p>
        </p:txBody>
      </p:sp>
      <p:sp>
        <p:nvSpPr>
          <p:cNvPr id="18" name="Shape 15"/>
          <p:cNvSpPr/>
          <p:nvPr/>
        </p:nvSpPr>
        <p:spPr>
          <a:xfrm>
            <a:off x="7513168" y="1892808"/>
            <a:ext cx="641071" cy="292608"/>
          </a:xfrm>
          <a:prstGeom prst="roundRect">
            <a:avLst>
              <a:gd name="adj" fmla="val 25000"/>
            </a:avLst>
          </a:prstGeom>
          <a:solidFill>
            <a:srgbClr val="F5F5F7"/>
          </a:solidFill>
          <a:ln/>
        </p:spPr>
      </p:sp>
      <p:sp>
        <p:nvSpPr>
          <p:cNvPr id="19" name="Text 16"/>
          <p:cNvSpPr txBox="1"/>
          <p:nvPr/>
        </p:nvSpPr>
        <p:spPr>
          <a:xfrm>
            <a:off x="7494880"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C1</a:t>
            </a:r>
            <a:endParaRPr lang="en-US" sz="1000" dirty="0"/>
          </a:p>
        </p:txBody>
      </p:sp>
      <p:sp>
        <p:nvSpPr>
          <p:cNvPr id="20" name="Shape 17"/>
          <p:cNvSpPr/>
          <p:nvPr/>
        </p:nvSpPr>
        <p:spPr>
          <a:xfrm>
            <a:off x="8190814" y="1892808"/>
            <a:ext cx="641071" cy="292608"/>
          </a:xfrm>
          <a:prstGeom prst="roundRect">
            <a:avLst>
              <a:gd name="adj" fmla="val 25000"/>
            </a:avLst>
          </a:prstGeom>
          <a:solidFill>
            <a:srgbClr val="F5F5F7"/>
          </a:solidFill>
          <a:ln/>
        </p:spPr>
      </p:sp>
      <p:sp>
        <p:nvSpPr>
          <p:cNvPr id="21" name="Text 18"/>
          <p:cNvSpPr txBox="1"/>
          <p:nvPr/>
        </p:nvSpPr>
        <p:spPr>
          <a:xfrm>
            <a:off x="8172526"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C2</a:t>
            </a:r>
            <a:endParaRPr lang="en-US" sz="1000" dirty="0"/>
          </a:p>
        </p:txBody>
      </p:sp>
      <p:sp>
        <p:nvSpPr>
          <p:cNvPr id="22" name="Shape 19"/>
          <p:cNvSpPr/>
          <p:nvPr/>
        </p:nvSpPr>
        <p:spPr>
          <a:xfrm>
            <a:off x="8868461" y="1892808"/>
            <a:ext cx="641071" cy="292608"/>
          </a:xfrm>
          <a:prstGeom prst="roundRect">
            <a:avLst>
              <a:gd name="adj" fmla="val 25000"/>
            </a:avLst>
          </a:prstGeom>
          <a:solidFill>
            <a:srgbClr val="F5F5F7"/>
          </a:solidFill>
          <a:ln/>
        </p:spPr>
      </p:sp>
      <p:sp>
        <p:nvSpPr>
          <p:cNvPr id="23" name="Text 20"/>
          <p:cNvSpPr txBox="1"/>
          <p:nvPr/>
        </p:nvSpPr>
        <p:spPr>
          <a:xfrm>
            <a:off x="8850173"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C3</a:t>
            </a:r>
            <a:endParaRPr lang="en-US" sz="1000" dirty="0"/>
          </a:p>
        </p:txBody>
      </p:sp>
      <p:sp>
        <p:nvSpPr>
          <p:cNvPr id="24" name="Shape 21"/>
          <p:cNvSpPr/>
          <p:nvPr/>
        </p:nvSpPr>
        <p:spPr>
          <a:xfrm>
            <a:off x="9582683" y="1417320"/>
            <a:ext cx="2032940" cy="411480"/>
          </a:xfrm>
          <a:prstGeom prst="rect">
            <a:avLst/>
          </a:prstGeom>
          <a:solidFill>
            <a:srgbClr val="0B0B0D"/>
          </a:solidFill>
          <a:ln/>
        </p:spPr>
      </p:sp>
      <p:sp>
        <p:nvSpPr>
          <p:cNvPr id="25" name="Text 22"/>
          <p:cNvSpPr txBox="1"/>
          <p:nvPr/>
        </p:nvSpPr>
        <p:spPr>
          <a:xfrm>
            <a:off x="9582683"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Transición</a:t>
            </a:r>
            <a:endParaRPr lang="en-US" sz="1300" dirty="0"/>
          </a:p>
        </p:txBody>
      </p:sp>
      <p:sp>
        <p:nvSpPr>
          <p:cNvPr id="26" name="Shape 23"/>
          <p:cNvSpPr/>
          <p:nvPr/>
        </p:nvSpPr>
        <p:spPr>
          <a:xfrm>
            <a:off x="9600971" y="1892808"/>
            <a:ext cx="1996364" cy="292608"/>
          </a:xfrm>
          <a:prstGeom prst="roundRect">
            <a:avLst>
              <a:gd name="adj" fmla="val 25000"/>
            </a:avLst>
          </a:prstGeom>
          <a:solidFill>
            <a:srgbClr val="F5F5F7"/>
          </a:solidFill>
          <a:ln/>
        </p:spPr>
      </p:sp>
      <p:sp>
        <p:nvSpPr>
          <p:cNvPr id="27" name="Text 24"/>
          <p:cNvSpPr txBox="1"/>
          <p:nvPr/>
        </p:nvSpPr>
        <p:spPr>
          <a:xfrm>
            <a:off x="9582683"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T1</a:t>
            </a:r>
            <a:endParaRPr lang="en-US" sz="1000" dirty="0"/>
          </a:p>
        </p:txBody>
      </p:sp>
      <p:sp>
        <p:nvSpPr>
          <p:cNvPr id="28" name="Text 25"/>
          <p:cNvSpPr txBox="1"/>
          <p:nvPr/>
        </p:nvSpPr>
        <p:spPr>
          <a:xfrm>
            <a:off x="548640" y="233172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Modelado del negocio</a:t>
            </a:r>
            <a:endParaRPr lang="en-US" sz="1100" dirty="0"/>
          </a:p>
        </p:txBody>
      </p:sp>
      <p:sp>
        <p:nvSpPr>
          <p:cNvPr id="29" name="Shape 26"/>
          <p:cNvSpPr/>
          <p:nvPr/>
        </p:nvSpPr>
        <p:spPr>
          <a:xfrm>
            <a:off x="548640" y="2715768"/>
            <a:ext cx="11094415" cy="0"/>
          </a:xfrm>
          <a:prstGeom prst="line">
            <a:avLst/>
          </a:prstGeom>
          <a:noFill/>
          <a:ln w="6350">
            <a:solidFill>
              <a:srgbClr val="E3E4E8"/>
            </a:solidFill>
            <a:prstDash val="solid"/>
          </a:ln>
        </p:spPr>
      </p:sp>
      <p:sp>
        <p:nvSpPr>
          <p:cNvPr id="30" name="Shape 27"/>
          <p:cNvSpPr/>
          <p:nvPr/>
        </p:nvSpPr>
        <p:spPr>
          <a:xfrm>
            <a:off x="3429000" y="2423160"/>
            <a:ext cx="1813484" cy="201168"/>
          </a:xfrm>
          <a:prstGeom prst="roundRect">
            <a:avLst>
              <a:gd name="adj" fmla="val 22727"/>
            </a:avLst>
          </a:prstGeom>
          <a:solidFill>
            <a:srgbClr val="6D28D9"/>
          </a:solidFill>
          <a:ln/>
        </p:spPr>
      </p:sp>
      <p:sp>
        <p:nvSpPr>
          <p:cNvPr id="31" name="Shape 28"/>
          <p:cNvSpPr/>
          <p:nvPr/>
        </p:nvSpPr>
        <p:spPr>
          <a:xfrm>
            <a:off x="5970175" y="2423160"/>
            <a:ext cx="906742" cy="201168"/>
          </a:xfrm>
          <a:prstGeom prst="roundRect">
            <a:avLst>
              <a:gd name="adj" fmla="val 22727"/>
            </a:avLst>
          </a:prstGeom>
          <a:solidFill>
            <a:srgbClr val="6D28D9"/>
          </a:solidFill>
          <a:ln/>
        </p:spPr>
      </p:sp>
      <p:sp>
        <p:nvSpPr>
          <p:cNvPr id="32" name="Shape 29"/>
          <p:cNvSpPr/>
          <p:nvPr/>
        </p:nvSpPr>
        <p:spPr>
          <a:xfrm>
            <a:off x="8284664" y="2423160"/>
            <a:ext cx="453371" cy="201168"/>
          </a:xfrm>
          <a:prstGeom prst="roundRect">
            <a:avLst>
              <a:gd name="adj" fmla="val 22727"/>
            </a:avLst>
          </a:prstGeom>
          <a:solidFill>
            <a:srgbClr val="6D28D9"/>
          </a:solidFill>
          <a:ln/>
        </p:spPr>
      </p:sp>
      <p:sp>
        <p:nvSpPr>
          <p:cNvPr id="33" name="Text 30"/>
          <p:cNvSpPr txBox="1"/>
          <p:nvPr/>
        </p:nvSpPr>
        <p:spPr>
          <a:xfrm>
            <a:off x="548640" y="2715768"/>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Requisitos</a:t>
            </a:r>
            <a:endParaRPr lang="en-US" sz="1100" dirty="0"/>
          </a:p>
        </p:txBody>
      </p:sp>
      <p:sp>
        <p:nvSpPr>
          <p:cNvPr id="34" name="Shape 31"/>
          <p:cNvSpPr/>
          <p:nvPr/>
        </p:nvSpPr>
        <p:spPr>
          <a:xfrm>
            <a:off x="548640" y="3099816"/>
            <a:ext cx="11094415" cy="0"/>
          </a:xfrm>
          <a:prstGeom prst="line">
            <a:avLst/>
          </a:prstGeom>
          <a:noFill/>
          <a:ln w="6350">
            <a:solidFill>
              <a:srgbClr val="E3E4E8"/>
            </a:solidFill>
            <a:prstDash val="solid"/>
          </a:ln>
        </p:spPr>
      </p:sp>
      <p:sp>
        <p:nvSpPr>
          <p:cNvPr id="35" name="Shape 32"/>
          <p:cNvSpPr/>
          <p:nvPr/>
        </p:nvSpPr>
        <p:spPr>
          <a:xfrm>
            <a:off x="3655685" y="2807208"/>
            <a:ext cx="1360113" cy="201168"/>
          </a:xfrm>
          <a:prstGeom prst="roundRect">
            <a:avLst>
              <a:gd name="adj" fmla="val 22727"/>
            </a:avLst>
          </a:prstGeom>
          <a:solidFill>
            <a:srgbClr val="6D28D9"/>
          </a:solidFill>
          <a:ln/>
        </p:spPr>
      </p:sp>
      <p:sp>
        <p:nvSpPr>
          <p:cNvPr id="36" name="Shape 33"/>
          <p:cNvSpPr/>
          <p:nvPr/>
        </p:nvSpPr>
        <p:spPr>
          <a:xfrm>
            <a:off x="5516804" y="2807208"/>
            <a:ext cx="1813484" cy="201168"/>
          </a:xfrm>
          <a:prstGeom prst="roundRect">
            <a:avLst>
              <a:gd name="adj" fmla="val 22727"/>
            </a:avLst>
          </a:prstGeom>
          <a:solidFill>
            <a:srgbClr val="6D28D9"/>
          </a:solidFill>
          <a:ln/>
        </p:spPr>
      </p:sp>
      <p:sp>
        <p:nvSpPr>
          <p:cNvPr id="37" name="Shape 34"/>
          <p:cNvSpPr/>
          <p:nvPr/>
        </p:nvSpPr>
        <p:spPr>
          <a:xfrm>
            <a:off x="8284664" y="2807208"/>
            <a:ext cx="453371" cy="201168"/>
          </a:xfrm>
          <a:prstGeom prst="roundRect">
            <a:avLst>
              <a:gd name="adj" fmla="val 22727"/>
            </a:avLst>
          </a:prstGeom>
          <a:solidFill>
            <a:srgbClr val="6D28D9"/>
          </a:solidFill>
          <a:ln/>
        </p:spPr>
      </p:sp>
      <p:sp>
        <p:nvSpPr>
          <p:cNvPr id="38" name="Text 35"/>
          <p:cNvSpPr txBox="1"/>
          <p:nvPr/>
        </p:nvSpPr>
        <p:spPr>
          <a:xfrm>
            <a:off x="548640" y="3099816"/>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Análisis y diseño</a:t>
            </a:r>
            <a:endParaRPr lang="en-US" sz="1100" dirty="0"/>
          </a:p>
        </p:txBody>
      </p:sp>
      <p:sp>
        <p:nvSpPr>
          <p:cNvPr id="39" name="Shape 36"/>
          <p:cNvSpPr/>
          <p:nvPr/>
        </p:nvSpPr>
        <p:spPr>
          <a:xfrm>
            <a:off x="548640" y="3483864"/>
            <a:ext cx="11094415" cy="0"/>
          </a:xfrm>
          <a:prstGeom prst="line">
            <a:avLst/>
          </a:prstGeom>
          <a:noFill/>
          <a:ln w="6350">
            <a:solidFill>
              <a:srgbClr val="E3E4E8"/>
            </a:solidFill>
            <a:prstDash val="solid"/>
          </a:ln>
        </p:spPr>
      </p:sp>
      <p:sp>
        <p:nvSpPr>
          <p:cNvPr id="40" name="Shape 37"/>
          <p:cNvSpPr/>
          <p:nvPr/>
        </p:nvSpPr>
        <p:spPr>
          <a:xfrm>
            <a:off x="4109056" y="3191256"/>
            <a:ext cx="453371" cy="201168"/>
          </a:xfrm>
          <a:prstGeom prst="roundRect">
            <a:avLst>
              <a:gd name="adj" fmla="val 22727"/>
            </a:avLst>
          </a:prstGeom>
          <a:solidFill>
            <a:srgbClr val="6D28D9"/>
          </a:solidFill>
          <a:ln/>
        </p:spPr>
      </p:sp>
      <p:sp>
        <p:nvSpPr>
          <p:cNvPr id="41" name="Shape 38"/>
          <p:cNvSpPr/>
          <p:nvPr/>
        </p:nvSpPr>
        <p:spPr>
          <a:xfrm>
            <a:off x="5516804" y="3191256"/>
            <a:ext cx="1813484" cy="201168"/>
          </a:xfrm>
          <a:prstGeom prst="roundRect">
            <a:avLst>
              <a:gd name="adj" fmla="val 22727"/>
            </a:avLst>
          </a:prstGeom>
          <a:solidFill>
            <a:srgbClr val="6D28D9"/>
          </a:solidFill>
          <a:ln/>
        </p:spPr>
      </p:sp>
      <p:sp>
        <p:nvSpPr>
          <p:cNvPr id="42" name="Shape 39"/>
          <p:cNvSpPr/>
          <p:nvPr/>
        </p:nvSpPr>
        <p:spPr>
          <a:xfrm>
            <a:off x="8057979" y="3191256"/>
            <a:ext cx="906742" cy="201168"/>
          </a:xfrm>
          <a:prstGeom prst="roundRect">
            <a:avLst>
              <a:gd name="adj" fmla="val 22727"/>
            </a:avLst>
          </a:prstGeom>
          <a:solidFill>
            <a:srgbClr val="6D28D9"/>
          </a:solidFill>
          <a:ln/>
        </p:spPr>
      </p:sp>
      <p:sp>
        <p:nvSpPr>
          <p:cNvPr id="43" name="Text 40"/>
          <p:cNvSpPr txBox="1"/>
          <p:nvPr/>
        </p:nvSpPr>
        <p:spPr>
          <a:xfrm>
            <a:off x="548640" y="3483864"/>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Implementación</a:t>
            </a:r>
            <a:endParaRPr lang="en-US" sz="1100" dirty="0"/>
          </a:p>
        </p:txBody>
      </p:sp>
      <p:sp>
        <p:nvSpPr>
          <p:cNvPr id="44" name="Shape 41"/>
          <p:cNvSpPr/>
          <p:nvPr/>
        </p:nvSpPr>
        <p:spPr>
          <a:xfrm>
            <a:off x="548640" y="3867912"/>
            <a:ext cx="11094415" cy="0"/>
          </a:xfrm>
          <a:prstGeom prst="line">
            <a:avLst/>
          </a:prstGeom>
          <a:noFill/>
          <a:ln w="6350">
            <a:solidFill>
              <a:srgbClr val="E3E4E8"/>
            </a:solidFill>
            <a:prstDash val="solid"/>
          </a:ln>
        </p:spPr>
      </p:sp>
      <p:sp>
        <p:nvSpPr>
          <p:cNvPr id="45" name="Shape 42"/>
          <p:cNvSpPr/>
          <p:nvPr/>
        </p:nvSpPr>
        <p:spPr>
          <a:xfrm>
            <a:off x="5970175" y="3575304"/>
            <a:ext cx="906742" cy="201168"/>
          </a:xfrm>
          <a:prstGeom prst="roundRect">
            <a:avLst>
              <a:gd name="adj" fmla="val 22727"/>
            </a:avLst>
          </a:prstGeom>
          <a:solidFill>
            <a:srgbClr val="6D28D9"/>
          </a:solidFill>
          <a:ln/>
        </p:spPr>
      </p:sp>
      <p:sp>
        <p:nvSpPr>
          <p:cNvPr id="46" name="Shape 43"/>
          <p:cNvSpPr/>
          <p:nvPr/>
        </p:nvSpPr>
        <p:spPr>
          <a:xfrm>
            <a:off x="7604608" y="3575304"/>
            <a:ext cx="1813484" cy="201168"/>
          </a:xfrm>
          <a:prstGeom prst="roundRect">
            <a:avLst>
              <a:gd name="adj" fmla="val 22727"/>
            </a:avLst>
          </a:prstGeom>
          <a:solidFill>
            <a:srgbClr val="6D28D9"/>
          </a:solidFill>
          <a:ln/>
        </p:spPr>
      </p:sp>
      <p:sp>
        <p:nvSpPr>
          <p:cNvPr id="47" name="Shape 44"/>
          <p:cNvSpPr/>
          <p:nvPr/>
        </p:nvSpPr>
        <p:spPr>
          <a:xfrm>
            <a:off x="10372468" y="3575304"/>
            <a:ext cx="453371" cy="201168"/>
          </a:xfrm>
          <a:prstGeom prst="roundRect">
            <a:avLst>
              <a:gd name="adj" fmla="val 22727"/>
            </a:avLst>
          </a:prstGeom>
          <a:solidFill>
            <a:srgbClr val="6D28D9"/>
          </a:solidFill>
          <a:ln/>
        </p:spPr>
      </p:sp>
      <p:sp>
        <p:nvSpPr>
          <p:cNvPr id="48" name="Text 45"/>
          <p:cNvSpPr txBox="1"/>
          <p:nvPr/>
        </p:nvSpPr>
        <p:spPr>
          <a:xfrm>
            <a:off x="548640" y="3867912"/>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Pruebas</a:t>
            </a:r>
            <a:endParaRPr lang="en-US" sz="1100" dirty="0"/>
          </a:p>
        </p:txBody>
      </p:sp>
      <p:sp>
        <p:nvSpPr>
          <p:cNvPr id="49" name="Shape 46"/>
          <p:cNvSpPr/>
          <p:nvPr/>
        </p:nvSpPr>
        <p:spPr>
          <a:xfrm>
            <a:off x="548640" y="4251960"/>
            <a:ext cx="11094415" cy="0"/>
          </a:xfrm>
          <a:prstGeom prst="line">
            <a:avLst/>
          </a:prstGeom>
          <a:noFill/>
          <a:ln w="6350">
            <a:solidFill>
              <a:srgbClr val="E3E4E8"/>
            </a:solidFill>
            <a:prstDash val="solid"/>
          </a:ln>
        </p:spPr>
      </p:sp>
      <p:sp>
        <p:nvSpPr>
          <p:cNvPr id="50" name="Shape 47"/>
          <p:cNvSpPr/>
          <p:nvPr/>
        </p:nvSpPr>
        <p:spPr>
          <a:xfrm>
            <a:off x="6196860" y="3959352"/>
            <a:ext cx="453371" cy="201168"/>
          </a:xfrm>
          <a:prstGeom prst="roundRect">
            <a:avLst>
              <a:gd name="adj" fmla="val 22727"/>
            </a:avLst>
          </a:prstGeom>
          <a:solidFill>
            <a:srgbClr val="6D28D9"/>
          </a:solidFill>
          <a:ln/>
        </p:spPr>
      </p:sp>
      <p:sp>
        <p:nvSpPr>
          <p:cNvPr id="51" name="Shape 48"/>
          <p:cNvSpPr/>
          <p:nvPr/>
        </p:nvSpPr>
        <p:spPr>
          <a:xfrm>
            <a:off x="7604608" y="3959352"/>
            <a:ext cx="1813484" cy="201168"/>
          </a:xfrm>
          <a:prstGeom prst="roundRect">
            <a:avLst>
              <a:gd name="adj" fmla="val 22727"/>
            </a:avLst>
          </a:prstGeom>
          <a:solidFill>
            <a:srgbClr val="6D28D9"/>
          </a:solidFill>
          <a:ln/>
        </p:spPr>
      </p:sp>
      <p:sp>
        <p:nvSpPr>
          <p:cNvPr id="52" name="Shape 49"/>
          <p:cNvSpPr/>
          <p:nvPr/>
        </p:nvSpPr>
        <p:spPr>
          <a:xfrm>
            <a:off x="9919097" y="3959352"/>
            <a:ext cx="1360113" cy="201168"/>
          </a:xfrm>
          <a:prstGeom prst="roundRect">
            <a:avLst>
              <a:gd name="adj" fmla="val 22727"/>
            </a:avLst>
          </a:prstGeom>
          <a:solidFill>
            <a:srgbClr val="6D28D9"/>
          </a:solidFill>
          <a:ln/>
        </p:spPr>
      </p:sp>
      <p:sp>
        <p:nvSpPr>
          <p:cNvPr id="53" name="Text 50"/>
          <p:cNvSpPr txBox="1"/>
          <p:nvPr/>
        </p:nvSpPr>
        <p:spPr>
          <a:xfrm>
            <a:off x="548640" y="425196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Despliegue</a:t>
            </a:r>
            <a:endParaRPr lang="en-US" sz="1100" dirty="0"/>
          </a:p>
        </p:txBody>
      </p:sp>
      <p:sp>
        <p:nvSpPr>
          <p:cNvPr id="54" name="Shape 51"/>
          <p:cNvSpPr/>
          <p:nvPr/>
        </p:nvSpPr>
        <p:spPr>
          <a:xfrm>
            <a:off x="548640" y="4636008"/>
            <a:ext cx="11094415" cy="0"/>
          </a:xfrm>
          <a:prstGeom prst="line">
            <a:avLst/>
          </a:prstGeom>
          <a:noFill/>
          <a:ln w="6350">
            <a:solidFill>
              <a:srgbClr val="E3E4E8"/>
            </a:solidFill>
            <a:prstDash val="solid"/>
          </a:ln>
        </p:spPr>
      </p:sp>
      <p:sp>
        <p:nvSpPr>
          <p:cNvPr id="55" name="Shape 52"/>
          <p:cNvSpPr/>
          <p:nvPr/>
        </p:nvSpPr>
        <p:spPr>
          <a:xfrm>
            <a:off x="8284664" y="4343400"/>
            <a:ext cx="453371" cy="201168"/>
          </a:xfrm>
          <a:prstGeom prst="roundRect">
            <a:avLst>
              <a:gd name="adj" fmla="val 22727"/>
            </a:avLst>
          </a:prstGeom>
          <a:solidFill>
            <a:srgbClr val="6D28D9"/>
          </a:solidFill>
          <a:ln/>
        </p:spPr>
      </p:sp>
      <p:sp>
        <p:nvSpPr>
          <p:cNvPr id="56" name="Shape 53"/>
          <p:cNvSpPr/>
          <p:nvPr/>
        </p:nvSpPr>
        <p:spPr>
          <a:xfrm>
            <a:off x="9692411" y="4343400"/>
            <a:ext cx="1813484" cy="201168"/>
          </a:xfrm>
          <a:prstGeom prst="roundRect">
            <a:avLst>
              <a:gd name="adj" fmla="val 22727"/>
            </a:avLst>
          </a:prstGeom>
          <a:solidFill>
            <a:srgbClr val="6D28D9"/>
          </a:solidFill>
          <a:ln/>
        </p:spPr>
      </p:sp>
      <p:sp>
        <p:nvSpPr>
          <p:cNvPr id="57" name="Text 54"/>
          <p:cNvSpPr txBox="1"/>
          <p:nvPr/>
        </p:nvSpPr>
        <p:spPr>
          <a:xfrm>
            <a:off x="548640" y="4636008"/>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 configuración y cambios</a:t>
            </a:r>
            <a:endParaRPr lang="en-US" sz="1100" dirty="0"/>
          </a:p>
        </p:txBody>
      </p:sp>
      <p:sp>
        <p:nvSpPr>
          <p:cNvPr id="58" name="Shape 55"/>
          <p:cNvSpPr/>
          <p:nvPr/>
        </p:nvSpPr>
        <p:spPr>
          <a:xfrm>
            <a:off x="548640" y="5020056"/>
            <a:ext cx="11094415" cy="0"/>
          </a:xfrm>
          <a:prstGeom prst="line">
            <a:avLst/>
          </a:prstGeom>
          <a:noFill/>
          <a:ln w="6350">
            <a:solidFill>
              <a:srgbClr val="E3E4E8"/>
            </a:solidFill>
            <a:prstDash val="solid"/>
          </a:ln>
        </p:spPr>
      </p:sp>
      <p:sp>
        <p:nvSpPr>
          <p:cNvPr id="59" name="Shape 56"/>
          <p:cNvSpPr/>
          <p:nvPr/>
        </p:nvSpPr>
        <p:spPr>
          <a:xfrm>
            <a:off x="4109056" y="4727448"/>
            <a:ext cx="453371" cy="201168"/>
          </a:xfrm>
          <a:prstGeom prst="roundRect">
            <a:avLst>
              <a:gd name="adj" fmla="val 22727"/>
            </a:avLst>
          </a:prstGeom>
          <a:solidFill>
            <a:srgbClr val="9CA3AF"/>
          </a:solidFill>
          <a:ln/>
        </p:spPr>
      </p:sp>
      <p:sp>
        <p:nvSpPr>
          <p:cNvPr id="60" name="Shape 57"/>
          <p:cNvSpPr/>
          <p:nvPr/>
        </p:nvSpPr>
        <p:spPr>
          <a:xfrm>
            <a:off x="5970175" y="4727448"/>
            <a:ext cx="906742" cy="201168"/>
          </a:xfrm>
          <a:prstGeom prst="roundRect">
            <a:avLst>
              <a:gd name="adj" fmla="val 22727"/>
            </a:avLst>
          </a:prstGeom>
          <a:solidFill>
            <a:srgbClr val="9CA3AF"/>
          </a:solidFill>
          <a:ln/>
        </p:spPr>
      </p:sp>
      <p:sp>
        <p:nvSpPr>
          <p:cNvPr id="61" name="Shape 58"/>
          <p:cNvSpPr/>
          <p:nvPr/>
        </p:nvSpPr>
        <p:spPr>
          <a:xfrm>
            <a:off x="7831293" y="4727448"/>
            <a:ext cx="1360113" cy="201168"/>
          </a:xfrm>
          <a:prstGeom prst="roundRect">
            <a:avLst>
              <a:gd name="adj" fmla="val 22727"/>
            </a:avLst>
          </a:prstGeom>
          <a:solidFill>
            <a:srgbClr val="9CA3AF"/>
          </a:solidFill>
          <a:ln/>
        </p:spPr>
      </p:sp>
      <p:sp>
        <p:nvSpPr>
          <p:cNvPr id="62" name="Shape 59"/>
          <p:cNvSpPr/>
          <p:nvPr/>
        </p:nvSpPr>
        <p:spPr>
          <a:xfrm>
            <a:off x="9919097" y="4727448"/>
            <a:ext cx="1360113" cy="201168"/>
          </a:xfrm>
          <a:prstGeom prst="roundRect">
            <a:avLst>
              <a:gd name="adj" fmla="val 22727"/>
            </a:avLst>
          </a:prstGeom>
          <a:solidFill>
            <a:srgbClr val="9CA3AF"/>
          </a:solidFill>
          <a:ln/>
        </p:spPr>
      </p:sp>
      <p:sp>
        <p:nvSpPr>
          <p:cNvPr id="63" name="Text 60"/>
          <p:cNvSpPr txBox="1"/>
          <p:nvPr/>
        </p:nvSpPr>
        <p:spPr>
          <a:xfrm>
            <a:off x="548640" y="5020056"/>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del proyecto</a:t>
            </a:r>
            <a:endParaRPr lang="en-US" sz="1100" dirty="0"/>
          </a:p>
        </p:txBody>
      </p:sp>
      <p:sp>
        <p:nvSpPr>
          <p:cNvPr id="64" name="Shape 61"/>
          <p:cNvSpPr/>
          <p:nvPr/>
        </p:nvSpPr>
        <p:spPr>
          <a:xfrm>
            <a:off x="548640" y="5404104"/>
            <a:ext cx="11094415" cy="0"/>
          </a:xfrm>
          <a:prstGeom prst="line">
            <a:avLst/>
          </a:prstGeom>
          <a:noFill/>
          <a:ln w="6350">
            <a:solidFill>
              <a:srgbClr val="E3E4E8"/>
            </a:solidFill>
            <a:prstDash val="solid"/>
          </a:ln>
        </p:spPr>
      </p:sp>
      <p:sp>
        <p:nvSpPr>
          <p:cNvPr id="65" name="Shape 62"/>
          <p:cNvSpPr/>
          <p:nvPr/>
        </p:nvSpPr>
        <p:spPr>
          <a:xfrm>
            <a:off x="3655685" y="5111496"/>
            <a:ext cx="1360113" cy="201168"/>
          </a:xfrm>
          <a:prstGeom prst="roundRect">
            <a:avLst>
              <a:gd name="adj" fmla="val 22727"/>
            </a:avLst>
          </a:prstGeom>
          <a:solidFill>
            <a:srgbClr val="9CA3AF"/>
          </a:solidFill>
          <a:ln/>
        </p:spPr>
      </p:sp>
      <p:sp>
        <p:nvSpPr>
          <p:cNvPr id="66" name="Shape 63"/>
          <p:cNvSpPr/>
          <p:nvPr/>
        </p:nvSpPr>
        <p:spPr>
          <a:xfrm>
            <a:off x="5743489" y="5111496"/>
            <a:ext cx="1360113" cy="201168"/>
          </a:xfrm>
          <a:prstGeom prst="roundRect">
            <a:avLst>
              <a:gd name="adj" fmla="val 22727"/>
            </a:avLst>
          </a:prstGeom>
          <a:solidFill>
            <a:srgbClr val="9CA3AF"/>
          </a:solidFill>
          <a:ln/>
        </p:spPr>
      </p:sp>
      <p:sp>
        <p:nvSpPr>
          <p:cNvPr id="67" name="Shape 64"/>
          <p:cNvSpPr/>
          <p:nvPr/>
        </p:nvSpPr>
        <p:spPr>
          <a:xfrm>
            <a:off x="8057979" y="5111496"/>
            <a:ext cx="906742" cy="201168"/>
          </a:xfrm>
          <a:prstGeom prst="roundRect">
            <a:avLst>
              <a:gd name="adj" fmla="val 22727"/>
            </a:avLst>
          </a:prstGeom>
          <a:solidFill>
            <a:srgbClr val="9CA3AF"/>
          </a:solidFill>
          <a:ln/>
        </p:spPr>
      </p:sp>
      <p:sp>
        <p:nvSpPr>
          <p:cNvPr id="68" name="Shape 65"/>
          <p:cNvSpPr/>
          <p:nvPr/>
        </p:nvSpPr>
        <p:spPr>
          <a:xfrm>
            <a:off x="10145782" y="5111496"/>
            <a:ext cx="906742" cy="201168"/>
          </a:xfrm>
          <a:prstGeom prst="roundRect">
            <a:avLst>
              <a:gd name="adj" fmla="val 22727"/>
            </a:avLst>
          </a:prstGeom>
          <a:solidFill>
            <a:srgbClr val="9CA3AF"/>
          </a:solidFill>
          <a:ln/>
        </p:spPr>
      </p:sp>
      <p:sp>
        <p:nvSpPr>
          <p:cNvPr id="69" name="Text 66"/>
          <p:cNvSpPr txBox="1"/>
          <p:nvPr/>
        </p:nvSpPr>
        <p:spPr>
          <a:xfrm>
            <a:off x="548640" y="5404104"/>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Entorno</a:t>
            </a:r>
            <a:endParaRPr lang="en-US" sz="1100" dirty="0"/>
          </a:p>
        </p:txBody>
      </p:sp>
      <p:sp>
        <p:nvSpPr>
          <p:cNvPr id="70" name="Shape 67"/>
          <p:cNvSpPr/>
          <p:nvPr/>
        </p:nvSpPr>
        <p:spPr>
          <a:xfrm>
            <a:off x="548640" y="5788152"/>
            <a:ext cx="11094415" cy="0"/>
          </a:xfrm>
          <a:prstGeom prst="line">
            <a:avLst/>
          </a:prstGeom>
          <a:noFill/>
          <a:ln w="6350">
            <a:solidFill>
              <a:srgbClr val="E3E4E8"/>
            </a:solidFill>
            <a:prstDash val="solid"/>
          </a:ln>
        </p:spPr>
      </p:sp>
      <p:sp>
        <p:nvSpPr>
          <p:cNvPr id="71" name="Shape 68"/>
          <p:cNvSpPr/>
          <p:nvPr/>
        </p:nvSpPr>
        <p:spPr>
          <a:xfrm>
            <a:off x="3882371" y="5495544"/>
            <a:ext cx="906742" cy="201168"/>
          </a:xfrm>
          <a:prstGeom prst="roundRect">
            <a:avLst>
              <a:gd name="adj" fmla="val 22727"/>
            </a:avLst>
          </a:prstGeom>
          <a:solidFill>
            <a:srgbClr val="9CA3AF"/>
          </a:solidFill>
          <a:ln/>
        </p:spPr>
      </p:sp>
      <p:sp>
        <p:nvSpPr>
          <p:cNvPr id="72" name="Shape 69"/>
          <p:cNvSpPr/>
          <p:nvPr/>
        </p:nvSpPr>
        <p:spPr>
          <a:xfrm>
            <a:off x="5970175" y="5495544"/>
            <a:ext cx="906742" cy="201168"/>
          </a:xfrm>
          <a:prstGeom prst="roundRect">
            <a:avLst>
              <a:gd name="adj" fmla="val 22727"/>
            </a:avLst>
          </a:prstGeom>
          <a:solidFill>
            <a:srgbClr val="9CA3AF"/>
          </a:solidFill>
          <a:ln/>
        </p:spPr>
      </p:sp>
      <p:sp>
        <p:nvSpPr>
          <p:cNvPr id="73" name="Shape 70"/>
          <p:cNvSpPr/>
          <p:nvPr/>
        </p:nvSpPr>
        <p:spPr>
          <a:xfrm>
            <a:off x="8284664" y="5495544"/>
            <a:ext cx="453371" cy="201168"/>
          </a:xfrm>
          <a:prstGeom prst="roundRect">
            <a:avLst>
              <a:gd name="adj" fmla="val 22727"/>
            </a:avLst>
          </a:prstGeom>
          <a:solidFill>
            <a:srgbClr val="9CA3AF"/>
          </a:solidFill>
          <a:ln/>
        </p:spPr>
      </p:sp>
      <p:sp>
        <p:nvSpPr>
          <p:cNvPr id="74" name="Shape 71"/>
          <p:cNvSpPr/>
          <p:nvPr/>
        </p:nvSpPr>
        <p:spPr>
          <a:xfrm>
            <a:off x="10372468" y="5495544"/>
            <a:ext cx="453371" cy="201168"/>
          </a:xfrm>
          <a:prstGeom prst="roundRect">
            <a:avLst>
              <a:gd name="adj" fmla="val 22727"/>
            </a:avLst>
          </a:prstGeom>
          <a:solidFill>
            <a:srgbClr val="9CA3AF"/>
          </a:solidFill>
          <a:ln/>
        </p:spPr>
      </p:sp>
      <p:sp>
        <p:nvSpPr>
          <p:cNvPr id="75" name="Text 72"/>
          <p:cNvSpPr txBox="1"/>
          <p:nvPr/>
        </p:nvSpPr>
        <p:spPr>
          <a:xfrm>
            <a:off x="3291840"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LCO</a:t>
            </a:r>
            <a:endParaRPr lang="en-US" sz="1200" dirty="0"/>
          </a:p>
        </p:txBody>
      </p:sp>
      <p:sp>
        <p:nvSpPr>
          <p:cNvPr id="76" name="Text 73"/>
          <p:cNvSpPr txBox="1"/>
          <p:nvPr/>
        </p:nvSpPr>
        <p:spPr>
          <a:xfrm>
            <a:off x="5379644"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LCA</a:t>
            </a:r>
            <a:endParaRPr lang="en-US" sz="1200" dirty="0"/>
          </a:p>
        </p:txBody>
      </p:sp>
      <p:sp>
        <p:nvSpPr>
          <p:cNvPr id="77" name="Text 74"/>
          <p:cNvSpPr txBox="1"/>
          <p:nvPr/>
        </p:nvSpPr>
        <p:spPr>
          <a:xfrm>
            <a:off x="7467448"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IOC</a:t>
            </a:r>
            <a:endParaRPr lang="en-US" sz="1200" dirty="0"/>
          </a:p>
        </p:txBody>
      </p:sp>
      <p:sp>
        <p:nvSpPr>
          <p:cNvPr id="78" name="Text 75"/>
          <p:cNvSpPr txBox="1"/>
          <p:nvPr/>
        </p:nvSpPr>
        <p:spPr>
          <a:xfrm>
            <a:off x="9555251"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PR</a:t>
            </a:r>
            <a:endParaRPr lang="en-US" sz="1200" dirty="0"/>
          </a:p>
        </p:txBody>
      </p:sp>
      <p:sp>
        <p:nvSpPr>
          <p:cNvPr id="79" name="Text 76"/>
          <p:cNvSpPr txBox="1"/>
          <p:nvPr/>
        </p:nvSpPr>
        <p:spPr>
          <a:xfrm>
            <a:off x="548640" y="6199632"/>
            <a:ext cx="1109441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Hitos: LCO objetivos acordados · LCA arquitectura validada · IOC versión operativa · PR producto publicado</a:t>
            </a:r>
            <a:endParaRPr lang="en-US" sz="1100" dirty="0"/>
          </a:p>
        </p:txBody>
      </p:sp>
      <p:sp>
        <p:nvSpPr>
          <p:cNvPr id="80" name="!!veil-l#1"/>
          <p:cNvSpPr/>
          <p:nvPr/>
        </p:nvSpPr>
        <p:spPr>
          <a:xfrm>
            <a:off x="3291840" y="1371600"/>
            <a:ext cx="9144" cy="4809744"/>
          </a:xfrm>
          <a:prstGeom prst="rect">
            <a:avLst/>
          </a:prstGeom>
          <a:solidFill>
            <a:srgbClr val="FFFFFF">
              <a:alpha val="70000"/>
            </a:srgbClr>
          </a:solidFill>
          <a:ln>
            <a:noFill/>
          </a:ln>
        </p:spPr>
      </p:sp>
      <p:sp>
        <p:nvSpPr>
          <p:cNvPr id="81" name="!!veil-r#1"/>
          <p:cNvSpPr/>
          <p:nvPr/>
        </p:nvSpPr>
        <p:spPr>
          <a:xfrm>
            <a:off x="5379720" y="1371600"/>
            <a:ext cx="6263640" cy="4809744"/>
          </a:xfrm>
          <a:prstGeom prst="rect">
            <a:avLst/>
          </a:prstGeom>
          <a:solidFill>
            <a:srgbClr val="FFFFFF">
              <a:alpha val="70000"/>
            </a:srgbClr>
          </a:solidFill>
          <a:ln>
            <a:no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Estructura de RUP: fases, iteraciones y disciplinas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8</a:t>
            </a:r>
            <a:endParaRPr lang="en-US" sz="900" dirty="0"/>
          </a:p>
        </p:txBody>
      </p:sp>
      <p:sp>
        <p:nvSpPr>
          <p:cNvPr id="6" name="Shape 3"/>
          <p:cNvSpPr/>
          <p:nvPr/>
        </p:nvSpPr>
        <p:spPr>
          <a:xfrm>
            <a:off x="3319272" y="1417320"/>
            <a:ext cx="2032940" cy="411480"/>
          </a:xfrm>
          <a:prstGeom prst="rect">
            <a:avLst/>
          </a:prstGeom>
          <a:solidFill>
            <a:srgbClr val="9CA3AF"/>
          </a:solidFill>
          <a:ln/>
        </p:spPr>
      </p:sp>
      <p:sp>
        <p:nvSpPr>
          <p:cNvPr id="7" name="Text 4"/>
          <p:cNvSpPr txBox="1"/>
          <p:nvPr/>
        </p:nvSpPr>
        <p:spPr>
          <a:xfrm>
            <a:off x="3319272"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Inicio</a:t>
            </a:r>
            <a:endParaRPr lang="en-US" sz="1300" dirty="0"/>
          </a:p>
        </p:txBody>
      </p:sp>
      <p:sp>
        <p:nvSpPr>
          <p:cNvPr id="8" name="Shape 5"/>
          <p:cNvSpPr/>
          <p:nvPr/>
        </p:nvSpPr>
        <p:spPr>
          <a:xfrm>
            <a:off x="3337560" y="1892808"/>
            <a:ext cx="1996364" cy="292608"/>
          </a:xfrm>
          <a:prstGeom prst="roundRect">
            <a:avLst>
              <a:gd name="adj" fmla="val 25000"/>
            </a:avLst>
          </a:prstGeom>
          <a:solidFill>
            <a:srgbClr val="F5F5F7"/>
          </a:solidFill>
          <a:ln/>
        </p:spPr>
      </p:sp>
      <p:sp>
        <p:nvSpPr>
          <p:cNvPr id="9" name="Text 6"/>
          <p:cNvSpPr txBox="1"/>
          <p:nvPr/>
        </p:nvSpPr>
        <p:spPr>
          <a:xfrm>
            <a:off x="3319272"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I1</a:t>
            </a:r>
            <a:endParaRPr lang="en-US" sz="1000" dirty="0"/>
          </a:p>
        </p:txBody>
      </p:sp>
      <p:sp>
        <p:nvSpPr>
          <p:cNvPr id="10" name="Shape 7"/>
          <p:cNvSpPr/>
          <p:nvPr/>
        </p:nvSpPr>
        <p:spPr>
          <a:xfrm>
            <a:off x="5407076" y="1417320"/>
            <a:ext cx="2032940" cy="411480"/>
          </a:xfrm>
          <a:prstGeom prst="rect">
            <a:avLst/>
          </a:prstGeom>
          <a:solidFill>
            <a:srgbClr val="A78BFA"/>
          </a:solidFill>
          <a:ln/>
        </p:spPr>
      </p:sp>
      <p:sp>
        <p:nvSpPr>
          <p:cNvPr id="11" name="Text 8"/>
          <p:cNvSpPr txBox="1"/>
          <p:nvPr/>
        </p:nvSpPr>
        <p:spPr>
          <a:xfrm>
            <a:off x="5407076"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Elaboración</a:t>
            </a:r>
            <a:endParaRPr lang="en-US" sz="1300" dirty="0"/>
          </a:p>
        </p:txBody>
      </p:sp>
      <p:sp>
        <p:nvSpPr>
          <p:cNvPr id="12" name="Shape 9"/>
          <p:cNvSpPr/>
          <p:nvPr/>
        </p:nvSpPr>
        <p:spPr>
          <a:xfrm>
            <a:off x="5425364" y="1892808"/>
            <a:ext cx="979894" cy="292608"/>
          </a:xfrm>
          <a:prstGeom prst="roundRect">
            <a:avLst>
              <a:gd name="adj" fmla="val 25000"/>
            </a:avLst>
          </a:prstGeom>
          <a:solidFill>
            <a:srgbClr val="F5F5F7"/>
          </a:solidFill>
          <a:ln/>
        </p:spPr>
      </p:sp>
      <p:sp>
        <p:nvSpPr>
          <p:cNvPr id="13" name="Text 10"/>
          <p:cNvSpPr txBox="1"/>
          <p:nvPr/>
        </p:nvSpPr>
        <p:spPr>
          <a:xfrm>
            <a:off x="540707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E1</a:t>
            </a:r>
            <a:endParaRPr lang="en-US" sz="1000" dirty="0"/>
          </a:p>
        </p:txBody>
      </p:sp>
      <p:sp>
        <p:nvSpPr>
          <p:cNvPr id="14" name="Shape 11"/>
          <p:cNvSpPr/>
          <p:nvPr/>
        </p:nvSpPr>
        <p:spPr>
          <a:xfrm>
            <a:off x="6441834" y="1892808"/>
            <a:ext cx="979894" cy="292608"/>
          </a:xfrm>
          <a:prstGeom prst="roundRect">
            <a:avLst>
              <a:gd name="adj" fmla="val 25000"/>
            </a:avLst>
          </a:prstGeom>
          <a:solidFill>
            <a:srgbClr val="F5F5F7"/>
          </a:solidFill>
          <a:ln/>
        </p:spPr>
      </p:sp>
      <p:sp>
        <p:nvSpPr>
          <p:cNvPr id="15" name="Text 12"/>
          <p:cNvSpPr txBox="1"/>
          <p:nvPr/>
        </p:nvSpPr>
        <p:spPr>
          <a:xfrm>
            <a:off x="642354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E2</a:t>
            </a:r>
            <a:endParaRPr lang="en-US" sz="1000" dirty="0"/>
          </a:p>
        </p:txBody>
      </p:sp>
      <p:sp>
        <p:nvSpPr>
          <p:cNvPr id="16" name="Shape 13"/>
          <p:cNvSpPr/>
          <p:nvPr/>
        </p:nvSpPr>
        <p:spPr>
          <a:xfrm>
            <a:off x="7494880" y="1417320"/>
            <a:ext cx="2032940" cy="411480"/>
          </a:xfrm>
          <a:prstGeom prst="rect">
            <a:avLst/>
          </a:prstGeom>
          <a:solidFill>
            <a:srgbClr val="6D28D9"/>
          </a:solidFill>
          <a:ln/>
        </p:spPr>
      </p:sp>
      <p:sp>
        <p:nvSpPr>
          <p:cNvPr id="17" name="Text 14"/>
          <p:cNvSpPr txBox="1"/>
          <p:nvPr/>
        </p:nvSpPr>
        <p:spPr>
          <a:xfrm>
            <a:off x="7494880"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Construcción</a:t>
            </a:r>
            <a:endParaRPr lang="en-US" sz="1300" dirty="0"/>
          </a:p>
        </p:txBody>
      </p:sp>
      <p:sp>
        <p:nvSpPr>
          <p:cNvPr id="18" name="Shape 15"/>
          <p:cNvSpPr/>
          <p:nvPr/>
        </p:nvSpPr>
        <p:spPr>
          <a:xfrm>
            <a:off x="7513168" y="1892808"/>
            <a:ext cx="641071" cy="292608"/>
          </a:xfrm>
          <a:prstGeom prst="roundRect">
            <a:avLst>
              <a:gd name="adj" fmla="val 25000"/>
            </a:avLst>
          </a:prstGeom>
          <a:solidFill>
            <a:srgbClr val="F5F5F7"/>
          </a:solidFill>
          <a:ln/>
        </p:spPr>
      </p:sp>
      <p:sp>
        <p:nvSpPr>
          <p:cNvPr id="19" name="Text 16"/>
          <p:cNvSpPr txBox="1"/>
          <p:nvPr/>
        </p:nvSpPr>
        <p:spPr>
          <a:xfrm>
            <a:off x="7494880"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C1</a:t>
            </a:r>
            <a:endParaRPr lang="en-US" sz="1000" dirty="0"/>
          </a:p>
        </p:txBody>
      </p:sp>
      <p:sp>
        <p:nvSpPr>
          <p:cNvPr id="20" name="Shape 17"/>
          <p:cNvSpPr/>
          <p:nvPr/>
        </p:nvSpPr>
        <p:spPr>
          <a:xfrm>
            <a:off x="8190814" y="1892808"/>
            <a:ext cx="641071" cy="292608"/>
          </a:xfrm>
          <a:prstGeom prst="roundRect">
            <a:avLst>
              <a:gd name="adj" fmla="val 25000"/>
            </a:avLst>
          </a:prstGeom>
          <a:solidFill>
            <a:srgbClr val="F5F5F7"/>
          </a:solidFill>
          <a:ln/>
        </p:spPr>
      </p:sp>
      <p:sp>
        <p:nvSpPr>
          <p:cNvPr id="21" name="Text 18"/>
          <p:cNvSpPr txBox="1"/>
          <p:nvPr/>
        </p:nvSpPr>
        <p:spPr>
          <a:xfrm>
            <a:off x="8172526"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C2</a:t>
            </a:r>
            <a:endParaRPr lang="en-US" sz="1000" dirty="0"/>
          </a:p>
        </p:txBody>
      </p:sp>
      <p:sp>
        <p:nvSpPr>
          <p:cNvPr id="22" name="Shape 19"/>
          <p:cNvSpPr/>
          <p:nvPr/>
        </p:nvSpPr>
        <p:spPr>
          <a:xfrm>
            <a:off x="8868461" y="1892808"/>
            <a:ext cx="641071" cy="292608"/>
          </a:xfrm>
          <a:prstGeom prst="roundRect">
            <a:avLst>
              <a:gd name="adj" fmla="val 25000"/>
            </a:avLst>
          </a:prstGeom>
          <a:solidFill>
            <a:srgbClr val="F5F5F7"/>
          </a:solidFill>
          <a:ln/>
        </p:spPr>
      </p:sp>
      <p:sp>
        <p:nvSpPr>
          <p:cNvPr id="23" name="Text 20"/>
          <p:cNvSpPr txBox="1"/>
          <p:nvPr/>
        </p:nvSpPr>
        <p:spPr>
          <a:xfrm>
            <a:off x="8850173"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C3</a:t>
            </a:r>
            <a:endParaRPr lang="en-US" sz="1000" dirty="0"/>
          </a:p>
        </p:txBody>
      </p:sp>
      <p:sp>
        <p:nvSpPr>
          <p:cNvPr id="24" name="Shape 21"/>
          <p:cNvSpPr/>
          <p:nvPr/>
        </p:nvSpPr>
        <p:spPr>
          <a:xfrm>
            <a:off x="9582683" y="1417320"/>
            <a:ext cx="2032940" cy="411480"/>
          </a:xfrm>
          <a:prstGeom prst="rect">
            <a:avLst/>
          </a:prstGeom>
          <a:solidFill>
            <a:srgbClr val="0B0B0D"/>
          </a:solidFill>
          <a:ln/>
        </p:spPr>
      </p:sp>
      <p:sp>
        <p:nvSpPr>
          <p:cNvPr id="25" name="Text 22"/>
          <p:cNvSpPr txBox="1"/>
          <p:nvPr/>
        </p:nvSpPr>
        <p:spPr>
          <a:xfrm>
            <a:off x="9582683"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Transición</a:t>
            </a:r>
            <a:endParaRPr lang="en-US" sz="1300" dirty="0"/>
          </a:p>
        </p:txBody>
      </p:sp>
      <p:sp>
        <p:nvSpPr>
          <p:cNvPr id="26" name="Shape 23"/>
          <p:cNvSpPr/>
          <p:nvPr/>
        </p:nvSpPr>
        <p:spPr>
          <a:xfrm>
            <a:off x="9600971" y="1892808"/>
            <a:ext cx="1996364" cy="292608"/>
          </a:xfrm>
          <a:prstGeom prst="roundRect">
            <a:avLst>
              <a:gd name="adj" fmla="val 25000"/>
            </a:avLst>
          </a:prstGeom>
          <a:solidFill>
            <a:srgbClr val="F5F5F7"/>
          </a:solidFill>
          <a:ln/>
        </p:spPr>
      </p:sp>
      <p:sp>
        <p:nvSpPr>
          <p:cNvPr id="27" name="Text 24"/>
          <p:cNvSpPr txBox="1"/>
          <p:nvPr/>
        </p:nvSpPr>
        <p:spPr>
          <a:xfrm>
            <a:off x="9582683"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T1</a:t>
            </a:r>
            <a:endParaRPr lang="en-US" sz="1000" dirty="0"/>
          </a:p>
        </p:txBody>
      </p:sp>
      <p:sp>
        <p:nvSpPr>
          <p:cNvPr id="28" name="Text 25"/>
          <p:cNvSpPr txBox="1"/>
          <p:nvPr/>
        </p:nvSpPr>
        <p:spPr>
          <a:xfrm>
            <a:off x="548640" y="233172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Modelado del negocio</a:t>
            </a:r>
            <a:endParaRPr lang="en-US" sz="1100" dirty="0"/>
          </a:p>
        </p:txBody>
      </p:sp>
      <p:sp>
        <p:nvSpPr>
          <p:cNvPr id="29" name="Shape 26"/>
          <p:cNvSpPr/>
          <p:nvPr/>
        </p:nvSpPr>
        <p:spPr>
          <a:xfrm>
            <a:off x="548640" y="2715768"/>
            <a:ext cx="11094415" cy="0"/>
          </a:xfrm>
          <a:prstGeom prst="line">
            <a:avLst/>
          </a:prstGeom>
          <a:noFill/>
          <a:ln w="6350">
            <a:solidFill>
              <a:srgbClr val="E3E4E8"/>
            </a:solidFill>
            <a:prstDash val="solid"/>
          </a:ln>
        </p:spPr>
      </p:sp>
      <p:sp>
        <p:nvSpPr>
          <p:cNvPr id="30" name="Shape 27"/>
          <p:cNvSpPr/>
          <p:nvPr/>
        </p:nvSpPr>
        <p:spPr>
          <a:xfrm>
            <a:off x="3429000" y="2423160"/>
            <a:ext cx="1813484" cy="201168"/>
          </a:xfrm>
          <a:prstGeom prst="roundRect">
            <a:avLst>
              <a:gd name="adj" fmla="val 22727"/>
            </a:avLst>
          </a:prstGeom>
          <a:solidFill>
            <a:srgbClr val="6D28D9"/>
          </a:solidFill>
          <a:ln/>
        </p:spPr>
      </p:sp>
      <p:sp>
        <p:nvSpPr>
          <p:cNvPr id="31" name="Shape 28"/>
          <p:cNvSpPr/>
          <p:nvPr/>
        </p:nvSpPr>
        <p:spPr>
          <a:xfrm>
            <a:off x="5970175" y="2423160"/>
            <a:ext cx="906742" cy="201168"/>
          </a:xfrm>
          <a:prstGeom prst="roundRect">
            <a:avLst>
              <a:gd name="adj" fmla="val 22727"/>
            </a:avLst>
          </a:prstGeom>
          <a:solidFill>
            <a:srgbClr val="6D28D9"/>
          </a:solidFill>
          <a:ln/>
        </p:spPr>
      </p:sp>
      <p:sp>
        <p:nvSpPr>
          <p:cNvPr id="32" name="Shape 29"/>
          <p:cNvSpPr/>
          <p:nvPr/>
        </p:nvSpPr>
        <p:spPr>
          <a:xfrm>
            <a:off x="8284664" y="2423160"/>
            <a:ext cx="453371" cy="201168"/>
          </a:xfrm>
          <a:prstGeom prst="roundRect">
            <a:avLst>
              <a:gd name="adj" fmla="val 22727"/>
            </a:avLst>
          </a:prstGeom>
          <a:solidFill>
            <a:srgbClr val="6D28D9"/>
          </a:solidFill>
          <a:ln/>
        </p:spPr>
      </p:sp>
      <p:sp>
        <p:nvSpPr>
          <p:cNvPr id="33" name="Text 30"/>
          <p:cNvSpPr txBox="1"/>
          <p:nvPr/>
        </p:nvSpPr>
        <p:spPr>
          <a:xfrm>
            <a:off x="548640" y="2715768"/>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Requisitos</a:t>
            </a:r>
            <a:endParaRPr lang="en-US" sz="1100" dirty="0"/>
          </a:p>
        </p:txBody>
      </p:sp>
      <p:sp>
        <p:nvSpPr>
          <p:cNvPr id="34" name="Shape 31"/>
          <p:cNvSpPr/>
          <p:nvPr/>
        </p:nvSpPr>
        <p:spPr>
          <a:xfrm>
            <a:off x="548640" y="3099816"/>
            <a:ext cx="11094415" cy="0"/>
          </a:xfrm>
          <a:prstGeom prst="line">
            <a:avLst/>
          </a:prstGeom>
          <a:noFill/>
          <a:ln w="6350">
            <a:solidFill>
              <a:srgbClr val="E3E4E8"/>
            </a:solidFill>
            <a:prstDash val="solid"/>
          </a:ln>
        </p:spPr>
      </p:sp>
      <p:sp>
        <p:nvSpPr>
          <p:cNvPr id="35" name="Shape 32"/>
          <p:cNvSpPr/>
          <p:nvPr/>
        </p:nvSpPr>
        <p:spPr>
          <a:xfrm>
            <a:off x="3655685" y="2807208"/>
            <a:ext cx="1360113" cy="201168"/>
          </a:xfrm>
          <a:prstGeom prst="roundRect">
            <a:avLst>
              <a:gd name="adj" fmla="val 22727"/>
            </a:avLst>
          </a:prstGeom>
          <a:solidFill>
            <a:srgbClr val="6D28D9"/>
          </a:solidFill>
          <a:ln/>
        </p:spPr>
      </p:sp>
      <p:sp>
        <p:nvSpPr>
          <p:cNvPr id="36" name="Shape 33"/>
          <p:cNvSpPr/>
          <p:nvPr/>
        </p:nvSpPr>
        <p:spPr>
          <a:xfrm>
            <a:off x="5516804" y="2807208"/>
            <a:ext cx="1813484" cy="201168"/>
          </a:xfrm>
          <a:prstGeom prst="roundRect">
            <a:avLst>
              <a:gd name="adj" fmla="val 22727"/>
            </a:avLst>
          </a:prstGeom>
          <a:solidFill>
            <a:srgbClr val="6D28D9"/>
          </a:solidFill>
          <a:ln/>
        </p:spPr>
      </p:sp>
      <p:sp>
        <p:nvSpPr>
          <p:cNvPr id="37" name="Shape 34"/>
          <p:cNvSpPr/>
          <p:nvPr/>
        </p:nvSpPr>
        <p:spPr>
          <a:xfrm>
            <a:off x="8284664" y="2807208"/>
            <a:ext cx="453371" cy="201168"/>
          </a:xfrm>
          <a:prstGeom prst="roundRect">
            <a:avLst>
              <a:gd name="adj" fmla="val 22727"/>
            </a:avLst>
          </a:prstGeom>
          <a:solidFill>
            <a:srgbClr val="6D28D9"/>
          </a:solidFill>
          <a:ln/>
        </p:spPr>
      </p:sp>
      <p:sp>
        <p:nvSpPr>
          <p:cNvPr id="38" name="Text 35"/>
          <p:cNvSpPr txBox="1"/>
          <p:nvPr/>
        </p:nvSpPr>
        <p:spPr>
          <a:xfrm>
            <a:off x="548640" y="3099816"/>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Análisis y diseño</a:t>
            </a:r>
            <a:endParaRPr lang="en-US" sz="1100" dirty="0"/>
          </a:p>
        </p:txBody>
      </p:sp>
      <p:sp>
        <p:nvSpPr>
          <p:cNvPr id="39" name="Shape 36"/>
          <p:cNvSpPr/>
          <p:nvPr/>
        </p:nvSpPr>
        <p:spPr>
          <a:xfrm>
            <a:off x="548640" y="3483864"/>
            <a:ext cx="11094415" cy="0"/>
          </a:xfrm>
          <a:prstGeom prst="line">
            <a:avLst/>
          </a:prstGeom>
          <a:noFill/>
          <a:ln w="6350">
            <a:solidFill>
              <a:srgbClr val="E3E4E8"/>
            </a:solidFill>
            <a:prstDash val="solid"/>
          </a:ln>
        </p:spPr>
      </p:sp>
      <p:sp>
        <p:nvSpPr>
          <p:cNvPr id="40" name="Shape 37"/>
          <p:cNvSpPr/>
          <p:nvPr/>
        </p:nvSpPr>
        <p:spPr>
          <a:xfrm>
            <a:off x="4109056" y="3191256"/>
            <a:ext cx="453371" cy="201168"/>
          </a:xfrm>
          <a:prstGeom prst="roundRect">
            <a:avLst>
              <a:gd name="adj" fmla="val 22727"/>
            </a:avLst>
          </a:prstGeom>
          <a:solidFill>
            <a:srgbClr val="6D28D9"/>
          </a:solidFill>
          <a:ln/>
        </p:spPr>
      </p:sp>
      <p:sp>
        <p:nvSpPr>
          <p:cNvPr id="41" name="Shape 38"/>
          <p:cNvSpPr/>
          <p:nvPr/>
        </p:nvSpPr>
        <p:spPr>
          <a:xfrm>
            <a:off x="5516804" y="3191256"/>
            <a:ext cx="1813484" cy="201168"/>
          </a:xfrm>
          <a:prstGeom prst="roundRect">
            <a:avLst>
              <a:gd name="adj" fmla="val 22727"/>
            </a:avLst>
          </a:prstGeom>
          <a:solidFill>
            <a:srgbClr val="6D28D9"/>
          </a:solidFill>
          <a:ln/>
        </p:spPr>
      </p:sp>
      <p:sp>
        <p:nvSpPr>
          <p:cNvPr id="42" name="Shape 39"/>
          <p:cNvSpPr/>
          <p:nvPr/>
        </p:nvSpPr>
        <p:spPr>
          <a:xfrm>
            <a:off x="8057979" y="3191256"/>
            <a:ext cx="906742" cy="201168"/>
          </a:xfrm>
          <a:prstGeom prst="roundRect">
            <a:avLst>
              <a:gd name="adj" fmla="val 22727"/>
            </a:avLst>
          </a:prstGeom>
          <a:solidFill>
            <a:srgbClr val="6D28D9"/>
          </a:solidFill>
          <a:ln/>
        </p:spPr>
      </p:sp>
      <p:sp>
        <p:nvSpPr>
          <p:cNvPr id="43" name="Text 40"/>
          <p:cNvSpPr txBox="1"/>
          <p:nvPr/>
        </p:nvSpPr>
        <p:spPr>
          <a:xfrm>
            <a:off x="548640" y="3483864"/>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Implementación</a:t>
            </a:r>
            <a:endParaRPr lang="en-US" sz="1100" dirty="0"/>
          </a:p>
        </p:txBody>
      </p:sp>
      <p:sp>
        <p:nvSpPr>
          <p:cNvPr id="44" name="Shape 41"/>
          <p:cNvSpPr/>
          <p:nvPr/>
        </p:nvSpPr>
        <p:spPr>
          <a:xfrm>
            <a:off x="548640" y="3867912"/>
            <a:ext cx="11094415" cy="0"/>
          </a:xfrm>
          <a:prstGeom prst="line">
            <a:avLst/>
          </a:prstGeom>
          <a:noFill/>
          <a:ln w="6350">
            <a:solidFill>
              <a:srgbClr val="E3E4E8"/>
            </a:solidFill>
            <a:prstDash val="solid"/>
          </a:ln>
        </p:spPr>
      </p:sp>
      <p:sp>
        <p:nvSpPr>
          <p:cNvPr id="45" name="Shape 42"/>
          <p:cNvSpPr/>
          <p:nvPr/>
        </p:nvSpPr>
        <p:spPr>
          <a:xfrm>
            <a:off x="5970175" y="3575304"/>
            <a:ext cx="906742" cy="201168"/>
          </a:xfrm>
          <a:prstGeom prst="roundRect">
            <a:avLst>
              <a:gd name="adj" fmla="val 22727"/>
            </a:avLst>
          </a:prstGeom>
          <a:solidFill>
            <a:srgbClr val="6D28D9"/>
          </a:solidFill>
          <a:ln/>
        </p:spPr>
      </p:sp>
      <p:sp>
        <p:nvSpPr>
          <p:cNvPr id="46" name="Shape 43"/>
          <p:cNvSpPr/>
          <p:nvPr/>
        </p:nvSpPr>
        <p:spPr>
          <a:xfrm>
            <a:off x="7604608" y="3575304"/>
            <a:ext cx="1813484" cy="201168"/>
          </a:xfrm>
          <a:prstGeom prst="roundRect">
            <a:avLst>
              <a:gd name="adj" fmla="val 22727"/>
            </a:avLst>
          </a:prstGeom>
          <a:solidFill>
            <a:srgbClr val="6D28D9"/>
          </a:solidFill>
          <a:ln/>
        </p:spPr>
      </p:sp>
      <p:sp>
        <p:nvSpPr>
          <p:cNvPr id="47" name="Shape 44"/>
          <p:cNvSpPr/>
          <p:nvPr/>
        </p:nvSpPr>
        <p:spPr>
          <a:xfrm>
            <a:off x="10372468" y="3575304"/>
            <a:ext cx="453371" cy="201168"/>
          </a:xfrm>
          <a:prstGeom prst="roundRect">
            <a:avLst>
              <a:gd name="adj" fmla="val 22727"/>
            </a:avLst>
          </a:prstGeom>
          <a:solidFill>
            <a:srgbClr val="6D28D9"/>
          </a:solidFill>
          <a:ln/>
        </p:spPr>
      </p:sp>
      <p:sp>
        <p:nvSpPr>
          <p:cNvPr id="48" name="Text 45"/>
          <p:cNvSpPr txBox="1"/>
          <p:nvPr/>
        </p:nvSpPr>
        <p:spPr>
          <a:xfrm>
            <a:off x="548640" y="3867912"/>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Pruebas</a:t>
            </a:r>
            <a:endParaRPr lang="en-US" sz="1100" dirty="0"/>
          </a:p>
        </p:txBody>
      </p:sp>
      <p:sp>
        <p:nvSpPr>
          <p:cNvPr id="49" name="Shape 46"/>
          <p:cNvSpPr/>
          <p:nvPr/>
        </p:nvSpPr>
        <p:spPr>
          <a:xfrm>
            <a:off x="548640" y="4251960"/>
            <a:ext cx="11094415" cy="0"/>
          </a:xfrm>
          <a:prstGeom prst="line">
            <a:avLst/>
          </a:prstGeom>
          <a:noFill/>
          <a:ln w="6350">
            <a:solidFill>
              <a:srgbClr val="E3E4E8"/>
            </a:solidFill>
            <a:prstDash val="solid"/>
          </a:ln>
        </p:spPr>
      </p:sp>
      <p:sp>
        <p:nvSpPr>
          <p:cNvPr id="50" name="Shape 47"/>
          <p:cNvSpPr/>
          <p:nvPr/>
        </p:nvSpPr>
        <p:spPr>
          <a:xfrm>
            <a:off x="6196860" y="3959352"/>
            <a:ext cx="453371" cy="201168"/>
          </a:xfrm>
          <a:prstGeom prst="roundRect">
            <a:avLst>
              <a:gd name="adj" fmla="val 22727"/>
            </a:avLst>
          </a:prstGeom>
          <a:solidFill>
            <a:srgbClr val="6D28D9"/>
          </a:solidFill>
          <a:ln/>
        </p:spPr>
      </p:sp>
      <p:sp>
        <p:nvSpPr>
          <p:cNvPr id="51" name="Shape 48"/>
          <p:cNvSpPr/>
          <p:nvPr/>
        </p:nvSpPr>
        <p:spPr>
          <a:xfrm>
            <a:off x="7604608" y="3959352"/>
            <a:ext cx="1813484" cy="201168"/>
          </a:xfrm>
          <a:prstGeom prst="roundRect">
            <a:avLst>
              <a:gd name="adj" fmla="val 22727"/>
            </a:avLst>
          </a:prstGeom>
          <a:solidFill>
            <a:srgbClr val="6D28D9"/>
          </a:solidFill>
          <a:ln/>
        </p:spPr>
      </p:sp>
      <p:sp>
        <p:nvSpPr>
          <p:cNvPr id="52" name="Shape 49"/>
          <p:cNvSpPr/>
          <p:nvPr/>
        </p:nvSpPr>
        <p:spPr>
          <a:xfrm>
            <a:off x="9919097" y="3959352"/>
            <a:ext cx="1360113" cy="201168"/>
          </a:xfrm>
          <a:prstGeom prst="roundRect">
            <a:avLst>
              <a:gd name="adj" fmla="val 22727"/>
            </a:avLst>
          </a:prstGeom>
          <a:solidFill>
            <a:srgbClr val="6D28D9"/>
          </a:solidFill>
          <a:ln/>
        </p:spPr>
      </p:sp>
      <p:sp>
        <p:nvSpPr>
          <p:cNvPr id="53" name="Text 50"/>
          <p:cNvSpPr txBox="1"/>
          <p:nvPr/>
        </p:nvSpPr>
        <p:spPr>
          <a:xfrm>
            <a:off x="548640" y="425196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Despliegue</a:t>
            </a:r>
            <a:endParaRPr lang="en-US" sz="1100" dirty="0"/>
          </a:p>
        </p:txBody>
      </p:sp>
      <p:sp>
        <p:nvSpPr>
          <p:cNvPr id="54" name="Shape 51"/>
          <p:cNvSpPr/>
          <p:nvPr/>
        </p:nvSpPr>
        <p:spPr>
          <a:xfrm>
            <a:off x="548640" y="4636008"/>
            <a:ext cx="11094415" cy="0"/>
          </a:xfrm>
          <a:prstGeom prst="line">
            <a:avLst/>
          </a:prstGeom>
          <a:noFill/>
          <a:ln w="6350">
            <a:solidFill>
              <a:srgbClr val="E3E4E8"/>
            </a:solidFill>
            <a:prstDash val="solid"/>
          </a:ln>
        </p:spPr>
      </p:sp>
      <p:sp>
        <p:nvSpPr>
          <p:cNvPr id="55" name="Shape 52"/>
          <p:cNvSpPr/>
          <p:nvPr/>
        </p:nvSpPr>
        <p:spPr>
          <a:xfrm>
            <a:off x="8284664" y="4343400"/>
            <a:ext cx="453371" cy="201168"/>
          </a:xfrm>
          <a:prstGeom prst="roundRect">
            <a:avLst>
              <a:gd name="adj" fmla="val 22727"/>
            </a:avLst>
          </a:prstGeom>
          <a:solidFill>
            <a:srgbClr val="6D28D9"/>
          </a:solidFill>
          <a:ln/>
        </p:spPr>
      </p:sp>
      <p:sp>
        <p:nvSpPr>
          <p:cNvPr id="56" name="Shape 53"/>
          <p:cNvSpPr/>
          <p:nvPr/>
        </p:nvSpPr>
        <p:spPr>
          <a:xfrm>
            <a:off x="9692411" y="4343400"/>
            <a:ext cx="1813484" cy="201168"/>
          </a:xfrm>
          <a:prstGeom prst="roundRect">
            <a:avLst>
              <a:gd name="adj" fmla="val 22727"/>
            </a:avLst>
          </a:prstGeom>
          <a:solidFill>
            <a:srgbClr val="6D28D9"/>
          </a:solidFill>
          <a:ln/>
        </p:spPr>
      </p:sp>
      <p:sp>
        <p:nvSpPr>
          <p:cNvPr id="57" name="Text 54"/>
          <p:cNvSpPr txBox="1"/>
          <p:nvPr/>
        </p:nvSpPr>
        <p:spPr>
          <a:xfrm>
            <a:off x="548640" y="4636008"/>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 configuración y cambios</a:t>
            </a:r>
            <a:endParaRPr lang="en-US" sz="1100" dirty="0"/>
          </a:p>
        </p:txBody>
      </p:sp>
      <p:sp>
        <p:nvSpPr>
          <p:cNvPr id="58" name="Shape 55"/>
          <p:cNvSpPr/>
          <p:nvPr/>
        </p:nvSpPr>
        <p:spPr>
          <a:xfrm>
            <a:off x="548640" y="5020056"/>
            <a:ext cx="11094415" cy="0"/>
          </a:xfrm>
          <a:prstGeom prst="line">
            <a:avLst/>
          </a:prstGeom>
          <a:noFill/>
          <a:ln w="6350">
            <a:solidFill>
              <a:srgbClr val="E3E4E8"/>
            </a:solidFill>
            <a:prstDash val="solid"/>
          </a:ln>
        </p:spPr>
      </p:sp>
      <p:sp>
        <p:nvSpPr>
          <p:cNvPr id="59" name="Shape 56"/>
          <p:cNvSpPr/>
          <p:nvPr/>
        </p:nvSpPr>
        <p:spPr>
          <a:xfrm>
            <a:off x="4109056" y="4727448"/>
            <a:ext cx="453371" cy="201168"/>
          </a:xfrm>
          <a:prstGeom prst="roundRect">
            <a:avLst>
              <a:gd name="adj" fmla="val 22727"/>
            </a:avLst>
          </a:prstGeom>
          <a:solidFill>
            <a:srgbClr val="9CA3AF"/>
          </a:solidFill>
          <a:ln/>
        </p:spPr>
      </p:sp>
      <p:sp>
        <p:nvSpPr>
          <p:cNvPr id="60" name="Shape 57"/>
          <p:cNvSpPr/>
          <p:nvPr/>
        </p:nvSpPr>
        <p:spPr>
          <a:xfrm>
            <a:off x="5970175" y="4727448"/>
            <a:ext cx="906742" cy="201168"/>
          </a:xfrm>
          <a:prstGeom prst="roundRect">
            <a:avLst>
              <a:gd name="adj" fmla="val 22727"/>
            </a:avLst>
          </a:prstGeom>
          <a:solidFill>
            <a:srgbClr val="9CA3AF"/>
          </a:solidFill>
          <a:ln/>
        </p:spPr>
      </p:sp>
      <p:sp>
        <p:nvSpPr>
          <p:cNvPr id="61" name="Shape 58"/>
          <p:cNvSpPr/>
          <p:nvPr/>
        </p:nvSpPr>
        <p:spPr>
          <a:xfrm>
            <a:off x="7831293" y="4727448"/>
            <a:ext cx="1360113" cy="201168"/>
          </a:xfrm>
          <a:prstGeom prst="roundRect">
            <a:avLst>
              <a:gd name="adj" fmla="val 22727"/>
            </a:avLst>
          </a:prstGeom>
          <a:solidFill>
            <a:srgbClr val="9CA3AF"/>
          </a:solidFill>
          <a:ln/>
        </p:spPr>
      </p:sp>
      <p:sp>
        <p:nvSpPr>
          <p:cNvPr id="62" name="Shape 59"/>
          <p:cNvSpPr/>
          <p:nvPr/>
        </p:nvSpPr>
        <p:spPr>
          <a:xfrm>
            <a:off x="9919097" y="4727448"/>
            <a:ext cx="1360113" cy="201168"/>
          </a:xfrm>
          <a:prstGeom prst="roundRect">
            <a:avLst>
              <a:gd name="adj" fmla="val 22727"/>
            </a:avLst>
          </a:prstGeom>
          <a:solidFill>
            <a:srgbClr val="9CA3AF"/>
          </a:solidFill>
          <a:ln/>
        </p:spPr>
      </p:sp>
      <p:sp>
        <p:nvSpPr>
          <p:cNvPr id="63" name="Text 60"/>
          <p:cNvSpPr txBox="1"/>
          <p:nvPr/>
        </p:nvSpPr>
        <p:spPr>
          <a:xfrm>
            <a:off x="548640" y="5020056"/>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del proyecto</a:t>
            </a:r>
            <a:endParaRPr lang="en-US" sz="1100" dirty="0"/>
          </a:p>
        </p:txBody>
      </p:sp>
      <p:sp>
        <p:nvSpPr>
          <p:cNvPr id="64" name="Shape 61"/>
          <p:cNvSpPr/>
          <p:nvPr/>
        </p:nvSpPr>
        <p:spPr>
          <a:xfrm>
            <a:off x="548640" y="5404104"/>
            <a:ext cx="11094415" cy="0"/>
          </a:xfrm>
          <a:prstGeom prst="line">
            <a:avLst/>
          </a:prstGeom>
          <a:noFill/>
          <a:ln w="6350">
            <a:solidFill>
              <a:srgbClr val="E3E4E8"/>
            </a:solidFill>
            <a:prstDash val="solid"/>
          </a:ln>
        </p:spPr>
      </p:sp>
      <p:sp>
        <p:nvSpPr>
          <p:cNvPr id="65" name="Shape 62"/>
          <p:cNvSpPr/>
          <p:nvPr/>
        </p:nvSpPr>
        <p:spPr>
          <a:xfrm>
            <a:off x="3655685" y="5111496"/>
            <a:ext cx="1360113" cy="201168"/>
          </a:xfrm>
          <a:prstGeom prst="roundRect">
            <a:avLst>
              <a:gd name="adj" fmla="val 22727"/>
            </a:avLst>
          </a:prstGeom>
          <a:solidFill>
            <a:srgbClr val="9CA3AF"/>
          </a:solidFill>
          <a:ln/>
        </p:spPr>
      </p:sp>
      <p:sp>
        <p:nvSpPr>
          <p:cNvPr id="66" name="Shape 63"/>
          <p:cNvSpPr/>
          <p:nvPr/>
        </p:nvSpPr>
        <p:spPr>
          <a:xfrm>
            <a:off x="5743489" y="5111496"/>
            <a:ext cx="1360113" cy="201168"/>
          </a:xfrm>
          <a:prstGeom prst="roundRect">
            <a:avLst>
              <a:gd name="adj" fmla="val 22727"/>
            </a:avLst>
          </a:prstGeom>
          <a:solidFill>
            <a:srgbClr val="9CA3AF"/>
          </a:solidFill>
          <a:ln/>
        </p:spPr>
      </p:sp>
      <p:sp>
        <p:nvSpPr>
          <p:cNvPr id="67" name="Shape 64"/>
          <p:cNvSpPr/>
          <p:nvPr/>
        </p:nvSpPr>
        <p:spPr>
          <a:xfrm>
            <a:off x="8057979" y="5111496"/>
            <a:ext cx="906742" cy="201168"/>
          </a:xfrm>
          <a:prstGeom prst="roundRect">
            <a:avLst>
              <a:gd name="adj" fmla="val 22727"/>
            </a:avLst>
          </a:prstGeom>
          <a:solidFill>
            <a:srgbClr val="9CA3AF"/>
          </a:solidFill>
          <a:ln/>
        </p:spPr>
      </p:sp>
      <p:sp>
        <p:nvSpPr>
          <p:cNvPr id="68" name="Shape 65"/>
          <p:cNvSpPr/>
          <p:nvPr/>
        </p:nvSpPr>
        <p:spPr>
          <a:xfrm>
            <a:off x="10145782" y="5111496"/>
            <a:ext cx="906742" cy="201168"/>
          </a:xfrm>
          <a:prstGeom prst="roundRect">
            <a:avLst>
              <a:gd name="adj" fmla="val 22727"/>
            </a:avLst>
          </a:prstGeom>
          <a:solidFill>
            <a:srgbClr val="9CA3AF"/>
          </a:solidFill>
          <a:ln/>
        </p:spPr>
      </p:sp>
      <p:sp>
        <p:nvSpPr>
          <p:cNvPr id="69" name="Text 66"/>
          <p:cNvSpPr txBox="1"/>
          <p:nvPr/>
        </p:nvSpPr>
        <p:spPr>
          <a:xfrm>
            <a:off x="548640" y="5404104"/>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Entorno</a:t>
            </a:r>
            <a:endParaRPr lang="en-US" sz="1100" dirty="0"/>
          </a:p>
        </p:txBody>
      </p:sp>
      <p:sp>
        <p:nvSpPr>
          <p:cNvPr id="70" name="Shape 67"/>
          <p:cNvSpPr/>
          <p:nvPr/>
        </p:nvSpPr>
        <p:spPr>
          <a:xfrm>
            <a:off x="548640" y="5788152"/>
            <a:ext cx="11094415" cy="0"/>
          </a:xfrm>
          <a:prstGeom prst="line">
            <a:avLst/>
          </a:prstGeom>
          <a:noFill/>
          <a:ln w="6350">
            <a:solidFill>
              <a:srgbClr val="E3E4E8"/>
            </a:solidFill>
            <a:prstDash val="solid"/>
          </a:ln>
        </p:spPr>
      </p:sp>
      <p:sp>
        <p:nvSpPr>
          <p:cNvPr id="71" name="Shape 68"/>
          <p:cNvSpPr/>
          <p:nvPr/>
        </p:nvSpPr>
        <p:spPr>
          <a:xfrm>
            <a:off x="3882371" y="5495544"/>
            <a:ext cx="906742" cy="201168"/>
          </a:xfrm>
          <a:prstGeom prst="roundRect">
            <a:avLst>
              <a:gd name="adj" fmla="val 22727"/>
            </a:avLst>
          </a:prstGeom>
          <a:solidFill>
            <a:srgbClr val="9CA3AF"/>
          </a:solidFill>
          <a:ln/>
        </p:spPr>
      </p:sp>
      <p:sp>
        <p:nvSpPr>
          <p:cNvPr id="72" name="Shape 69"/>
          <p:cNvSpPr/>
          <p:nvPr/>
        </p:nvSpPr>
        <p:spPr>
          <a:xfrm>
            <a:off x="5970175" y="5495544"/>
            <a:ext cx="906742" cy="201168"/>
          </a:xfrm>
          <a:prstGeom prst="roundRect">
            <a:avLst>
              <a:gd name="adj" fmla="val 22727"/>
            </a:avLst>
          </a:prstGeom>
          <a:solidFill>
            <a:srgbClr val="9CA3AF"/>
          </a:solidFill>
          <a:ln/>
        </p:spPr>
      </p:sp>
      <p:sp>
        <p:nvSpPr>
          <p:cNvPr id="73" name="Shape 70"/>
          <p:cNvSpPr/>
          <p:nvPr/>
        </p:nvSpPr>
        <p:spPr>
          <a:xfrm>
            <a:off x="8284664" y="5495544"/>
            <a:ext cx="453371" cy="201168"/>
          </a:xfrm>
          <a:prstGeom prst="roundRect">
            <a:avLst>
              <a:gd name="adj" fmla="val 22727"/>
            </a:avLst>
          </a:prstGeom>
          <a:solidFill>
            <a:srgbClr val="9CA3AF"/>
          </a:solidFill>
          <a:ln/>
        </p:spPr>
      </p:sp>
      <p:sp>
        <p:nvSpPr>
          <p:cNvPr id="74" name="Shape 71"/>
          <p:cNvSpPr/>
          <p:nvPr/>
        </p:nvSpPr>
        <p:spPr>
          <a:xfrm>
            <a:off x="10372468" y="5495544"/>
            <a:ext cx="453371" cy="201168"/>
          </a:xfrm>
          <a:prstGeom prst="roundRect">
            <a:avLst>
              <a:gd name="adj" fmla="val 22727"/>
            </a:avLst>
          </a:prstGeom>
          <a:solidFill>
            <a:srgbClr val="9CA3AF"/>
          </a:solidFill>
          <a:ln/>
        </p:spPr>
      </p:sp>
      <p:sp>
        <p:nvSpPr>
          <p:cNvPr id="75" name="Text 72"/>
          <p:cNvSpPr txBox="1"/>
          <p:nvPr/>
        </p:nvSpPr>
        <p:spPr>
          <a:xfrm>
            <a:off x="3291840"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LCO</a:t>
            </a:r>
            <a:endParaRPr lang="en-US" sz="1200" dirty="0"/>
          </a:p>
        </p:txBody>
      </p:sp>
      <p:sp>
        <p:nvSpPr>
          <p:cNvPr id="76" name="Text 73"/>
          <p:cNvSpPr txBox="1"/>
          <p:nvPr/>
        </p:nvSpPr>
        <p:spPr>
          <a:xfrm>
            <a:off x="5379644"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LCA</a:t>
            </a:r>
            <a:endParaRPr lang="en-US" sz="1200" dirty="0"/>
          </a:p>
        </p:txBody>
      </p:sp>
      <p:sp>
        <p:nvSpPr>
          <p:cNvPr id="77" name="Text 74"/>
          <p:cNvSpPr txBox="1"/>
          <p:nvPr/>
        </p:nvSpPr>
        <p:spPr>
          <a:xfrm>
            <a:off x="7467448"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IOC</a:t>
            </a:r>
            <a:endParaRPr lang="en-US" sz="1200" dirty="0"/>
          </a:p>
        </p:txBody>
      </p:sp>
      <p:sp>
        <p:nvSpPr>
          <p:cNvPr id="78" name="Text 75"/>
          <p:cNvSpPr txBox="1"/>
          <p:nvPr/>
        </p:nvSpPr>
        <p:spPr>
          <a:xfrm>
            <a:off x="9555251"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PR</a:t>
            </a:r>
            <a:endParaRPr lang="en-US" sz="1200" dirty="0"/>
          </a:p>
        </p:txBody>
      </p:sp>
      <p:sp>
        <p:nvSpPr>
          <p:cNvPr id="79" name="Text 76"/>
          <p:cNvSpPr txBox="1"/>
          <p:nvPr/>
        </p:nvSpPr>
        <p:spPr>
          <a:xfrm>
            <a:off x="548640" y="6199632"/>
            <a:ext cx="1109441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Hitos: LCO objetivos acordados · LCA arquitectura validada · IOC versión operativa · PR producto publicado</a:t>
            </a:r>
            <a:endParaRPr lang="en-US" sz="1100" dirty="0"/>
          </a:p>
        </p:txBody>
      </p:sp>
      <p:sp>
        <p:nvSpPr>
          <p:cNvPr id="80" name="!!veil-l#1"/>
          <p:cNvSpPr/>
          <p:nvPr/>
        </p:nvSpPr>
        <p:spPr>
          <a:xfrm>
            <a:off x="3291840" y="1371600"/>
            <a:ext cx="2087880" cy="4809744"/>
          </a:xfrm>
          <a:prstGeom prst="rect">
            <a:avLst/>
          </a:prstGeom>
          <a:solidFill>
            <a:srgbClr val="FFFFFF">
              <a:alpha val="70000"/>
            </a:srgbClr>
          </a:solidFill>
          <a:ln>
            <a:noFill/>
          </a:ln>
        </p:spPr>
      </p:sp>
      <p:sp>
        <p:nvSpPr>
          <p:cNvPr id="81" name="!!veil-r#1"/>
          <p:cNvSpPr/>
          <p:nvPr/>
        </p:nvSpPr>
        <p:spPr>
          <a:xfrm>
            <a:off x="7467600" y="1371600"/>
            <a:ext cx="4175760" cy="4809744"/>
          </a:xfrm>
          <a:prstGeom prst="rect">
            <a:avLst/>
          </a:prstGeom>
          <a:solidFill>
            <a:srgbClr val="FFFFFF">
              <a:alpha val="70000"/>
            </a:srgbClr>
          </a:solidFill>
          <a:ln>
            <a:no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Estructura de RUP: fases, iteraciones y disciplinas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8</a:t>
            </a:r>
            <a:endParaRPr lang="en-US" sz="900" dirty="0"/>
          </a:p>
        </p:txBody>
      </p:sp>
      <p:sp>
        <p:nvSpPr>
          <p:cNvPr id="6" name="Shape 3"/>
          <p:cNvSpPr/>
          <p:nvPr/>
        </p:nvSpPr>
        <p:spPr>
          <a:xfrm>
            <a:off x="3319272" y="1417320"/>
            <a:ext cx="2032940" cy="411480"/>
          </a:xfrm>
          <a:prstGeom prst="rect">
            <a:avLst/>
          </a:prstGeom>
          <a:solidFill>
            <a:srgbClr val="9CA3AF"/>
          </a:solidFill>
          <a:ln/>
        </p:spPr>
      </p:sp>
      <p:sp>
        <p:nvSpPr>
          <p:cNvPr id="7" name="Text 4"/>
          <p:cNvSpPr txBox="1"/>
          <p:nvPr/>
        </p:nvSpPr>
        <p:spPr>
          <a:xfrm>
            <a:off x="3319272"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Inicio</a:t>
            </a:r>
            <a:endParaRPr lang="en-US" sz="1300" dirty="0"/>
          </a:p>
        </p:txBody>
      </p:sp>
      <p:sp>
        <p:nvSpPr>
          <p:cNvPr id="8" name="Shape 5"/>
          <p:cNvSpPr/>
          <p:nvPr/>
        </p:nvSpPr>
        <p:spPr>
          <a:xfrm>
            <a:off x="3337560" y="1892808"/>
            <a:ext cx="1996364" cy="292608"/>
          </a:xfrm>
          <a:prstGeom prst="roundRect">
            <a:avLst>
              <a:gd name="adj" fmla="val 25000"/>
            </a:avLst>
          </a:prstGeom>
          <a:solidFill>
            <a:srgbClr val="F5F5F7"/>
          </a:solidFill>
          <a:ln/>
        </p:spPr>
      </p:sp>
      <p:sp>
        <p:nvSpPr>
          <p:cNvPr id="9" name="Text 6"/>
          <p:cNvSpPr txBox="1"/>
          <p:nvPr/>
        </p:nvSpPr>
        <p:spPr>
          <a:xfrm>
            <a:off x="3319272"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I1</a:t>
            </a:r>
            <a:endParaRPr lang="en-US" sz="1000" dirty="0"/>
          </a:p>
        </p:txBody>
      </p:sp>
      <p:sp>
        <p:nvSpPr>
          <p:cNvPr id="10" name="Shape 7"/>
          <p:cNvSpPr/>
          <p:nvPr/>
        </p:nvSpPr>
        <p:spPr>
          <a:xfrm>
            <a:off x="5407076" y="1417320"/>
            <a:ext cx="2032940" cy="411480"/>
          </a:xfrm>
          <a:prstGeom prst="rect">
            <a:avLst/>
          </a:prstGeom>
          <a:solidFill>
            <a:srgbClr val="A78BFA"/>
          </a:solidFill>
          <a:ln/>
        </p:spPr>
      </p:sp>
      <p:sp>
        <p:nvSpPr>
          <p:cNvPr id="11" name="Text 8"/>
          <p:cNvSpPr txBox="1"/>
          <p:nvPr/>
        </p:nvSpPr>
        <p:spPr>
          <a:xfrm>
            <a:off x="5407076"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Elaboración</a:t>
            </a:r>
            <a:endParaRPr lang="en-US" sz="1300" dirty="0"/>
          </a:p>
        </p:txBody>
      </p:sp>
      <p:sp>
        <p:nvSpPr>
          <p:cNvPr id="12" name="Shape 9"/>
          <p:cNvSpPr/>
          <p:nvPr/>
        </p:nvSpPr>
        <p:spPr>
          <a:xfrm>
            <a:off x="5425364" y="1892808"/>
            <a:ext cx="979894" cy="292608"/>
          </a:xfrm>
          <a:prstGeom prst="roundRect">
            <a:avLst>
              <a:gd name="adj" fmla="val 25000"/>
            </a:avLst>
          </a:prstGeom>
          <a:solidFill>
            <a:srgbClr val="F5F5F7"/>
          </a:solidFill>
          <a:ln/>
        </p:spPr>
      </p:sp>
      <p:sp>
        <p:nvSpPr>
          <p:cNvPr id="13" name="Text 10"/>
          <p:cNvSpPr txBox="1"/>
          <p:nvPr/>
        </p:nvSpPr>
        <p:spPr>
          <a:xfrm>
            <a:off x="540707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E1</a:t>
            </a:r>
            <a:endParaRPr lang="en-US" sz="1000" dirty="0"/>
          </a:p>
        </p:txBody>
      </p:sp>
      <p:sp>
        <p:nvSpPr>
          <p:cNvPr id="14" name="Shape 11"/>
          <p:cNvSpPr/>
          <p:nvPr/>
        </p:nvSpPr>
        <p:spPr>
          <a:xfrm>
            <a:off x="6441834" y="1892808"/>
            <a:ext cx="979894" cy="292608"/>
          </a:xfrm>
          <a:prstGeom prst="roundRect">
            <a:avLst>
              <a:gd name="adj" fmla="val 25000"/>
            </a:avLst>
          </a:prstGeom>
          <a:solidFill>
            <a:srgbClr val="F5F5F7"/>
          </a:solidFill>
          <a:ln/>
        </p:spPr>
      </p:sp>
      <p:sp>
        <p:nvSpPr>
          <p:cNvPr id="15" name="Text 12"/>
          <p:cNvSpPr txBox="1"/>
          <p:nvPr/>
        </p:nvSpPr>
        <p:spPr>
          <a:xfrm>
            <a:off x="642354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E2</a:t>
            </a:r>
            <a:endParaRPr lang="en-US" sz="1000" dirty="0"/>
          </a:p>
        </p:txBody>
      </p:sp>
      <p:sp>
        <p:nvSpPr>
          <p:cNvPr id="16" name="Shape 13"/>
          <p:cNvSpPr/>
          <p:nvPr/>
        </p:nvSpPr>
        <p:spPr>
          <a:xfrm>
            <a:off x="7494880" y="1417320"/>
            <a:ext cx="2032940" cy="411480"/>
          </a:xfrm>
          <a:prstGeom prst="rect">
            <a:avLst/>
          </a:prstGeom>
          <a:solidFill>
            <a:srgbClr val="6D28D9"/>
          </a:solidFill>
          <a:ln/>
        </p:spPr>
      </p:sp>
      <p:sp>
        <p:nvSpPr>
          <p:cNvPr id="17" name="Text 14"/>
          <p:cNvSpPr txBox="1"/>
          <p:nvPr/>
        </p:nvSpPr>
        <p:spPr>
          <a:xfrm>
            <a:off x="7494880"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Construcción</a:t>
            </a:r>
            <a:endParaRPr lang="en-US" sz="1300" dirty="0"/>
          </a:p>
        </p:txBody>
      </p:sp>
      <p:sp>
        <p:nvSpPr>
          <p:cNvPr id="18" name="Shape 15"/>
          <p:cNvSpPr/>
          <p:nvPr/>
        </p:nvSpPr>
        <p:spPr>
          <a:xfrm>
            <a:off x="7513168" y="1892808"/>
            <a:ext cx="641071" cy="292608"/>
          </a:xfrm>
          <a:prstGeom prst="roundRect">
            <a:avLst>
              <a:gd name="adj" fmla="val 25000"/>
            </a:avLst>
          </a:prstGeom>
          <a:solidFill>
            <a:srgbClr val="F5F5F7"/>
          </a:solidFill>
          <a:ln/>
        </p:spPr>
      </p:sp>
      <p:sp>
        <p:nvSpPr>
          <p:cNvPr id="19" name="Text 16"/>
          <p:cNvSpPr txBox="1"/>
          <p:nvPr/>
        </p:nvSpPr>
        <p:spPr>
          <a:xfrm>
            <a:off x="7494880"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C1</a:t>
            </a:r>
            <a:endParaRPr lang="en-US" sz="1000" dirty="0"/>
          </a:p>
        </p:txBody>
      </p:sp>
      <p:sp>
        <p:nvSpPr>
          <p:cNvPr id="20" name="Shape 17"/>
          <p:cNvSpPr/>
          <p:nvPr/>
        </p:nvSpPr>
        <p:spPr>
          <a:xfrm>
            <a:off x="8190814" y="1892808"/>
            <a:ext cx="641071" cy="292608"/>
          </a:xfrm>
          <a:prstGeom prst="roundRect">
            <a:avLst>
              <a:gd name="adj" fmla="val 25000"/>
            </a:avLst>
          </a:prstGeom>
          <a:solidFill>
            <a:srgbClr val="F5F5F7"/>
          </a:solidFill>
          <a:ln/>
        </p:spPr>
      </p:sp>
      <p:sp>
        <p:nvSpPr>
          <p:cNvPr id="21" name="Text 18"/>
          <p:cNvSpPr txBox="1"/>
          <p:nvPr/>
        </p:nvSpPr>
        <p:spPr>
          <a:xfrm>
            <a:off x="8172526"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C2</a:t>
            </a:r>
            <a:endParaRPr lang="en-US" sz="1000" dirty="0"/>
          </a:p>
        </p:txBody>
      </p:sp>
      <p:sp>
        <p:nvSpPr>
          <p:cNvPr id="22" name="Shape 19"/>
          <p:cNvSpPr/>
          <p:nvPr/>
        </p:nvSpPr>
        <p:spPr>
          <a:xfrm>
            <a:off x="8868461" y="1892808"/>
            <a:ext cx="641071" cy="292608"/>
          </a:xfrm>
          <a:prstGeom prst="roundRect">
            <a:avLst>
              <a:gd name="adj" fmla="val 25000"/>
            </a:avLst>
          </a:prstGeom>
          <a:solidFill>
            <a:srgbClr val="F5F5F7"/>
          </a:solidFill>
          <a:ln/>
        </p:spPr>
      </p:sp>
      <p:sp>
        <p:nvSpPr>
          <p:cNvPr id="23" name="Text 20"/>
          <p:cNvSpPr txBox="1"/>
          <p:nvPr/>
        </p:nvSpPr>
        <p:spPr>
          <a:xfrm>
            <a:off x="8850173"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C3</a:t>
            </a:r>
            <a:endParaRPr lang="en-US" sz="1000" dirty="0"/>
          </a:p>
        </p:txBody>
      </p:sp>
      <p:sp>
        <p:nvSpPr>
          <p:cNvPr id="24" name="Shape 21"/>
          <p:cNvSpPr/>
          <p:nvPr/>
        </p:nvSpPr>
        <p:spPr>
          <a:xfrm>
            <a:off x="9582683" y="1417320"/>
            <a:ext cx="2032940" cy="411480"/>
          </a:xfrm>
          <a:prstGeom prst="rect">
            <a:avLst/>
          </a:prstGeom>
          <a:solidFill>
            <a:srgbClr val="0B0B0D"/>
          </a:solidFill>
          <a:ln/>
        </p:spPr>
      </p:sp>
      <p:sp>
        <p:nvSpPr>
          <p:cNvPr id="25" name="Text 22"/>
          <p:cNvSpPr txBox="1"/>
          <p:nvPr/>
        </p:nvSpPr>
        <p:spPr>
          <a:xfrm>
            <a:off x="9582683"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Transición</a:t>
            </a:r>
            <a:endParaRPr lang="en-US" sz="1300" dirty="0"/>
          </a:p>
        </p:txBody>
      </p:sp>
      <p:sp>
        <p:nvSpPr>
          <p:cNvPr id="26" name="Shape 23"/>
          <p:cNvSpPr/>
          <p:nvPr/>
        </p:nvSpPr>
        <p:spPr>
          <a:xfrm>
            <a:off x="9600971" y="1892808"/>
            <a:ext cx="1996364" cy="292608"/>
          </a:xfrm>
          <a:prstGeom prst="roundRect">
            <a:avLst>
              <a:gd name="adj" fmla="val 25000"/>
            </a:avLst>
          </a:prstGeom>
          <a:solidFill>
            <a:srgbClr val="F5F5F7"/>
          </a:solidFill>
          <a:ln/>
        </p:spPr>
      </p:sp>
      <p:sp>
        <p:nvSpPr>
          <p:cNvPr id="27" name="Text 24"/>
          <p:cNvSpPr txBox="1"/>
          <p:nvPr/>
        </p:nvSpPr>
        <p:spPr>
          <a:xfrm>
            <a:off x="9582683"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T1</a:t>
            </a:r>
            <a:endParaRPr lang="en-US" sz="1000" dirty="0"/>
          </a:p>
        </p:txBody>
      </p:sp>
      <p:sp>
        <p:nvSpPr>
          <p:cNvPr id="28" name="Text 25"/>
          <p:cNvSpPr txBox="1"/>
          <p:nvPr/>
        </p:nvSpPr>
        <p:spPr>
          <a:xfrm>
            <a:off x="548640" y="233172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Modelado del negocio</a:t>
            </a:r>
            <a:endParaRPr lang="en-US" sz="1100" dirty="0"/>
          </a:p>
        </p:txBody>
      </p:sp>
      <p:sp>
        <p:nvSpPr>
          <p:cNvPr id="29" name="Shape 26"/>
          <p:cNvSpPr/>
          <p:nvPr/>
        </p:nvSpPr>
        <p:spPr>
          <a:xfrm>
            <a:off x="548640" y="2715768"/>
            <a:ext cx="11094415" cy="0"/>
          </a:xfrm>
          <a:prstGeom prst="line">
            <a:avLst/>
          </a:prstGeom>
          <a:noFill/>
          <a:ln w="6350">
            <a:solidFill>
              <a:srgbClr val="E3E4E8"/>
            </a:solidFill>
            <a:prstDash val="solid"/>
          </a:ln>
        </p:spPr>
      </p:sp>
      <p:sp>
        <p:nvSpPr>
          <p:cNvPr id="30" name="Shape 27"/>
          <p:cNvSpPr/>
          <p:nvPr/>
        </p:nvSpPr>
        <p:spPr>
          <a:xfrm>
            <a:off x="3429000" y="2423160"/>
            <a:ext cx="1813484" cy="201168"/>
          </a:xfrm>
          <a:prstGeom prst="roundRect">
            <a:avLst>
              <a:gd name="adj" fmla="val 22727"/>
            </a:avLst>
          </a:prstGeom>
          <a:solidFill>
            <a:srgbClr val="6D28D9"/>
          </a:solidFill>
          <a:ln/>
        </p:spPr>
      </p:sp>
      <p:sp>
        <p:nvSpPr>
          <p:cNvPr id="31" name="Shape 28"/>
          <p:cNvSpPr/>
          <p:nvPr/>
        </p:nvSpPr>
        <p:spPr>
          <a:xfrm>
            <a:off x="5970175" y="2423160"/>
            <a:ext cx="906742" cy="201168"/>
          </a:xfrm>
          <a:prstGeom prst="roundRect">
            <a:avLst>
              <a:gd name="adj" fmla="val 22727"/>
            </a:avLst>
          </a:prstGeom>
          <a:solidFill>
            <a:srgbClr val="6D28D9"/>
          </a:solidFill>
          <a:ln/>
        </p:spPr>
      </p:sp>
      <p:sp>
        <p:nvSpPr>
          <p:cNvPr id="32" name="Shape 29"/>
          <p:cNvSpPr/>
          <p:nvPr/>
        </p:nvSpPr>
        <p:spPr>
          <a:xfrm>
            <a:off x="8284664" y="2423160"/>
            <a:ext cx="453371" cy="201168"/>
          </a:xfrm>
          <a:prstGeom prst="roundRect">
            <a:avLst>
              <a:gd name="adj" fmla="val 22727"/>
            </a:avLst>
          </a:prstGeom>
          <a:solidFill>
            <a:srgbClr val="6D28D9"/>
          </a:solidFill>
          <a:ln/>
        </p:spPr>
      </p:sp>
      <p:sp>
        <p:nvSpPr>
          <p:cNvPr id="33" name="Text 30"/>
          <p:cNvSpPr txBox="1"/>
          <p:nvPr/>
        </p:nvSpPr>
        <p:spPr>
          <a:xfrm>
            <a:off x="548640" y="2715768"/>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Requisitos</a:t>
            </a:r>
            <a:endParaRPr lang="en-US" sz="1100" dirty="0"/>
          </a:p>
        </p:txBody>
      </p:sp>
      <p:sp>
        <p:nvSpPr>
          <p:cNvPr id="34" name="Shape 31"/>
          <p:cNvSpPr/>
          <p:nvPr/>
        </p:nvSpPr>
        <p:spPr>
          <a:xfrm>
            <a:off x="548640" y="3099816"/>
            <a:ext cx="11094415" cy="0"/>
          </a:xfrm>
          <a:prstGeom prst="line">
            <a:avLst/>
          </a:prstGeom>
          <a:noFill/>
          <a:ln w="6350">
            <a:solidFill>
              <a:srgbClr val="E3E4E8"/>
            </a:solidFill>
            <a:prstDash val="solid"/>
          </a:ln>
        </p:spPr>
      </p:sp>
      <p:sp>
        <p:nvSpPr>
          <p:cNvPr id="35" name="Shape 32"/>
          <p:cNvSpPr/>
          <p:nvPr/>
        </p:nvSpPr>
        <p:spPr>
          <a:xfrm>
            <a:off x="3655685" y="2807208"/>
            <a:ext cx="1360113" cy="201168"/>
          </a:xfrm>
          <a:prstGeom prst="roundRect">
            <a:avLst>
              <a:gd name="adj" fmla="val 22727"/>
            </a:avLst>
          </a:prstGeom>
          <a:solidFill>
            <a:srgbClr val="6D28D9"/>
          </a:solidFill>
          <a:ln/>
        </p:spPr>
      </p:sp>
      <p:sp>
        <p:nvSpPr>
          <p:cNvPr id="36" name="Shape 33"/>
          <p:cNvSpPr/>
          <p:nvPr/>
        </p:nvSpPr>
        <p:spPr>
          <a:xfrm>
            <a:off x="5516804" y="2807208"/>
            <a:ext cx="1813484" cy="201168"/>
          </a:xfrm>
          <a:prstGeom prst="roundRect">
            <a:avLst>
              <a:gd name="adj" fmla="val 22727"/>
            </a:avLst>
          </a:prstGeom>
          <a:solidFill>
            <a:srgbClr val="6D28D9"/>
          </a:solidFill>
          <a:ln/>
        </p:spPr>
      </p:sp>
      <p:sp>
        <p:nvSpPr>
          <p:cNvPr id="37" name="Shape 34"/>
          <p:cNvSpPr/>
          <p:nvPr/>
        </p:nvSpPr>
        <p:spPr>
          <a:xfrm>
            <a:off x="8284664" y="2807208"/>
            <a:ext cx="453371" cy="201168"/>
          </a:xfrm>
          <a:prstGeom prst="roundRect">
            <a:avLst>
              <a:gd name="adj" fmla="val 22727"/>
            </a:avLst>
          </a:prstGeom>
          <a:solidFill>
            <a:srgbClr val="6D28D9"/>
          </a:solidFill>
          <a:ln/>
        </p:spPr>
      </p:sp>
      <p:sp>
        <p:nvSpPr>
          <p:cNvPr id="38" name="Text 35"/>
          <p:cNvSpPr txBox="1"/>
          <p:nvPr/>
        </p:nvSpPr>
        <p:spPr>
          <a:xfrm>
            <a:off x="548640" y="3099816"/>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Análisis y diseño</a:t>
            </a:r>
            <a:endParaRPr lang="en-US" sz="1100" dirty="0"/>
          </a:p>
        </p:txBody>
      </p:sp>
      <p:sp>
        <p:nvSpPr>
          <p:cNvPr id="39" name="Shape 36"/>
          <p:cNvSpPr/>
          <p:nvPr/>
        </p:nvSpPr>
        <p:spPr>
          <a:xfrm>
            <a:off x="548640" y="3483864"/>
            <a:ext cx="11094415" cy="0"/>
          </a:xfrm>
          <a:prstGeom prst="line">
            <a:avLst/>
          </a:prstGeom>
          <a:noFill/>
          <a:ln w="6350">
            <a:solidFill>
              <a:srgbClr val="E3E4E8"/>
            </a:solidFill>
            <a:prstDash val="solid"/>
          </a:ln>
        </p:spPr>
      </p:sp>
      <p:sp>
        <p:nvSpPr>
          <p:cNvPr id="40" name="Shape 37"/>
          <p:cNvSpPr/>
          <p:nvPr/>
        </p:nvSpPr>
        <p:spPr>
          <a:xfrm>
            <a:off x="4109056" y="3191256"/>
            <a:ext cx="453371" cy="201168"/>
          </a:xfrm>
          <a:prstGeom prst="roundRect">
            <a:avLst>
              <a:gd name="adj" fmla="val 22727"/>
            </a:avLst>
          </a:prstGeom>
          <a:solidFill>
            <a:srgbClr val="6D28D9"/>
          </a:solidFill>
          <a:ln/>
        </p:spPr>
      </p:sp>
      <p:sp>
        <p:nvSpPr>
          <p:cNvPr id="41" name="Shape 38"/>
          <p:cNvSpPr/>
          <p:nvPr/>
        </p:nvSpPr>
        <p:spPr>
          <a:xfrm>
            <a:off x="5516804" y="3191256"/>
            <a:ext cx="1813484" cy="201168"/>
          </a:xfrm>
          <a:prstGeom prst="roundRect">
            <a:avLst>
              <a:gd name="adj" fmla="val 22727"/>
            </a:avLst>
          </a:prstGeom>
          <a:solidFill>
            <a:srgbClr val="6D28D9"/>
          </a:solidFill>
          <a:ln/>
        </p:spPr>
      </p:sp>
      <p:sp>
        <p:nvSpPr>
          <p:cNvPr id="42" name="Shape 39"/>
          <p:cNvSpPr/>
          <p:nvPr/>
        </p:nvSpPr>
        <p:spPr>
          <a:xfrm>
            <a:off x="8057979" y="3191256"/>
            <a:ext cx="906742" cy="201168"/>
          </a:xfrm>
          <a:prstGeom prst="roundRect">
            <a:avLst>
              <a:gd name="adj" fmla="val 22727"/>
            </a:avLst>
          </a:prstGeom>
          <a:solidFill>
            <a:srgbClr val="6D28D9"/>
          </a:solidFill>
          <a:ln/>
        </p:spPr>
      </p:sp>
      <p:sp>
        <p:nvSpPr>
          <p:cNvPr id="43" name="Text 40"/>
          <p:cNvSpPr txBox="1"/>
          <p:nvPr/>
        </p:nvSpPr>
        <p:spPr>
          <a:xfrm>
            <a:off x="548640" y="3483864"/>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Implementación</a:t>
            </a:r>
            <a:endParaRPr lang="en-US" sz="1100" dirty="0"/>
          </a:p>
        </p:txBody>
      </p:sp>
      <p:sp>
        <p:nvSpPr>
          <p:cNvPr id="44" name="Shape 41"/>
          <p:cNvSpPr/>
          <p:nvPr/>
        </p:nvSpPr>
        <p:spPr>
          <a:xfrm>
            <a:off x="548640" y="3867912"/>
            <a:ext cx="11094415" cy="0"/>
          </a:xfrm>
          <a:prstGeom prst="line">
            <a:avLst/>
          </a:prstGeom>
          <a:noFill/>
          <a:ln w="6350">
            <a:solidFill>
              <a:srgbClr val="E3E4E8"/>
            </a:solidFill>
            <a:prstDash val="solid"/>
          </a:ln>
        </p:spPr>
      </p:sp>
      <p:sp>
        <p:nvSpPr>
          <p:cNvPr id="45" name="Shape 42"/>
          <p:cNvSpPr/>
          <p:nvPr/>
        </p:nvSpPr>
        <p:spPr>
          <a:xfrm>
            <a:off x="5970175" y="3575304"/>
            <a:ext cx="906742" cy="201168"/>
          </a:xfrm>
          <a:prstGeom prst="roundRect">
            <a:avLst>
              <a:gd name="adj" fmla="val 22727"/>
            </a:avLst>
          </a:prstGeom>
          <a:solidFill>
            <a:srgbClr val="6D28D9"/>
          </a:solidFill>
          <a:ln/>
        </p:spPr>
      </p:sp>
      <p:sp>
        <p:nvSpPr>
          <p:cNvPr id="46" name="Shape 43"/>
          <p:cNvSpPr/>
          <p:nvPr/>
        </p:nvSpPr>
        <p:spPr>
          <a:xfrm>
            <a:off x="7604608" y="3575304"/>
            <a:ext cx="1813484" cy="201168"/>
          </a:xfrm>
          <a:prstGeom prst="roundRect">
            <a:avLst>
              <a:gd name="adj" fmla="val 22727"/>
            </a:avLst>
          </a:prstGeom>
          <a:solidFill>
            <a:srgbClr val="6D28D9"/>
          </a:solidFill>
          <a:ln/>
        </p:spPr>
      </p:sp>
      <p:sp>
        <p:nvSpPr>
          <p:cNvPr id="47" name="Shape 44"/>
          <p:cNvSpPr/>
          <p:nvPr/>
        </p:nvSpPr>
        <p:spPr>
          <a:xfrm>
            <a:off x="10372468" y="3575304"/>
            <a:ext cx="453371" cy="201168"/>
          </a:xfrm>
          <a:prstGeom prst="roundRect">
            <a:avLst>
              <a:gd name="adj" fmla="val 22727"/>
            </a:avLst>
          </a:prstGeom>
          <a:solidFill>
            <a:srgbClr val="6D28D9"/>
          </a:solidFill>
          <a:ln/>
        </p:spPr>
      </p:sp>
      <p:sp>
        <p:nvSpPr>
          <p:cNvPr id="48" name="Text 45"/>
          <p:cNvSpPr txBox="1"/>
          <p:nvPr/>
        </p:nvSpPr>
        <p:spPr>
          <a:xfrm>
            <a:off x="548640" y="3867912"/>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Pruebas</a:t>
            </a:r>
            <a:endParaRPr lang="en-US" sz="1100" dirty="0"/>
          </a:p>
        </p:txBody>
      </p:sp>
      <p:sp>
        <p:nvSpPr>
          <p:cNvPr id="49" name="Shape 46"/>
          <p:cNvSpPr/>
          <p:nvPr/>
        </p:nvSpPr>
        <p:spPr>
          <a:xfrm>
            <a:off x="548640" y="4251960"/>
            <a:ext cx="11094415" cy="0"/>
          </a:xfrm>
          <a:prstGeom prst="line">
            <a:avLst/>
          </a:prstGeom>
          <a:noFill/>
          <a:ln w="6350">
            <a:solidFill>
              <a:srgbClr val="E3E4E8"/>
            </a:solidFill>
            <a:prstDash val="solid"/>
          </a:ln>
        </p:spPr>
      </p:sp>
      <p:sp>
        <p:nvSpPr>
          <p:cNvPr id="50" name="Shape 47"/>
          <p:cNvSpPr/>
          <p:nvPr/>
        </p:nvSpPr>
        <p:spPr>
          <a:xfrm>
            <a:off x="6196860" y="3959352"/>
            <a:ext cx="453371" cy="201168"/>
          </a:xfrm>
          <a:prstGeom prst="roundRect">
            <a:avLst>
              <a:gd name="adj" fmla="val 22727"/>
            </a:avLst>
          </a:prstGeom>
          <a:solidFill>
            <a:srgbClr val="6D28D9"/>
          </a:solidFill>
          <a:ln/>
        </p:spPr>
      </p:sp>
      <p:sp>
        <p:nvSpPr>
          <p:cNvPr id="51" name="Shape 48"/>
          <p:cNvSpPr/>
          <p:nvPr/>
        </p:nvSpPr>
        <p:spPr>
          <a:xfrm>
            <a:off x="7604608" y="3959352"/>
            <a:ext cx="1813484" cy="201168"/>
          </a:xfrm>
          <a:prstGeom prst="roundRect">
            <a:avLst>
              <a:gd name="adj" fmla="val 22727"/>
            </a:avLst>
          </a:prstGeom>
          <a:solidFill>
            <a:srgbClr val="6D28D9"/>
          </a:solidFill>
          <a:ln/>
        </p:spPr>
      </p:sp>
      <p:sp>
        <p:nvSpPr>
          <p:cNvPr id="52" name="Shape 49"/>
          <p:cNvSpPr/>
          <p:nvPr/>
        </p:nvSpPr>
        <p:spPr>
          <a:xfrm>
            <a:off x="9919097" y="3959352"/>
            <a:ext cx="1360113" cy="201168"/>
          </a:xfrm>
          <a:prstGeom prst="roundRect">
            <a:avLst>
              <a:gd name="adj" fmla="val 22727"/>
            </a:avLst>
          </a:prstGeom>
          <a:solidFill>
            <a:srgbClr val="6D28D9"/>
          </a:solidFill>
          <a:ln/>
        </p:spPr>
      </p:sp>
      <p:sp>
        <p:nvSpPr>
          <p:cNvPr id="53" name="Text 50"/>
          <p:cNvSpPr txBox="1"/>
          <p:nvPr/>
        </p:nvSpPr>
        <p:spPr>
          <a:xfrm>
            <a:off x="548640" y="425196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Despliegue</a:t>
            </a:r>
            <a:endParaRPr lang="en-US" sz="1100" dirty="0"/>
          </a:p>
        </p:txBody>
      </p:sp>
      <p:sp>
        <p:nvSpPr>
          <p:cNvPr id="54" name="Shape 51"/>
          <p:cNvSpPr/>
          <p:nvPr/>
        </p:nvSpPr>
        <p:spPr>
          <a:xfrm>
            <a:off x="548640" y="4636008"/>
            <a:ext cx="11094415" cy="0"/>
          </a:xfrm>
          <a:prstGeom prst="line">
            <a:avLst/>
          </a:prstGeom>
          <a:noFill/>
          <a:ln w="6350">
            <a:solidFill>
              <a:srgbClr val="E3E4E8"/>
            </a:solidFill>
            <a:prstDash val="solid"/>
          </a:ln>
        </p:spPr>
      </p:sp>
      <p:sp>
        <p:nvSpPr>
          <p:cNvPr id="55" name="Shape 52"/>
          <p:cNvSpPr/>
          <p:nvPr/>
        </p:nvSpPr>
        <p:spPr>
          <a:xfrm>
            <a:off x="8284664" y="4343400"/>
            <a:ext cx="453371" cy="201168"/>
          </a:xfrm>
          <a:prstGeom prst="roundRect">
            <a:avLst>
              <a:gd name="adj" fmla="val 22727"/>
            </a:avLst>
          </a:prstGeom>
          <a:solidFill>
            <a:srgbClr val="6D28D9"/>
          </a:solidFill>
          <a:ln/>
        </p:spPr>
      </p:sp>
      <p:sp>
        <p:nvSpPr>
          <p:cNvPr id="56" name="Shape 53"/>
          <p:cNvSpPr/>
          <p:nvPr/>
        </p:nvSpPr>
        <p:spPr>
          <a:xfrm>
            <a:off x="9692411" y="4343400"/>
            <a:ext cx="1813484" cy="201168"/>
          </a:xfrm>
          <a:prstGeom prst="roundRect">
            <a:avLst>
              <a:gd name="adj" fmla="val 22727"/>
            </a:avLst>
          </a:prstGeom>
          <a:solidFill>
            <a:srgbClr val="6D28D9"/>
          </a:solidFill>
          <a:ln/>
        </p:spPr>
      </p:sp>
      <p:sp>
        <p:nvSpPr>
          <p:cNvPr id="57" name="Text 54"/>
          <p:cNvSpPr txBox="1"/>
          <p:nvPr/>
        </p:nvSpPr>
        <p:spPr>
          <a:xfrm>
            <a:off x="548640" y="4636008"/>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 configuración y cambios</a:t>
            </a:r>
            <a:endParaRPr lang="en-US" sz="1100" dirty="0"/>
          </a:p>
        </p:txBody>
      </p:sp>
      <p:sp>
        <p:nvSpPr>
          <p:cNvPr id="58" name="Shape 55"/>
          <p:cNvSpPr/>
          <p:nvPr/>
        </p:nvSpPr>
        <p:spPr>
          <a:xfrm>
            <a:off x="548640" y="5020056"/>
            <a:ext cx="11094415" cy="0"/>
          </a:xfrm>
          <a:prstGeom prst="line">
            <a:avLst/>
          </a:prstGeom>
          <a:noFill/>
          <a:ln w="6350">
            <a:solidFill>
              <a:srgbClr val="E3E4E8"/>
            </a:solidFill>
            <a:prstDash val="solid"/>
          </a:ln>
        </p:spPr>
      </p:sp>
      <p:sp>
        <p:nvSpPr>
          <p:cNvPr id="59" name="Shape 56"/>
          <p:cNvSpPr/>
          <p:nvPr/>
        </p:nvSpPr>
        <p:spPr>
          <a:xfrm>
            <a:off x="4109056" y="4727448"/>
            <a:ext cx="453371" cy="201168"/>
          </a:xfrm>
          <a:prstGeom prst="roundRect">
            <a:avLst>
              <a:gd name="adj" fmla="val 22727"/>
            </a:avLst>
          </a:prstGeom>
          <a:solidFill>
            <a:srgbClr val="9CA3AF"/>
          </a:solidFill>
          <a:ln/>
        </p:spPr>
      </p:sp>
      <p:sp>
        <p:nvSpPr>
          <p:cNvPr id="60" name="Shape 57"/>
          <p:cNvSpPr/>
          <p:nvPr/>
        </p:nvSpPr>
        <p:spPr>
          <a:xfrm>
            <a:off x="5970175" y="4727448"/>
            <a:ext cx="906742" cy="201168"/>
          </a:xfrm>
          <a:prstGeom prst="roundRect">
            <a:avLst>
              <a:gd name="adj" fmla="val 22727"/>
            </a:avLst>
          </a:prstGeom>
          <a:solidFill>
            <a:srgbClr val="9CA3AF"/>
          </a:solidFill>
          <a:ln/>
        </p:spPr>
      </p:sp>
      <p:sp>
        <p:nvSpPr>
          <p:cNvPr id="61" name="Shape 58"/>
          <p:cNvSpPr/>
          <p:nvPr/>
        </p:nvSpPr>
        <p:spPr>
          <a:xfrm>
            <a:off x="7831293" y="4727448"/>
            <a:ext cx="1360113" cy="201168"/>
          </a:xfrm>
          <a:prstGeom prst="roundRect">
            <a:avLst>
              <a:gd name="adj" fmla="val 22727"/>
            </a:avLst>
          </a:prstGeom>
          <a:solidFill>
            <a:srgbClr val="9CA3AF"/>
          </a:solidFill>
          <a:ln/>
        </p:spPr>
      </p:sp>
      <p:sp>
        <p:nvSpPr>
          <p:cNvPr id="62" name="Shape 59"/>
          <p:cNvSpPr/>
          <p:nvPr/>
        </p:nvSpPr>
        <p:spPr>
          <a:xfrm>
            <a:off x="9919097" y="4727448"/>
            <a:ext cx="1360113" cy="201168"/>
          </a:xfrm>
          <a:prstGeom prst="roundRect">
            <a:avLst>
              <a:gd name="adj" fmla="val 22727"/>
            </a:avLst>
          </a:prstGeom>
          <a:solidFill>
            <a:srgbClr val="9CA3AF"/>
          </a:solidFill>
          <a:ln/>
        </p:spPr>
      </p:sp>
      <p:sp>
        <p:nvSpPr>
          <p:cNvPr id="63" name="Text 60"/>
          <p:cNvSpPr txBox="1"/>
          <p:nvPr/>
        </p:nvSpPr>
        <p:spPr>
          <a:xfrm>
            <a:off x="548640" y="5020056"/>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del proyecto</a:t>
            </a:r>
            <a:endParaRPr lang="en-US" sz="1100" dirty="0"/>
          </a:p>
        </p:txBody>
      </p:sp>
      <p:sp>
        <p:nvSpPr>
          <p:cNvPr id="64" name="Shape 61"/>
          <p:cNvSpPr/>
          <p:nvPr/>
        </p:nvSpPr>
        <p:spPr>
          <a:xfrm>
            <a:off x="548640" y="5404104"/>
            <a:ext cx="11094415" cy="0"/>
          </a:xfrm>
          <a:prstGeom prst="line">
            <a:avLst/>
          </a:prstGeom>
          <a:noFill/>
          <a:ln w="6350">
            <a:solidFill>
              <a:srgbClr val="E3E4E8"/>
            </a:solidFill>
            <a:prstDash val="solid"/>
          </a:ln>
        </p:spPr>
      </p:sp>
      <p:sp>
        <p:nvSpPr>
          <p:cNvPr id="65" name="Shape 62"/>
          <p:cNvSpPr/>
          <p:nvPr/>
        </p:nvSpPr>
        <p:spPr>
          <a:xfrm>
            <a:off x="3655685" y="5111496"/>
            <a:ext cx="1360113" cy="201168"/>
          </a:xfrm>
          <a:prstGeom prst="roundRect">
            <a:avLst>
              <a:gd name="adj" fmla="val 22727"/>
            </a:avLst>
          </a:prstGeom>
          <a:solidFill>
            <a:srgbClr val="9CA3AF"/>
          </a:solidFill>
          <a:ln/>
        </p:spPr>
      </p:sp>
      <p:sp>
        <p:nvSpPr>
          <p:cNvPr id="66" name="Shape 63"/>
          <p:cNvSpPr/>
          <p:nvPr/>
        </p:nvSpPr>
        <p:spPr>
          <a:xfrm>
            <a:off x="5743489" y="5111496"/>
            <a:ext cx="1360113" cy="201168"/>
          </a:xfrm>
          <a:prstGeom prst="roundRect">
            <a:avLst>
              <a:gd name="adj" fmla="val 22727"/>
            </a:avLst>
          </a:prstGeom>
          <a:solidFill>
            <a:srgbClr val="9CA3AF"/>
          </a:solidFill>
          <a:ln/>
        </p:spPr>
      </p:sp>
      <p:sp>
        <p:nvSpPr>
          <p:cNvPr id="67" name="Shape 64"/>
          <p:cNvSpPr/>
          <p:nvPr/>
        </p:nvSpPr>
        <p:spPr>
          <a:xfrm>
            <a:off x="8057979" y="5111496"/>
            <a:ext cx="906742" cy="201168"/>
          </a:xfrm>
          <a:prstGeom prst="roundRect">
            <a:avLst>
              <a:gd name="adj" fmla="val 22727"/>
            </a:avLst>
          </a:prstGeom>
          <a:solidFill>
            <a:srgbClr val="9CA3AF"/>
          </a:solidFill>
          <a:ln/>
        </p:spPr>
      </p:sp>
      <p:sp>
        <p:nvSpPr>
          <p:cNvPr id="68" name="Shape 65"/>
          <p:cNvSpPr/>
          <p:nvPr/>
        </p:nvSpPr>
        <p:spPr>
          <a:xfrm>
            <a:off x="10145782" y="5111496"/>
            <a:ext cx="906742" cy="201168"/>
          </a:xfrm>
          <a:prstGeom prst="roundRect">
            <a:avLst>
              <a:gd name="adj" fmla="val 22727"/>
            </a:avLst>
          </a:prstGeom>
          <a:solidFill>
            <a:srgbClr val="9CA3AF"/>
          </a:solidFill>
          <a:ln/>
        </p:spPr>
      </p:sp>
      <p:sp>
        <p:nvSpPr>
          <p:cNvPr id="69" name="Text 66"/>
          <p:cNvSpPr txBox="1"/>
          <p:nvPr/>
        </p:nvSpPr>
        <p:spPr>
          <a:xfrm>
            <a:off x="548640" y="5404104"/>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Entorno</a:t>
            </a:r>
            <a:endParaRPr lang="en-US" sz="1100" dirty="0"/>
          </a:p>
        </p:txBody>
      </p:sp>
      <p:sp>
        <p:nvSpPr>
          <p:cNvPr id="70" name="Shape 67"/>
          <p:cNvSpPr/>
          <p:nvPr/>
        </p:nvSpPr>
        <p:spPr>
          <a:xfrm>
            <a:off x="548640" y="5788152"/>
            <a:ext cx="11094415" cy="0"/>
          </a:xfrm>
          <a:prstGeom prst="line">
            <a:avLst/>
          </a:prstGeom>
          <a:noFill/>
          <a:ln w="6350">
            <a:solidFill>
              <a:srgbClr val="E3E4E8"/>
            </a:solidFill>
            <a:prstDash val="solid"/>
          </a:ln>
        </p:spPr>
      </p:sp>
      <p:sp>
        <p:nvSpPr>
          <p:cNvPr id="71" name="Shape 68"/>
          <p:cNvSpPr/>
          <p:nvPr/>
        </p:nvSpPr>
        <p:spPr>
          <a:xfrm>
            <a:off x="3882371" y="5495544"/>
            <a:ext cx="906742" cy="201168"/>
          </a:xfrm>
          <a:prstGeom prst="roundRect">
            <a:avLst>
              <a:gd name="adj" fmla="val 22727"/>
            </a:avLst>
          </a:prstGeom>
          <a:solidFill>
            <a:srgbClr val="9CA3AF"/>
          </a:solidFill>
          <a:ln/>
        </p:spPr>
      </p:sp>
      <p:sp>
        <p:nvSpPr>
          <p:cNvPr id="72" name="Shape 69"/>
          <p:cNvSpPr/>
          <p:nvPr/>
        </p:nvSpPr>
        <p:spPr>
          <a:xfrm>
            <a:off x="5970175" y="5495544"/>
            <a:ext cx="906742" cy="201168"/>
          </a:xfrm>
          <a:prstGeom prst="roundRect">
            <a:avLst>
              <a:gd name="adj" fmla="val 22727"/>
            </a:avLst>
          </a:prstGeom>
          <a:solidFill>
            <a:srgbClr val="9CA3AF"/>
          </a:solidFill>
          <a:ln/>
        </p:spPr>
      </p:sp>
      <p:sp>
        <p:nvSpPr>
          <p:cNvPr id="73" name="Shape 70"/>
          <p:cNvSpPr/>
          <p:nvPr/>
        </p:nvSpPr>
        <p:spPr>
          <a:xfrm>
            <a:off x="8284664" y="5495544"/>
            <a:ext cx="453371" cy="201168"/>
          </a:xfrm>
          <a:prstGeom prst="roundRect">
            <a:avLst>
              <a:gd name="adj" fmla="val 22727"/>
            </a:avLst>
          </a:prstGeom>
          <a:solidFill>
            <a:srgbClr val="9CA3AF"/>
          </a:solidFill>
          <a:ln/>
        </p:spPr>
      </p:sp>
      <p:sp>
        <p:nvSpPr>
          <p:cNvPr id="74" name="Shape 71"/>
          <p:cNvSpPr/>
          <p:nvPr/>
        </p:nvSpPr>
        <p:spPr>
          <a:xfrm>
            <a:off x="10372468" y="5495544"/>
            <a:ext cx="453371" cy="201168"/>
          </a:xfrm>
          <a:prstGeom prst="roundRect">
            <a:avLst>
              <a:gd name="adj" fmla="val 22727"/>
            </a:avLst>
          </a:prstGeom>
          <a:solidFill>
            <a:srgbClr val="9CA3AF"/>
          </a:solidFill>
          <a:ln/>
        </p:spPr>
      </p:sp>
      <p:sp>
        <p:nvSpPr>
          <p:cNvPr id="75" name="Text 72"/>
          <p:cNvSpPr txBox="1"/>
          <p:nvPr/>
        </p:nvSpPr>
        <p:spPr>
          <a:xfrm>
            <a:off x="3291840"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LCO</a:t>
            </a:r>
            <a:endParaRPr lang="en-US" sz="1200" dirty="0"/>
          </a:p>
        </p:txBody>
      </p:sp>
      <p:sp>
        <p:nvSpPr>
          <p:cNvPr id="76" name="Text 73"/>
          <p:cNvSpPr txBox="1"/>
          <p:nvPr/>
        </p:nvSpPr>
        <p:spPr>
          <a:xfrm>
            <a:off x="5379644"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LCA</a:t>
            </a:r>
            <a:endParaRPr lang="en-US" sz="1200" dirty="0"/>
          </a:p>
        </p:txBody>
      </p:sp>
      <p:sp>
        <p:nvSpPr>
          <p:cNvPr id="77" name="Text 74"/>
          <p:cNvSpPr txBox="1"/>
          <p:nvPr/>
        </p:nvSpPr>
        <p:spPr>
          <a:xfrm>
            <a:off x="7467448"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IOC</a:t>
            </a:r>
            <a:endParaRPr lang="en-US" sz="1200" dirty="0"/>
          </a:p>
        </p:txBody>
      </p:sp>
      <p:sp>
        <p:nvSpPr>
          <p:cNvPr id="78" name="Text 75"/>
          <p:cNvSpPr txBox="1"/>
          <p:nvPr/>
        </p:nvSpPr>
        <p:spPr>
          <a:xfrm>
            <a:off x="9555251"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PR</a:t>
            </a:r>
            <a:endParaRPr lang="en-US" sz="1200" dirty="0"/>
          </a:p>
        </p:txBody>
      </p:sp>
      <p:sp>
        <p:nvSpPr>
          <p:cNvPr id="79" name="Text 76"/>
          <p:cNvSpPr txBox="1"/>
          <p:nvPr/>
        </p:nvSpPr>
        <p:spPr>
          <a:xfrm>
            <a:off x="548640" y="6199632"/>
            <a:ext cx="1109441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Hitos: LCO objetivos acordados · LCA arquitectura validada · IOC versión operativa · PR producto publicado</a:t>
            </a:r>
            <a:endParaRPr lang="en-US" sz="1100" dirty="0"/>
          </a:p>
        </p:txBody>
      </p:sp>
      <p:sp>
        <p:nvSpPr>
          <p:cNvPr id="80" name="!!veil-l#1"/>
          <p:cNvSpPr/>
          <p:nvPr/>
        </p:nvSpPr>
        <p:spPr>
          <a:xfrm>
            <a:off x="3291840" y="1371600"/>
            <a:ext cx="4175760" cy="4809744"/>
          </a:xfrm>
          <a:prstGeom prst="rect">
            <a:avLst/>
          </a:prstGeom>
          <a:solidFill>
            <a:srgbClr val="FFFFFF">
              <a:alpha val="70000"/>
            </a:srgbClr>
          </a:solidFill>
          <a:ln>
            <a:noFill/>
          </a:ln>
        </p:spPr>
      </p:sp>
      <p:sp>
        <p:nvSpPr>
          <p:cNvPr id="81" name="!!veil-r#1"/>
          <p:cNvSpPr/>
          <p:nvPr/>
        </p:nvSpPr>
        <p:spPr>
          <a:xfrm>
            <a:off x="9555480" y="1371600"/>
            <a:ext cx="2087880" cy="4809744"/>
          </a:xfrm>
          <a:prstGeom prst="rect">
            <a:avLst/>
          </a:prstGeom>
          <a:solidFill>
            <a:srgbClr val="FFFFFF">
              <a:alpha val="70000"/>
            </a:srgbClr>
          </a:solidFill>
          <a:ln>
            <a:no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Estructura de RUP: fases, iteraciones y disciplinas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8</a:t>
            </a:r>
            <a:endParaRPr lang="en-US" sz="900" dirty="0"/>
          </a:p>
        </p:txBody>
      </p:sp>
      <p:sp>
        <p:nvSpPr>
          <p:cNvPr id="6" name="Shape 3"/>
          <p:cNvSpPr/>
          <p:nvPr/>
        </p:nvSpPr>
        <p:spPr>
          <a:xfrm>
            <a:off x="3319272" y="1417320"/>
            <a:ext cx="2032940" cy="411480"/>
          </a:xfrm>
          <a:prstGeom prst="rect">
            <a:avLst/>
          </a:prstGeom>
          <a:solidFill>
            <a:srgbClr val="9CA3AF"/>
          </a:solidFill>
          <a:ln/>
        </p:spPr>
      </p:sp>
      <p:sp>
        <p:nvSpPr>
          <p:cNvPr id="7" name="Text 4"/>
          <p:cNvSpPr txBox="1"/>
          <p:nvPr/>
        </p:nvSpPr>
        <p:spPr>
          <a:xfrm>
            <a:off x="3319272"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Inicio</a:t>
            </a:r>
            <a:endParaRPr lang="en-US" sz="1300" dirty="0"/>
          </a:p>
        </p:txBody>
      </p:sp>
      <p:sp>
        <p:nvSpPr>
          <p:cNvPr id="8" name="Shape 5"/>
          <p:cNvSpPr/>
          <p:nvPr/>
        </p:nvSpPr>
        <p:spPr>
          <a:xfrm>
            <a:off x="3337560" y="1892808"/>
            <a:ext cx="1996364" cy="292608"/>
          </a:xfrm>
          <a:prstGeom prst="roundRect">
            <a:avLst>
              <a:gd name="adj" fmla="val 25000"/>
            </a:avLst>
          </a:prstGeom>
          <a:solidFill>
            <a:srgbClr val="F5F5F7"/>
          </a:solidFill>
          <a:ln/>
        </p:spPr>
      </p:sp>
      <p:sp>
        <p:nvSpPr>
          <p:cNvPr id="9" name="Text 6"/>
          <p:cNvSpPr txBox="1"/>
          <p:nvPr/>
        </p:nvSpPr>
        <p:spPr>
          <a:xfrm>
            <a:off x="3319272"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I1</a:t>
            </a:r>
            <a:endParaRPr lang="en-US" sz="1000" dirty="0"/>
          </a:p>
        </p:txBody>
      </p:sp>
      <p:sp>
        <p:nvSpPr>
          <p:cNvPr id="10" name="Shape 7"/>
          <p:cNvSpPr/>
          <p:nvPr/>
        </p:nvSpPr>
        <p:spPr>
          <a:xfrm>
            <a:off x="5407076" y="1417320"/>
            <a:ext cx="2032940" cy="411480"/>
          </a:xfrm>
          <a:prstGeom prst="rect">
            <a:avLst/>
          </a:prstGeom>
          <a:solidFill>
            <a:srgbClr val="A78BFA"/>
          </a:solidFill>
          <a:ln/>
        </p:spPr>
      </p:sp>
      <p:sp>
        <p:nvSpPr>
          <p:cNvPr id="11" name="Text 8"/>
          <p:cNvSpPr txBox="1"/>
          <p:nvPr/>
        </p:nvSpPr>
        <p:spPr>
          <a:xfrm>
            <a:off x="5407076"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Elaboración</a:t>
            </a:r>
            <a:endParaRPr lang="en-US" sz="1300" dirty="0"/>
          </a:p>
        </p:txBody>
      </p:sp>
      <p:sp>
        <p:nvSpPr>
          <p:cNvPr id="12" name="Shape 9"/>
          <p:cNvSpPr/>
          <p:nvPr/>
        </p:nvSpPr>
        <p:spPr>
          <a:xfrm>
            <a:off x="5425364" y="1892808"/>
            <a:ext cx="979894" cy="292608"/>
          </a:xfrm>
          <a:prstGeom prst="roundRect">
            <a:avLst>
              <a:gd name="adj" fmla="val 25000"/>
            </a:avLst>
          </a:prstGeom>
          <a:solidFill>
            <a:srgbClr val="F5F5F7"/>
          </a:solidFill>
          <a:ln/>
        </p:spPr>
      </p:sp>
      <p:sp>
        <p:nvSpPr>
          <p:cNvPr id="13" name="Text 10"/>
          <p:cNvSpPr txBox="1"/>
          <p:nvPr/>
        </p:nvSpPr>
        <p:spPr>
          <a:xfrm>
            <a:off x="540707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E1</a:t>
            </a:r>
            <a:endParaRPr lang="en-US" sz="1000" dirty="0"/>
          </a:p>
        </p:txBody>
      </p:sp>
      <p:sp>
        <p:nvSpPr>
          <p:cNvPr id="14" name="Shape 11"/>
          <p:cNvSpPr/>
          <p:nvPr/>
        </p:nvSpPr>
        <p:spPr>
          <a:xfrm>
            <a:off x="6441834" y="1892808"/>
            <a:ext cx="979894" cy="292608"/>
          </a:xfrm>
          <a:prstGeom prst="roundRect">
            <a:avLst>
              <a:gd name="adj" fmla="val 25000"/>
            </a:avLst>
          </a:prstGeom>
          <a:solidFill>
            <a:srgbClr val="F5F5F7"/>
          </a:solidFill>
          <a:ln/>
        </p:spPr>
      </p:sp>
      <p:sp>
        <p:nvSpPr>
          <p:cNvPr id="15" name="Text 12"/>
          <p:cNvSpPr txBox="1"/>
          <p:nvPr/>
        </p:nvSpPr>
        <p:spPr>
          <a:xfrm>
            <a:off x="642354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E2</a:t>
            </a:r>
            <a:endParaRPr lang="en-US" sz="1000" dirty="0"/>
          </a:p>
        </p:txBody>
      </p:sp>
      <p:sp>
        <p:nvSpPr>
          <p:cNvPr id="16" name="Shape 13"/>
          <p:cNvSpPr/>
          <p:nvPr/>
        </p:nvSpPr>
        <p:spPr>
          <a:xfrm>
            <a:off x="7494880" y="1417320"/>
            <a:ext cx="2032940" cy="411480"/>
          </a:xfrm>
          <a:prstGeom prst="rect">
            <a:avLst/>
          </a:prstGeom>
          <a:solidFill>
            <a:srgbClr val="6D28D9"/>
          </a:solidFill>
          <a:ln/>
        </p:spPr>
      </p:sp>
      <p:sp>
        <p:nvSpPr>
          <p:cNvPr id="17" name="Text 14"/>
          <p:cNvSpPr txBox="1"/>
          <p:nvPr/>
        </p:nvSpPr>
        <p:spPr>
          <a:xfrm>
            <a:off x="7494880"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Construcción</a:t>
            </a:r>
            <a:endParaRPr lang="en-US" sz="1300" dirty="0"/>
          </a:p>
        </p:txBody>
      </p:sp>
      <p:sp>
        <p:nvSpPr>
          <p:cNvPr id="18" name="Shape 15"/>
          <p:cNvSpPr/>
          <p:nvPr/>
        </p:nvSpPr>
        <p:spPr>
          <a:xfrm>
            <a:off x="7513168" y="1892808"/>
            <a:ext cx="641071" cy="292608"/>
          </a:xfrm>
          <a:prstGeom prst="roundRect">
            <a:avLst>
              <a:gd name="adj" fmla="val 25000"/>
            </a:avLst>
          </a:prstGeom>
          <a:solidFill>
            <a:srgbClr val="F5F5F7"/>
          </a:solidFill>
          <a:ln/>
        </p:spPr>
      </p:sp>
      <p:sp>
        <p:nvSpPr>
          <p:cNvPr id="19" name="Text 16"/>
          <p:cNvSpPr txBox="1"/>
          <p:nvPr/>
        </p:nvSpPr>
        <p:spPr>
          <a:xfrm>
            <a:off x="7494880"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C1</a:t>
            </a:r>
            <a:endParaRPr lang="en-US" sz="1000" dirty="0"/>
          </a:p>
        </p:txBody>
      </p:sp>
      <p:sp>
        <p:nvSpPr>
          <p:cNvPr id="20" name="Shape 17"/>
          <p:cNvSpPr/>
          <p:nvPr/>
        </p:nvSpPr>
        <p:spPr>
          <a:xfrm>
            <a:off x="8190814" y="1892808"/>
            <a:ext cx="641071" cy="292608"/>
          </a:xfrm>
          <a:prstGeom prst="roundRect">
            <a:avLst>
              <a:gd name="adj" fmla="val 25000"/>
            </a:avLst>
          </a:prstGeom>
          <a:solidFill>
            <a:srgbClr val="F5F5F7"/>
          </a:solidFill>
          <a:ln/>
        </p:spPr>
      </p:sp>
      <p:sp>
        <p:nvSpPr>
          <p:cNvPr id="21" name="Text 18"/>
          <p:cNvSpPr txBox="1"/>
          <p:nvPr/>
        </p:nvSpPr>
        <p:spPr>
          <a:xfrm>
            <a:off x="8172526"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C2</a:t>
            </a:r>
            <a:endParaRPr lang="en-US" sz="1000" dirty="0"/>
          </a:p>
        </p:txBody>
      </p:sp>
      <p:sp>
        <p:nvSpPr>
          <p:cNvPr id="22" name="Shape 19"/>
          <p:cNvSpPr/>
          <p:nvPr/>
        </p:nvSpPr>
        <p:spPr>
          <a:xfrm>
            <a:off x="8868461" y="1892808"/>
            <a:ext cx="641071" cy="292608"/>
          </a:xfrm>
          <a:prstGeom prst="roundRect">
            <a:avLst>
              <a:gd name="adj" fmla="val 25000"/>
            </a:avLst>
          </a:prstGeom>
          <a:solidFill>
            <a:srgbClr val="F5F5F7"/>
          </a:solidFill>
          <a:ln/>
        </p:spPr>
      </p:sp>
      <p:sp>
        <p:nvSpPr>
          <p:cNvPr id="23" name="Text 20"/>
          <p:cNvSpPr txBox="1"/>
          <p:nvPr/>
        </p:nvSpPr>
        <p:spPr>
          <a:xfrm>
            <a:off x="8850173"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C3</a:t>
            </a:r>
            <a:endParaRPr lang="en-US" sz="1000" dirty="0"/>
          </a:p>
        </p:txBody>
      </p:sp>
      <p:sp>
        <p:nvSpPr>
          <p:cNvPr id="24" name="Shape 21"/>
          <p:cNvSpPr/>
          <p:nvPr/>
        </p:nvSpPr>
        <p:spPr>
          <a:xfrm>
            <a:off x="9582683" y="1417320"/>
            <a:ext cx="2032940" cy="411480"/>
          </a:xfrm>
          <a:prstGeom prst="rect">
            <a:avLst/>
          </a:prstGeom>
          <a:solidFill>
            <a:srgbClr val="0B0B0D"/>
          </a:solidFill>
          <a:ln/>
        </p:spPr>
      </p:sp>
      <p:sp>
        <p:nvSpPr>
          <p:cNvPr id="25" name="Text 22"/>
          <p:cNvSpPr txBox="1"/>
          <p:nvPr/>
        </p:nvSpPr>
        <p:spPr>
          <a:xfrm>
            <a:off x="9582683"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Transición</a:t>
            </a:r>
            <a:endParaRPr lang="en-US" sz="1300" dirty="0"/>
          </a:p>
        </p:txBody>
      </p:sp>
      <p:sp>
        <p:nvSpPr>
          <p:cNvPr id="26" name="Shape 23"/>
          <p:cNvSpPr/>
          <p:nvPr/>
        </p:nvSpPr>
        <p:spPr>
          <a:xfrm>
            <a:off x="9600971" y="1892808"/>
            <a:ext cx="1996364" cy="292608"/>
          </a:xfrm>
          <a:prstGeom prst="roundRect">
            <a:avLst>
              <a:gd name="adj" fmla="val 25000"/>
            </a:avLst>
          </a:prstGeom>
          <a:solidFill>
            <a:srgbClr val="F5F5F7"/>
          </a:solidFill>
          <a:ln/>
        </p:spPr>
      </p:sp>
      <p:sp>
        <p:nvSpPr>
          <p:cNvPr id="27" name="Text 24"/>
          <p:cNvSpPr txBox="1"/>
          <p:nvPr/>
        </p:nvSpPr>
        <p:spPr>
          <a:xfrm>
            <a:off x="9582683"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T1</a:t>
            </a:r>
            <a:endParaRPr lang="en-US" sz="1000" dirty="0"/>
          </a:p>
        </p:txBody>
      </p:sp>
      <p:sp>
        <p:nvSpPr>
          <p:cNvPr id="28" name="Text 25"/>
          <p:cNvSpPr txBox="1"/>
          <p:nvPr/>
        </p:nvSpPr>
        <p:spPr>
          <a:xfrm>
            <a:off x="548640" y="233172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Modelado del negocio</a:t>
            </a:r>
            <a:endParaRPr lang="en-US" sz="1100" dirty="0"/>
          </a:p>
        </p:txBody>
      </p:sp>
      <p:sp>
        <p:nvSpPr>
          <p:cNvPr id="29" name="Shape 26"/>
          <p:cNvSpPr/>
          <p:nvPr/>
        </p:nvSpPr>
        <p:spPr>
          <a:xfrm>
            <a:off x="548640" y="2715768"/>
            <a:ext cx="11094415" cy="0"/>
          </a:xfrm>
          <a:prstGeom prst="line">
            <a:avLst/>
          </a:prstGeom>
          <a:noFill/>
          <a:ln w="6350">
            <a:solidFill>
              <a:srgbClr val="E3E4E8"/>
            </a:solidFill>
            <a:prstDash val="solid"/>
          </a:ln>
        </p:spPr>
      </p:sp>
      <p:sp>
        <p:nvSpPr>
          <p:cNvPr id="30" name="Shape 27"/>
          <p:cNvSpPr/>
          <p:nvPr/>
        </p:nvSpPr>
        <p:spPr>
          <a:xfrm>
            <a:off x="3429000" y="2423160"/>
            <a:ext cx="1813484" cy="201168"/>
          </a:xfrm>
          <a:prstGeom prst="roundRect">
            <a:avLst>
              <a:gd name="adj" fmla="val 22727"/>
            </a:avLst>
          </a:prstGeom>
          <a:solidFill>
            <a:srgbClr val="6D28D9"/>
          </a:solidFill>
          <a:ln/>
        </p:spPr>
      </p:sp>
      <p:sp>
        <p:nvSpPr>
          <p:cNvPr id="31" name="Shape 28"/>
          <p:cNvSpPr/>
          <p:nvPr/>
        </p:nvSpPr>
        <p:spPr>
          <a:xfrm>
            <a:off x="5970175" y="2423160"/>
            <a:ext cx="906742" cy="201168"/>
          </a:xfrm>
          <a:prstGeom prst="roundRect">
            <a:avLst>
              <a:gd name="adj" fmla="val 22727"/>
            </a:avLst>
          </a:prstGeom>
          <a:solidFill>
            <a:srgbClr val="6D28D9"/>
          </a:solidFill>
          <a:ln/>
        </p:spPr>
      </p:sp>
      <p:sp>
        <p:nvSpPr>
          <p:cNvPr id="32" name="Shape 29"/>
          <p:cNvSpPr/>
          <p:nvPr/>
        </p:nvSpPr>
        <p:spPr>
          <a:xfrm>
            <a:off x="8284664" y="2423160"/>
            <a:ext cx="453371" cy="201168"/>
          </a:xfrm>
          <a:prstGeom prst="roundRect">
            <a:avLst>
              <a:gd name="adj" fmla="val 22727"/>
            </a:avLst>
          </a:prstGeom>
          <a:solidFill>
            <a:srgbClr val="6D28D9"/>
          </a:solidFill>
          <a:ln/>
        </p:spPr>
      </p:sp>
      <p:sp>
        <p:nvSpPr>
          <p:cNvPr id="33" name="Text 30"/>
          <p:cNvSpPr txBox="1"/>
          <p:nvPr/>
        </p:nvSpPr>
        <p:spPr>
          <a:xfrm>
            <a:off x="548640" y="2715768"/>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Requisitos</a:t>
            </a:r>
            <a:endParaRPr lang="en-US" sz="1100" dirty="0"/>
          </a:p>
        </p:txBody>
      </p:sp>
      <p:sp>
        <p:nvSpPr>
          <p:cNvPr id="34" name="Shape 31"/>
          <p:cNvSpPr/>
          <p:nvPr/>
        </p:nvSpPr>
        <p:spPr>
          <a:xfrm>
            <a:off x="548640" y="3099816"/>
            <a:ext cx="11094415" cy="0"/>
          </a:xfrm>
          <a:prstGeom prst="line">
            <a:avLst/>
          </a:prstGeom>
          <a:noFill/>
          <a:ln w="6350">
            <a:solidFill>
              <a:srgbClr val="E3E4E8"/>
            </a:solidFill>
            <a:prstDash val="solid"/>
          </a:ln>
        </p:spPr>
      </p:sp>
      <p:sp>
        <p:nvSpPr>
          <p:cNvPr id="35" name="Shape 32"/>
          <p:cNvSpPr/>
          <p:nvPr/>
        </p:nvSpPr>
        <p:spPr>
          <a:xfrm>
            <a:off x="3655685" y="2807208"/>
            <a:ext cx="1360113" cy="201168"/>
          </a:xfrm>
          <a:prstGeom prst="roundRect">
            <a:avLst>
              <a:gd name="adj" fmla="val 22727"/>
            </a:avLst>
          </a:prstGeom>
          <a:solidFill>
            <a:srgbClr val="6D28D9"/>
          </a:solidFill>
          <a:ln/>
        </p:spPr>
      </p:sp>
      <p:sp>
        <p:nvSpPr>
          <p:cNvPr id="36" name="Shape 33"/>
          <p:cNvSpPr/>
          <p:nvPr/>
        </p:nvSpPr>
        <p:spPr>
          <a:xfrm>
            <a:off x="5516804" y="2807208"/>
            <a:ext cx="1813484" cy="201168"/>
          </a:xfrm>
          <a:prstGeom prst="roundRect">
            <a:avLst>
              <a:gd name="adj" fmla="val 22727"/>
            </a:avLst>
          </a:prstGeom>
          <a:solidFill>
            <a:srgbClr val="6D28D9"/>
          </a:solidFill>
          <a:ln/>
        </p:spPr>
      </p:sp>
      <p:sp>
        <p:nvSpPr>
          <p:cNvPr id="37" name="Shape 34"/>
          <p:cNvSpPr/>
          <p:nvPr/>
        </p:nvSpPr>
        <p:spPr>
          <a:xfrm>
            <a:off x="8284664" y="2807208"/>
            <a:ext cx="453371" cy="201168"/>
          </a:xfrm>
          <a:prstGeom prst="roundRect">
            <a:avLst>
              <a:gd name="adj" fmla="val 22727"/>
            </a:avLst>
          </a:prstGeom>
          <a:solidFill>
            <a:srgbClr val="6D28D9"/>
          </a:solidFill>
          <a:ln/>
        </p:spPr>
      </p:sp>
      <p:sp>
        <p:nvSpPr>
          <p:cNvPr id="38" name="Text 35"/>
          <p:cNvSpPr txBox="1"/>
          <p:nvPr/>
        </p:nvSpPr>
        <p:spPr>
          <a:xfrm>
            <a:off x="548640" y="3099816"/>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Análisis y diseño</a:t>
            </a:r>
            <a:endParaRPr lang="en-US" sz="1100" dirty="0"/>
          </a:p>
        </p:txBody>
      </p:sp>
      <p:sp>
        <p:nvSpPr>
          <p:cNvPr id="39" name="Shape 36"/>
          <p:cNvSpPr/>
          <p:nvPr/>
        </p:nvSpPr>
        <p:spPr>
          <a:xfrm>
            <a:off x="548640" y="3483864"/>
            <a:ext cx="11094415" cy="0"/>
          </a:xfrm>
          <a:prstGeom prst="line">
            <a:avLst/>
          </a:prstGeom>
          <a:noFill/>
          <a:ln w="6350">
            <a:solidFill>
              <a:srgbClr val="E3E4E8"/>
            </a:solidFill>
            <a:prstDash val="solid"/>
          </a:ln>
        </p:spPr>
      </p:sp>
      <p:sp>
        <p:nvSpPr>
          <p:cNvPr id="40" name="Shape 37"/>
          <p:cNvSpPr/>
          <p:nvPr/>
        </p:nvSpPr>
        <p:spPr>
          <a:xfrm>
            <a:off x="4109056" y="3191256"/>
            <a:ext cx="453371" cy="201168"/>
          </a:xfrm>
          <a:prstGeom prst="roundRect">
            <a:avLst>
              <a:gd name="adj" fmla="val 22727"/>
            </a:avLst>
          </a:prstGeom>
          <a:solidFill>
            <a:srgbClr val="6D28D9"/>
          </a:solidFill>
          <a:ln/>
        </p:spPr>
      </p:sp>
      <p:sp>
        <p:nvSpPr>
          <p:cNvPr id="41" name="Shape 38"/>
          <p:cNvSpPr/>
          <p:nvPr/>
        </p:nvSpPr>
        <p:spPr>
          <a:xfrm>
            <a:off x="5516804" y="3191256"/>
            <a:ext cx="1813484" cy="201168"/>
          </a:xfrm>
          <a:prstGeom prst="roundRect">
            <a:avLst>
              <a:gd name="adj" fmla="val 22727"/>
            </a:avLst>
          </a:prstGeom>
          <a:solidFill>
            <a:srgbClr val="6D28D9"/>
          </a:solidFill>
          <a:ln/>
        </p:spPr>
      </p:sp>
      <p:sp>
        <p:nvSpPr>
          <p:cNvPr id="42" name="Shape 39"/>
          <p:cNvSpPr/>
          <p:nvPr/>
        </p:nvSpPr>
        <p:spPr>
          <a:xfrm>
            <a:off x="8057979" y="3191256"/>
            <a:ext cx="906742" cy="201168"/>
          </a:xfrm>
          <a:prstGeom prst="roundRect">
            <a:avLst>
              <a:gd name="adj" fmla="val 22727"/>
            </a:avLst>
          </a:prstGeom>
          <a:solidFill>
            <a:srgbClr val="6D28D9"/>
          </a:solidFill>
          <a:ln/>
        </p:spPr>
      </p:sp>
      <p:sp>
        <p:nvSpPr>
          <p:cNvPr id="43" name="Text 40"/>
          <p:cNvSpPr txBox="1"/>
          <p:nvPr/>
        </p:nvSpPr>
        <p:spPr>
          <a:xfrm>
            <a:off x="548640" y="3483864"/>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Implementación</a:t>
            </a:r>
            <a:endParaRPr lang="en-US" sz="1100" dirty="0"/>
          </a:p>
        </p:txBody>
      </p:sp>
      <p:sp>
        <p:nvSpPr>
          <p:cNvPr id="44" name="Shape 41"/>
          <p:cNvSpPr/>
          <p:nvPr/>
        </p:nvSpPr>
        <p:spPr>
          <a:xfrm>
            <a:off x="548640" y="3867912"/>
            <a:ext cx="11094415" cy="0"/>
          </a:xfrm>
          <a:prstGeom prst="line">
            <a:avLst/>
          </a:prstGeom>
          <a:noFill/>
          <a:ln w="6350">
            <a:solidFill>
              <a:srgbClr val="E3E4E8"/>
            </a:solidFill>
            <a:prstDash val="solid"/>
          </a:ln>
        </p:spPr>
      </p:sp>
      <p:sp>
        <p:nvSpPr>
          <p:cNvPr id="45" name="Shape 42"/>
          <p:cNvSpPr/>
          <p:nvPr/>
        </p:nvSpPr>
        <p:spPr>
          <a:xfrm>
            <a:off x="5970175" y="3575304"/>
            <a:ext cx="906742" cy="201168"/>
          </a:xfrm>
          <a:prstGeom prst="roundRect">
            <a:avLst>
              <a:gd name="adj" fmla="val 22727"/>
            </a:avLst>
          </a:prstGeom>
          <a:solidFill>
            <a:srgbClr val="6D28D9"/>
          </a:solidFill>
          <a:ln/>
        </p:spPr>
      </p:sp>
      <p:sp>
        <p:nvSpPr>
          <p:cNvPr id="46" name="Shape 43"/>
          <p:cNvSpPr/>
          <p:nvPr/>
        </p:nvSpPr>
        <p:spPr>
          <a:xfrm>
            <a:off x="7604608" y="3575304"/>
            <a:ext cx="1813484" cy="201168"/>
          </a:xfrm>
          <a:prstGeom prst="roundRect">
            <a:avLst>
              <a:gd name="adj" fmla="val 22727"/>
            </a:avLst>
          </a:prstGeom>
          <a:solidFill>
            <a:srgbClr val="6D28D9"/>
          </a:solidFill>
          <a:ln/>
        </p:spPr>
      </p:sp>
      <p:sp>
        <p:nvSpPr>
          <p:cNvPr id="47" name="Shape 44"/>
          <p:cNvSpPr/>
          <p:nvPr/>
        </p:nvSpPr>
        <p:spPr>
          <a:xfrm>
            <a:off x="10372468" y="3575304"/>
            <a:ext cx="453371" cy="201168"/>
          </a:xfrm>
          <a:prstGeom prst="roundRect">
            <a:avLst>
              <a:gd name="adj" fmla="val 22727"/>
            </a:avLst>
          </a:prstGeom>
          <a:solidFill>
            <a:srgbClr val="6D28D9"/>
          </a:solidFill>
          <a:ln/>
        </p:spPr>
      </p:sp>
      <p:sp>
        <p:nvSpPr>
          <p:cNvPr id="48" name="Text 45"/>
          <p:cNvSpPr txBox="1"/>
          <p:nvPr/>
        </p:nvSpPr>
        <p:spPr>
          <a:xfrm>
            <a:off x="548640" y="3867912"/>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Pruebas</a:t>
            </a:r>
            <a:endParaRPr lang="en-US" sz="1100" dirty="0"/>
          </a:p>
        </p:txBody>
      </p:sp>
      <p:sp>
        <p:nvSpPr>
          <p:cNvPr id="49" name="Shape 46"/>
          <p:cNvSpPr/>
          <p:nvPr/>
        </p:nvSpPr>
        <p:spPr>
          <a:xfrm>
            <a:off x="548640" y="4251960"/>
            <a:ext cx="11094415" cy="0"/>
          </a:xfrm>
          <a:prstGeom prst="line">
            <a:avLst/>
          </a:prstGeom>
          <a:noFill/>
          <a:ln w="6350">
            <a:solidFill>
              <a:srgbClr val="E3E4E8"/>
            </a:solidFill>
            <a:prstDash val="solid"/>
          </a:ln>
        </p:spPr>
      </p:sp>
      <p:sp>
        <p:nvSpPr>
          <p:cNvPr id="50" name="Shape 47"/>
          <p:cNvSpPr/>
          <p:nvPr/>
        </p:nvSpPr>
        <p:spPr>
          <a:xfrm>
            <a:off x="6196860" y="3959352"/>
            <a:ext cx="453371" cy="201168"/>
          </a:xfrm>
          <a:prstGeom prst="roundRect">
            <a:avLst>
              <a:gd name="adj" fmla="val 22727"/>
            </a:avLst>
          </a:prstGeom>
          <a:solidFill>
            <a:srgbClr val="6D28D9"/>
          </a:solidFill>
          <a:ln/>
        </p:spPr>
      </p:sp>
      <p:sp>
        <p:nvSpPr>
          <p:cNvPr id="51" name="Shape 48"/>
          <p:cNvSpPr/>
          <p:nvPr/>
        </p:nvSpPr>
        <p:spPr>
          <a:xfrm>
            <a:off x="7604608" y="3959352"/>
            <a:ext cx="1813484" cy="201168"/>
          </a:xfrm>
          <a:prstGeom prst="roundRect">
            <a:avLst>
              <a:gd name="adj" fmla="val 22727"/>
            </a:avLst>
          </a:prstGeom>
          <a:solidFill>
            <a:srgbClr val="6D28D9"/>
          </a:solidFill>
          <a:ln/>
        </p:spPr>
      </p:sp>
      <p:sp>
        <p:nvSpPr>
          <p:cNvPr id="52" name="Shape 49"/>
          <p:cNvSpPr/>
          <p:nvPr/>
        </p:nvSpPr>
        <p:spPr>
          <a:xfrm>
            <a:off x="9919097" y="3959352"/>
            <a:ext cx="1360113" cy="201168"/>
          </a:xfrm>
          <a:prstGeom prst="roundRect">
            <a:avLst>
              <a:gd name="adj" fmla="val 22727"/>
            </a:avLst>
          </a:prstGeom>
          <a:solidFill>
            <a:srgbClr val="6D28D9"/>
          </a:solidFill>
          <a:ln/>
        </p:spPr>
      </p:sp>
      <p:sp>
        <p:nvSpPr>
          <p:cNvPr id="53" name="Text 50"/>
          <p:cNvSpPr txBox="1"/>
          <p:nvPr/>
        </p:nvSpPr>
        <p:spPr>
          <a:xfrm>
            <a:off x="548640" y="425196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Despliegue</a:t>
            </a:r>
            <a:endParaRPr lang="en-US" sz="1100" dirty="0"/>
          </a:p>
        </p:txBody>
      </p:sp>
      <p:sp>
        <p:nvSpPr>
          <p:cNvPr id="54" name="Shape 51"/>
          <p:cNvSpPr/>
          <p:nvPr/>
        </p:nvSpPr>
        <p:spPr>
          <a:xfrm>
            <a:off x="548640" y="4636008"/>
            <a:ext cx="11094415" cy="0"/>
          </a:xfrm>
          <a:prstGeom prst="line">
            <a:avLst/>
          </a:prstGeom>
          <a:noFill/>
          <a:ln w="6350">
            <a:solidFill>
              <a:srgbClr val="E3E4E8"/>
            </a:solidFill>
            <a:prstDash val="solid"/>
          </a:ln>
        </p:spPr>
      </p:sp>
      <p:sp>
        <p:nvSpPr>
          <p:cNvPr id="55" name="Shape 52"/>
          <p:cNvSpPr/>
          <p:nvPr/>
        </p:nvSpPr>
        <p:spPr>
          <a:xfrm>
            <a:off x="8284664" y="4343400"/>
            <a:ext cx="453371" cy="201168"/>
          </a:xfrm>
          <a:prstGeom prst="roundRect">
            <a:avLst>
              <a:gd name="adj" fmla="val 22727"/>
            </a:avLst>
          </a:prstGeom>
          <a:solidFill>
            <a:srgbClr val="6D28D9"/>
          </a:solidFill>
          <a:ln/>
        </p:spPr>
      </p:sp>
      <p:sp>
        <p:nvSpPr>
          <p:cNvPr id="56" name="Shape 53"/>
          <p:cNvSpPr/>
          <p:nvPr/>
        </p:nvSpPr>
        <p:spPr>
          <a:xfrm>
            <a:off x="9692411" y="4343400"/>
            <a:ext cx="1813484" cy="201168"/>
          </a:xfrm>
          <a:prstGeom prst="roundRect">
            <a:avLst>
              <a:gd name="adj" fmla="val 22727"/>
            </a:avLst>
          </a:prstGeom>
          <a:solidFill>
            <a:srgbClr val="6D28D9"/>
          </a:solidFill>
          <a:ln/>
        </p:spPr>
      </p:sp>
      <p:sp>
        <p:nvSpPr>
          <p:cNvPr id="57" name="Text 54"/>
          <p:cNvSpPr txBox="1"/>
          <p:nvPr/>
        </p:nvSpPr>
        <p:spPr>
          <a:xfrm>
            <a:off x="548640" y="4636008"/>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 configuración y cambios</a:t>
            </a:r>
            <a:endParaRPr lang="en-US" sz="1100" dirty="0"/>
          </a:p>
        </p:txBody>
      </p:sp>
      <p:sp>
        <p:nvSpPr>
          <p:cNvPr id="58" name="Shape 55"/>
          <p:cNvSpPr/>
          <p:nvPr/>
        </p:nvSpPr>
        <p:spPr>
          <a:xfrm>
            <a:off x="548640" y="5020056"/>
            <a:ext cx="11094415" cy="0"/>
          </a:xfrm>
          <a:prstGeom prst="line">
            <a:avLst/>
          </a:prstGeom>
          <a:noFill/>
          <a:ln w="6350">
            <a:solidFill>
              <a:srgbClr val="E3E4E8"/>
            </a:solidFill>
            <a:prstDash val="solid"/>
          </a:ln>
        </p:spPr>
      </p:sp>
      <p:sp>
        <p:nvSpPr>
          <p:cNvPr id="59" name="Shape 56"/>
          <p:cNvSpPr/>
          <p:nvPr/>
        </p:nvSpPr>
        <p:spPr>
          <a:xfrm>
            <a:off x="4109056" y="4727448"/>
            <a:ext cx="453371" cy="201168"/>
          </a:xfrm>
          <a:prstGeom prst="roundRect">
            <a:avLst>
              <a:gd name="adj" fmla="val 22727"/>
            </a:avLst>
          </a:prstGeom>
          <a:solidFill>
            <a:srgbClr val="9CA3AF"/>
          </a:solidFill>
          <a:ln/>
        </p:spPr>
      </p:sp>
      <p:sp>
        <p:nvSpPr>
          <p:cNvPr id="60" name="Shape 57"/>
          <p:cNvSpPr/>
          <p:nvPr/>
        </p:nvSpPr>
        <p:spPr>
          <a:xfrm>
            <a:off x="5970175" y="4727448"/>
            <a:ext cx="906742" cy="201168"/>
          </a:xfrm>
          <a:prstGeom prst="roundRect">
            <a:avLst>
              <a:gd name="adj" fmla="val 22727"/>
            </a:avLst>
          </a:prstGeom>
          <a:solidFill>
            <a:srgbClr val="9CA3AF"/>
          </a:solidFill>
          <a:ln/>
        </p:spPr>
      </p:sp>
      <p:sp>
        <p:nvSpPr>
          <p:cNvPr id="61" name="Shape 58"/>
          <p:cNvSpPr/>
          <p:nvPr/>
        </p:nvSpPr>
        <p:spPr>
          <a:xfrm>
            <a:off x="7831293" y="4727448"/>
            <a:ext cx="1360113" cy="201168"/>
          </a:xfrm>
          <a:prstGeom prst="roundRect">
            <a:avLst>
              <a:gd name="adj" fmla="val 22727"/>
            </a:avLst>
          </a:prstGeom>
          <a:solidFill>
            <a:srgbClr val="9CA3AF"/>
          </a:solidFill>
          <a:ln/>
        </p:spPr>
      </p:sp>
      <p:sp>
        <p:nvSpPr>
          <p:cNvPr id="62" name="Shape 59"/>
          <p:cNvSpPr/>
          <p:nvPr/>
        </p:nvSpPr>
        <p:spPr>
          <a:xfrm>
            <a:off x="9919097" y="4727448"/>
            <a:ext cx="1360113" cy="201168"/>
          </a:xfrm>
          <a:prstGeom prst="roundRect">
            <a:avLst>
              <a:gd name="adj" fmla="val 22727"/>
            </a:avLst>
          </a:prstGeom>
          <a:solidFill>
            <a:srgbClr val="9CA3AF"/>
          </a:solidFill>
          <a:ln/>
        </p:spPr>
      </p:sp>
      <p:sp>
        <p:nvSpPr>
          <p:cNvPr id="63" name="Text 60"/>
          <p:cNvSpPr txBox="1"/>
          <p:nvPr/>
        </p:nvSpPr>
        <p:spPr>
          <a:xfrm>
            <a:off x="548640" y="5020056"/>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del proyecto</a:t>
            </a:r>
            <a:endParaRPr lang="en-US" sz="1100" dirty="0"/>
          </a:p>
        </p:txBody>
      </p:sp>
      <p:sp>
        <p:nvSpPr>
          <p:cNvPr id="64" name="Shape 61"/>
          <p:cNvSpPr/>
          <p:nvPr/>
        </p:nvSpPr>
        <p:spPr>
          <a:xfrm>
            <a:off x="548640" y="5404104"/>
            <a:ext cx="11094415" cy="0"/>
          </a:xfrm>
          <a:prstGeom prst="line">
            <a:avLst/>
          </a:prstGeom>
          <a:noFill/>
          <a:ln w="6350">
            <a:solidFill>
              <a:srgbClr val="E3E4E8"/>
            </a:solidFill>
            <a:prstDash val="solid"/>
          </a:ln>
        </p:spPr>
      </p:sp>
      <p:sp>
        <p:nvSpPr>
          <p:cNvPr id="65" name="Shape 62"/>
          <p:cNvSpPr/>
          <p:nvPr/>
        </p:nvSpPr>
        <p:spPr>
          <a:xfrm>
            <a:off x="3655685" y="5111496"/>
            <a:ext cx="1360113" cy="201168"/>
          </a:xfrm>
          <a:prstGeom prst="roundRect">
            <a:avLst>
              <a:gd name="adj" fmla="val 22727"/>
            </a:avLst>
          </a:prstGeom>
          <a:solidFill>
            <a:srgbClr val="9CA3AF"/>
          </a:solidFill>
          <a:ln/>
        </p:spPr>
      </p:sp>
      <p:sp>
        <p:nvSpPr>
          <p:cNvPr id="66" name="Shape 63"/>
          <p:cNvSpPr/>
          <p:nvPr/>
        </p:nvSpPr>
        <p:spPr>
          <a:xfrm>
            <a:off x="5743489" y="5111496"/>
            <a:ext cx="1360113" cy="201168"/>
          </a:xfrm>
          <a:prstGeom prst="roundRect">
            <a:avLst>
              <a:gd name="adj" fmla="val 22727"/>
            </a:avLst>
          </a:prstGeom>
          <a:solidFill>
            <a:srgbClr val="9CA3AF"/>
          </a:solidFill>
          <a:ln/>
        </p:spPr>
      </p:sp>
      <p:sp>
        <p:nvSpPr>
          <p:cNvPr id="67" name="Shape 64"/>
          <p:cNvSpPr/>
          <p:nvPr/>
        </p:nvSpPr>
        <p:spPr>
          <a:xfrm>
            <a:off x="8057979" y="5111496"/>
            <a:ext cx="906742" cy="201168"/>
          </a:xfrm>
          <a:prstGeom prst="roundRect">
            <a:avLst>
              <a:gd name="adj" fmla="val 22727"/>
            </a:avLst>
          </a:prstGeom>
          <a:solidFill>
            <a:srgbClr val="9CA3AF"/>
          </a:solidFill>
          <a:ln/>
        </p:spPr>
      </p:sp>
      <p:sp>
        <p:nvSpPr>
          <p:cNvPr id="68" name="Shape 65"/>
          <p:cNvSpPr/>
          <p:nvPr/>
        </p:nvSpPr>
        <p:spPr>
          <a:xfrm>
            <a:off x="10145782" y="5111496"/>
            <a:ext cx="906742" cy="201168"/>
          </a:xfrm>
          <a:prstGeom prst="roundRect">
            <a:avLst>
              <a:gd name="adj" fmla="val 22727"/>
            </a:avLst>
          </a:prstGeom>
          <a:solidFill>
            <a:srgbClr val="9CA3AF"/>
          </a:solidFill>
          <a:ln/>
        </p:spPr>
      </p:sp>
      <p:sp>
        <p:nvSpPr>
          <p:cNvPr id="69" name="Text 66"/>
          <p:cNvSpPr txBox="1"/>
          <p:nvPr/>
        </p:nvSpPr>
        <p:spPr>
          <a:xfrm>
            <a:off x="548640" y="5404104"/>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Entorno</a:t>
            </a:r>
            <a:endParaRPr lang="en-US" sz="1100" dirty="0"/>
          </a:p>
        </p:txBody>
      </p:sp>
      <p:sp>
        <p:nvSpPr>
          <p:cNvPr id="70" name="Shape 67"/>
          <p:cNvSpPr/>
          <p:nvPr/>
        </p:nvSpPr>
        <p:spPr>
          <a:xfrm>
            <a:off x="548640" y="5788152"/>
            <a:ext cx="11094415" cy="0"/>
          </a:xfrm>
          <a:prstGeom prst="line">
            <a:avLst/>
          </a:prstGeom>
          <a:noFill/>
          <a:ln w="6350">
            <a:solidFill>
              <a:srgbClr val="E3E4E8"/>
            </a:solidFill>
            <a:prstDash val="solid"/>
          </a:ln>
        </p:spPr>
      </p:sp>
      <p:sp>
        <p:nvSpPr>
          <p:cNvPr id="71" name="Shape 68"/>
          <p:cNvSpPr/>
          <p:nvPr/>
        </p:nvSpPr>
        <p:spPr>
          <a:xfrm>
            <a:off x="3882371" y="5495544"/>
            <a:ext cx="906742" cy="201168"/>
          </a:xfrm>
          <a:prstGeom prst="roundRect">
            <a:avLst>
              <a:gd name="adj" fmla="val 22727"/>
            </a:avLst>
          </a:prstGeom>
          <a:solidFill>
            <a:srgbClr val="9CA3AF"/>
          </a:solidFill>
          <a:ln/>
        </p:spPr>
      </p:sp>
      <p:sp>
        <p:nvSpPr>
          <p:cNvPr id="72" name="Shape 69"/>
          <p:cNvSpPr/>
          <p:nvPr/>
        </p:nvSpPr>
        <p:spPr>
          <a:xfrm>
            <a:off x="5970175" y="5495544"/>
            <a:ext cx="906742" cy="201168"/>
          </a:xfrm>
          <a:prstGeom prst="roundRect">
            <a:avLst>
              <a:gd name="adj" fmla="val 22727"/>
            </a:avLst>
          </a:prstGeom>
          <a:solidFill>
            <a:srgbClr val="9CA3AF"/>
          </a:solidFill>
          <a:ln/>
        </p:spPr>
      </p:sp>
      <p:sp>
        <p:nvSpPr>
          <p:cNvPr id="73" name="Shape 70"/>
          <p:cNvSpPr/>
          <p:nvPr/>
        </p:nvSpPr>
        <p:spPr>
          <a:xfrm>
            <a:off x="8284664" y="5495544"/>
            <a:ext cx="453371" cy="201168"/>
          </a:xfrm>
          <a:prstGeom prst="roundRect">
            <a:avLst>
              <a:gd name="adj" fmla="val 22727"/>
            </a:avLst>
          </a:prstGeom>
          <a:solidFill>
            <a:srgbClr val="9CA3AF"/>
          </a:solidFill>
          <a:ln/>
        </p:spPr>
      </p:sp>
      <p:sp>
        <p:nvSpPr>
          <p:cNvPr id="74" name="Shape 71"/>
          <p:cNvSpPr/>
          <p:nvPr/>
        </p:nvSpPr>
        <p:spPr>
          <a:xfrm>
            <a:off x="10372468" y="5495544"/>
            <a:ext cx="453371" cy="201168"/>
          </a:xfrm>
          <a:prstGeom prst="roundRect">
            <a:avLst>
              <a:gd name="adj" fmla="val 22727"/>
            </a:avLst>
          </a:prstGeom>
          <a:solidFill>
            <a:srgbClr val="9CA3AF"/>
          </a:solidFill>
          <a:ln/>
        </p:spPr>
      </p:sp>
      <p:sp>
        <p:nvSpPr>
          <p:cNvPr id="75" name="Text 72"/>
          <p:cNvSpPr txBox="1"/>
          <p:nvPr/>
        </p:nvSpPr>
        <p:spPr>
          <a:xfrm>
            <a:off x="3291840"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LCO</a:t>
            </a:r>
            <a:endParaRPr lang="en-US" sz="1200" dirty="0"/>
          </a:p>
        </p:txBody>
      </p:sp>
      <p:sp>
        <p:nvSpPr>
          <p:cNvPr id="76" name="Text 73"/>
          <p:cNvSpPr txBox="1"/>
          <p:nvPr/>
        </p:nvSpPr>
        <p:spPr>
          <a:xfrm>
            <a:off x="5379644"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LCA</a:t>
            </a:r>
            <a:endParaRPr lang="en-US" sz="1200" dirty="0"/>
          </a:p>
        </p:txBody>
      </p:sp>
      <p:sp>
        <p:nvSpPr>
          <p:cNvPr id="77" name="Text 74"/>
          <p:cNvSpPr txBox="1"/>
          <p:nvPr/>
        </p:nvSpPr>
        <p:spPr>
          <a:xfrm>
            <a:off x="7467448"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IOC</a:t>
            </a:r>
            <a:endParaRPr lang="en-US" sz="1200" dirty="0"/>
          </a:p>
        </p:txBody>
      </p:sp>
      <p:sp>
        <p:nvSpPr>
          <p:cNvPr id="78" name="Text 75"/>
          <p:cNvSpPr txBox="1"/>
          <p:nvPr/>
        </p:nvSpPr>
        <p:spPr>
          <a:xfrm>
            <a:off x="9555251"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PR</a:t>
            </a:r>
            <a:endParaRPr lang="en-US" sz="1200" dirty="0"/>
          </a:p>
        </p:txBody>
      </p:sp>
      <p:sp>
        <p:nvSpPr>
          <p:cNvPr id="79" name="Text 76"/>
          <p:cNvSpPr txBox="1"/>
          <p:nvPr/>
        </p:nvSpPr>
        <p:spPr>
          <a:xfrm>
            <a:off x="548640" y="6199632"/>
            <a:ext cx="1109441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Hitos: LCO objetivos acordados · LCA arquitectura validada · IOC versión operativa · PR producto publicado</a:t>
            </a:r>
            <a:endParaRPr lang="en-US" sz="1100" dirty="0"/>
          </a:p>
        </p:txBody>
      </p:sp>
      <p:sp>
        <p:nvSpPr>
          <p:cNvPr id="80" name="!!veil-l#1"/>
          <p:cNvSpPr/>
          <p:nvPr/>
        </p:nvSpPr>
        <p:spPr>
          <a:xfrm>
            <a:off x="3291840" y="1371600"/>
            <a:ext cx="6263640" cy="4809744"/>
          </a:xfrm>
          <a:prstGeom prst="rect">
            <a:avLst/>
          </a:prstGeom>
          <a:solidFill>
            <a:srgbClr val="FFFFFF">
              <a:alpha val="70000"/>
            </a:srgbClr>
          </a:solidFill>
          <a:ln>
            <a:noFill/>
          </a:ln>
        </p:spPr>
      </p:sp>
      <p:sp>
        <p:nvSpPr>
          <p:cNvPr id="81" name="!!veil-r#1"/>
          <p:cNvSpPr/>
          <p:nvPr/>
        </p:nvSpPr>
        <p:spPr>
          <a:xfrm>
            <a:off x="11643360" y="1371600"/>
            <a:ext cx="9144" cy="4809744"/>
          </a:xfrm>
          <a:prstGeom prst="rect">
            <a:avLst/>
          </a:prstGeom>
          <a:solidFill>
            <a:srgbClr val="FFFFFF">
              <a:alpha val="70000"/>
            </a:srgbClr>
          </a:solidFill>
          <a:ln>
            <a:no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ANTES Y DESPUÉS</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Antes y después: home y catálogo</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24</a:t>
            </a:r>
            <a:endParaRPr lang="en-US" sz="900" dirty="0"/>
          </a:p>
        </p:txBody>
      </p:sp>
      <p:sp>
        <p:nvSpPr>
          <p:cNvPr id="6" name="!!ad0-lbl#1"/>
          <p:cNvSpPr txBox="1"/>
          <p:nvPr/>
        </p:nvSpPr>
        <p:spPr>
          <a:xfrm>
            <a:off x="548640" y="1371600"/>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Home y marca</a:t>
            </a:r>
            <a:endParaRPr lang="en-US" sz="1300" dirty="0"/>
          </a:p>
        </p:txBody>
      </p:sp>
      <p:pic>
        <p:nvPicPr>
          <p:cNvPr id="7" name="!!ad0-a#1" descr="img/v3-A-home.png">    </p:cNvPr>
          <p:cNvPicPr>
            <a:picLocks noChangeAspect="1"/>
          </p:cNvPicPr>
          <p:nvPr/>
        </p:nvPicPr>
        <p:blipFill>
          <a:blip r:embed="rId1"/>
          <a:stretch>
            <a:fillRect/>
          </a:stretch>
        </p:blipFill>
        <p:spPr>
          <a:xfrm>
            <a:off x="548640" y="1783080"/>
            <a:ext cx="2926080" cy="1828800"/>
          </a:xfrm>
          <a:prstGeom prst="rect">
            <a:avLst/>
          </a:prstGeom>
        </p:spPr>
      </p:pic>
      <p:sp>
        <p:nvSpPr>
          <p:cNvPr id="8" name="!!ad0-a#2"/>
          <p:cNvSpPr/>
          <p:nvPr/>
        </p:nvSpPr>
        <p:spPr>
          <a:xfrm>
            <a:off x="548640" y="1783080"/>
            <a:ext cx="2926080" cy="1828800"/>
          </a:xfrm>
          <a:prstGeom prst="rect">
            <a:avLst/>
          </a:prstGeom>
          <a:ln w="12700">
            <a:solidFill>
              <a:srgbClr val="E3E4E8"/>
            </a:solidFill>
            <a:prstDash val="solid"/>
          </a:ln>
        </p:spPr>
      </p:sp>
      <p:sp>
        <p:nvSpPr>
          <p:cNvPr id="9" name="!!ad0-ta#1"/>
          <p:cNvSpPr/>
          <p:nvPr/>
        </p:nvSpPr>
        <p:spPr>
          <a:xfrm>
            <a:off x="603504" y="1837944"/>
            <a:ext cx="586359" cy="256032"/>
          </a:xfrm>
          <a:prstGeom prst="roundRect">
            <a:avLst>
              <a:gd name="adj" fmla="val 50000"/>
            </a:avLst>
          </a:prstGeom>
          <a:solidFill>
            <a:srgbClr val="FFFFFF"/>
          </a:solidFill>
          <a:ln w="9525">
            <a:solidFill>
              <a:srgbClr val="0B0B0D"/>
            </a:solidFill>
            <a:prstDash val="solid"/>
          </a:ln>
        </p:spPr>
      </p:sp>
      <p:sp>
        <p:nvSpPr>
          <p:cNvPr id="10" name="!!ad0-ta#2"/>
          <p:cNvSpPr txBox="1"/>
          <p:nvPr/>
        </p:nvSpPr>
        <p:spPr>
          <a:xfrm>
            <a:off x="603504" y="1837944"/>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11" name="!!ad0-d#1" descr="img/v3-N-home.png">    </p:cNvPr>
          <p:cNvPicPr>
            <a:picLocks noChangeAspect="1"/>
          </p:cNvPicPr>
          <p:nvPr/>
        </p:nvPicPr>
        <p:blipFill>
          <a:blip r:embed="rId2"/>
          <a:stretch>
            <a:fillRect/>
          </a:stretch>
        </p:blipFill>
        <p:spPr>
          <a:xfrm>
            <a:off x="3657600" y="1783080"/>
            <a:ext cx="2926080" cy="1828800"/>
          </a:xfrm>
          <a:prstGeom prst="rect">
            <a:avLst/>
          </a:prstGeom>
        </p:spPr>
      </p:pic>
      <p:sp>
        <p:nvSpPr>
          <p:cNvPr id="12" name="!!ad0-d#2"/>
          <p:cNvSpPr/>
          <p:nvPr/>
        </p:nvSpPr>
        <p:spPr>
          <a:xfrm>
            <a:off x="3657600" y="1783080"/>
            <a:ext cx="2926080" cy="1828800"/>
          </a:xfrm>
          <a:prstGeom prst="rect">
            <a:avLst/>
          </a:prstGeom>
          <a:ln w="12700">
            <a:solidFill>
              <a:srgbClr val="E3E4E8"/>
            </a:solidFill>
            <a:prstDash val="solid"/>
          </a:ln>
        </p:spPr>
      </p:sp>
      <p:sp>
        <p:nvSpPr>
          <p:cNvPr id="13" name="!!ad0-td#1"/>
          <p:cNvSpPr/>
          <p:nvPr/>
        </p:nvSpPr>
        <p:spPr>
          <a:xfrm>
            <a:off x="3712464" y="1837944"/>
            <a:ext cx="718490" cy="256032"/>
          </a:xfrm>
          <a:prstGeom prst="roundRect">
            <a:avLst>
              <a:gd name="adj" fmla="val 50000"/>
            </a:avLst>
          </a:prstGeom>
          <a:solidFill>
            <a:srgbClr val="6D28D9"/>
          </a:solidFill>
          <a:ln w="9525">
            <a:solidFill>
              <a:srgbClr val="6D28D9"/>
            </a:solidFill>
            <a:prstDash val="solid"/>
          </a:ln>
        </p:spPr>
      </p:sp>
      <p:sp>
        <p:nvSpPr>
          <p:cNvPr id="14" name="!!ad0-td#2"/>
          <p:cNvSpPr txBox="1"/>
          <p:nvPr/>
        </p:nvSpPr>
        <p:spPr>
          <a:xfrm>
            <a:off x="3712464" y="1837944"/>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15" name="!!ad0-txt#1"/>
          <p:cNvSpPr txBox="1"/>
          <p:nvPr/>
        </p:nvSpPr>
        <p:spPr>
          <a:xfrm>
            <a:off x="6903720" y="1691640"/>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Antes</a:t>
            </a:r>
            <a:endParaRPr lang="en-US" sz="1050" dirty="0"/>
          </a:p>
        </p:txBody>
      </p:sp>
      <p:sp>
        <p:nvSpPr>
          <p:cNvPr id="16" name="!!ad0-txt#2"/>
          <p:cNvSpPr txBox="1"/>
          <p:nvPr/>
        </p:nvSpPr>
        <p:spPr>
          <a:xfrm>
            <a:off x="8275320" y="1691640"/>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Banner y categorías; el menú no ofrece contacto ni consulta.</a:t>
            </a:r>
            <a:endParaRPr lang="en-US" sz="1100" dirty="0"/>
          </a:p>
        </p:txBody>
      </p:sp>
      <p:sp>
        <p:nvSpPr>
          <p:cNvPr id="17" name="!!ad0-txt#3"/>
          <p:cNvSpPr txBox="1"/>
          <p:nvPr/>
        </p:nvSpPr>
        <p:spPr>
          <a:xfrm>
            <a:off x="6903720" y="2203704"/>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Necesidad</a:t>
            </a:r>
            <a:endParaRPr lang="en-US" sz="1050" dirty="0"/>
          </a:p>
        </p:txBody>
      </p:sp>
      <p:sp>
        <p:nvSpPr>
          <p:cNvPr id="18" name="!!ad0-txt#4"/>
          <p:cNvSpPr txBox="1"/>
          <p:nvPr/>
        </p:nvSpPr>
        <p:spPr>
          <a:xfrm>
            <a:off x="8275320" y="2203704"/>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Presentar la marca y dar un camino claro desde la primera pantalla.</a:t>
            </a:r>
            <a:endParaRPr lang="en-US" sz="1100" dirty="0"/>
          </a:p>
        </p:txBody>
      </p:sp>
      <p:sp>
        <p:nvSpPr>
          <p:cNvPr id="19" name="!!ad0-txt#5"/>
          <p:cNvSpPr txBox="1"/>
          <p:nvPr/>
        </p:nvSpPr>
        <p:spPr>
          <a:xfrm>
            <a:off x="6903720" y="2715768"/>
            <a:ext cx="1325880" cy="45720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Modificación</a:t>
            </a:r>
            <a:endParaRPr lang="en-US" sz="1050" dirty="0"/>
          </a:p>
        </p:txBody>
      </p:sp>
      <p:sp>
        <p:nvSpPr>
          <p:cNvPr id="20" name="!!ad0-txt#6"/>
          <p:cNvSpPr txBox="1"/>
          <p:nvPr/>
        </p:nvSpPr>
        <p:spPr>
          <a:xfrm>
            <a:off x="8275320" y="2715768"/>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Nueva identidad y jerarquía, con «Buscar» y «Cotizar» fijos en el encabezado.</a:t>
            </a:r>
            <a:endParaRPr lang="en-US" sz="1100" dirty="0"/>
          </a:p>
        </p:txBody>
      </p:sp>
      <p:sp>
        <p:nvSpPr>
          <p:cNvPr id="21" name="!!ad0-txt#7"/>
          <p:cNvSpPr txBox="1"/>
          <p:nvPr/>
        </p:nvSpPr>
        <p:spPr>
          <a:xfrm>
            <a:off x="6903720" y="3227832"/>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Beneficio esperado</a:t>
            </a:r>
            <a:endParaRPr lang="en-US" sz="1050" dirty="0"/>
          </a:p>
        </p:txBody>
      </p:sp>
      <p:sp>
        <p:nvSpPr>
          <p:cNvPr id="22" name="!!ad0-txt#8"/>
          <p:cNvSpPr txBox="1"/>
          <p:nvPr/>
        </p:nvSpPr>
        <p:spPr>
          <a:xfrm>
            <a:off x="8275320" y="3227832"/>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Tres caminos visibles: explorar, buscar o consultar.</a:t>
            </a:r>
            <a:endParaRPr lang="en-US" sz="1100" dirty="0"/>
          </a:p>
        </p:txBody>
      </p:sp>
      <p:sp>
        <p:nvSpPr>
          <p:cNvPr id="23" name="!!ad1-lbl#1"/>
          <p:cNvSpPr txBox="1"/>
          <p:nvPr/>
        </p:nvSpPr>
        <p:spPr>
          <a:xfrm>
            <a:off x="548640" y="3858768"/>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Catálogo</a:t>
            </a:r>
            <a:endParaRPr lang="en-US" sz="1300" dirty="0"/>
          </a:p>
        </p:txBody>
      </p:sp>
      <p:pic>
        <p:nvPicPr>
          <p:cNvPr id="24" name="!!ad1-a#1" descr="img/v3-A-shop.png">    </p:cNvPr>
          <p:cNvPicPr>
            <a:picLocks noChangeAspect="1"/>
          </p:cNvPicPr>
          <p:nvPr/>
        </p:nvPicPr>
        <p:blipFill>
          <a:blip r:embed="rId3"/>
          <a:stretch>
            <a:fillRect/>
          </a:stretch>
        </p:blipFill>
        <p:spPr>
          <a:xfrm>
            <a:off x="548640" y="4270248"/>
            <a:ext cx="2926080" cy="1828800"/>
          </a:xfrm>
          <a:prstGeom prst="rect">
            <a:avLst/>
          </a:prstGeom>
        </p:spPr>
      </p:pic>
      <p:sp>
        <p:nvSpPr>
          <p:cNvPr id="25" name="!!ad1-a#2"/>
          <p:cNvSpPr/>
          <p:nvPr/>
        </p:nvSpPr>
        <p:spPr>
          <a:xfrm>
            <a:off x="548640" y="4270248"/>
            <a:ext cx="2926080" cy="1828800"/>
          </a:xfrm>
          <a:prstGeom prst="rect">
            <a:avLst/>
          </a:prstGeom>
          <a:ln w="12700">
            <a:solidFill>
              <a:srgbClr val="E3E4E8"/>
            </a:solidFill>
            <a:prstDash val="solid"/>
          </a:ln>
        </p:spPr>
      </p:sp>
      <p:sp>
        <p:nvSpPr>
          <p:cNvPr id="26" name="!!ad1-ta#1"/>
          <p:cNvSpPr/>
          <p:nvPr/>
        </p:nvSpPr>
        <p:spPr>
          <a:xfrm>
            <a:off x="603504" y="4325112"/>
            <a:ext cx="586359" cy="256032"/>
          </a:xfrm>
          <a:prstGeom prst="roundRect">
            <a:avLst>
              <a:gd name="adj" fmla="val 50000"/>
            </a:avLst>
          </a:prstGeom>
          <a:solidFill>
            <a:srgbClr val="FFFFFF"/>
          </a:solidFill>
          <a:ln w="9525">
            <a:solidFill>
              <a:srgbClr val="0B0B0D"/>
            </a:solidFill>
            <a:prstDash val="solid"/>
          </a:ln>
        </p:spPr>
      </p:sp>
      <p:sp>
        <p:nvSpPr>
          <p:cNvPr id="27" name="!!ad1-ta#2"/>
          <p:cNvSpPr txBox="1"/>
          <p:nvPr/>
        </p:nvSpPr>
        <p:spPr>
          <a:xfrm>
            <a:off x="603504" y="4325112"/>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28" name="!!ad1-d#1" descr="img/v3-N-shop.png">    </p:cNvPr>
          <p:cNvPicPr>
            <a:picLocks noChangeAspect="1"/>
          </p:cNvPicPr>
          <p:nvPr/>
        </p:nvPicPr>
        <p:blipFill>
          <a:blip r:embed="rId4"/>
          <a:stretch>
            <a:fillRect/>
          </a:stretch>
        </p:blipFill>
        <p:spPr>
          <a:xfrm>
            <a:off x="3657600" y="4270248"/>
            <a:ext cx="2926080" cy="1828800"/>
          </a:xfrm>
          <a:prstGeom prst="rect">
            <a:avLst/>
          </a:prstGeom>
        </p:spPr>
      </p:pic>
      <p:sp>
        <p:nvSpPr>
          <p:cNvPr id="29" name="!!ad1-d#2"/>
          <p:cNvSpPr/>
          <p:nvPr/>
        </p:nvSpPr>
        <p:spPr>
          <a:xfrm>
            <a:off x="3657600" y="4270248"/>
            <a:ext cx="2926080" cy="1828800"/>
          </a:xfrm>
          <a:prstGeom prst="rect">
            <a:avLst/>
          </a:prstGeom>
          <a:ln w="12700">
            <a:solidFill>
              <a:srgbClr val="E3E4E8"/>
            </a:solidFill>
            <a:prstDash val="solid"/>
          </a:ln>
        </p:spPr>
      </p:sp>
      <p:sp>
        <p:nvSpPr>
          <p:cNvPr id="30" name="!!ad1-td#1"/>
          <p:cNvSpPr/>
          <p:nvPr/>
        </p:nvSpPr>
        <p:spPr>
          <a:xfrm>
            <a:off x="3712464" y="4325112"/>
            <a:ext cx="718490" cy="256032"/>
          </a:xfrm>
          <a:prstGeom prst="roundRect">
            <a:avLst>
              <a:gd name="adj" fmla="val 50000"/>
            </a:avLst>
          </a:prstGeom>
          <a:solidFill>
            <a:srgbClr val="6D28D9"/>
          </a:solidFill>
          <a:ln w="9525">
            <a:solidFill>
              <a:srgbClr val="6D28D9"/>
            </a:solidFill>
            <a:prstDash val="solid"/>
          </a:ln>
        </p:spPr>
      </p:sp>
      <p:sp>
        <p:nvSpPr>
          <p:cNvPr id="31" name="!!ad1-td#2"/>
          <p:cNvSpPr txBox="1"/>
          <p:nvPr/>
        </p:nvSpPr>
        <p:spPr>
          <a:xfrm>
            <a:off x="3712464" y="4325112"/>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32" name="!!ad1-txt#1"/>
          <p:cNvSpPr txBox="1"/>
          <p:nvPr/>
        </p:nvSpPr>
        <p:spPr>
          <a:xfrm>
            <a:off x="6903720" y="4178808"/>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Antes</a:t>
            </a:r>
            <a:endParaRPr lang="en-US" sz="1050" dirty="0"/>
          </a:p>
        </p:txBody>
      </p:sp>
      <p:sp>
        <p:nvSpPr>
          <p:cNvPr id="33" name="!!ad1-txt#2"/>
          <p:cNvSpPr txBox="1"/>
          <p:nvPr/>
        </p:nvSpPr>
        <p:spPr>
          <a:xfrm>
            <a:off x="8275320" y="4178808"/>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«Productos» abre una tienda vacía; en las categorías, tarjetas con solo el modelo.</a:t>
            </a:r>
            <a:endParaRPr lang="en-US" sz="1100" dirty="0"/>
          </a:p>
        </p:txBody>
      </p:sp>
      <p:sp>
        <p:nvSpPr>
          <p:cNvPr id="34" name="!!ad1-txt#3"/>
          <p:cNvSpPr txBox="1"/>
          <p:nvPr/>
        </p:nvSpPr>
        <p:spPr>
          <a:xfrm>
            <a:off x="6903720" y="4690872"/>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Necesidad</a:t>
            </a:r>
            <a:endParaRPr lang="en-US" sz="1050" dirty="0"/>
          </a:p>
        </p:txBody>
      </p:sp>
      <p:sp>
        <p:nvSpPr>
          <p:cNvPr id="35" name="!!ad1-txt#4"/>
          <p:cNvSpPr txBox="1"/>
          <p:nvPr/>
        </p:nvSpPr>
        <p:spPr>
          <a:xfrm>
            <a:off x="8275320" y="4690872"/>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Un catálogo que se pueda recorrer y comparar.</a:t>
            </a:r>
            <a:endParaRPr lang="en-US" sz="1100" dirty="0"/>
          </a:p>
        </p:txBody>
      </p:sp>
      <p:sp>
        <p:nvSpPr>
          <p:cNvPr id="36" name="!!ad1-txt#5"/>
          <p:cNvSpPr txBox="1"/>
          <p:nvPr/>
        </p:nvSpPr>
        <p:spPr>
          <a:xfrm>
            <a:off x="6903720" y="5202936"/>
            <a:ext cx="1325880" cy="45720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Modificación</a:t>
            </a:r>
            <a:endParaRPr lang="en-US" sz="1050" dirty="0"/>
          </a:p>
        </p:txBody>
      </p:sp>
      <p:sp>
        <p:nvSpPr>
          <p:cNvPr id="37" name="!!ad1-txt#6"/>
          <p:cNvSpPr txBox="1"/>
          <p:nvPr/>
        </p:nvSpPr>
        <p:spPr>
          <a:xfrm>
            <a:off x="8275320" y="5202936"/>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118 productos, pestañas con contador, filtros y tarjetas con tipo y potencia.</a:t>
            </a:r>
            <a:endParaRPr lang="en-US" sz="1100" dirty="0"/>
          </a:p>
        </p:txBody>
      </p:sp>
      <p:sp>
        <p:nvSpPr>
          <p:cNvPr id="38" name="!!ad1-txt#7"/>
          <p:cNvSpPr txBox="1"/>
          <p:nvPr/>
        </p:nvSpPr>
        <p:spPr>
          <a:xfrm>
            <a:off x="6903720" y="5715000"/>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Beneficio esperado</a:t>
            </a:r>
            <a:endParaRPr lang="en-US" sz="1050" dirty="0"/>
          </a:p>
        </p:txBody>
      </p:sp>
      <p:sp>
        <p:nvSpPr>
          <p:cNvPr id="39" name="!!ad1-txt#8"/>
          <p:cNvSpPr txBox="1"/>
          <p:nvPr/>
        </p:nvSpPr>
        <p:spPr>
          <a:xfrm>
            <a:off x="8275320" y="5715000"/>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Encontrar el modelo con menos pasos.</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ANTES Y DESPUÉS</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Antes y después: ficha y celular</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25</a:t>
            </a:r>
            <a:endParaRPr lang="en-US" sz="900" dirty="0"/>
          </a:p>
        </p:txBody>
      </p:sp>
      <p:sp>
        <p:nvSpPr>
          <p:cNvPr id="6" name="!!ad0-lbl#1"/>
          <p:cNvSpPr txBox="1"/>
          <p:nvPr/>
        </p:nvSpPr>
        <p:spPr>
          <a:xfrm>
            <a:off x="548640" y="1371600"/>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Ficha de producto</a:t>
            </a:r>
            <a:endParaRPr lang="en-US" sz="1300" dirty="0"/>
          </a:p>
        </p:txBody>
      </p:sp>
      <p:pic>
        <p:nvPicPr>
          <p:cNvPr id="7" name="!!ad0-a#1" descr="img/v3-A-ficha.png">    </p:cNvPr>
          <p:cNvPicPr>
            <a:picLocks noChangeAspect="1"/>
          </p:cNvPicPr>
          <p:nvPr/>
        </p:nvPicPr>
        <p:blipFill>
          <a:blip r:embed="rId1"/>
          <a:stretch>
            <a:fillRect/>
          </a:stretch>
        </p:blipFill>
        <p:spPr>
          <a:xfrm>
            <a:off x="548640" y="1783080"/>
            <a:ext cx="2926080" cy="1828800"/>
          </a:xfrm>
          <a:prstGeom prst="rect">
            <a:avLst/>
          </a:prstGeom>
        </p:spPr>
      </p:pic>
      <p:sp>
        <p:nvSpPr>
          <p:cNvPr id="8" name="!!ad0-a#2"/>
          <p:cNvSpPr/>
          <p:nvPr/>
        </p:nvSpPr>
        <p:spPr>
          <a:xfrm>
            <a:off x="548640" y="1783080"/>
            <a:ext cx="2926080" cy="1828800"/>
          </a:xfrm>
          <a:prstGeom prst="rect">
            <a:avLst/>
          </a:prstGeom>
          <a:ln w="12700">
            <a:solidFill>
              <a:srgbClr val="E3E4E8"/>
            </a:solidFill>
            <a:prstDash val="solid"/>
          </a:ln>
        </p:spPr>
      </p:sp>
      <p:sp>
        <p:nvSpPr>
          <p:cNvPr id="9" name="!!ad0-ta#1"/>
          <p:cNvSpPr/>
          <p:nvPr/>
        </p:nvSpPr>
        <p:spPr>
          <a:xfrm>
            <a:off x="603504" y="1837944"/>
            <a:ext cx="586359" cy="256032"/>
          </a:xfrm>
          <a:prstGeom prst="roundRect">
            <a:avLst>
              <a:gd name="adj" fmla="val 50000"/>
            </a:avLst>
          </a:prstGeom>
          <a:solidFill>
            <a:srgbClr val="FFFFFF"/>
          </a:solidFill>
          <a:ln w="9525">
            <a:solidFill>
              <a:srgbClr val="0B0B0D"/>
            </a:solidFill>
            <a:prstDash val="solid"/>
          </a:ln>
        </p:spPr>
      </p:sp>
      <p:sp>
        <p:nvSpPr>
          <p:cNvPr id="10" name="!!ad0-ta#2"/>
          <p:cNvSpPr txBox="1"/>
          <p:nvPr/>
        </p:nvSpPr>
        <p:spPr>
          <a:xfrm>
            <a:off x="603504" y="1837944"/>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11" name="!!ad0-d#1" descr="img/v3-N-ficha.png">    </p:cNvPr>
          <p:cNvPicPr>
            <a:picLocks noChangeAspect="1"/>
          </p:cNvPicPr>
          <p:nvPr/>
        </p:nvPicPr>
        <p:blipFill>
          <a:blip r:embed="rId2"/>
          <a:stretch>
            <a:fillRect/>
          </a:stretch>
        </p:blipFill>
        <p:spPr>
          <a:xfrm>
            <a:off x="3657600" y="1783080"/>
            <a:ext cx="2926080" cy="1828800"/>
          </a:xfrm>
          <a:prstGeom prst="rect">
            <a:avLst/>
          </a:prstGeom>
        </p:spPr>
      </p:pic>
      <p:sp>
        <p:nvSpPr>
          <p:cNvPr id="12" name="!!ad0-d#2"/>
          <p:cNvSpPr/>
          <p:nvPr/>
        </p:nvSpPr>
        <p:spPr>
          <a:xfrm>
            <a:off x="3657600" y="1783080"/>
            <a:ext cx="2926080" cy="1828800"/>
          </a:xfrm>
          <a:prstGeom prst="rect">
            <a:avLst/>
          </a:prstGeom>
          <a:ln w="12700">
            <a:solidFill>
              <a:srgbClr val="E3E4E8"/>
            </a:solidFill>
            <a:prstDash val="solid"/>
          </a:ln>
        </p:spPr>
      </p:sp>
      <p:sp>
        <p:nvSpPr>
          <p:cNvPr id="13" name="!!ad0-td#1"/>
          <p:cNvSpPr/>
          <p:nvPr/>
        </p:nvSpPr>
        <p:spPr>
          <a:xfrm>
            <a:off x="3712464" y="1837944"/>
            <a:ext cx="718490" cy="256032"/>
          </a:xfrm>
          <a:prstGeom prst="roundRect">
            <a:avLst>
              <a:gd name="adj" fmla="val 50000"/>
            </a:avLst>
          </a:prstGeom>
          <a:solidFill>
            <a:srgbClr val="6D28D9"/>
          </a:solidFill>
          <a:ln w="9525">
            <a:solidFill>
              <a:srgbClr val="6D28D9"/>
            </a:solidFill>
            <a:prstDash val="solid"/>
          </a:ln>
        </p:spPr>
      </p:sp>
      <p:sp>
        <p:nvSpPr>
          <p:cNvPr id="14" name="!!ad0-td#2"/>
          <p:cNvSpPr txBox="1"/>
          <p:nvPr/>
        </p:nvSpPr>
        <p:spPr>
          <a:xfrm>
            <a:off x="3712464" y="1837944"/>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15" name="!!ad0-txt#1"/>
          <p:cNvSpPr txBox="1"/>
          <p:nvPr/>
        </p:nvSpPr>
        <p:spPr>
          <a:xfrm>
            <a:off x="6903720" y="1691640"/>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Antes</a:t>
            </a:r>
            <a:endParaRPr lang="en-US" sz="1050" dirty="0"/>
          </a:p>
        </p:txBody>
      </p:sp>
      <p:sp>
        <p:nvSpPr>
          <p:cNvPr id="16" name="!!ad0-txt#2"/>
          <p:cNvSpPr txBox="1"/>
          <p:nvPr/>
        </p:nvSpPr>
        <p:spPr>
          <a:xfrm>
            <a:off x="8275320" y="1691640"/>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Especificaciones visibles, pero sin botón de consulta ni contacto.</a:t>
            </a:r>
            <a:endParaRPr lang="en-US" sz="1100" dirty="0"/>
          </a:p>
        </p:txBody>
      </p:sp>
      <p:sp>
        <p:nvSpPr>
          <p:cNvPr id="17" name="!!ad0-txt#3"/>
          <p:cNvSpPr txBox="1"/>
          <p:nvPr/>
        </p:nvSpPr>
        <p:spPr>
          <a:xfrm>
            <a:off x="6903720" y="2203704"/>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Necesidad</a:t>
            </a:r>
            <a:endParaRPr lang="en-US" sz="1050" dirty="0"/>
          </a:p>
        </p:txBody>
      </p:sp>
      <p:sp>
        <p:nvSpPr>
          <p:cNvPr id="18" name="!!ad0-txt#4"/>
          <p:cNvSpPr txBox="1"/>
          <p:nvPr/>
        </p:nvSpPr>
        <p:spPr>
          <a:xfrm>
            <a:off x="8275320" y="2203704"/>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Pasar del interés en un producto al contacto comercial.</a:t>
            </a:r>
            <a:endParaRPr lang="en-US" sz="1100" dirty="0"/>
          </a:p>
        </p:txBody>
      </p:sp>
      <p:sp>
        <p:nvSpPr>
          <p:cNvPr id="19" name="!!ad0-txt#5"/>
          <p:cNvSpPr txBox="1"/>
          <p:nvPr/>
        </p:nvSpPr>
        <p:spPr>
          <a:xfrm>
            <a:off x="6903720" y="2715768"/>
            <a:ext cx="1325880" cy="45720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Modificación</a:t>
            </a:r>
            <a:endParaRPr lang="en-US" sz="1050" dirty="0"/>
          </a:p>
        </p:txBody>
      </p:sp>
      <p:sp>
        <p:nvSpPr>
          <p:cNvPr id="20" name="!!ad0-txt#6"/>
          <p:cNvSpPr txBox="1"/>
          <p:nvPr/>
        </p:nvSpPr>
        <p:spPr>
          <a:xfrm>
            <a:off x="8275320" y="2715768"/>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Potencia destacada, «Cotizar» junto al modelo, «Comparar» y especificaciones en lista.</a:t>
            </a:r>
            <a:endParaRPr lang="en-US" sz="1100" dirty="0"/>
          </a:p>
        </p:txBody>
      </p:sp>
      <p:sp>
        <p:nvSpPr>
          <p:cNvPr id="21" name="!!ad0-txt#7"/>
          <p:cNvSpPr txBox="1"/>
          <p:nvPr/>
        </p:nvSpPr>
        <p:spPr>
          <a:xfrm>
            <a:off x="6903720" y="3227832"/>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Beneficio esperado</a:t>
            </a:r>
            <a:endParaRPr lang="en-US" sz="1050" dirty="0"/>
          </a:p>
        </p:txBody>
      </p:sp>
      <p:sp>
        <p:nvSpPr>
          <p:cNvPr id="22" name="!!ad0-txt#8"/>
          <p:cNvSpPr txBox="1"/>
          <p:nvPr/>
        </p:nvSpPr>
        <p:spPr>
          <a:xfrm>
            <a:off x="8275320" y="3227832"/>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Consultas con el modelo correcto y sin fricción.</a:t>
            </a:r>
            <a:endParaRPr lang="en-US" sz="1100" dirty="0"/>
          </a:p>
        </p:txBody>
      </p:sp>
      <p:sp>
        <p:nvSpPr>
          <p:cNvPr id="23" name="!!ad1-lbl#1"/>
          <p:cNvSpPr txBox="1"/>
          <p:nvPr/>
        </p:nvSpPr>
        <p:spPr>
          <a:xfrm>
            <a:off x="548640" y="3858768"/>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Recorrido en el celular</a:t>
            </a:r>
            <a:endParaRPr lang="en-US" sz="1300" dirty="0"/>
          </a:p>
        </p:txBody>
      </p:sp>
      <p:pic>
        <p:nvPicPr>
          <p:cNvPr id="24" name="!!ad1-a#1" descr="img/v3-A-ficha-m.png">    </p:cNvPr>
          <p:cNvPicPr>
            <a:picLocks noChangeAspect="1"/>
          </p:cNvPicPr>
          <p:nvPr/>
        </p:nvPicPr>
        <p:blipFill>
          <a:blip r:embed="rId3"/>
          <a:stretch>
            <a:fillRect/>
          </a:stretch>
        </p:blipFill>
        <p:spPr>
          <a:xfrm>
            <a:off x="609636" y="4178808"/>
            <a:ext cx="929568" cy="2011680"/>
          </a:xfrm>
          <a:prstGeom prst="rect">
            <a:avLst/>
          </a:prstGeom>
        </p:spPr>
      </p:pic>
      <p:sp>
        <p:nvSpPr>
          <p:cNvPr id="25" name="!!ad1-a#2"/>
          <p:cNvSpPr/>
          <p:nvPr/>
        </p:nvSpPr>
        <p:spPr>
          <a:xfrm>
            <a:off x="609636" y="4178808"/>
            <a:ext cx="929568" cy="2011680"/>
          </a:xfrm>
          <a:prstGeom prst="rect">
            <a:avLst/>
          </a:prstGeom>
          <a:ln w="12700">
            <a:solidFill>
              <a:srgbClr val="E3E4E8"/>
            </a:solidFill>
            <a:prstDash val="solid"/>
          </a:ln>
        </p:spPr>
      </p:sp>
      <p:sp>
        <p:nvSpPr>
          <p:cNvPr id="26" name="!!ad1-ta#1"/>
          <p:cNvSpPr/>
          <p:nvPr/>
        </p:nvSpPr>
        <p:spPr>
          <a:xfrm>
            <a:off x="664500" y="4233672"/>
            <a:ext cx="586359" cy="256032"/>
          </a:xfrm>
          <a:prstGeom prst="roundRect">
            <a:avLst>
              <a:gd name="adj" fmla="val 50000"/>
            </a:avLst>
          </a:prstGeom>
          <a:solidFill>
            <a:srgbClr val="FFFFFF"/>
          </a:solidFill>
          <a:ln w="9525">
            <a:solidFill>
              <a:srgbClr val="0B0B0D"/>
            </a:solidFill>
            <a:prstDash val="solid"/>
          </a:ln>
        </p:spPr>
      </p:sp>
      <p:sp>
        <p:nvSpPr>
          <p:cNvPr id="27" name="!!ad1-ta#2"/>
          <p:cNvSpPr txBox="1"/>
          <p:nvPr/>
        </p:nvSpPr>
        <p:spPr>
          <a:xfrm>
            <a:off x="664500" y="4233672"/>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28" name="!!ad1-d#1" descr="img/v3-N-ficha-m.png">    </p:cNvPr>
          <p:cNvPicPr>
            <a:picLocks noChangeAspect="1"/>
          </p:cNvPicPr>
          <p:nvPr/>
        </p:nvPicPr>
        <p:blipFill>
          <a:blip r:embed="rId4"/>
          <a:stretch>
            <a:fillRect/>
          </a:stretch>
        </p:blipFill>
        <p:spPr>
          <a:xfrm>
            <a:off x="1935516" y="4178808"/>
            <a:ext cx="929568" cy="2011680"/>
          </a:xfrm>
          <a:prstGeom prst="rect">
            <a:avLst/>
          </a:prstGeom>
        </p:spPr>
      </p:pic>
      <p:sp>
        <p:nvSpPr>
          <p:cNvPr id="29" name="!!ad1-d#2"/>
          <p:cNvSpPr/>
          <p:nvPr/>
        </p:nvSpPr>
        <p:spPr>
          <a:xfrm>
            <a:off x="1935516" y="4178808"/>
            <a:ext cx="929568" cy="2011680"/>
          </a:xfrm>
          <a:prstGeom prst="rect">
            <a:avLst/>
          </a:prstGeom>
          <a:ln w="12700">
            <a:solidFill>
              <a:srgbClr val="E3E4E8"/>
            </a:solidFill>
            <a:prstDash val="solid"/>
          </a:ln>
        </p:spPr>
      </p:sp>
      <p:sp>
        <p:nvSpPr>
          <p:cNvPr id="30" name="!!ad1-td#1"/>
          <p:cNvSpPr/>
          <p:nvPr/>
        </p:nvSpPr>
        <p:spPr>
          <a:xfrm>
            <a:off x="1990380" y="4233672"/>
            <a:ext cx="718490" cy="256032"/>
          </a:xfrm>
          <a:prstGeom prst="roundRect">
            <a:avLst>
              <a:gd name="adj" fmla="val 50000"/>
            </a:avLst>
          </a:prstGeom>
          <a:solidFill>
            <a:srgbClr val="6D28D9"/>
          </a:solidFill>
          <a:ln w="9525">
            <a:solidFill>
              <a:srgbClr val="6D28D9"/>
            </a:solidFill>
            <a:prstDash val="solid"/>
          </a:ln>
        </p:spPr>
      </p:sp>
      <p:sp>
        <p:nvSpPr>
          <p:cNvPr id="31" name="!!ad1-td#2"/>
          <p:cNvSpPr txBox="1"/>
          <p:nvPr/>
        </p:nvSpPr>
        <p:spPr>
          <a:xfrm>
            <a:off x="1990380" y="4233672"/>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32" name="!!ad1-txt#1"/>
          <p:cNvSpPr txBox="1"/>
          <p:nvPr/>
        </p:nvSpPr>
        <p:spPr>
          <a:xfrm>
            <a:off x="3246120" y="4178808"/>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Antes</a:t>
            </a:r>
            <a:endParaRPr lang="en-US" sz="1050" dirty="0"/>
          </a:p>
        </p:txBody>
      </p:sp>
      <p:sp>
        <p:nvSpPr>
          <p:cNvPr id="33" name="!!ad1-txt#2"/>
          <p:cNvSpPr txBox="1"/>
          <p:nvPr/>
        </p:nvSpPr>
        <p:spPr>
          <a:xfrm>
            <a:off x="4617720" y="4178808"/>
            <a:ext cx="70253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Ficha móvil sin acción comercial; WhatsApp solo en «Ventas al mayor».</a:t>
            </a:r>
            <a:endParaRPr lang="en-US" sz="1100" dirty="0"/>
          </a:p>
        </p:txBody>
      </p:sp>
      <p:sp>
        <p:nvSpPr>
          <p:cNvPr id="34" name="!!ad1-txt#3"/>
          <p:cNvSpPr txBox="1"/>
          <p:nvPr/>
        </p:nvSpPr>
        <p:spPr>
          <a:xfrm>
            <a:off x="3246120" y="4690872"/>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Necesidad</a:t>
            </a:r>
            <a:endParaRPr lang="en-US" sz="1050" dirty="0"/>
          </a:p>
        </p:txBody>
      </p:sp>
      <p:sp>
        <p:nvSpPr>
          <p:cNvPr id="35" name="!!ad1-txt#4"/>
          <p:cNvSpPr txBox="1"/>
          <p:nvPr/>
        </p:nvSpPr>
        <p:spPr>
          <a:xfrm>
            <a:off x="4617720" y="4690872"/>
            <a:ext cx="70253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Consultar desde cualquier punto del recorrido.</a:t>
            </a:r>
            <a:endParaRPr lang="en-US" sz="1100" dirty="0"/>
          </a:p>
        </p:txBody>
      </p:sp>
      <p:sp>
        <p:nvSpPr>
          <p:cNvPr id="36" name="!!ad1-txt#5"/>
          <p:cNvSpPr txBox="1"/>
          <p:nvPr/>
        </p:nvSpPr>
        <p:spPr>
          <a:xfrm>
            <a:off x="3246120" y="5202936"/>
            <a:ext cx="1325880" cy="45720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Modificación</a:t>
            </a:r>
            <a:endParaRPr lang="en-US" sz="1050" dirty="0"/>
          </a:p>
        </p:txBody>
      </p:sp>
      <p:sp>
        <p:nvSpPr>
          <p:cNvPr id="37" name="!!ad1-txt#6"/>
          <p:cNvSpPr txBox="1"/>
          <p:nvPr/>
        </p:nvSpPr>
        <p:spPr>
          <a:xfrm>
            <a:off x="4617720" y="5202936"/>
            <a:ext cx="70253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WhatsApp en el encabezado, barra «Cotizar» fija y páginas Dónde comprar y Mayoristas.</a:t>
            </a:r>
            <a:endParaRPr lang="en-US" sz="1100" dirty="0"/>
          </a:p>
        </p:txBody>
      </p:sp>
      <p:sp>
        <p:nvSpPr>
          <p:cNvPr id="38" name="!!ad1-txt#7"/>
          <p:cNvSpPr txBox="1"/>
          <p:nvPr/>
        </p:nvSpPr>
        <p:spPr>
          <a:xfrm>
            <a:off x="3246120" y="5715000"/>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Beneficio esperado</a:t>
            </a:r>
            <a:endParaRPr lang="en-US" sz="1050" dirty="0"/>
          </a:p>
        </p:txBody>
      </p:sp>
      <p:sp>
        <p:nvSpPr>
          <p:cNvPr id="39" name="!!ad1-txt#8"/>
          <p:cNvSpPr txBox="1"/>
          <p:nvPr/>
        </p:nvSpPr>
        <p:spPr>
          <a:xfrm>
            <a:off x="4617720" y="5715000"/>
            <a:ext cx="70253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La consulta está siempre a un toque.</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casos de uso</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16</a:t>
            </a:r>
            <a:endParaRPr lang="en-US" sz="900" dirty="0"/>
          </a:p>
        </p:txBody>
      </p:sp>
      <p:pic>
        <p:nvPicPr>
          <p:cNvPr id="6" name="!!diag#1" descr="../DIAGRAMAS_UML/png/V4_01_casos_de_uso.png">    </p:cNvPr>
          <p:cNvPicPr>
            <a:picLocks noChangeAspect="1"/>
          </p:cNvPicPr>
          <p:nvPr/>
        </p:nvPicPr>
        <p:blipFill>
          <a:blip r:embed="rId1"/>
          <a:srcRect l="0" t="5530" r="34360" b="28860"/>
          <a:stretch>
            <a:fillRect/>
          </a:stretch>
        </p:blipFill>
        <p:spPr>
          <a:xfrm>
            <a:off x="1170763" y="1280160"/>
            <a:ext cx="7396834" cy="5166360"/>
          </a:xfrm>
          <a:prstGeom prst="rect">
            <a:avLst/>
          </a:prstGeom>
        </p:spPr>
      </p:pic>
      <p:sp>
        <p:nvSpPr>
          <p:cNvPr id="7" name="Shape 3"/>
          <p:cNvSpPr/>
          <p:nvPr/>
        </p:nvSpPr>
        <p:spPr>
          <a:xfrm>
            <a:off x="9418320" y="1371600"/>
            <a:ext cx="2224735" cy="4983480"/>
          </a:xfrm>
          <a:prstGeom prst="roundRect">
            <a:avLst>
              <a:gd name="adj" fmla="val 3288"/>
            </a:avLst>
          </a:prstGeom>
          <a:solidFill>
            <a:srgbClr val="F5F5F7"/>
          </a:solidFill>
          <a:ln/>
        </p:spPr>
      </p:sp>
      <p:sp>
        <p:nvSpPr>
          <p:cNvPr id="8" name="Text 4"/>
          <p:cNvSpPr txBox="1"/>
          <p:nvPr/>
        </p:nvSpPr>
        <p:spPr>
          <a:xfrm>
            <a:off x="9646920" y="1600200"/>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646920" y="1856232"/>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Quién usa el sistema y qué puede hacer con él.</a:t>
            </a:r>
            <a:endParaRPr lang="en-US" sz="1200" dirty="0"/>
          </a:p>
        </p:txBody>
      </p:sp>
      <p:sp>
        <p:nvSpPr>
          <p:cNvPr id="10" name="Text 6"/>
          <p:cNvSpPr txBox="1"/>
          <p:nvPr/>
        </p:nvSpPr>
        <p:spPr>
          <a:xfrm>
            <a:off x="9646920" y="2573122"/>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646920" y="2829154"/>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Actores a los lados; óvalos = casos de uso; morado = propuesto.</a:t>
            </a:r>
            <a:endParaRPr lang="en-US" sz="1200" dirty="0"/>
          </a:p>
        </p:txBody>
      </p:sp>
      <p:sp>
        <p:nvSpPr>
          <p:cNvPr id="12" name="Text 8"/>
          <p:cNvSpPr txBox="1"/>
          <p:nvPr/>
        </p:nvSpPr>
        <p:spPr>
          <a:xfrm>
            <a:off x="9646920" y="3747211"/>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646920" y="4003243"/>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Visitante, cliente, distribuidor, gestor y WhatsApp como sistema externo.</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casos de uso</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16</a:t>
            </a:r>
            <a:endParaRPr lang="en-US" sz="900" dirty="0"/>
          </a:p>
        </p:txBody>
      </p:sp>
      <p:pic>
        <p:nvPicPr>
          <p:cNvPr id="6" name="!!diag#1" descr="../DIAGRAMAS_UML/png/V4_01_casos_de_uso.png">    </p:cNvPr>
          <p:cNvPicPr>
            <a:picLocks noChangeAspect="1"/>
          </p:cNvPicPr>
          <p:nvPr/>
        </p:nvPicPr>
        <p:blipFill>
          <a:blip r:embed="rId1"/>
          <a:srcRect l="56870" t="3320" r="0" b="53570"/>
          <a:stretch>
            <a:fillRect/>
          </a:stretch>
        </p:blipFill>
        <p:spPr>
          <a:xfrm>
            <a:off x="1170763" y="1280160"/>
            <a:ext cx="7396834" cy="5166360"/>
          </a:xfrm>
          <a:prstGeom prst="rect">
            <a:avLst/>
          </a:prstGeom>
        </p:spPr>
      </p:pic>
      <p:sp>
        <p:nvSpPr>
          <p:cNvPr id="7" name="Shape 3"/>
          <p:cNvSpPr/>
          <p:nvPr/>
        </p:nvSpPr>
        <p:spPr>
          <a:xfrm>
            <a:off x="9418320" y="1371600"/>
            <a:ext cx="2224735" cy="4983480"/>
          </a:xfrm>
          <a:prstGeom prst="roundRect">
            <a:avLst>
              <a:gd name="adj" fmla="val 3288"/>
            </a:avLst>
          </a:prstGeom>
          <a:solidFill>
            <a:srgbClr val="F5F5F7"/>
          </a:solidFill>
          <a:ln/>
        </p:spPr>
      </p:sp>
      <p:sp>
        <p:nvSpPr>
          <p:cNvPr id="8" name="Text 4"/>
          <p:cNvSpPr txBox="1"/>
          <p:nvPr/>
        </p:nvSpPr>
        <p:spPr>
          <a:xfrm>
            <a:off x="9646920" y="1600200"/>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646920" y="1856232"/>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Quién usa el sistema y qué puede hacer con él.</a:t>
            </a:r>
            <a:endParaRPr lang="en-US" sz="1200" dirty="0"/>
          </a:p>
        </p:txBody>
      </p:sp>
      <p:sp>
        <p:nvSpPr>
          <p:cNvPr id="10" name="Text 6"/>
          <p:cNvSpPr txBox="1"/>
          <p:nvPr/>
        </p:nvSpPr>
        <p:spPr>
          <a:xfrm>
            <a:off x="9646920" y="2573122"/>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646920" y="2829154"/>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Actores a los lados; óvalos = casos de uso; morado = propuesto.</a:t>
            </a:r>
            <a:endParaRPr lang="en-US" sz="1200" dirty="0"/>
          </a:p>
        </p:txBody>
      </p:sp>
      <p:sp>
        <p:nvSpPr>
          <p:cNvPr id="12" name="Text 8"/>
          <p:cNvSpPr txBox="1"/>
          <p:nvPr/>
        </p:nvSpPr>
        <p:spPr>
          <a:xfrm>
            <a:off x="9646920" y="3747211"/>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646920" y="4003243"/>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Visitante, cliente, distribuidor, gestor y WhatsApp como sistema externo.</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casos de uso</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16</a:t>
            </a:r>
            <a:endParaRPr lang="en-US" sz="900" dirty="0"/>
          </a:p>
        </p:txBody>
      </p:sp>
      <p:pic>
        <p:nvPicPr>
          <p:cNvPr id="6" name="!!diag#1" descr="../DIAGRAMAS_UML/png/V4_01_casos_de_uso.png">    </p:cNvPr>
          <p:cNvPicPr>
            <a:picLocks noChangeAspect="1"/>
          </p:cNvPicPr>
          <p:nvPr/>
        </p:nvPicPr>
        <p:blipFill>
          <a:blip r:embed="rId1"/>
          <a:stretch>
            <a:fillRect/>
          </a:stretch>
        </p:blipFill>
        <p:spPr>
          <a:xfrm>
            <a:off x="1170763" y="1280160"/>
            <a:ext cx="7396834" cy="5166360"/>
          </a:xfrm>
          <a:prstGeom prst="rect">
            <a:avLst/>
          </a:prstGeom>
        </p:spPr>
      </p:pic>
      <p:sp>
        <p:nvSpPr>
          <p:cNvPr id="7" name="Shape 3"/>
          <p:cNvSpPr/>
          <p:nvPr/>
        </p:nvSpPr>
        <p:spPr>
          <a:xfrm>
            <a:off x="9418320" y="1371600"/>
            <a:ext cx="2224735" cy="4983480"/>
          </a:xfrm>
          <a:prstGeom prst="roundRect">
            <a:avLst>
              <a:gd name="adj" fmla="val 3288"/>
            </a:avLst>
          </a:prstGeom>
          <a:solidFill>
            <a:srgbClr val="F5F5F7"/>
          </a:solidFill>
          <a:ln/>
        </p:spPr>
      </p:sp>
      <p:sp>
        <p:nvSpPr>
          <p:cNvPr id="8" name="Text 4"/>
          <p:cNvSpPr txBox="1"/>
          <p:nvPr/>
        </p:nvSpPr>
        <p:spPr>
          <a:xfrm>
            <a:off x="9646920" y="1600200"/>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646920" y="1856232"/>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Quién usa el sistema y qué puede hacer con él.</a:t>
            </a:r>
            <a:endParaRPr lang="en-US" sz="1200" dirty="0"/>
          </a:p>
        </p:txBody>
      </p:sp>
      <p:sp>
        <p:nvSpPr>
          <p:cNvPr id="10" name="Text 6"/>
          <p:cNvSpPr txBox="1"/>
          <p:nvPr/>
        </p:nvSpPr>
        <p:spPr>
          <a:xfrm>
            <a:off x="9646920" y="2573122"/>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646920" y="2829154"/>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Actores a los lados; óvalos = casos de uso; morado = propuesto.</a:t>
            </a:r>
            <a:endParaRPr lang="en-US" sz="1200" dirty="0"/>
          </a:p>
        </p:txBody>
      </p:sp>
      <p:sp>
        <p:nvSpPr>
          <p:cNvPr id="12" name="Text 8"/>
          <p:cNvSpPr txBox="1"/>
          <p:nvPr/>
        </p:nvSpPr>
        <p:spPr>
          <a:xfrm>
            <a:off x="9646920" y="3747211"/>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646920" y="4003243"/>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Visitante, cliente, distribuidor, gestor y WhatsApp como sistema externo.</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Modelo físico de datos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20</a:t>
            </a:r>
            <a:endParaRPr lang="en-US" sz="900" dirty="0"/>
          </a:p>
        </p:txBody>
      </p:sp>
      <p:pic>
        <p:nvPicPr>
          <p:cNvPr id="6" name="!!diag#1" descr="../DIAGRAMAS_UML/png/V4_06_modelo_fisico.png">    </p:cNvPr>
          <p:cNvPicPr>
            <a:picLocks noChangeAspect="1"/>
          </p:cNvPicPr>
          <p:nvPr/>
        </p:nvPicPr>
        <p:blipFill>
          <a:blip r:embed="rId1"/>
          <a:srcRect l="31970" t="31120" r="0" b="850"/>
          <a:stretch>
            <a:fillRect/>
          </a:stretch>
        </p:blipFill>
        <p:spPr>
          <a:xfrm>
            <a:off x="726987" y="1280160"/>
            <a:ext cx="6592746" cy="5166360"/>
          </a:xfrm>
          <a:prstGeom prst="rect">
            <a:avLst/>
          </a:prstGeom>
        </p:spPr>
      </p:pic>
      <p:sp>
        <p:nvSpPr>
          <p:cNvPr id="7" name="Shape 3"/>
          <p:cNvSpPr/>
          <p:nvPr/>
        </p:nvSpPr>
        <p:spPr>
          <a:xfrm>
            <a:off x="7726680" y="1371600"/>
            <a:ext cx="3916375" cy="4983480"/>
          </a:xfrm>
          <a:prstGeom prst="roundRect">
            <a:avLst>
              <a:gd name="adj" fmla="val 1868"/>
            </a:avLst>
          </a:prstGeom>
          <a:solidFill>
            <a:srgbClr val="F5F5F7"/>
          </a:solidFill>
          <a:ln/>
        </p:spPr>
      </p:sp>
      <p:sp>
        <p:nvSpPr>
          <p:cNvPr id="8" name="Text 4"/>
          <p:cNvSpPr txBox="1"/>
          <p:nvPr/>
        </p:nvSpPr>
        <p:spPr>
          <a:xfrm>
            <a:off x="7955280" y="1600200"/>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7955280" y="1856232"/>
            <a:ext cx="345917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Las tablas reales en MySQL, con claves primarias (PK) y foráneas (FK).</a:t>
            </a:r>
            <a:endParaRPr lang="en-US" sz="1200" dirty="0"/>
          </a:p>
        </p:txBody>
      </p:sp>
      <p:sp>
        <p:nvSpPr>
          <p:cNvPr id="10" name="Text 6"/>
          <p:cNvSpPr txBox="1"/>
          <p:nvPr/>
        </p:nvSpPr>
        <p:spPr>
          <a:xfrm>
            <a:off x="7955280" y="2573122"/>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DE CLASE A TABLA</a:t>
            </a:r>
            <a:endParaRPr lang="en-US" sz="950" dirty="0"/>
          </a:p>
        </p:txBody>
      </p:sp>
      <p:sp>
        <p:nvSpPr>
          <p:cNvPr id="11" name="Text 7"/>
          <p:cNvSpPr txBox="1"/>
          <p:nvPr/>
        </p:nvSpPr>
        <p:spPr>
          <a:xfrm>
            <a:off x="7955280" y="2829154"/>
            <a:ext cx="345917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Producto → wp_posts + wp_postmeta. Categoría → wp_terms + wp_term_taxonomy. Producto–Categoría → wp_term_relationships.</a:t>
            </a:r>
            <a:endParaRPr lang="en-US" sz="1200" dirty="0"/>
          </a:p>
        </p:txBody>
      </p:sp>
      <p:sp>
        <p:nvSpPr>
          <p:cNvPr id="12" name="Text 8"/>
          <p:cNvSpPr txBox="1"/>
          <p:nvPr/>
        </p:nvSpPr>
        <p:spPr>
          <a:xfrm>
            <a:off x="7955280" y="3747211"/>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PROPUESTO</a:t>
            </a:r>
            <a:endParaRPr lang="en-US" sz="950" dirty="0"/>
          </a:p>
        </p:txBody>
      </p:sp>
      <p:sp>
        <p:nvSpPr>
          <p:cNvPr id="13" name="Text 9"/>
          <p:cNvSpPr txBox="1"/>
          <p:nvPr/>
        </p:nvSpPr>
        <p:spPr>
          <a:xfrm>
            <a:off x="7955280" y="4003243"/>
            <a:ext cx="345917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wp_bh_consulta registraría el inicio de cada consulta.</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Modelo físico de datos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20</a:t>
            </a:r>
            <a:endParaRPr lang="en-US" sz="900" dirty="0"/>
          </a:p>
        </p:txBody>
      </p:sp>
      <p:pic>
        <p:nvPicPr>
          <p:cNvPr id="6" name="!!diag#1" descr="../DIAGRAMAS_UML/png/V4_06_modelo_fisico.png">    </p:cNvPr>
          <p:cNvPicPr>
            <a:picLocks noChangeAspect="1"/>
          </p:cNvPicPr>
          <p:nvPr/>
        </p:nvPicPr>
        <p:blipFill>
          <a:blip r:embed="rId1"/>
          <a:srcRect l="0" t="31310" r="36430" b="5120"/>
          <a:stretch>
            <a:fillRect/>
          </a:stretch>
        </p:blipFill>
        <p:spPr>
          <a:xfrm>
            <a:off x="726987" y="1280160"/>
            <a:ext cx="6592746" cy="5166360"/>
          </a:xfrm>
          <a:prstGeom prst="rect">
            <a:avLst/>
          </a:prstGeom>
        </p:spPr>
      </p:pic>
      <p:sp>
        <p:nvSpPr>
          <p:cNvPr id="7" name="Shape 3"/>
          <p:cNvSpPr/>
          <p:nvPr/>
        </p:nvSpPr>
        <p:spPr>
          <a:xfrm>
            <a:off x="7726680" y="1371600"/>
            <a:ext cx="3916375" cy="4983480"/>
          </a:xfrm>
          <a:prstGeom prst="roundRect">
            <a:avLst>
              <a:gd name="adj" fmla="val 1868"/>
            </a:avLst>
          </a:prstGeom>
          <a:solidFill>
            <a:srgbClr val="F5F5F7"/>
          </a:solidFill>
          <a:ln/>
        </p:spPr>
      </p:sp>
      <p:sp>
        <p:nvSpPr>
          <p:cNvPr id="8" name="Text 4"/>
          <p:cNvSpPr txBox="1"/>
          <p:nvPr/>
        </p:nvSpPr>
        <p:spPr>
          <a:xfrm>
            <a:off x="7955280" y="1600200"/>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7955280" y="1856232"/>
            <a:ext cx="345917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Las tablas reales en MySQL, con claves primarias (PK) y foráneas (FK).</a:t>
            </a:r>
            <a:endParaRPr lang="en-US" sz="1200" dirty="0"/>
          </a:p>
        </p:txBody>
      </p:sp>
      <p:sp>
        <p:nvSpPr>
          <p:cNvPr id="10" name="Text 6"/>
          <p:cNvSpPr txBox="1"/>
          <p:nvPr/>
        </p:nvSpPr>
        <p:spPr>
          <a:xfrm>
            <a:off x="7955280" y="2573122"/>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DE CLASE A TABLA</a:t>
            </a:r>
            <a:endParaRPr lang="en-US" sz="950" dirty="0"/>
          </a:p>
        </p:txBody>
      </p:sp>
      <p:sp>
        <p:nvSpPr>
          <p:cNvPr id="11" name="Text 7"/>
          <p:cNvSpPr txBox="1"/>
          <p:nvPr/>
        </p:nvSpPr>
        <p:spPr>
          <a:xfrm>
            <a:off x="7955280" y="2829154"/>
            <a:ext cx="345917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Producto → wp_posts + wp_postmeta. Categoría → wp_terms + wp_term_taxonomy. Producto–Categoría → wp_term_relationships.</a:t>
            </a:r>
            <a:endParaRPr lang="en-US" sz="1200" dirty="0"/>
          </a:p>
        </p:txBody>
      </p:sp>
      <p:sp>
        <p:nvSpPr>
          <p:cNvPr id="12" name="Text 8"/>
          <p:cNvSpPr txBox="1"/>
          <p:nvPr/>
        </p:nvSpPr>
        <p:spPr>
          <a:xfrm>
            <a:off x="7955280" y="3747211"/>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PROPUESTO</a:t>
            </a:r>
            <a:endParaRPr lang="en-US" sz="950" dirty="0"/>
          </a:p>
        </p:txBody>
      </p:sp>
      <p:sp>
        <p:nvSpPr>
          <p:cNvPr id="13" name="Text 9"/>
          <p:cNvSpPr txBox="1"/>
          <p:nvPr/>
        </p:nvSpPr>
        <p:spPr>
          <a:xfrm>
            <a:off x="7955280" y="4003243"/>
            <a:ext cx="345917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wp_bh_consulta registraría el inicio de cada consulta.</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Modelo físico de datos</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20</a:t>
            </a:r>
            <a:endParaRPr lang="en-US" sz="900" dirty="0"/>
          </a:p>
        </p:txBody>
      </p:sp>
      <p:pic>
        <p:nvPicPr>
          <p:cNvPr id="6" name="!!diag#1" descr="../DIAGRAMAS_UML/png/V4_06_modelo_fisico.png">    </p:cNvPr>
          <p:cNvPicPr>
            <a:picLocks noChangeAspect="1"/>
          </p:cNvPicPr>
          <p:nvPr/>
        </p:nvPicPr>
        <p:blipFill>
          <a:blip r:embed="rId1"/>
          <a:stretch>
            <a:fillRect/>
          </a:stretch>
        </p:blipFill>
        <p:spPr>
          <a:xfrm>
            <a:off x="726987" y="1280160"/>
            <a:ext cx="6592746" cy="5166360"/>
          </a:xfrm>
          <a:prstGeom prst="rect">
            <a:avLst/>
          </a:prstGeom>
        </p:spPr>
      </p:pic>
      <p:sp>
        <p:nvSpPr>
          <p:cNvPr id="7" name="Shape 3"/>
          <p:cNvSpPr/>
          <p:nvPr/>
        </p:nvSpPr>
        <p:spPr>
          <a:xfrm>
            <a:off x="7726680" y="1371600"/>
            <a:ext cx="3916375" cy="4983480"/>
          </a:xfrm>
          <a:prstGeom prst="roundRect">
            <a:avLst>
              <a:gd name="adj" fmla="val 1868"/>
            </a:avLst>
          </a:prstGeom>
          <a:solidFill>
            <a:srgbClr val="F5F5F7"/>
          </a:solidFill>
          <a:ln/>
        </p:spPr>
      </p:sp>
      <p:sp>
        <p:nvSpPr>
          <p:cNvPr id="8" name="Text 4"/>
          <p:cNvSpPr txBox="1"/>
          <p:nvPr/>
        </p:nvSpPr>
        <p:spPr>
          <a:xfrm>
            <a:off x="7955280" y="1600200"/>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7955280" y="1856232"/>
            <a:ext cx="345917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Las tablas reales en MySQL, con claves primarias (PK) y foráneas (FK).</a:t>
            </a:r>
            <a:endParaRPr lang="en-US" sz="1200" dirty="0"/>
          </a:p>
        </p:txBody>
      </p:sp>
      <p:sp>
        <p:nvSpPr>
          <p:cNvPr id="10" name="Text 6"/>
          <p:cNvSpPr txBox="1"/>
          <p:nvPr/>
        </p:nvSpPr>
        <p:spPr>
          <a:xfrm>
            <a:off x="7955280" y="2573122"/>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DE CLASE A TABLA</a:t>
            </a:r>
            <a:endParaRPr lang="en-US" sz="950" dirty="0"/>
          </a:p>
        </p:txBody>
      </p:sp>
      <p:sp>
        <p:nvSpPr>
          <p:cNvPr id="11" name="Text 7"/>
          <p:cNvSpPr txBox="1"/>
          <p:nvPr/>
        </p:nvSpPr>
        <p:spPr>
          <a:xfrm>
            <a:off x="7955280" y="2829154"/>
            <a:ext cx="345917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Producto → wp_posts + wp_postmeta. Categoría → wp_terms + wp_term_taxonomy. Producto–Categoría → wp_term_relationships.</a:t>
            </a:r>
            <a:endParaRPr lang="en-US" sz="1200" dirty="0"/>
          </a:p>
        </p:txBody>
      </p:sp>
      <p:sp>
        <p:nvSpPr>
          <p:cNvPr id="12" name="Text 8"/>
          <p:cNvSpPr txBox="1"/>
          <p:nvPr/>
        </p:nvSpPr>
        <p:spPr>
          <a:xfrm>
            <a:off x="7955280" y="3747211"/>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PROPUESTO</a:t>
            </a:r>
            <a:endParaRPr lang="en-US" sz="950" dirty="0"/>
          </a:p>
        </p:txBody>
      </p:sp>
      <p:sp>
        <p:nvSpPr>
          <p:cNvPr id="13" name="Text 9"/>
          <p:cNvSpPr txBox="1"/>
          <p:nvPr/>
        </p:nvSpPr>
        <p:spPr>
          <a:xfrm>
            <a:off x="7955280" y="4003243"/>
            <a:ext cx="345917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wp_bh_consulta registraría el inicio de cada consulta.</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Flujo comercial: del catálogo a la atención</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26</a:t>
            </a:r>
            <a:endParaRPr lang="en-US" sz="900" dirty="0"/>
          </a:p>
        </p:txBody>
      </p:sp>
      <p:sp>
        <p:nvSpPr>
          <p:cNvPr id="6" name="!!fl0#1"/>
          <p:cNvSpPr/>
          <p:nvPr/>
        </p:nvSpPr>
        <p:spPr>
          <a:xfrm>
            <a:off x="548640" y="1645920"/>
            <a:ext cx="1417320" cy="1417320"/>
          </a:xfrm>
          <a:prstGeom prst="roundRect">
            <a:avLst>
              <a:gd name="adj" fmla="val 5161"/>
            </a:avLst>
          </a:prstGeom>
          <a:solidFill>
            <a:srgbClr val="0B0B0D"/>
          </a:solidFill>
          <a:ln/>
        </p:spPr>
      </p:sp>
      <p:pic>
        <p:nvPicPr>
          <p:cNvPr id="7" name="!!fl0#2" descr="preencoded.png">    </p:cNvPr>
          <p:cNvPicPr>
            <a:picLocks noChangeAspect="1"/>
          </p:cNvPicPr>
          <p:nvPr/>
        </p:nvPicPr>
        <p:blipFill>
          <a:blip r:embed="rId1"/>
          <a:stretch>
            <a:fillRect/>
          </a:stretch>
        </p:blipFill>
        <p:spPr>
          <a:xfrm>
            <a:off x="1056132" y="1783080"/>
            <a:ext cx="402336" cy="402336"/>
          </a:xfrm>
          <a:prstGeom prst="rect">
            <a:avLst/>
          </a:prstGeom>
        </p:spPr>
      </p:pic>
      <p:sp>
        <p:nvSpPr>
          <p:cNvPr id="8" name="!!fl0#3"/>
          <p:cNvSpPr txBox="1"/>
          <p:nvPr/>
        </p:nvSpPr>
        <p:spPr>
          <a:xfrm>
            <a:off x="603504"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Cliente</a:t>
            </a:r>
            <a:endParaRPr lang="en-US" sz="1250" dirty="0"/>
          </a:p>
        </p:txBody>
      </p:sp>
      <p:sp>
        <p:nvSpPr>
          <p:cNvPr id="9" name="!!fa0#1"/>
          <p:cNvSpPr/>
          <p:nvPr/>
        </p:nvSpPr>
        <p:spPr>
          <a:xfrm>
            <a:off x="1984248" y="2350008"/>
            <a:ext cx="158953" cy="0"/>
          </a:xfrm>
          <a:prstGeom prst="line">
            <a:avLst/>
          </a:prstGeom>
          <a:noFill/>
          <a:ln w="15875">
            <a:solidFill>
              <a:srgbClr val="6D28D9"/>
            </a:solidFill>
            <a:prstDash val="solid"/>
            <a:tailEnd type="triangle"/>
          </a:ln>
        </p:spPr>
      </p:sp>
      <p:sp>
        <p:nvSpPr>
          <p:cNvPr id="10" name="!!fl1#1"/>
          <p:cNvSpPr/>
          <p:nvPr/>
        </p:nvSpPr>
        <p:spPr>
          <a:xfrm>
            <a:off x="2161489" y="1645920"/>
            <a:ext cx="1417320" cy="1417320"/>
          </a:xfrm>
          <a:prstGeom prst="roundRect">
            <a:avLst>
              <a:gd name="adj" fmla="val 5161"/>
            </a:avLst>
          </a:prstGeom>
          <a:solidFill>
            <a:srgbClr val="0B0B0D"/>
          </a:solidFill>
          <a:ln/>
        </p:spPr>
      </p:sp>
      <p:pic>
        <p:nvPicPr>
          <p:cNvPr id="11" name="!!fl1#2" descr="preencoded.png">    </p:cNvPr>
          <p:cNvPicPr>
            <a:picLocks noChangeAspect="1"/>
          </p:cNvPicPr>
          <p:nvPr/>
        </p:nvPicPr>
        <p:blipFill>
          <a:blip r:embed="rId2"/>
          <a:stretch>
            <a:fillRect/>
          </a:stretch>
        </p:blipFill>
        <p:spPr>
          <a:xfrm>
            <a:off x="2668981" y="1783080"/>
            <a:ext cx="402336" cy="402336"/>
          </a:xfrm>
          <a:prstGeom prst="rect">
            <a:avLst/>
          </a:prstGeom>
        </p:spPr>
      </p:pic>
      <p:sp>
        <p:nvSpPr>
          <p:cNvPr id="12" name="!!fl1#3"/>
          <p:cNvSpPr txBox="1"/>
          <p:nvPr/>
        </p:nvSpPr>
        <p:spPr>
          <a:xfrm>
            <a:off x="2216353"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Catálogo</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500">
        <p159:morph option="byObject"/>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Flujo comercial: del catálogo a la atención</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26</a:t>
            </a:r>
            <a:endParaRPr lang="en-US" sz="900" dirty="0"/>
          </a:p>
        </p:txBody>
      </p:sp>
      <p:sp>
        <p:nvSpPr>
          <p:cNvPr id="6" name="!!fl0#1"/>
          <p:cNvSpPr/>
          <p:nvPr/>
        </p:nvSpPr>
        <p:spPr>
          <a:xfrm>
            <a:off x="548640" y="1645920"/>
            <a:ext cx="1417320" cy="1417320"/>
          </a:xfrm>
          <a:prstGeom prst="roundRect">
            <a:avLst>
              <a:gd name="adj" fmla="val 5161"/>
            </a:avLst>
          </a:prstGeom>
          <a:solidFill>
            <a:srgbClr val="0B0B0D"/>
          </a:solidFill>
          <a:ln/>
        </p:spPr>
      </p:sp>
      <p:pic>
        <p:nvPicPr>
          <p:cNvPr id="7" name="!!fl0#2" descr="preencoded.png">    </p:cNvPr>
          <p:cNvPicPr>
            <a:picLocks noChangeAspect="1"/>
          </p:cNvPicPr>
          <p:nvPr/>
        </p:nvPicPr>
        <p:blipFill>
          <a:blip r:embed="rId1"/>
          <a:stretch>
            <a:fillRect/>
          </a:stretch>
        </p:blipFill>
        <p:spPr>
          <a:xfrm>
            <a:off x="1056132" y="1783080"/>
            <a:ext cx="402336" cy="402336"/>
          </a:xfrm>
          <a:prstGeom prst="rect">
            <a:avLst/>
          </a:prstGeom>
        </p:spPr>
      </p:pic>
      <p:sp>
        <p:nvSpPr>
          <p:cNvPr id="8" name="!!fl0#3"/>
          <p:cNvSpPr txBox="1"/>
          <p:nvPr/>
        </p:nvSpPr>
        <p:spPr>
          <a:xfrm>
            <a:off x="603504"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Cliente</a:t>
            </a:r>
            <a:endParaRPr lang="en-US" sz="1250" dirty="0"/>
          </a:p>
        </p:txBody>
      </p:sp>
      <p:sp>
        <p:nvSpPr>
          <p:cNvPr id="9" name="!!fa0#1"/>
          <p:cNvSpPr/>
          <p:nvPr/>
        </p:nvSpPr>
        <p:spPr>
          <a:xfrm>
            <a:off x="1984248" y="2350008"/>
            <a:ext cx="158953" cy="0"/>
          </a:xfrm>
          <a:prstGeom prst="line">
            <a:avLst/>
          </a:prstGeom>
          <a:noFill/>
          <a:ln w="15875">
            <a:solidFill>
              <a:srgbClr val="6D28D9"/>
            </a:solidFill>
            <a:prstDash val="solid"/>
            <a:tailEnd type="triangle"/>
          </a:ln>
        </p:spPr>
      </p:sp>
      <p:sp>
        <p:nvSpPr>
          <p:cNvPr id="10" name="!!fl1#1"/>
          <p:cNvSpPr/>
          <p:nvPr/>
        </p:nvSpPr>
        <p:spPr>
          <a:xfrm>
            <a:off x="2161489" y="1645920"/>
            <a:ext cx="1417320" cy="1417320"/>
          </a:xfrm>
          <a:prstGeom prst="roundRect">
            <a:avLst>
              <a:gd name="adj" fmla="val 5161"/>
            </a:avLst>
          </a:prstGeom>
          <a:solidFill>
            <a:srgbClr val="0B0B0D"/>
          </a:solidFill>
          <a:ln/>
        </p:spPr>
      </p:sp>
      <p:pic>
        <p:nvPicPr>
          <p:cNvPr id="11" name="!!fl1#2" descr="preencoded.png">    </p:cNvPr>
          <p:cNvPicPr>
            <a:picLocks noChangeAspect="1"/>
          </p:cNvPicPr>
          <p:nvPr/>
        </p:nvPicPr>
        <p:blipFill>
          <a:blip r:embed="rId2"/>
          <a:stretch>
            <a:fillRect/>
          </a:stretch>
        </p:blipFill>
        <p:spPr>
          <a:xfrm>
            <a:off x="2668981" y="1783080"/>
            <a:ext cx="402336" cy="402336"/>
          </a:xfrm>
          <a:prstGeom prst="rect">
            <a:avLst/>
          </a:prstGeom>
        </p:spPr>
      </p:pic>
      <p:sp>
        <p:nvSpPr>
          <p:cNvPr id="12" name="!!fl1#3"/>
          <p:cNvSpPr txBox="1"/>
          <p:nvPr/>
        </p:nvSpPr>
        <p:spPr>
          <a:xfrm>
            <a:off x="2216353"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Catálogo</a:t>
            </a:r>
            <a:endParaRPr lang="en-US" sz="1250" dirty="0"/>
          </a:p>
        </p:txBody>
      </p:sp>
      <p:sp>
        <p:nvSpPr>
          <p:cNvPr id="13" name="!!fa1#1"/>
          <p:cNvSpPr/>
          <p:nvPr/>
        </p:nvSpPr>
        <p:spPr>
          <a:xfrm>
            <a:off x="3597097" y="2350008"/>
            <a:ext cx="158953" cy="0"/>
          </a:xfrm>
          <a:prstGeom prst="line">
            <a:avLst/>
          </a:prstGeom>
          <a:noFill/>
          <a:ln w="15875">
            <a:solidFill>
              <a:srgbClr val="6D28D9"/>
            </a:solidFill>
            <a:prstDash val="solid"/>
            <a:tailEnd type="triangle"/>
          </a:ln>
        </p:spPr>
      </p:sp>
      <p:sp>
        <p:nvSpPr>
          <p:cNvPr id="14" name="!!fl2#1"/>
          <p:cNvSpPr/>
          <p:nvPr/>
        </p:nvSpPr>
        <p:spPr>
          <a:xfrm>
            <a:off x="3774338" y="1645920"/>
            <a:ext cx="1417320" cy="1417320"/>
          </a:xfrm>
          <a:prstGeom prst="roundRect">
            <a:avLst>
              <a:gd name="adj" fmla="val 5161"/>
            </a:avLst>
          </a:prstGeom>
          <a:solidFill>
            <a:srgbClr val="0B0B0D"/>
          </a:solidFill>
          <a:ln/>
        </p:spPr>
      </p:sp>
      <p:pic>
        <p:nvPicPr>
          <p:cNvPr id="15" name="!!fl2#2" descr="preencoded.png">    </p:cNvPr>
          <p:cNvPicPr>
            <a:picLocks noChangeAspect="1"/>
          </p:cNvPicPr>
          <p:nvPr/>
        </p:nvPicPr>
        <p:blipFill>
          <a:blip r:embed="rId3"/>
          <a:stretch>
            <a:fillRect/>
          </a:stretch>
        </p:blipFill>
        <p:spPr>
          <a:xfrm>
            <a:off x="4281830" y="1783080"/>
            <a:ext cx="402336" cy="402336"/>
          </a:xfrm>
          <a:prstGeom prst="rect">
            <a:avLst/>
          </a:prstGeom>
        </p:spPr>
      </p:pic>
      <p:sp>
        <p:nvSpPr>
          <p:cNvPr id="16" name="!!fl2#3"/>
          <p:cNvSpPr txBox="1"/>
          <p:nvPr/>
        </p:nvSpPr>
        <p:spPr>
          <a:xfrm>
            <a:off x="382920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Producto</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500">
        <p159:morph option="byObject"/>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Flujo comercial: del catálogo a la atención</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26</a:t>
            </a:r>
            <a:endParaRPr lang="en-US" sz="900" dirty="0"/>
          </a:p>
        </p:txBody>
      </p:sp>
      <p:sp>
        <p:nvSpPr>
          <p:cNvPr id="6" name="!!fl0#1"/>
          <p:cNvSpPr/>
          <p:nvPr/>
        </p:nvSpPr>
        <p:spPr>
          <a:xfrm>
            <a:off x="548640" y="1645920"/>
            <a:ext cx="1417320" cy="1417320"/>
          </a:xfrm>
          <a:prstGeom prst="roundRect">
            <a:avLst>
              <a:gd name="adj" fmla="val 5161"/>
            </a:avLst>
          </a:prstGeom>
          <a:solidFill>
            <a:srgbClr val="0B0B0D"/>
          </a:solidFill>
          <a:ln/>
        </p:spPr>
      </p:sp>
      <p:pic>
        <p:nvPicPr>
          <p:cNvPr id="7" name="!!fl0#2" descr="preencoded.png">    </p:cNvPr>
          <p:cNvPicPr>
            <a:picLocks noChangeAspect="1"/>
          </p:cNvPicPr>
          <p:nvPr/>
        </p:nvPicPr>
        <p:blipFill>
          <a:blip r:embed="rId1"/>
          <a:stretch>
            <a:fillRect/>
          </a:stretch>
        </p:blipFill>
        <p:spPr>
          <a:xfrm>
            <a:off x="1056132" y="1783080"/>
            <a:ext cx="402336" cy="402336"/>
          </a:xfrm>
          <a:prstGeom prst="rect">
            <a:avLst/>
          </a:prstGeom>
        </p:spPr>
      </p:pic>
      <p:sp>
        <p:nvSpPr>
          <p:cNvPr id="8" name="!!fl0#3"/>
          <p:cNvSpPr txBox="1"/>
          <p:nvPr/>
        </p:nvSpPr>
        <p:spPr>
          <a:xfrm>
            <a:off x="603504"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Cliente</a:t>
            </a:r>
            <a:endParaRPr lang="en-US" sz="1250" dirty="0"/>
          </a:p>
        </p:txBody>
      </p:sp>
      <p:sp>
        <p:nvSpPr>
          <p:cNvPr id="9" name="!!fa0#1"/>
          <p:cNvSpPr/>
          <p:nvPr/>
        </p:nvSpPr>
        <p:spPr>
          <a:xfrm>
            <a:off x="1984248" y="2350008"/>
            <a:ext cx="158953" cy="0"/>
          </a:xfrm>
          <a:prstGeom prst="line">
            <a:avLst/>
          </a:prstGeom>
          <a:noFill/>
          <a:ln w="15875">
            <a:solidFill>
              <a:srgbClr val="6D28D9"/>
            </a:solidFill>
            <a:prstDash val="solid"/>
            <a:tailEnd type="triangle"/>
          </a:ln>
        </p:spPr>
      </p:sp>
      <p:sp>
        <p:nvSpPr>
          <p:cNvPr id="10" name="!!fl1#1"/>
          <p:cNvSpPr/>
          <p:nvPr/>
        </p:nvSpPr>
        <p:spPr>
          <a:xfrm>
            <a:off x="2161489" y="1645920"/>
            <a:ext cx="1417320" cy="1417320"/>
          </a:xfrm>
          <a:prstGeom prst="roundRect">
            <a:avLst>
              <a:gd name="adj" fmla="val 5161"/>
            </a:avLst>
          </a:prstGeom>
          <a:solidFill>
            <a:srgbClr val="0B0B0D"/>
          </a:solidFill>
          <a:ln/>
        </p:spPr>
      </p:sp>
      <p:pic>
        <p:nvPicPr>
          <p:cNvPr id="11" name="!!fl1#2" descr="preencoded.png">    </p:cNvPr>
          <p:cNvPicPr>
            <a:picLocks noChangeAspect="1"/>
          </p:cNvPicPr>
          <p:nvPr/>
        </p:nvPicPr>
        <p:blipFill>
          <a:blip r:embed="rId2"/>
          <a:stretch>
            <a:fillRect/>
          </a:stretch>
        </p:blipFill>
        <p:spPr>
          <a:xfrm>
            <a:off x="2668981" y="1783080"/>
            <a:ext cx="402336" cy="402336"/>
          </a:xfrm>
          <a:prstGeom prst="rect">
            <a:avLst/>
          </a:prstGeom>
        </p:spPr>
      </p:pic>
      <p:sp>
        <p:nvSpPr>
          <p:cNvPr id="12" name="!!fl1#3"/>
          <p:cNvSpPr txBox="1"/>
          <p:nvPr/>
        </p:nvSpPr>
        <p:spPr>
          <a:xfrm>
            <a:off x="2216353"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Catálogo</a:t>
            </a:r>
            <a:endParaRPr lang="en-US" sz="1250" dirty="0"/>
          </a:p>
        </p:txBody>
      </p:sp>
      <p:sp>
        <p:nvSpPr>
          <p:cNvPr id="13" name="!!fa1#1"/>
          <p:cNvSpPr/>
          <p:nvPr/>
        </p:nvSpPr>
        <p:spPr>
          <a:xfrm>
            <a:off x="3597097" y="2350008"/>
            <a:ext cx="158953" cy="0"/>
          </a:xfrm>
          <a:prstGeom prst="line">
            <a:avLst/>
          </a:prstGeom>
          <a:noFill/>
          <a:ln w="15875">
            <a:solidFill>
              <a:srgbClr val="6D28D9"/>
            </a:solidFill>
            <a:prstDash val="solid"/>
            <a:tailEnd type="triangle"/>
          </a:ln>
        </p:spPr>
      </p:sp>
      <p:sp>
        <p:nvSpPr>
          <p:cNvPr id="14" name="!!fl2#1"/>
          <p:cNvSpPr/>
          <p:nvPr/>
        </p:nvSpPr>
        <p:spPr>
          <a:xfrm>
            <a:off x="3774338" y="1645920"/>
            <a:ext cx="1417320" cy="1417320"/>
          </a:xfrm>
          <a:prstGeom prst="roundRect">
            <a:avLst>
              <a:gd name="adj" fmla="val 5161"/>
            </a:avLst>
          </a:prstGeom>
          <a:solidFill>
            <a:srgbClr val="0B0B0D"/>
          </a:solidFill>
          <a:ln/>
        </p:spPr>
      </p:sp>
      <p:pic>
        <p:nvPicPr>
          <p:cNvPr id="15" name="!!fl2#2" descr="preencoded.png">    </p:cNvPr>
          <p:cNvPicPr>
            <a:picLocks noChangeAspect="1"/>
          </p:cNvPicPr>
          <p:nvPr/>
        </p:nvPicPr>
        <p:blipFill>
          <a:blip r:embed="rId3"/>
          <a:stretch>
            <a:fillRect/>
          </a:stretch>
        </p:blipFill>
        <p:spPr>
          <a:xfrm>
            <a:off x="4281830" y="1783080"/>
            <a:ext cx="402336" cy="402336"/>
          </a:xfrm>
          <a:prstGeom prst="rect">
            <a:avLst/>
          </a:prstGeom>
        </p:spPr>
      </p:pic>
      <p:sp>
        <p:nvSpPr>
          <p:cNvPr id="16" name="!!fl2#3"/>
          <p:cNvSpPr txBox="1"/>
          <p:nvPr/>
        </p:nvSpPr>
        <p:spPr>
          <a:xfrm>
            <a:off x="382920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Producto</a:t>
            </a:r>
            <a:endParaRPr lang="en-US" sz="1250" dirty="0"/>
          </a:p>
        </p:txBody>
      </p:sp>
      <p:sp>
        <p:nvSpPr>
          <p:cNvPr id="17" name="!!fa2#1"/>
          <p:cNvSpPr/>
          <p:nvPr/>
        </p:nvSpPr>
        <p:spPr>
          <a:xfrm>
            <a:off x="5209946" y="2350008"/>
            <a:ext cx="158953" cy="0"/>
          </a:xfrm>
          <a:prstGeom prst="line">
            <a:avLst/>
          </a:prstGeom>
          <a:noFill/>
          <a:ln w="15875">
            <a:solidFill>
              <a:srgbClr val="6D28D9"/>
            </a:solidFill>
            <a:prstDash val="solid"/>
            <a:tailEnd type="triangle"/>
          </a:ln>
        </p:spPr>
      </p:sp>
      <p:sp>
        <p:nvSpPr>
          <p:cNvPr id="18" name="!!fl3#1"/>
          <p:cNvSpPr/>
          <p:nvPr/>
        </p:nvSpPr>
        <p:spPr>
          <a:xfrm>
            <a:off x="5387188" y="1645920"/>
            <a:ext cx="1417320" cy="1417320"/>
          </a:xfrm>
          <a:prstGeom prst="roundRect">
            <a:avLst>
              <a:gd name="adj" fmla="val 5161"/>
            </a:avLst>
          </a:prstGeom>
          <a:solidFill>
            <a:srgbClr val="0B0B0D"/>
          </a:solidFill>
          <a:ln/>
        </p:spPr>
      </p:sp>
      <p:pic>
        <p:nvPicPr>
          <p:cNvPr id="19" name="!!fl3#2" descr="preencoded.png">    </p:cNvPr>
          <p:cNvPicPr>
            <a:picLocks noChangeAspect="1"/>
          </p:cNvPicPr>
          <p:nvPr/>
        </p:nvPicPr>
        <p:blipFill>
          <a:blip r:embed="rId4"/>
          <a:stretch>
            <a:fillRect/>
          </a:stretch>
        </p:blipFill>
        <p:spPr>
          <a:xfrm>
            <a:off x="5894680" y="1783080"/>
            <a:ext cx="402336" cy="402336"/>
          </a:xfrm>
          <a:prstGeom prst="rect">
            <a:avLst/>
          </a:prstGeom>
        </p:spPr>
      </p:pic>
      <p:sp>
        <p:nvSpPr>
          <p:cNvPr id="20" name="!!fl3#3"/>
          <p:cNvSpPr txBox="1"/>
          <p:nvPr/>
        </p:nvSpPr>
        <p:spPr>
          <a:xfrm>
            <a:off x="544205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Comparación</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500">
        <p159:morph option="byObject"/>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Flujo comercial: del catálogo a la atención</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26</a:t>
            </a:r>
            <a:endParaRPr lang="en-US" sz="900" dirty="0"/>
          </a:p>
        </p:txBody>
      </p:sp>
      <p:sp>
        <p:nvSpPr>
          <p:cNvPr id="6" name="!!fl0#1"/>
          <p:cNvSpPr/>
          <p:nvPr/>
        </p:nvSpPr>
        <p:spPr>
          <a:xfrm>
            <a:off x="548640" y="1645920"/>
            <a:ext cx="1417320" cy="1417320"/>
          </a:xfrm>
          <a:prstGeom prst="roundRect">
            <a:avLst>
              <a:gd name="adj" fmla="val 5161"/>
            </a:avLst>
          </a:prstGeom>
          <a:solidFill>
            <a:srgbClr val="0B0B0D"/>
          </a:solidFill>
          <a:ln/>
        </p:spPr>
      </p:sp>
      <p:pic>
        <p:nvPicPr>
          <p:cNvPr id="7" name="!!fl0#2" descr="preencoded.png">    </p:cNvPr>
          <p:cNvPicPr>
            <a:picLocks noChangeAspect="1"/>
          </p:cNvPicPr>
          <p:nvPr/>
        </p:nvPicPr>
        <p:blipFill>
          <a:blip r:embed="rId1"/>
          <a:stretch>
            <a:fillRect/>
          </a:stretch>
        </p:blipFill>
        <p:spPr>
          <a:xfrm>
            <a:off x="1056132" y="1783080"/>
            <a:ext cx="402336" cy="402336"/>
          </a:xfrm>
          <a:prstGeom prst="rect">
            <a:avLst/>
          </a:prstGeom>
        </p:spPr>
      </p:pic>
      <p:sp>
        <p:nvSpPr>
          <p:cNvPr id="8" name="!!fl0#3"/>
          <p:cNvSpPr txBox="1"/>
          <p:nvPr/>
        </p:nvSpPr>
        <p:spPr>
          <a:xfrm>
            <a:off x="603504"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Cliente</a:t>
            </a:r>
            <a:endParaRPr lang="en-US" sz="1250" dirty="0"/>
          </a:p>
        </p:txBody>
      </p:sp>
      <p:sp>
        <p:nvSpPr>
          <p:cNvPr id="9" name="!!fa0#1"/>
          <p:cNvSpPr/>
          <p:nvPr/>
        </p:nvSpPr>
        <p:spPr>
          <a:xfrm>
            <a:off x="1984248" y="2350008"/>
            <a:ext cx="158953" cy="0"/>
          </a:xfrm>
          <a:prstGeom prst="line">
            <a:avLst/>
          </a:prstGeom>
          <a:noFill/>
          <a:ln w="15875">
            <a:solidFill>
              <a:srgbClr val="6D28D9"/>
            </a:solidFill>
            <a:prstDash val="solid"/>
            <a:tailEnd type="triangle"/>
          </a:ln>
        </p:spPr>
      </p:sp>
      <p:sp>
        <p:nvSpPr>
          <p:cNvPr id="10" name="!!fl1#1"/>
          <p:cNvSpPr/>
          <p:nvPr/>
        </p:nvSpPr>
        <p:spPr>
          <a:xfrm>
            <a:off x="2161489" y="1645920"/>
            <a:ext cx="1417320" cy="1417320"/>
          </a:xfrm>
          <a:prstGeom prst="roundRect">
            <a:avLst>
              <a:gd name="adj" fmla="val 5161"/>
            </a:avLst>
          </a:prstGeom>
          <a:solidFill>
            <a:srgbClr val="0B0B0D"/>
          </a:solidFill>
          <a:ln/>
        </p:spPr>
      </p:sp>
      <p:pic>
        <p:nvPicPr>
          <p:cNvPr id="11" name="!!fl1#2" descr="preencoded.png">    </p:cNvPr>
          <p:cNvPicPr>
            <a:picLocks noChangeAspect="1"/>
          </p:cNvPicPr>
          <p:nvPr/>
        </p:nvPicPr>
        <p:blipFill>
          <a:blip r:embed="rId2"/>
          <a:stretch>
            <a:fillRect/>
          </a:stretch>
        </p:blipFill>
        <p:spPr>
          <a:xfrm>
            <a:off x="2668981" y="1783080"/>
            <a:ext cx="402336" cy="402336"/>
          </a:xfrm>
          <a:prstGeom prst="rect">
            <a:avLst/>
          </a:prstGeom>
        </p:spPr>
      </p:pic>
      <p:sp>
        <p:nvSpPr>
          <p:cNvPr id="12" name="!!fl1#3"/>
          <p:cNvSpPr txBox="1"/>
          <p:nvPr/>
        </p:nvSpPr>
        <p:spPr>
          <a:xfrm>
            <a:off x="2216353"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Catálogo</a:t>
            </a:r>
            <a:endParaRPr lang="en-US" sz="1250" dirty="0"/>
          </a:p>
        </p:txBody>
      </p:sp>
      <p:sp>
        <p:nvSpPr>
          <p:cNvPr id="13" name="!!fa1#1"/>
          <p:cNvSpPr/>
          <p:nvPr/>
        </p:nvSpPr>
        <p:spPr>
          <a:xfrm>
            <a:off x="3597097" y="2350008"/>
            <a:ext cx="158953" cy="0"/>
          </a:xfrm>
          <a:prstGeom prst="line">
            <a:avLst/>
          </a:prstGeom>
          <a:noFill/>
          <a:ln w="15875">
            <a:solidFill>
              <a:srgbClr val="6D28D9"/>
            </a:solidFill>
            <a:prstDash val="solid"/>
            <a:tailEnd type="triangle"/>
          </a:ln>
        </p:spPr>
      </p:sp>
      <p:sp>
        <p:nvSpPr>
          <p:cNvPr id="14" name="!!fl2#1"/>
          <p:cNvSpPr/>
          <p:nvPr/>
        </p:nvSpPr>
        <p:spPr>
          <a:xfrm>
            <a:off x="3774338" y="1645920"/>
            <a:ext cx="1417320" cy="1417320"/>
          </a:xfrm>
          <a:prstGeom prst="roundRect">
            <a:avLst>
              <a:gd name="adj" fmla="val 5161"/>
            </a:avLst>
          </a:prstGeom>
          <a:solidFill>
            <a:srgbClr val="0B0B0D"/>
          </a:solidFill>
          <a:ln/>
        </p:spPr>
      </p:sp>
      <p:pic>
        <p:nvPicPr>
          <p:cNvPr id="15" name="!!fl2#2" descr="preencoded.png">    </p:cNvPr>
          <p:cNvPicPr>
            <a:picLocks noChangeAspect="1"/>
          </p:cNvPicPr>
          <p:nvPr/>
        </p:nvPicPr>
        <p:blipFill>
          <a:blip r:embed="rId3"/>
          <a:stretch>
            <a:fillRect/>
          </a:stretch>
        </p:blipFill>
        <p:spPr>
          <a:xfrm>
            <a:off x="4281830" y="1783080"/>
            <a:ext cx="402336" cy="402336"/>
          </a:xfrm>
          <a:prstGeom prst="rect">
            <a:avLst/>
          </a:prstGeom>
        </p:spPr>
      </p:pic>
      <p:sp>
        <p:nvSpPr>
          <p:cNvPr id="16" name="!!fl2#3"/>
          <p:cNvSpPr txBox="1"/>
          <p:nvPr/>
        </p:nvSpPr>
        <p:spPr>
          <a:xfrm>
            <a:off x="382920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Producto</a:t>
            </a:r>
            <a:endParaRPr lang="en-US" sz="1250" dirty="0"/>
          </a:p>
        </p:txBody>
      </p:sp>
      <p:sp>
        <p:nvSpPr>
          <p:cNvPr id="17" name="!!fa2#1"/>
          <p:cNvSpPr/>
          <p:nvPr/>
        </p:nvSpPr>
        <p:spPr>
          <a:xfrm>
            <a:off x="5209946" y="2350008"/>
            <a:ext cx="158953" cy="0"/>
          </a:xfrm>
          <a:prstGeom prst="line">
            <a:avLst/>
          </a:prstGeom>
          <a:noFill/>
          <a:ln w="15875">
            <a:solidFill>
              <a:srgbClr val="6D28D9"/>
            </a:solidFill>
            <a:prstDash val="solid"/>
            <a:tailEnd type="triangle"/>
          </a:ln>
        </p:spPr>
      </p:sp>
      <p:sp>
        <p:nvSpPr>
          <p:cNvPr id="18" name="!!fl3#1"/>
          <p:cNvSpPr/>
          <p:nvPr/>
        </p:nvSpPr>
        <p:spPr>
          <a:xfrm>
            <a:off x="5387188" y="1645920"/>
            <a:ext cx="1417320" cy="1417320"/>
          </a:xfrm>
          <a:prstGeom prst="roundRect">
            <a:avLst>
              <a:gd name="adj" fmla="val 5161"/>
            </a:avLst>
          </a:prstGeom>
          <a:solidFill>
            <a:srgbClr val="0B0B0D"/>
          </a:solidFill>
          <a:ln/>
        </p:spPr>
      </p:sp>
      <p:pic>
        <p:nvPicPr>
          <p:cNvPr id="19" name="!!fl3#2" descr="preencoded.png">    </p:cNvPr>
          <p:cNvPicPr>
            <a:picLocks noChangeAspect="1"/>
          </p:cNvPicPr>
          <p:nvPr/>
        </p:nvPicPr>
        <p:blipFill>
          <a:blip r:embed="rId4"/>
          <a:stretch>
            <a:fillRect/>
          </a:stretch>
        </p:blipFill>
        <p:spPr>
          <a:xfrm>
            <a:off x="5894680" y="1783080"/>
            <a:ext cx="402336" cy="402336"/>
          </a:xfrm>
          <a:prstGeom prst="rect">
            <a:avLst/>
          </a:prstGeom>
        </p:spPr>
      </p:pic>
      <p:sp>
        <p:nvSpPr>
          <p:cNvPr id="20" name="!!fl3#3"/>
          <p:cNvSpPr txBox="1"/>
          <p:nvPr/>
        </p:nvSpPr>
        <p:spPr>
          <a:xfrm>
            <a:off x="544205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Comparación</a:t>
            </a:r>
            <a:endParaRPr lang="en-US" sz="1250" dirty="0"/>
          </a:p>
        </p:txBody>
      </p:sp>
      <p:sp>
        <p:nvSpPr>
          <p:cNvPr id="21" name="!!fa3#1"/>
          <p:cNvSpPr/>
          <p:nvPr/>
        </p:nvSpPr>
        <p:spPr>
          <a:xfrm>
            <a:off x="6822796" y="2350008"/>
            <a:ext cx="158953" cy="0"/>
          </a:xfrm>
          <a:prstGeom prst="line">
            <a:avLst/>
          </a:prstGeom>
          <a:noFill/>
          <a:ln w="15875">
            <a:solidFill>
              <a:srgbClr val="6D28D9"/>
            </a:solidFill>
            <a:prstDash val="solid"/>
            <a:tailEnd type="triangle"/>
          </a:ln>
        </p:spPr>
      </p:sp>
      <p:sp>
        <p:nvSpPr>
          <p:cNvPr id="22" name="!!fl4#1"/>
          <p:cNvSpPr/>
          <p:nvPr/>
        </p:nvSpPr>
        <p:spPr>
          <a:xfrm>
            <a:off x="7000037" y="1645920"/>
            <a:ext cx="1417320" cy="1417320"/>
          </a:xfrm>
          <a:prstGeom prst="roundRect">
            <a:avLst>
              <a:gd name="adj" fmla="val 5161"/>
            </a:avLst>
          </a:prstGeom>
          <a:solidFill>
            <a:srgbClr val="0B0B0D"/>
          </a:solidFill>
          <a:ln/>
        </p:spPr>
      </p:sp>
      <p:pic>
        <p:nvPicPr>
          <p:cNvPr id="23" name="!!fl4#2" descr="preencoded.png">    </p:cNvPr>
          <p:cNvPicPr>
            <a:picLocks noChangeAspect="1"/>
          </p:cNvPicPr>
          <p:nvPr/>
        </p:nvPicPr>
        <p:blipFill>
          <a:blip r:embed="rId5"/>
          <a:stretch>
            <a:fillRect/>
          </a:stretch>
        </p:blipFill>
        <p:spPr>
          <a:xfrm>
            <a:off x="7507529" y="1783080"/>
            <a:ext cx="402336" cy="402336"/>
          </a:xfrm>
          <a:prstGeom prst="rect">
            <a:avLst/>
          </a:prstGeom>
        </p:spPr>
      </p:pic>
      <p:sp>
        <p:nvSpPr>
          <p:cNvPr id="24" name="!!fl4#3"/>
          <p:cNvSpPr txBox="1"/>
          <p:nvPr/>
        </p:nvSpPr>
        <p:spPr>
          <a:xfrm>
            <a:off x="7054901"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«Cotizar»</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500">
        <p159:morph option="byObject"/>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Flujo comercial: del catálogo a la atención</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26</a:t>
            </a:r>
            <a:endParaRPr lang="en-US" sz="900" dirty="0"/>
          </a:p>
        </p:txBody>
      </p:sp>
      <p:sp>
        <p:nvSpPr>
          <p:cNvPr id="6" name="!!fl0#1"/>
          <p:cNvSpPr/>
          <p:nvPr/>
        </p:nvSpPr>
        <p:spPr>
          <a:xfrm>
            <a:off x="548640" y="1645920"/>
            <a:ext cx="1417320" cy="1417320"/>
          </a:xfrm>
          <a:prstGeom prst="roundRect">
            <a:avLst>
              <a:gd name="adj" fmla="val 5161"/>
            </a:avLst>
          </a:prstGeom>
          <a:solidFill>
            <a:srgbClr val="0B0B0D"/>
          </a:solidFill>
          <a:ln/>
        </p:spPr>
      </p:sp>
      <p:pic>
        <p:nvPicPr>
          <p:cNvPr id="7" name="!!fl0#2" descr="preencoded.png">    </p:cNvPr>
          <p:cNvPicPr>
            <a:picLocks noChangeAspect="1"/>
          </p:cNvPicPr>
          <p:nvPr/>
        </p:nvPicPr>
        <p:blipFill>
          <a:blip r:embed="rId1"/>
          <a:stretch>
            <a:fillRect/>
          </a:stretch>
        </p:blipFill>
        <p:spPr>
          <a:xfrm>
            <a:off x="1056132" y="1783080"/>
            <a:ext cx="402336" cy="402336"/>
          </a:xfrm>
          <a:prstGeom prst="rect">
            <a:avLst/>
          </a:prstGeom>
        </p:spPr>
      </p:pic>
      <p:sp>
        <p:nvSpPr>
          <p:cNvPr id="8" name="!!fl0#3"/>
          <p:cNvSpPr txBox="1"/>
          <p:nvPr/>
        </p:nvSpPr>
        <p:spPr>
          <a:xfrm>
            <a:off x="603504"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Cliente</a:t>
            </a:r>
            <a:endParaRPr lang="en-US" sz="1250" dirty="0"/>
          </a:p>
        </p:txBody>
      </p:sp>
      <p:sp>
        <p:nvSpPr>
          <p:cNvPr id="9" name="!!fa0#1"/>
          <p:cNvSpPr/>
          <p:nvPr/>
        </p:nvSpPr>
        <p:spPr>
          <a:xfrm>
            <a:off x="1984248" y="2350008"/>
            <a:ext cx="158953" cy="0"/>
          </a:xfrm>
          <a:prstGeom prst="line">
            <a:avLst/>
          </a:prstGeom>
          <a:noFill/>
          <a:ln w="15875">
            <a:solidFill>
              <a:srgbClr val="6D28D9"/>
            </a:solidFill>
            <a:prstDash val="solid"/>
            <a:tailEnd type="triangle"/>
          </a:ln>
        </p:spPr>
      </p:sp>
      <p:sp>
        <p:nvSpPr>
          <p:cNvPr id="10" name="!!fl1#1"/>
          <p:cNvSpPr/>
          <p:nvPr/>
        </p:nvSpPr>
        <p:spPr>
          <a:xfrm>
            <a:off x="2161489" y="1645920"/>
            <a:ext cx="1417320" cy="1417320"/>
          </a:xfrm>
          <a:prstGeom prst="roundRect">
            <a:avLst>
              <a:gd name="adj" fmla="val 5161"/>
            </a:avLst>
          </a:prstGeom>
          <a:solidFill>
            <a:srgbClr val="0B0B0D"/>
          </a:solidFill>
          <a:ln/>
        </p:spPr>
      </p:sp>
      <p:pic>
        <p:nvPicPr>
          <p:cNvPr id="11" name="!!fl1#2" descr="preencoded.png">    </p:cNvPr>
          <p:cNvPicPr>
            <a:picLocks noChangeAspect="1"/>
          </p:cNvPicPr>
          <p:nvPr/>
        </p:nvPicPr>
        <p:blipFill>
          <a:blip r:embed="rId2"/>
          <a:stretch>
            <a:fillRect/>
          </a:stretch>
        </p:blipFill>
        <p:spPr>
          <a:xfrm>
            <a:off x="2668981" y="1783080"/>
            <a:ext cx="402336" cy="402336"/>
          </a:xfrm>
          <a:prstGeom prst="rect">
            <a:avLst/>
          </a:prstGeom>
        </p:spPr>
      </p:pic>
      <p:sp>
        <p:nvSpPr>
          <p:cNvPr id="12" name="!!fl1#3"/>
          <p:cNvSpPr txBox="1"/>
          <p:nvPr/>
        </p:nvSpPr>
        <p:spPr>
          <a:xfrm>
            <a:off x="2216353"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Catálogo</a:t>
            </a:r>
            <a:endParaRPr lang="en-US" sz="1250" dirty="0"/>
          </a:p>
        </p:txBody>
      </p:sp>
      <p:sp>
        <p:nvSpPr>
          <p:cNvPr id="13" name="!!fa1#1"/>
          <p:cNvSpPr/>
          <p:nvPr/>
        </p:nvSpPr>
        <p:spPr>
          <a:xfrm>
            <a:off x="3597097" y="2350008"/>
            <a:ext cx="158953" cy="0"/>
          </a:xfrm>
          <a:prstGeom prst="line">
            <a:avLst/>
          </a:prstGeom>
          <a:noFill/>
          <a:ln w="15875">
            <a:solidFill>
              <a:srgbClr val="6D28D9"/>
            </a:solidFill>
            <a:prstDash val="solid"/>
            <a:tailEnd type="triangle"/>
          </a:ln>
        </p:spPr>
      </p:sp>
      <p:sp>
        <p:nvSpPr>
          <p:cNvPr id="14" name="!!fl2#1"/>
          <p:cNvSpPr/>
          <p:nvPr/>
        </p:nvSpPr>
        <p:spPr>
          <a:xfrm>
            <a:off x="3774338" y="1645920"/>
            <a:ext cx="1417320" cy="1417320"/>
          </a:xfrm>
          <a:prstGeom prst="roundRect">
            <a:avLst>
              <a:gd name="adj" fmla="val 5161"/>
            </a:avLst>
          </a:prstGeom>
          <a:solidFill>
            <a:srgbClr val="0B0B0D"/>
          </a:solidFill>
          <a:ln/>
        </p:spPr>
      </p:sp>
      <p:pic>
        <p:nvPicPr>
          <p:cNvPr id="15" name="!!fl2#2" descr="preencoded.png">    </p:cNvPr>
          <p:cNvPicPr>
            <a:picLocks noChangeAspect="1"/>
          </p:cNvPicPr>
          <p:nvPr/>
        </p:nvPicPr>
        <p:blipFill>
          <a:blip r:embed="rId3"/>
          <a:stretch>
            <a:fillRect/>
          </a:stretch>
        </p:blipFill>
        <p:spPr>
          <a:xfrm>
            <a:off x="4281830" y="1783080"/>
            <a:ext cx="402336" cy="402336"/>
          </a:xfrm>
          <a:prstGeom prst="rect">
            <a:avLst/>
          </a:prstGeom>
        </p:spPr>
      </p:pic>
      <p:sp>
        <p:nvSpPr>
          <p:cNvPr id="16" name="!!fl2#3"/>
          <p:cNvSpPr txBox="1"/>
          <p:nvPr/>
        </p:nvSpPr>
        <p:spPr>
          <a:xfrm>
            <a:off x="382920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Producto</a:t>
            </a:r>
            <a:endParaRPr lang="en-US" sz="1250" dirty="0"/>
          </a:p>
        </p:txBody>
      </p:sp>
      <p:sp>
        <p:nvSpPr>
          <p:cNvPr id="17" name="!!fa2#1"/>
          <p:cNvSpPr/>
          <p:nvPr/>
        </p:nvSpPr>
        <p:spPr>
          <a:xfrm>
            <a:off x="5209946" y="2350008"/>
            <a:ext cx="158953" cy="0"/>
          </a:xfrm>
          <a:prstGeom prst="line">
            <a:avLst/>
          </a:prstGeom>
          <a:noFill/>
          <a:ln w="15875">
            <a:solidFill>
              <a:srgbClr val="6D28D9"/>
            </a:solidFill>
            <a:prstDash val="solid"/>
            <a:tailEnd type="triangle"/>
          </a:ln>
        </p:spPr>
      </p:sp>
      <p:sp>
        <p:nvSpPr>
          <p:cNvPr id="18" name="!!fl3#1"/>
          <p:cNvSpPr/>
          <p:nvPr/>
        </p:nvSpPr>
        <p:spPr>
          <a:xfrm>
            <a:off x="5387188" y="1645920"/>
            <a:ext cx="1417320" cy="1417320"/>
          </a:xfrm>
          <a:prstGeom prst="roundRect">
            <a:avLst>
              <a:gd name="adj" fmla="val 5161"/>
            </a:avLst>
          </a:prstGeom>
          <a:solidFill>
            <a:srgbClr val="0B0B0D"/>
          </a:solidFill>
          <a:ln/>
        </p:spPr>
      </p:sp>
      <p:pic>
        <p:nvPicPr>
          <p:cNvPr id="19" name="!!fl3#2" descr="preencoded.png">    </p:cNvPr>
          <p:cNvPicPr>
            <a:picLocks noChangeAspect="1"/>
          </p:cNvPicPr>
          <p:nvPr/>
        </p:nvPicPr>
        <p:blipFill>
          <a:blip r:embed="rId4"/>
          <a:stretch>
            <a:fillRect/>
          </a:stretch>
        </p:blipFill>
        <p:spPr>
          <a:xfrm>
            <a:off x="5894680" y="1783080"/>
            <a:ext cx="402336" cy="402336"/>
          </a:xfrm>
          <a:prstGeom prst="rect">
            <a:avLst/>
          </a:prstGeom>
        </p:spPr>
      </p:pic>
      <p:sp>
        <p:nvSpPr>
          <p:cNvPr id="20" name="!!fl3#3"/>
          <p:cNvSpPr txBox="1"/>
          <p:nvPr/>
        </p:nvSpPr>
        <p:spPr>
          <a:xfrm>
            <a:off x="544205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Comparación</a:t>
            </a:r>
            <a:endParaRPr lang="en-US" sz="1250" dirty="0"/>
          </a:p>
        </p:txBody>
      </p:sp>
      <p:sp>
        <p:nvSpPr>
          <p:cNvPr id="21" name="!!fa3#1"/>
          <p:cNvSpPr/>
          <p:nvPr/>
        </p:nvSpPr>
        <p:spPr>
          <a:xfrm>
            <a:off x="6822796" y="2350008"/>
            <a:ext cx="158953" cy="0"/>
          </a:xfrm>
          <a:prstGeom prst="line">
            <a:avLst/>
          </a:prstGeom>
          <a:noFill/>
          <a:ln w="15875">
            <a:solidFill>
              <a:srgbClr val="6D28D9"/>
            </a:solidFill>
            <a:prstDash val="solid"/>
            <a:tailEnd type="triangle"/>
          </a:ln>
        </p:spPr>
      </p:sp>
      <p:sp>
        <p:nvSpPr>
          <p:cNvPr id="22" name="!!fl4#1"/>
          <p:cNvSpPr/>
          <p:nvPr/>
        </p:nvSpPr>
        <p:spPr>
          <a:xfrm>
            <a:off x="7000037" y="1645920"/>
            <a:ext cx="1417320" cy="1417320"/>
          </a:xfrm>
          <a:prstGeom prst="roundRect">
            <a:avLst>
              <a:gd name="adj" fmla="val 5161"/>
            </a:avLst>
          </a:prstGeom>
          <a:solidFill>
            <a:srgbClr val="0B0B0D"/>
          </a:solidFill>
          <a:ln/>
        </p:spPr>
      </p:sp>
      <p:pic>
        <p:nvPicPr>
          <p:cNvPr id="23" name="!!fl4#2" descr="preencoded.png">    </p:cNvPr>
          <p:cNvPicPr>
            <a:picLocks noChangeAspect="1"/>
          </p:cNvPicPr>
          <p:nvPr/>
        </p:nvPicPr>
        <p:blipFill>
          <a:blip r:embed="rId5"/>
          <a:stretch>
            <a:fillRect/>
          </a:stretch>
        </p:blipFill>
        <p:spPr>
          <a:xfrm>
            <a:off x="7507529" y="1783080"/>
            <a:ext cx="402336" cy="402336"/>
          </a:xfrm>
          <a:prstGeom prst="rect">
            <a:avLst/>
          </a:prstGeom>
        </p:spPr>
      </p:pic>
      <p:sp>
        <p:nvSpPr>
          <p:cNvPr id="24" name="!!fl4#3"/>
          <p:cNvSpPr txBox="1"/>
          <p:nvPr/>
        </p:nvSpPr>
        <p:spPr>
          <a:xfrm>
            <a:off x="7054901"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«Cotizar»</a:t>
            </a:r>
            <a:endParaRPr lang="en-US" sz="1250" dirty="0"/>
          </a:p>
        </p:txBody>
      </p:sp>
      <p:sp>
        <p:nvSpPr>
          <p:cNvPr id="25" name="!!fa4#1"/>
          <p:cNvSpPr/>
          <p:nvPr/>
        </p:nvSpPr>
        <p:spPr>
          <a:xfrm>
            <a:off x="8435645" y="2350008"/>
            <a:ext cx="158953" cy="0"/>
          </a:xfrm>
          <a:prstGeom prst="line">
            <a:avLst/>
          </a:prstGeom>
          <a:noFill/>
          <a:ln w="15875">
            <a:solidFill>
              <a:srgbClr val="6D28D9"/>
            </a:solidFill>
            <a:prstDash val="solid"/>
            <a:tailEnd type="triangle"/>
          </a:ln>
        </p:spPr>
      </p:sp>
      <p:sp>
        <p:nvSpPr>
          <p:cNvPr id="26" name="!!fl5#1"/>
          <p:cNvSpPr/>
          <p:nvPr/>
        </p:nvSpPr>
        <p:spPr>
          <a:xfrm>
            <a:off x="8612886" y="1645920"/>
            <a:ext cx="1417320" cy="1417320"/>
          </a:xfrm>
          <a:prstGeom prst="roundRect">
            <a:avLst>
              <a:gd name="adj" fmla="val 5161"/>
            </a:avLst>
          </a:prstGeom>
          <a:solidFill>
            <a:srgbClr val="0B0B0D"/>
          </a:solidFill>
          <a:ln/>
        </p:spPr>
      </p:sp>
      <p:pic>
        <p:nvPicPr>
          <p:cNvPr id="27" name="!!fl5#2" descr="preencoded.png">    </p:cNvPr>
          <p:cNvPicPr>
            <a:picLocks noChangeAspect="1"/>
          </p:cNvPicPr>
          <p:nvPr/>
        </p:nvPicPr>
        <p:blipFill>
          <a:blip r:embed="rId6"/>
          <a:stretch>
            <a:fillRect/>
          </a:stretch>
        </p:blipFill>
        <p:spPr>
          <a:xfrm>
            <a:off x="9120378" y="1783080"/>
            <a:ext cx="402336" cy="402336"/>
          </a:xfrm>
          <a:prstGeom prst="rect">
            <a:avLst/>
          </a:prstGeom>
        </p:spPr>
      </p:pic>
      <p:sp>
        <p:nvSpPr>
          <p:cNvPr id="28" name="!!fl5#3"/>
          <p:cNvSpPr txBox="1"/>
          <p:nvPr/>
        </p:nvSpPr>
        <p:spPr>
          <a:xfrm>
            <a:off x="8667750"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Dónde comprar / WhatsApp</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500">
        <p159:morph option="byObject"/>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Flujo comercial: del catálogo a la atención</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26</a:t>
            </a:r>
            <a:endParaRPr lang="en-US" sz="900" dirty="0"/>
          </a:p>
        </p:txBody>
      </p:sp>
      <p:sp>
        <p:nvSpPr>
          <p:cNvPr id="6" name="!!fl0#1"/>
          <p:cNvSpPr/>
          <p:nvPr/>
        </p:nvSpPr>
        <p:spPr>
          <a:xfrm>
            <a:off x="548640" y="1645920"/>
            <a:ext cx="1417320" cy="1417320"/>
          </a:xfrm>
          <a:prstGeom prst="roundRect">
            <a:avLst>
              <a:gd name="adj" fmla="val 5161"/>
            </a:avLst>
          </a:prstGeom>
          <a:solidFill>
            <a:srgbClr val="0B0B0D"/>
          </a:solidFill>
          <a:ln/>
        </p:spPr>
      </p:sp>
      <p:pic>
        <p:nvPicPr>
          <p:cNvPr id="7" name="!!fl0#2" descr="preencoded.png">    </p:cNvPr>
          <p:cNvPicPr>
            <a:picLocks noChangeAspect="1"/>
          </p:cNvPicPr>
          <p:nvPr/>
        </p:nvPicPr>
        <p:blipFill>
          <a:blip r:embed="rId1"/>
          <a:stretch>
            <a:fillRect/>
          </a:stretch>
        </p:blipFill>
        <p:spPr>
          <a:xfrm>
            <a:off x="1056132" y="1783080"/>
            <a:ext cx="402336" cy="402336"/>
          </a:xfrm>
          <a:prstGeom prst="rect">
            <a:avLst/>
          </a:prstGeom>
        </p:spPr>
      </p:pic>
      <p:sp>
        <p:nvSpPr>
          <p:cNvPr id="8" name="!!fl0#3"/>
          <p:cNvSpPr txBox="1"/>
          <p:nvPr/>
        </p:nvSpPr>
        <p:spPr>
          <a:xfrm>
            <a:off x="603504"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Cliente</a:t>
            </a:r>
            <a:endParaRPr lang="en-US" sz="1250" dirty="0"/>
          </a:p>
        </p:txBody>
      </p:sp>
      <p:sp>
        <p:nvSpPr>
          <p:cNvPr id="9" name="!!fa0#1"/>
          <p:cNvSpPr/>
          <p:nvPr/>
        </p:nvSpPr>
        <p:spPr>
          <a:xfrm>
            <a:off x="1984248" y="2350008"/>
            <a:ext cx="158953" cy="0"/>
          </a:xfrm>
          <a:prstGeom prst="line">
            <a:avLst/>
          </a:prstGeom>
          <a:noFill/>
          <a:ln w="15875">
            <a:solidFill>
              <a:srgbClr val="6D28D9"/>
            </a:solidFill>
            <a:prstDash val="solid"/>
            <a:tailEnd type="triangle"/>
          </a:ln>
        </p:spPr>
      </p:sp>
      <p:sp>
        <p:nvSpPr>
          <p:cNvPr id="10" name="!!fl1#1"/>
          <p:cNvSpPr/>
          <p:nvPr/>
        </p:nvSpPr>
        <p:spPr>
          <a:xfrm>
            <a:off x="2161489" y="1645920"/>
            <a:ext cx="1417320" cy="1417320"/>
          </a:xfrm>
          <a:prstGeom prst="roundRect">
            <a:avLst>
              <a:gd name="adj" fmla="val 5161"/>
            </a:avLst>
          </a:prstGeom>
          <a:solidFill>
            <a:srgbClr val="0B0B0D"/>
          </a:solidFill>
          <a:ln/>
        </p:spPr>
      </p:sp>
      <p:pic>
        <p:nvPicPr>
          <p:cNvPr id="11" name="!!fl1#2" descr="preencoded.png">    </p:cNvPr>
          <p:cNvPicPr>
            <a:picLocks noChangeAspect="1"/>
          </p:cNvPicPr>
          <p:nvPr/>
        </p:nvPicPr>
        <p:blipFill>
          <a:blip r:embed="rId2"/>
          <a:stretch>
            <a:fillRect/>
          </a:stretch>
        </p:blipFill>
        <p:spPr>
          <a:xfrm>
            <a:off x="2668981" y="1783080"/>
            <a:ext cx="402336" cy="402336"/>
          </a:xfrm>
          <a:prstGeom prst="rect">
            <a:avLst/>
          </a:prstGeom>
        </p:spPr>
      </p:pic>
      <p:sp>
        <p:nvSpPr>
          <p:cNvPr id="12" name="!!fl1#3"/>
          <p:cNvSpPr txBox="1"/>
          <p:nvPr/>
        </p:nvSpPr>
        <p:spPr>
          <a:xfrm>
            <a:off x="2216353"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Catálogo</a:t>
            </a:r>
            <a:endParaRPr lang="en-US" sz="1250" dirty="0"/>
          </a:p>
        </p:txBody>
      </p:sp>
      <p:sp>
        <p:nvSpPr>
          <p:cNvPr id="13" name="!!fa1#1"/>
          <p:cNvSpPr/>
          <p:nvPr/>
        </p:nvSpPr>
        <p:spPr>
          <a:xfrm>
            <a:off x="3597097" y="2350008"/>
            <a:ext cx="158953" cy="0"/>
          </a:xfrm>
          <a:prstGeom prst="line">
            <a:avLst/>
          </a:prstGeom>
          <a:noFill/>
          <a:ln w="15875">
            <a:solidFill>
              <a:srgbClr val="6D28D9"/>
            </a:solidFill>
            <a:prstDash val="solid"/>
            <a:tailEnd type="triangle"/>
          </a:ln>
        </p:spPr>
      </p:sp>
      <p:sp>
        <p:nvSpPr>
          <p:cNvPr id="14" name="!!fl2#1"/>
          <p:cNvSpPr/>
          <p:nvPr/>
        </p:nvSpPr>
        <p:spPr>
          <a:xfrm>
            <a:off x="3774338" y="1645920"/>
            <a:ext cx="1417320" cy="1417320"/>
          </a:xfrm>
          <a:prstGeom prst="roundRect">
            <a:avLst>
              <a:gd name="adj" fmla="val 5161"/>
            </a:avLst>
          </a:prstGeom>
          <a:solidFill>
            <a:srgbClr val="0B0B0D"/>
          </a:solidFill>
          <a:ln/>
        </p:spPr>
      </p:sp>
      <p:pic>
        <p:nvPicPr>
          <p:cNvPr id="15" name="!!fl2#2" descr="preencoded.png">    </p:cNvPr>
          <p:cNvPicPr>
            <a:picLocks noChangeAspect="1"/>
          </p:cNvPicPr>
          <p:nvPr/>
        </p:nvPicPr>
        <p:blipFill>
          <a:blip r:embed="rId3"/>
          <a:stretch>
            <a:fillRect/>
          </a:stretch>
        </p:blipFill>
        <p:spPr>
          <a:xfrm>
            <a:off x="4281830" y="1783080"/>
            <a:ext cx="402336" cy="402336"/>
          </a:xfrm>
          <a:prstGeom prst="rect">
            <a:avLst/>
          </a:prstGeom>
        </p:spPr>
      </p:pic>
      <p:sp>
        <p:nvSpPr>
          <p:cNvPr id="16" name="!!fl2#3"/>
          <p:cNvSpPr txBox="1"/>
          <p:nvPr/>
        </p:nvSpPr>
        <p:spPr>
          <a:xfrm>
            <a:off x="382920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Producto</a:t>
            </a:r>
            <a:endParaRPr lang="en-US" sz="1250" dirty="0"/>
          </a:p>
        </p:txBody>
      </p:sp>
      <p:sp>
        <p:nvSpPr>
          <p:cNvPr id="17" name="!!fa2#1"/>
          <p:cNvSpPr/>
          <p:nvPr/>
        </p:nvSpPr>
        <p:spPr>
          <a:xfrm>
            <a:off x="5209946" y="2350008"/>
            <a:ext cx="158953" cy="0"/>
          </a:xfrm>
          <a:prstGeom prst="line">
            <a:avLst/>
          </a:prstGeom>
          <a:noFill/>
          <a:ln w="15875">
            <a:solidFill>
              <a:srgbClr val="6D28D9"/>
            </a:solidFill>
            <a:prstDash val="solid"/>
            <a:tailEnd type="triangle"/>
          </a:ln>
        </p:spPr>
      </p:sp>
      <p:sp>
        <p:nvSpPr>
          <p:cNvPr id="18" name="!!fl3#1"/>
          <p:cNvSpPr/>
          <p:nvPr/>
        </p:nvSpPr>
        <p:spPr>
          <a:xfrm>
            <a:off x="5387188" y="1645920"/>
            <a:ext cx="1417320" cy="1417320"/>
          </a:xfrm>
          <a:prstGeom prst="roundRect">
            <a:avLst>
              <a:gd name="adj" fmla="val 5161"/>
            </a:avLst>
          </a:prstGeom>
          <a:solidFill>
            <a:srgbClr val="0B0B0D"/>
          </a:solidFill>
          <a:ln/>
        </p:spPr>
      </p:sp>
      <p:pic>
        <p:nvPicPr>
          <p:cNvPr id="19" name="!!fl3#2" descr="preencoded.png">    </p:cNvPr>
          <p:cNvPicPr>
            <a:picLocks noChangeAspect="1"/>
          </p:cNvPicPr>
          <p:nvPr/>
        </p:nvPicPr>
        <p:blipFill>
          <a:blip r:embed="rId4"/>
          <a:stretch>
            <a:fillRect/>
          </a:stretch>
        </p:blipFill>
        <p:spPr>
          <a:xfrm>
            <a:off x="5894680" y="1783080"/>
            <a:ext cx="402336" cy="402336"/>
          </a:xfrm>
          <a:prstGeom prst="rect">
            <a:avLst/>
          </a:prstGeom>
        </p:spPr>
      </p:pic>
      <p:sp>
        <p:nvSpPr>
          <p:cNvPr id="20" name="!!fl3#3"/>
          <p:cNvSpPr txBox="1"/>
          <p:nvPr/>
        </p:nvSpPr>
        <p:spPr>
          <a:xfrm>
            <a:off x="544205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Comparación</a:t>
            </a:r>
            <a:endParaRPr lang="en-US" sz="1250" dirty="0"/>
          </a:p>
        </p:txBody>
      </p:sp>
      <p:sp>
        <p:nvSpPr>
          <p:cNvPr id="21" name="!!fa3#1"/>
          <p:cNvSpPr/>
          <p:nvPr/>
        </p:nvSpPr>
        <p:spPr>
          <a:xfrm>
            <a:off x="6822796" y="2350008"/>
            <a:ext cx="158953" cy="0"/>
          </a:xfrm>
          <a:prstGeom prst="line">
            <a:avLst/>
          </a:prstGeom>
          <a:noFill/>
          <a:ln w="15875">
            <a:solidFill>
              <a:srgbClr val="6D28D9"/>
            </a:solidFill>
            <a:prstDash val="solid"/>
            <a:tailEnd type="triangle"/>
          </a:ln>
        </p:spPr>
      </p:sp>
      <p:sp>
        <p:nvSpPr>
          <p:cNvPr id="22" name="!!fl4#1"/>
          <p:cNvSpPr/>
          <p:nvPr/>
        </p:nvSpPr>
        <p:spPr>
          <a:xfrm>
            <a:off x="7000037" y="1645920"/>
            <a:ext cx="1417320" cy="1417320"/>
          </a:xfrm>
          <a:prstGeom prst="roundRect">
            <a:avLst>
              <a:gd name="adj" fmla="val 5161"/>
            </a:avLst>
          </a:prstGeom>
          <a:solidFill>
            <a:srgbClr val="0B0B0D"/>
          </a:solidFill>
          <a:ln/>
        </p:spPr>
      </p:sp>
      <p:pic>
        <p:nvPicPr>
          <p:cNvPr id="23" name="!!fl4#2" descr="preencoded.png">    </p:cNvPr>
          <p:cNvPicPr>
            <a:picLocks noChangeAspect="1"/>
          </p:cNvPicPr>
          <p:nvPr/>
        </p:nvPicPr>
        <p:blipFill>
          <a:blip r:embed="rId5"/>
          <a:stretch>
            <a:fillRect/>
          </a:stretch>
        </p:blipFill>
        <p:spPr>
          <a:xfrm>
            <a:off x="7507529" y="1783080"/>
            <a:ext cx="402336" cy="402336"/>
          </a:xfrm>
          <a:prstGeom prst="rect">
            <a:avLst/>
          </a:prstGeom>
        </p:spPr>
      </p:pic>
      <p:sp>
        <p:nvSpPr>
          <p:cNvPr id="24" name="!!fl4#3"/>
          <p:cNvSpPr txBox="1"/>
          <p:nvPr/>
        </p:nvSpPr>
        <p:spPr>
          <a:xfrm>
            <a:off x="7054901"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«Cotizar»</a:t>
            </a:r>
            <a:endParaRPr lang="en-US" sz="1250" dirty="0"/>
          </a:p>
        </p:txBody>
      </p:sp>
      <p:sp>
        <p:nvSpPr>
          <p:cNvPr id="25" name="!!fa4#1"/>
          <p:cNvSpPr/>
          <p:nvPr/>
        </p:nvSpPr>
        <p:spPr>
          <a:xfrm>
            <a:off x="8435645" y="2350008"/>
            <a:ext cx="158953" cy="0"/>
          </a:xfrm>
          <a:prstGeom prst="line">
            <a:avLst/>
          </a:prstGeom>
          <a:noFill/>
          <a:ln w="15875">
            <a:solidFill>
              <a:srgbClr val="6D28D9"/>
            </a:solidFill>
            <a:prstDash val="solid"/>
            <a:tailEnd type="triangle"/>
          </a:ln>
        </p:spPr>
      </p:sp>
      <p:sp>
        <p:nvSpPr>
          <p:cNvPr id="26" name="!!fl5#1"/>
          <p:cNvSpPr/>
          <p:nvPr/>
        </p:nvSpPr>
        <p:spPr>
          <a:xfrm>
            <a:off x="8612886" y="1645920"/>
            <a:ext cx="1417320" cy="1417320"/>
          </a:xfrm>
          <a:prstGeom prst="roundRect">
            <a:avLst>
              <a:gd name="adj" fmla="val 5161"/>
            </a:avLst>
          </a:prstGeom>
          <a:solidFill>
            <a:srgbClr val="0B0B0D"/>
          </a:solidFill>
          <a:ln/>
        </p:spPr>
      </p:sp>
      <p:pic>
        <p:nvPicPr>
          <p:cNvPr id="27" name="!!fl5#2" descr="preencoded.png">    </p:cNvPr>
          <p:cNvPicPr>
            <a:picLocks noChangeAspect="1"/>
          </p:cNvPicPr>
          <p:nvPr/>
        </p:nvPicPr>
        <p:blipFill>
          <a:blip r:embed="rId6"/>
          <a:stretch>
            <a:fillRect/>
          </a:stretch>
        </p:blipFill>
        <p:spPr>
          <a:xfrm>
            <a:off x="9120378" y="1783080"/>
            <a:ext cx="402336" cy="402336"/>
          </a:xfrm>
          <a:prstGeom prst="rect">
            <a:avLst/>
          </a:prstGeom>
        </p:spPr>
      </p:pic>
      <p:sp>
        <p:nvSpPr>
          <p:cNvPr id="28" name="!!fl5#3"/>
          <p:cNvSpPr txBox="1"/>
          <p:nvPr/>
        </p:nvSpPr>
        <p:spPr>
          <a:xfrm>
            <a:off x="8667750"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Dónde comprar / WhatsApp</a:t>
            </a:r>
            <a:endParaRPr lang="en-US" sz="1250" dirty="0"/>
          </a:p>
        </p:txBody>
      </p:sp>
      <p:sp>
        <p:nvSpPr>
          <p:cNvPr id="29" name="!!fa5#1"/>
          <p:cNvSpPr/>
          <p:nvPr/>
        </p:nvSpPr>
        <p:spPr>
          <a:xfrm>
            <a:off x="10048494" y="2350008"/>
            <a:ext cx="158953" cy="0"/>
          </a:xfrm>
          <a:prstGeom prst="line">
            <a:avLst/>
          </a:prstGeom>
          <a:noFill/>
          <a:ln w="15875">
            <a:solidFill>
              <a:srgbClr val="6D28D9"/>
            </a:solidFill>
            <a:prstDash val="solid"/>
            <a:tailEnd type="triangle"/>
          </a:ln>
        </p:spPr>
      </p:sp>
      <p:sp>
        <p:nvSpPr>
          <p:cNvPr id="30" name="!!fl6#1"/>
          <p:cNvSpPr/>
          <p:nvPr/>
        </p:nvSpPr>
        <p:spPr>
          <a:xfrm>
            <a:off x="10225735" y="1645920"/>
            <a:ext cx="1417320" cy="1417320"/>
          </a:xfrm>
          <a:prstGeom prst="roundRect">
            <a:avLst>
              <a:gd name="adj" fmla="val 5161"/>
            </a:avLst>
          </a:prstGeom>
          <a:solidFill>
            <a:srgbClr val="F5F5F7"/>
          </a:solidFill>
          <a:ln w="12700">
            <a:solidFill>
              <a:srgbClr val="E3E4E8"/>
            </a:solidFill>
            <a:prstDash val="solid"/>
          </a:ln>
        </p:spPr>
      </p:sp>
      <p:pic>
        <p:nvPicPr>
          <p:cNvPr id="31" name="!!fl6#2" descr="preencoded.png">    </p:cNvPr>
          <p:cNvPicPr>
            <a:picLocks noChangeAspect="1"/>
          </p:cNvPicPr>
          <p:nvPr/>
        </p:nvPicPr>
        <p:blipFill>
          <a:blip r:embed="rId7"/>
          <a:stretch>
            <a:fillRect/>
          </a:stretch>
        </p:blipFill>
        <p:spPr>
          <a:xfrm>
            <a:off x="10733227" y="1783080"/>
            <a:ext cx="402336" cy="402336"/>
          </a:xfrm>
          <a:prstGeom prst="rect">
            <a:avLst/>
          </a:prstGeom>
        </p:spPr>
      </p:pic>
      <p:sp>
        <p:nvSpPr>
          <p:cNvPr id="32" name="!!fl6#3"/>
          <p:cNvSpPr txBox="1"/>
          <p:nvPr/>
        </p:nvSpPr>
        <p:spPr>
          <a:xfrm>
            <a:off x="10280599" y="2286000"/>
            <a:ext cx="1307592" cy="685800"/>
          </a:xfrm>
          <a:prstGeom prst="rect">
            <a:avLst/>
          </a:prstGeom>
          <a:noFill/>
          <a:ln/>
        </p:spPr>
        <p:txBody>
          <a:bodyPr wrap="square" lIns="0" tIns="0" rIns="0" bIns="0" rtlCol="0" anchor="t"/>
          <a:lstStyle/>
          <a:p>
            <a:pPr algn="ctr" indent="0" marL="0">
              <a:buNone/>
            </a:pPr>
            <a:r>
              <a:rPr lang="en-US" sz="1250" b="1" dirty="0">
                <a:solidFill>
                  <a:srgbClr val="0B0B0D"/>
                </a:solidFill>
                <a:latin typeface="Arial" pitchFamily="34" charset="0"/>
                <a:ea typeface="Arial" pitchFamily="34" charset="-122"/>
                <a:cs typeface="Arial" pitchFamily="34" charset="-120"/>
              </a:rPr>
              <a:t>Atención comercial</a:t>
            </a:r>
            <a:endParaRPr lang="en-US" sz="1250" dirty="0"/>
          </a:p>
        </p:txBody>
      </p:sp>
      <p:sp>
        <p:nvSpPr>
          <p:cNvPr id="34" name="!!fl6#4"/>
          <p:cNvSpPr txBox="1"/>
          <p:nvPr/>
        </p:nvSpPr>
        <p:spPr>
          <a:xfrm>
            <a:off x="10225735" y="3154680"/>
            <a:ext cx="1417320" cy="274320"/>
          </a:xfrm>
          <a:prstGeom prst="rect">
            <a:avLst/>
          </a:prstGeom>
          <a:noFill/>
          <a:ln/>
        </p:spPr>
        <p:txBody>
          <a:bodyPr wrap="square" lIns="0" tIns="0" rIns="0" bIns="0" rtlCol="0" anchor="t"/>
          <a:lstStyle/>
          <a:p>
            <a:pPr algn="ctr" indent="0" marL="0">
              <a:buNone/>
            </a:pPr>
            <a:r>
              <a:rPr lang="en-US" sz="1000" i="1" dirty="0">
                <a:solidFill>
                  <a:srgbClr val="6B7280"/>
                </a:solidFill>
                <a:latin typeface="Arial" pitchFamily="34" charset="0"/>
                <a:ea typeface="Arial" pitchFamily="34" charset="-122"/>
                <a:cs typeface="Arial" pitchFamily="34" charset="-120"/>
              </a:rPr>
              <a:t>(fuera de la web)</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500">
        <p159:morph option="byObject"/>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kicker#1"/>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itle#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Flujo comercial: del catálogo a la atención</a:t>
            </a:r>
            <a:endParaRPr lang="en-US" sz="3000" dirty="0"/>
          </a:p>
        </p:txBody>
      </p:sp>
      <p:sp>
        <p:nvSpPr>
          <p:cNvPr id="5" name="!!footer#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26</a:t>
            </a:r>
            <a:endParaRPr lang="en-US" sz="900" dirty="0"/>
          </a:p>
        </p:txBody>
      </p:sp>
      <p:sp>
        <p:nvSpPr>
          <p:cNvPr id="6" name="!!fl0#1"/>
          <p:cNvSpPr/>
          <p:nvPr/>
        </p:nvSpPr>
        <p:spPr>
          <a:xfrm>
            <a:off x="548640" y="1645920"/>
            <a:ext cx="1417320" cy="1417320"/>
          </a:xfrm>
          <a:prstGeom prst="roundRect">
            <a:avLst>
              <a:gd name="adj" fmla="val 5161"/>
            </a:avLst>
          </a:prstGeom>
          <a:solidFill>
            <a:srgbClr val="0B0B0D"/>
          </a:solidFill>
          <a:ln/>
        </p:spPr>
      </p:sp>
      <p:pic>
        <p:nvPicPr>
          <p:cNvPr id="7" name="!!fl0#2" descr="preencoded.png">    </p:cNvPr>
          <p:cNvPicPr>
            <a:picLocks noChangeAspect="1"/>
          </p:cNvPicPr>
          <p:nvPr/>
        </p:nvPicPr>
        <p:blipFill>
          <a:blip r:embed="rId1"/>
          <a:stretch>
            <a:fillRect/>
          </a:stretch>
        </p:blipFill>
        <p:spPr>
          <a:xfrm>
            <a:off x="1056132" y="1783080"/>
            <a:ext cx="402336" cy="402336"/>
          </a:xfrm>
          <a:prstGeom prst="rect">
            <a:avLst/>
          </a:prstGeom>
        </p:spPr>
      </p:pic>
      <p:sp>
        <p:nvSpPr>
          <p:cNvPr id="8" name="!!fl0#3"/>
          <p:cNvSpPr txBox="1"/>
          <p:nvPr/>
        </p:nvSpPr>
        <p:spPr>
          <a:xfrm>
            <a:off x="603504"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Cliente</a:t>
            </a:r>
            <a:endParaRPr lang="en-US" sz="1250" dirty="0"/>
          </a:p>
        </p:txBody>
      </p:sp>
      <p:sp>
        <p:nvSpPr>
          <p:cNvPr id="9" name="!!fa0#1"/>
          <p:cNvSpPr/>
          <p:nvPr/>
        </p:nvSpPr>
        <p:spPr>
          <a:xfrm>
            <a:off x="1984248" y="2350008"/>
            <a:ext cx="158953" cy="0"/>
          </a:xfrm>
          <a:prstGeom prst="line">
            <a:avLst/>
          </a:prstGeom>
          <a:noFill/>
          <a:ln w="15875">
            <a:solidFill>
              <a:srgbClr val="6D28D9"/>
            </a:solidFill>
            <a:prstDash val="solid"/>
            <a:tailEnd type="triangle"/>
          </a:ln>
        </p:spPr>
      </p:sp>
      <p:sp>
        <p:nvSpPr>
          <p:cNvPr id="10" name="!!fl1#1"/>
          <p:cNvSpPr/>
          <p:nvPr/>
        </p:nvSpPr>
        <p:spPr>
          <a:xfrm>
            <a:off x="2161489" y="1645920"/>
            <a:ext cx="1417320" cy="1417320"/>
          </a:xfrm>
          <a:prstGeom prst="roundRect">
            <a:avLst>
              <a:gd name="adj" fmla="val 5161"/>
            </a:avLst>
          </a:prstGeom>
          <a:solidFill>
            <a:srgbClr val="0B0B0D"/>
          </a:solidFill>
          <a:ln/>
        </p:spPr>
      </p:sp>
      <p:pic>
        <p:nvPicPr>
          <p:cNvPr id="11" name="!!fl1#2" descr="preencoded.png">    </p:cNvPr>
          <p:cNvPicPr>
            <a:picLocks noChangeAspect="1"/>
          </p:cNvPicPr>
          <p:nvPr/>
        </p:nvPicPr>
        <p:blipFill>
          <a:blip r:embed="rId2"/>
          <a:stretch>
            <a:fillRect/>
          </a:stretch>
        </p:blipFill>
        <p:spPr>
          <a:xfrm>
            <a:off x="2668981" y="1783080"/>
            <a:ext cx="402336" cy="402336"/>
          </a:xfrm>
          <a:prstGeom prst="rect">
            <a:avLst/>
          </a:prstGeom>
        </p:spPr>
      </p:pic>
      <p:sp>
        <p:nvSpPr>
          <p:cNvPr id="12" name="!!fl1#3"/>
          <p:cNvSpPr txBox="1"/>
          <p:nvPr/>
        </p:nvSpPr>
        <p:spPr>
          <a:xfrm>
            <a:off x="2216353"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Catálogo</a:t>
            </a:r>
            <a:endParaRPr lang="en-US" sz="1250" dirty="0"/>
          </a:p>
        </p:txBody>
      </p:sp>
      <p:sp>
        <p:nvSpPr>
          <p:cNvPr id="13" name="!!fa1#1"/>
          <p:cNvSpPr/>
          <p:nvPr/>
        </p:nvSpPr>
        <p:spPr>
          <a:xfrm>
            <a:off x="3597097" y="2350008"/>
            <a:ext cx="158953" cy="0"/>
          </a:xfrm>
          <a:prstGeom prst="line">
            <a:avLst/>
          </a:prstGeom>
          <a:noFill/>
          <a:ln w="15875">
            <a:solidFill>
              <a:srgbClr val="6D28D9"/>
            </a:solidFill>
            <a:prstDash val="solid"/>
            <a:tailEnd type="triangle"/>
          </a:ln>
        </p:spPr>
      </p:sp>
      <p:sp>
        <p:nvSpPr>
          <p:cNvPr id="14" name="!!fl2#1"/>
          <p:cNvSpPr/>
          <p:nvPr/>
        </p:nvSpPr>
        <p:spPr>
          <a:xfrm>
            <a:off x="3774338" y="1645920"/>
            <a:ext cx="1417320" cy="1417320"/>
          </a:xfrm>
          <a:prstGeom prst="roundRect">
            <a:avLst>
              <a:gd name="adj" fmla="val 5161"/>
            </a:avLst>
          </a:prstGeom>
          <a:solidFill>
            <a:srgbClr val="0B0B0D"/>
          </a:solidFill>
          <a:ln/>
        </p:spPr>
      </p:sp>
      <p:pic>
        <p:nvPicPr>
          <p:cNvPr id="15" name="!!fl2#2" descr="preencoded.png">    </p:cNvPr>
          <p:cNvPicPr>
            <a:picLocks noChangeAspect="1"/>
          </p:cNvPicPr>
          <p:nvPr/>
        </p:nvPicPr>
        <p:blipFill>
          <a:blip r:embed="rId3"/>
          <a:stretch>
            <a:fillRect/>
          </a:stretch>
        </p:blipFill>
        <p:spPr>
          <a:xfrm>
            <a:off x="4281830" y="1783080"/>
            <a:ext cx="402336" cy="402336"/>
          </a:xfrm>
          <a:prstGeom prst="rect">
            <a:avLst/>
          </a:prstGeom>
        </p:spPr>
      </p:pic>
      <p:sp>
        <p:nvSpPr>
          <p:cNvPr id="16" name="!!fl2#3"/>
          <p:cNvSpPr txBox="1"/>
          <p:nvPr/>
        </p:nvSpPr>
        <p:spPr>
          <a:xfrm>
            <a:off x="382920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Producto</a:t>
            </a:r>
            <a:endParaRPr lang="en-US" sz="1250" dirty="0"/>
          </a:p>
        </p:txBody>
      </p:sp>
      <p:sp>
        <p:nvSpPr>
          <p:cNvPr id="17" name="!!fa2#1"/>
          <p:cNvSpPr/>
          <p:nvPr/>
        </p:nvSpPr>
        <p:spPr>
          <a:xfrm>
            <a:off x="5209946" y="2350008"/>
            <a:ext cx="158953" cy="0"/>
          </a:xfrm>
          <a:prstGeom prst="line">
            <a:avLst/>
          </a:prstGeom>
          <a:noFill/>
          <a:ln w="15875">
            <a:solidFill>
              <a:srgbClr val="6D28D9"/>
            </a:solidFill>
            <a:prstDash val="solid"/>
            <a:tailEnd type="triangle"/>
          </a:ln>
        </p:spPr>
      </p:sp>
      <p:sp>
        <p:nvSpPr>
          <p:cNvPr id="18" name="!!fl3#1"/>
          <p:cNvSpPr/>
          <p:nvPr/>
        </p:nvSpPr>
        <p:spPr>
          <a:xfrm>
            <a:off x="5387188" y="1645920"/>
            <a:ext cx="1417320" cy="1417320"/>
          </a:xfrm>
          <a:prstGeom prst="roundRect">
            <a:avLst>
              <a:gd name="adj" fmla="val 5161"/>
            </a:avLst>
          </a:prstGeom>
          <a:solidFill>
            <a:srgbClr val="0B0B0D"/>
          </a:solidFill>
          <a:ln/>
        </p:spPr>
      </p:sp>
      <p:pic>
        <p:nvPicPr>
          <p:cNvPr id="19" name="!!fl3#2" descr="preencoded.png">    </p:cNvPr>
          <p:cNvPicPr>
            <a:picLocks noChangeAspect="1"/>
          </p:cNvPicPr>
          <p:nvPr/>
        </p:nvPicPr>
        <p:blipFill>
          <a:blip r:embed="rId4"/>
          <a:stretch>
            <a:fillRect/>
          </a:stretch>
        </p:blipFill>
        <p:spPr>
          <a:xfrm>
            <a:off x="5894680" y="1783080"/>
            <a:ext cx="402336" cy="402336"/>
          </a:xfrm>
          <a:prstGeom prst="rect">
            <a:avLst/>
          </a:prstGeom>
        </p:spPr>
      </p:pic>
      <p:sp>
        <p:nvSpPr>
          <p:cNvPr id="20" name="!!fl3#3"/>
          <p:cNvSpPr txBox="1"/>
          <p:nvPr/>
        </p:nvSpPr>
        <p:spPr>
          <a:xfrm>
            <a:off x="544205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Comparación</a:t>
            </a:r>
            <a:endParaRPr lang="en-US" sz="1250" dirty="0"/>
          </a:p>
        </p:txBody>
      </p:sp>
      <p:sp>
        <p:nvSpPr>
          <p:cNvPr id="21" name="!!fa3#1"/>
          <p:cNvSpPr/>
          <p:nvPr/>
        </p:nvSpPr>
        <p:spPr>
          <a:xfrm>
            <a:off x="6822796" y="2350008"/>
            <a:ext cx="158953" cy="0"/>
          </a:xfrm>
          <a:prstGeom prst="line">
            <a:avLst/>
          </a:prstGeom>
          <a:noFill/>
          <a:ln w="15875">
            <a:solidFill>
              <a:srgbClr val="6D28D9"/>
            </a:solidFill>
            <a:prstDash val="solid"/>
            <a:tailEnd type="triangle"/>
          </a:ln>
        </p:spPr>
      </p:sp>
      <p:sp>
        <p:nvSpPr>
          <p:cNvPr id="22" name="!!fl4#1"/>
          <p:cNvSpPr/>
          <p:nvPr/>
        </p:nvSpPr>
        <p:spPr>
          <a:xfrm>
            <a:off x="7000037" y="1645920"/>
            <a:ext cx="1417320" cy="1417320"/>
          </a:xfrm>
          <a:prstGeom prst="roundRect">
            <a:avLst>
              <a:gd name="adj" fmla="val 5161"/>
            </a:avLst>
          </a:prstGeom>
          <a:solidFill>
            <a:srgbClr val="0B0B0D"/>
          </a:solidFill>
          <a:ln/>
        </p:spPr>
      </p:sp>
      <p:pic>
        <p:nvPicPr>
          <p:cNvPr id="23" name="!!fl4#2" descr="preencoded.png">    </p:cNvPr>
          <p:cNvPicPr>
            <a:picLocks noChangeAspect="1"/>
          </p:cNvPicPr>
          <p:nvPr/>
        </p:nvPicPr>
        <p:blipFill>
          <a:blip r:embed="rId5"/>
          <a:stretch>
            <a:fillRect/>
          </a:stretch>
        </p:blipFill>
        <p:spPr>
          <a:xfrm>
            <a:off x="7507529" y="1783080"/>
            <a:ext cx="402336" cy="402336"/>
          </a:xfrm>
          <a:prstGeom prst="rect">
            <a:avLst/>
          </a:prstGeom>
        </p:spPr>
      </p:pic>
      <p:sp>
        <p:nvSpPr>
          <p:cNvPr id="24" name="!!fl4#3"/>
          <p:cNvSpPr txBox="1"/>
          <p:nvPr/>
        </p:nvSpPr>
        <p:spPr>
          <a:xfrm>
            <a:off x="7054901"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«Cotizar»</a:t>
            </a:r>
            <a:endParaRPr lang="en-US" sz="1250" dirty="0"/>
          </a:p>
        </p:txBody>
      </p:sp>
      <p:sp>
        <p:nvSpPr>
          <p:cNvPr id="25" name="!!fa4#1"/>
          <p:cNvSpPr/>
          <p:nvPr/>
        </p:nvSpPr>
        <p:spPr>
          <a:xfrm>
            <a:off x="8435645" y="2350008"/>
            <a:ext cx="158953" cy="0"/>
          </a:xfrm>
          <a:prstGeom prst="line">
            <a:avLst/>
          </a:prstGeom>
          <a:noFill/>
          <a:ln w="15875">
            <a:solidFill>
              <a:srgbClr val="6D28D9"/>
            </a:solidFill>
            <a:prstDash val="solid"/>
            <a:tailEnd type="triangle"/>
          </a:ln>
        </p:spPr>
      </p:sp>
      <p:sp>
        <p:nvSpPr>
          <p:cNvPr id="26" name="!!fl5#1"/>
          <p:cNvSpPr/>
          <p:nvPr/>
        </p:nvSpPr>
        <p:spPr>
          <a:xfrm>
            <a:off x="8612886" y="1645920"/>
            <a:ext cx="1417320" cy="1417320"/>
          </a:xfrm>
          <a:prstGeom prst="roundRect">
            <a:avLst>
              <a:gd name="adj" fmla="val 5161"/>
            </a:avLst>
          </a:prstGeom>
          <a:solidFill>
            <a:srgbClr val="0B0B0D"/>
          </a:solidFill>
          <a:ln/>
        </p:spPr>
      </p:sp>
      <p:pic>
        <p:nvPicPr>
          <p:cNvPr id="27" name="!!fl5#2" descr="preencoded.png">    </p:cNvPr>
          <p:cNvPicPr>
            <a:picLocks noChangeAspect="1"/>
          </p:cNvPicPr>
          <p:nvPr/>
        </p:nvPicPr>
        <p:blipFill>
          <a:blip r:embed="rId6"/>
          <a:stretch>
            <a:fillRect/>
          </a:stretch>
        </p:blipFill>
        <p:spPr>
          <a:xfrm>
            <a:off x="9120378" y="1783080"/>
            <a:ext cx="402336" cy="402336"/>
          </a:xfrm>
          <a:prstGeom prst="rect">
            <a:avLst/>
          </a:prstGeom>
        </p:spPr>
      </p:pic>
      <p:sp>
        <p:nvSpPr>
          <p:cNvPr id="28" name="!!fl5#3"/>
          <p:cNvSpPr txBox="1"/>
          <p:nvPr/>
        </p:nvSpPr>
        <p:spPr>
          <a:xfrm>
            <a:off x="8667750"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Dónde comprar / WhatsApp</a:t>
            </a:r>
            <a:endParaRPr lang="en-US" sz="1250" dirty="0"/>
          </a:p>
        </p:txBody>
      </p:sp>
      <p:sp>
        <p:nvSpPr>
          <p:cNvPr id="29" name="!!fa5#1"/>
          <p:cNvSpPr/>
          <p:nvPr/>
        </p:nvSpPr>
        <p:spPr>
          <a:xfrm>
            <a:off x="10048494" y="2350008"/>
            <a:ext cx="158953" cy="0"/>
          </a:xfrm>
          <a:prstGeom prst="line">
            <a:avLst/>
          </a:prstGeom>
          <a:noFill/>
          <a:ln w="15875">
            <a:solidFill>
              <a:srgbClr val="6D28D9"/>
            </a:solidFill>
            <a:prstDash val="solid"/>
            <a:tailEnd type="triangle"/>
          </a:ln>
        </p:spPr>
      </p:sp>
      <p:sp>
        <p:nvSpPr>
          <p:cNvPr id="30" name="!!fl6#1"/>
          <p:cNvSpPr/>
          <p:nvPr/>
        </p:nvSpPr>
        <p:spPr>
          <a:xfrm>
            <a:off x="10225735" y="1645920"/>
            <a:ext cx="1417320" cy="1417320"/>
          </a:xfrm>
          <a:prstGeom prst="roundRect">
            <a:avLst>
              <a:gd name="adj" fmla="val 5161"/>
            </a:avLst>
          </a:prstGeom>
          <a:solidFill>
            <a:srgbClr val="F5F5F7"/>
          </a:solidFill>
          <a:ln w="12700">
            <a:solidFill>
              <a:srgbClr val="E3E4E8"/>
            </a:solidFill>
            <a:prstDash val="solid"/>
          </a:ln>
        </p:spPr>
      </p:sp>
      <p:pic>
        <p:nvPicPr>
          <p:cNvPr id="31" name="!!fl6#2" descr="preencoded.png">    </p:cNvPr>
          <p:cNvPicPr>
            <a:picLocks noChangeAspect="1"/>
          </p:cNvPicPr>
          <p:nvPr/>
        </p:nvPicPr>
        <p:blipFill>
          <a:blip r:embed="rId7"/>
          <a:stretch>
            <a:fillRect/>
          </a:stretch>
        </p:blipFill>
        <p:spPr>
          <a:xfrm>
            <a:off x="10733227" y="1783080"/>
            <a:ext cx="402336" cy="402336"/>
          </a:xfrm>
          <a:prstGeom prst="rect">
            <a:avLst/>
          </a:prstGeom>
        </p:spPr>
      </p:pic>
      <p:sp>
        <p:nvSpPr>
          <p:cNvPr id="32" name="!!fl6#3"/>
          <p:cNvSpPr txBox="1"/>
          <p:nvPr/>
        </p:nvSpPr>
        <p:spPr>
          <a:xfrm>
            <a:off x="10280599" y="2286000"/>
            <a:ext cx="1307592" cy="685800"/>
          </a:xfrm>
          <a:prstGeom prst="rect">
            <a:avLst/>
          </a:prstGeom>
          <a:noFill/>
          <a:ln/>
        </p:spPr>
        <p:txBody>
          <a:bodyPr wrap="square" lIns="0" tIns="0" rIns="0" bIns="0" rtlCol="0" anchor="t"/>
          <a:lstStyle/>
          <a:p>
            <a:pPr algn="ctr" indent="0" marL="0">
              <a:buNone/>
            </a:pPr>
            <a:r>
              <a:rPr lang="en-US" sz="1250" b="1" dirty="0">
                <a:solidFill>
                  <a:srgbClr val="0B0B0D"/>
                </a:solidFill>
                <a:latin typeface="Arial" pitchFamily="34" charset="0"/>
                <a:ea typeface="Arial" pitchFamily="34" charset="-122"/>
                <a:cs typeface="Arial" pitchFamily="34" charset="-120"/>
              </a:rPr>
              <a:t>Atención comercial</a:t>
            </a:r>
            <a:endParaRPr lang="en-US" sz="1250" dirty="0"/>
          </a:p>
        </p:txBody>
      </p:sp>
      <p:sp>
        <p:nvSpPr>
          <p:cNvPr id="33" name="!!flb-dev#1"/>
          <p:cNvSpPr txBox="1"/>
          <p:nvPr/>
        </p:nvSpPr>
        <p:spPr>
          <a:xfrm>
            <a:off x="548640" y="3154680"/>
            <a:ext cx="4572000" cy="2743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Desarrollado en la web renovada</a:t>
            </a:r>
            <a:endParaRPr lang="en-US" sz="1100" dirty="0"/>
          </a:p>
        </p:txBody>
      </p:sp>
      <p:sp>
        <p:nvSpPr>
          <p:cNvPr id="34" name="!!fl6#4"/>
          <p:cNvSpPr txBox="1"/>
          <p:nvPr/>
        </p:nvSpPr>
        <p:spPr>
          <a:xfrm>
            <a:off x="10225735" y="3154680"/>
            <a:ext cx="1417320" cy="274320"/>
          </a:xfrm>
          <a:prstGeom prst="rect">
            <a:avLst/>
          </a:prstGeom>
          <a:noFill/>
          <a:ln/>
        </p:spPr>
        <p:txBody>
          <a:bodyPr wrap="square" lIns="0" tIns="0" rIns="0" bIns="0" rtlCol="0" anchor="t"/>
          <a:lstStyle/>
          <a:p>
            <a:pPr algn="ctr" indent="0" marL="0">
              <a:buNone/>
            </a:pPr>
            <a:r>
              <a:rPr lang="en-US" sz="1000" i="1" dirty="0">
                <a:solidFill>
                  <a:srgbClr val="6B7280"/>
                </a:solidFill>
                <a:latin typeface="Arial" pitchFamily="34" charset="0"/>
                <a:ea typeface="Arial" pitchFamily="34" charset="-122"/>
                <a:cs typeface="Arial" pitchFamily="34" charset="-120"/>
              </a:rPr>
              <a:t>(fuera de la web)</a:t>
            </a:r>
            <a:endParaRPr lang="en-US" sz="1000" dirty="0"/>
          </a:p>
        </p:txBody>
      </p:sp>
      <p:sp>
        <p:nvSpPr>
          <p:cNvPr id="35" name="!!flb-amp4#1"/>
          <p:cNvSpPr/>
          <p:nvPr/>
        </p:nvSpPr>
        <p:spPr>
          <a:xfrm>
            <a:off x="7708697" y="3474720"/>
            <a:ext cx="0" cy="411480"/>
          </a:xfrm>
          <a:prstGeom prst="line">
            <a:avLst/>
          </a:prstGeom>
          <a:noFill/>
          <a:ln w="15875">
            <a:solidFill>
              <a:srgbClr val="6D28D9"/>
            </a:solidFill>
            <a:prstDash val="dash"/>
            <a:tailEnd type="triangle"/>
          </a:ln>
        </p:spPr>
      </p:sp>
      <p:sp>
        <p:nvSpPr>
          <p:cNvPr id="36" name="!!flb-amp4#2"/>
          <p:cNvSpPr/>
          <p:nvPr/>
        </p:nvSpPr>
        <p:spPr>
          <a:xfrm>
            <a:off x="7000037" y="3931920"/>
            <a:ext cx="1417320" cy="1143000"/>
          </a:xfrm>
          <a:prstGeom prst="roundRect">
            <a:avLst>
              <a:gd name="adj" fmla="val 6400"/>
            </a:avLst>
          </a:prstGeom>
          <a:solidFill>
            <a:srgbClr val="EDE4FB"/>
          </a:solidFill>
          <a:ln w="12700">
            <a:solidFill>
              <a:srgbClr val="6D28D9"/>
            </a:solidFill>
            <a:prstDash val="dash"/>
          </a:ln>
        </p:spPr>
      </p:sp>
      <p:sp>
        <p:nvSpPr>
          <p:cNvPr id="37" name="!!flb-amp4#3"/>
          <p:cNvSpPr txBox="1"/>
          <p:nvPr/>
        </p:nvSpPr>
        <p:spPr>
          <a:xfrm>
            <a:off x="7073189" y="3931920"/>
            <a:ext cx="1271016" cy="1143000"/>
          </a:xfrm>
          <a:prstGeom prst="rect">
            <a:avLst/>
          </a:prstGeom>
          <a:noFill/>
          <a:ln/>
        </p:spPr>
        <p:txBody>
          <a:bodyPr wrap="square" lIns="0" tIns="0" rIns="0" bIns="0" rtlCol="0" anchor="ctr"/>
          <a:lstStyle/>
          <a:p>
            <a:pPr algn="ctr" indent="0" marL="0">
              <a:buNone/>
            </a:pPr>
            <a:r>
              <a:rPr lang="en-US" sz="1100" b="1" dirty="0">
                <a:solidFill>
                  <a:srgbClr val="0B0B0D"/>
                </a:solidFill>
                <a:latin typeface="Arial" pitchFamily="34" charset="0"/>
                <a:ea typeface="Arial" pitchFamily="34" charset="-122"/>
                <a:cs typeface="Arial" pitchFamily="34" charset="-120"/>
              </a:rPr>
              <a:t>Registrar el inicio de la consulta</a:t>
            </a:r>
            <a:endParaRPr lang="en-US" sz="1100" dirty="0"/>
          </a:p>
        </p:txBody>
      </p:sp>
      <p:sp>
        <p:nvSpPr>
          <p:cNvPr id="38" name="!!flb-amp5#1"/>
          <p:cNvSpPr/>
          <p:nvPr/>
        </p:nvSpPr>
        <p:spPr>
          <a:xfrm>
            <a:off x="9321546" y="3474720"/>
            <a:ext cx="0" cy="411480"/>
          </a:xfrm>
          <a:prstGeom prst="line">
            <a:avLst/>
          </a:prstGeom>
          <a:noFill/>
          <a:ln w="15875">
            <a:solidFill>
              <a:srgbClr val="6D28D9"/>
            </a:solidFill>
            <a:prstDash val="dash"/>
            <a:tailEnd type="triangle"/>
          </a:ln>
        </p:spPr>
      </p:sp>
      <p:sp>
        <p:nvSpPr>
          <p:cNvPr id="39" name="!!flb-amp5#2"/>
          <p:cNvSpPr/>
          <p:nvPr/>
        </p:nvSpPr>
        <p:spPr>
          <a:xfrm>
            <a:off x="8612886" y="3931920"/>
            <a:ext cx="1417320" cy="1143000"/>
          </a:xfrm>
          <a:prstGeom prst="roundRect">
            <a:avLst>
              <a:gd name="adj" fmla="val 6400"/>
            </a:avLst>
          </a:prstGeom>
          <a:solidFill>
            <a:srgbClr val="EDE4FB"/>
          </a:solidFill>
          <a:ln w="12700">
            <a:solidFill>
              <a:srgbClr val="6D28D9"/>
            </a:solidFill>
            <a:prstDash val="dash"/>
          </a:ln>
        </p:spPr>
      </p:sp>
      <p:sp>
        <p:nvSpPr>
          <p:cNvPr id="40" name="!!flb-amp5#3"/>
          <p:cNvSpPr txBox="1"/>
          <p:nvPr/>
        </p:nvSpPr>
        <p:spPr>
          <a:xfrm>
            <a:off x="8686038" y="3931920"/>
            <a:ext cx="1271016" cy="1143000"/>
          </a:xfrm>
          <a:prstGeom prst="rect">
            <a:avLst/>
          </a:prstGeom>
          <a:noFill/>
          <a:ln/>
        </p:spPr>
        <p:txBody>
          <a:bodyPr wrap="square" lIns="0" tIns="0" rIns="0" bIns="0" rtlCol="0" anchor="ctr"/>
          <a:lstStyle/>
          <a:p>
            <a:pPr algn="ctr" indent="0" marL="0">
              <a:buNone/>
            </a:pPr>
            <a:r>
              <a:rPr lang="en-US" sz="1100" b="1" dirty="0">
                <a:solidFill>
                  <a:srgbClr val="0B0B0D"/>
                </a:solidFill>
                <a:latin typeface="Arial" pitchFamily="34" charset="0"/>
                <a:ea typeface="Arial" pitchFamily="34" charset="-122"/>
                <a:cs typeface="Arial" pitchFamily="34" charset="-120"/>
              </a:rPr>
              <a:t>Directorio estructurado de distribuidores</a:t>
            </a:r>
            <a:endParaRPr lang="en-US" sz="1100" dirty="0"/>
          </a:p>
        </p:txBody>
      </p:sp>
      <p:sp>
        <p:nvSpPr>
          <p:cNvPr id="41" name="!!flb-amp6#1"/>
          <p:cNvSpPr/>
          <p:nvPr/>
        </p:nvSpPr>
        <p:spPr>
          <a:xfrm>
            <a:off x="10934395" y="3474720"/>
            <a:ext cx="0" cy="411480"/>
          </a:xfrm>
          <a:prstGeom prst="line">
            <a:avLst/>
          </a:prstGeom>
          <a:noFill/>
          <a:ln w="15875">
            <a:solidFill>
              <a:srgbClr val="6D28D9"/>
            </a:solidFill>
            <a:prstDash val="dash"/>
            <a:tailEnd type="triangle"/>
          </a:ln>
        </p:spPr>
      </p:sp>
      <p:sp>
        <p:nvSpPr>
          <p:cNvPr id="42" name="!!flb-amp6#2"/>
          <p:cNvSpPr/>
          <p:nvPr/>
        </p:nvSpPr>
        <p:spPr>
          <a:xfrm>
            <a:off x="10225735" y="3931920"/>
            <a:ext cx="1417320" cy="1143000"/>
          </a:xfrm>
          <a:prstGeom prst="roundRect">
            <a:avLst>
              <a:gd name="adj" fmla="val 6400"/>
            </a:avLst>
          </a:prstGeom>
          <a:solidFill>
            <a:srgbClr val="EDE4FB"/>
          </a:solidFill>
          <a:ln w="12700">
            <a:solidFill>
              <a:srgbClr val="6D28D9"/>
            </a:solidFill>
            <a:prstDash val="dash"/>
          </a:ln>
        </p:spPr>
      </p:sp>
      <p:sp>
        <p:nvSpPr>
          <p:cNvPr id="43" name="!!flb-amp6#3"/>
          <p:cNvSpPr txBox="1"/>
          <p:nvPr/>
        </p:nvSpPr>
        <p:spPr>
          <a:xfrm>
            <a:off x="10298887" y="3931920"/>
            <a:ext cx="1271016" cy="1143000"/>
          </a:xfrm>
          <a:prstGeom prst="rect">
            <a:avLst/>
          </a:prstGeom>
          <a:noFill/>
          <a:ln/>
        </p:spPr>
        <p:txBody>
          <a:bodyPr wrap="square" lIns="0" tIns="0" rIns="0" bIns="0" rtlCol="0" anchor="ctr"/>
          <a:lstStyle/>
          <a:p>
            <a:pPr algn="ctr" indent="0" marL="0">
              <a:buNone/>
            </a:pPr>
            <a:r>
              <a:rPr lang="en-US" sz="1100" b="1" dirty="0">
                <a:solidFill>
                  <a:srgbClr val="0B0B0D"/>
                </a:solidFill>
                <a:latin typeface="Arial" pitchFamily="34" charset="0"/>
                <a:ea typeface="Arial" pitchFamily="34" charset="-122"/>
                <a:cs typeface="Arial" pitchFamily="34" charset="-120"/>
              </a:rPr>
              <a:t>Seguimiento y reportes (requiere un mecanismo adicional)</a:t>
            </a:r>
            <a:endParaRPr lang="en-US" sz="1100" dirty="0"/>
          </a:p>
        </p:txBody>
      </p:sp>
      <p:sp>
        <p:nvSpPr>
          <p:cNvPr id="44" name="!!flb-amplbl#1"/>
          <p:cNvSpPr txBox="1"/>
          <p:nvPr/>
        </p:nvSpPr>
        <p:spPr>
          <a:xfrm>
            <a:off x="7000037" y="5166360"/>
            <a:ext cx="4572000" cy="274320"/>
          </a:xfrm>
          <a:prstGeom prst="rect">
            <a:avLst/>
          </a:prstGeom>
          <a:noFill/>
          <a:ln/>
        </p:spPr>
        <p:txBody>
          <a:bodyPr wrap="square" lIns="0" tIns="0" rIns="0" bIns="0" rtlCol="0" anchor="t"/>
          <a:lstStyle/>
          <a:p>
            <a:pPr indent="0" marL="0">
              <a:buNone/>
            </a:pPr>
            <a:r>
              <a:rPr lang="en-US" sz="1100" b="1" dirty="0">
                <a:solidFill>
                  <a:srgbClr val="6D28D9"/>
                </a:solidFill>
                <a:latin typeface="Arial" pitchFamily="34" charset="0"/>
                <a:ea typeface="Arial" pitchFamily="34" charset="-122"/>
                <a:cs typeface="Arial" pitchFamily="34" charset="-120"/>
              </a:rPr>
              <a:t>Ampliaciones propuestas</a:t>
            </a:r>
            <a:endParaRPr lang="en-US" sz="1100" dirty="0"/>
          </a:p>
        </p:txBody>
      </p:sp>
      <p:sp>
        <p:nvSpPr>
          <p:cNvPr id="45" name="!!flb-msg#1"/>
          <p:cNvSpPr/>
          <p:nvPr/>
        </p:nvSpPr>
        <p:spPr>
          <a:xfrm>
            <a:off x="548640" y="3931920"/>
            <a:ext cx="6131357" cy="2057400"/>
          </a:xfrm>
          <a:prstGeom prst="roundRect">
            <a:avLst>
              <a:gd name="adj" fmla="val 3556"/>
            </a:avLst>
          </a:prstGeom>
          <a:solidFill>
            <a:srgbClr val="F5F5F7"/>
          </a:solidFill>
          <a:ln/>
        </p:spPr>
      </p:sp>
      <p:sp>
        <p:nvSpPr>
          <p:cNvPr id="46" name="!!flb-msg#2"/>
          <p:cNvSpPr txBox="1"/>
          <p:nvPr/>
        </p:nvSpPr>
        <p:spPr>
          <a:xfrm>
            <a:off x="777240" y="4069080"/>
            <a:ext cx="5486400" cy="274320"/>
          </a:xfrm>
          <a:prstGeom prst="rect">
            <a:avLst/>
          </a:prstGeom>
          <a:noFill/>
          <a:ln/>
        </p:spPr>
        <p:txBody>
          <a:bodyPr wrap="square" lIns="0" tIns="0" rIns="0" bIns="0" rtlCol="0" anchor="t"/>
          <a:lstStyle/>
          <a:p>
            <a:pPr indent="0" marL="0">
              <a:buNone/>
            </a:pPr>
            <a:r>
              <a:rPr lang="en-US" sz="1100" b="1" dirty="0">
                <a:solidFill>
                  <a:srgbClr val="6D28D9"/>
                </a:solidFill>
                <a:latin typeface="Arial" pitchFamily="34" charset="0"/>
                <a:ea typeface="Arial" pitchFamily="34" charset="-122"/>
                <a:cs typeface="Arial" pitchFamily="34" charset="-120"/>
              </a:rPr>
              <a:t>Mensaje que genera la web renovada</a:t>
            </a:r>
            <a:endParaRPr lang="en-US" sz="1100" dirty="0"/>
          </a:p>
        </p:txBody>
      </p:sp>
      <p:sp>
        <p:nvSpPr>
          <p:cNvPr id="47" name="!!flb-msg#3"/>
          <p:cNvSpPr txBox="1"/>
          <p:nvPr/>
        </p:nvSpPr>
        <p:spPr>
          <a:xfrm>
            <a:off x="777240" y="4434840"/>
            <a:ext cx="5760720" cy="548640"/>
          </a:xfrm>
          <a:prstGeom prst="rect">
            <a:avLst/>
          </a:prstGeom>
          <a:noFill/>
          <a:ln/>
        </p:spPr>
        <p:txBody>
          <a:bodyPr wrap="square" lIns="0" tIns="0" rIns="0" bIns="0" rtlCol="0" anchor="t"/>
          <a:lstStyle/>
          <a:p>
            <a:pPr indent="0" marL="0">
              <a:buNone/>
            </a:pPr>
            <a:r>
              <a:rPr lang="en-US" sz="1500" b="1" dirty="0">
                <a:solidFill>
                  <a:srgbClr val="0B0B0D"/>
                </a:solidFill>
                <a:latin typeface="Arial" pitchFamily="34" charset="0"/>
                <a:ea typeface="Arial" pitchFamily="34" charset="-122"/>
                <a:cs typeface="Arial" pitchFamily="34" charset="-120"/>
              </a:rPr>
              <a:t>«Hola Black Hawk, vengo de la web y quiero cotizar el modelo BH-SW12XXG.»</a:t>
            </a:r>
            <a:endParaRPr lang="en-US" sz="1500" dirty="0"/>
          </a:p>
        </p:txBody>
      </p:sp>
      <p:sp>
        <p:nvSpPr>
          <p:cNvPr id="48" name="!!flb-msg#4"/>
          <p:cNvSpPr txBox="1"/>
          <p:nvPr/>
        </p:nvSpPr>
        <p:spPr>
          <a:xfrm>
            <a:off x="777240" y="5120640"/>
            <a:ext cx="5760720" cy="64008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El clic abre una conversación: no equivale a una venta ni a una cotización aceptada.</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700">
        <p159:morph option="byObject"/>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Aplicación de RUP — Web renovada de Black Hawk (V4)</dc:title>
  <dc:subject>PptxGenJS Presentation</dc:subject>
  <dc:creator>Nils Alexander Tovar Pinzón</dc:creator>
  <cp:lastModifiedBy>Nils Alexander Tovar Pinzón</cp:lastModifiedBy>
  <cp:revision>1</cp:revision>
  <dcterms:created xsi:type="dcterms:W3CDTF">2026-10-01T22:10:14Z</dcterms:created>
  <dcterms:modified xsi:type="dcterms:W3CDTF">2026-10-01T22:10:14Z</dcterms:modified>
</cp:coreProperties>
</file>