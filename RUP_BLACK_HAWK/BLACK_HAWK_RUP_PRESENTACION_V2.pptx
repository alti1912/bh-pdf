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una propuesta de sistema para Black Hawk, diseñada con RUP.
• Quiénes somos y el curso.
• Tema: aplicar RUP para diseñar un sistema de información para una empresa real.
• Hoy presentamos la estructura y la propuesta del proyecto, no un sistema terminado.
Ejemplo: Black Hawk es una marca peruana de car audio: amplificadores, subwoofers, procesadores.
Transición: Empecemos por conocer a la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 Hawk es una marca de car audio que usa su web como catálogo, no como tienda.
• Sector: audio automotriz en el Perú.
• Productos: amplificadores, subwoofers, procesadores, parlantes, cargadores.
• Público: quien equipa su vehículo y los negocios que venden la marca.
• Modelo comercial: la web muestra y orienta; la compra ocurre con el área comercial o un distribuidor.
Ejemplo: La web renovada tiene 118 productos en 12 categorías, por ejemplo el amplificador BH-FR1500.1 o el subwoofer BH-SW12XZP.
Transición: ¿Cómo compra hoy un cliente?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el cliente encuentra el producto en la web y la consulta termina en WhatsApp.
• Recorrer el flujo: cliente → catálogo → ficha → «Cotizar» → WhatsApp → compra fuera de la web.
• Lo que ya existe: catálogo con filtros, ficha, comparador y el botón que escribe el modelo en el mensaje.
• Aclarar que la compra no ocurre en la web.
Ejemplo: En la ficha del BH-FR1500.1, «Cotizar» abre WhatsApp con «quiero cotizar el modelo BH-FR1500.1».
Transición: El flujo funciona, pero tiene vacíos. Veamos cuáles.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tener web: es mantener la información ordenada y medir la ruta hasta el distribuidor.
• Decir la frase del problema.
• Tres necesidades: información técnica ordenada, llegar al punto de venta y saber qué se consulta.
• Separar lo observado del supuesto académico.
Ejemplo: «Dónde comprar» no tiene un directorio: todas las consultas van al mismo WhatsApp.
Transición: Para resolverlo, proponemos un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SGCD-BH: un sistema web que ordena el catálogo, conecta con el distribuidor y registra cada consulta.
• Qué es, en una frase.
• Para qué sirve: datos confiables, derivación al punto de venta, seguimiento.
• Quién lo usa: cliente, gestor del catálogo, administrador y distribuidor.
• Se construye sobre la web actual; no la reemplaza.
Ejemplo: Cuando un cliente pulsa «Cotizar» en el BH-SW12XZP, el sistema guarda la consulta y el gestor luego la deriva a un distribuidor de su ciudad.
Transición: ¿Qué objetivos tiene y hasta dónde llega?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objetivo general, cuatro específicos y un alcance agrupado en cuatro áreas.
• Leer el objetivo general con tus palabras.
• Los cuatro específicos siguen el orden del trabajo: analizar, especificar, modelar, planificar.
• Alcance: catálogo, consultas, distribuidores y administración.
• Exclusiones: no es tienda en línea ni ERP.
Ejemplo: No incluimos carrito ni pagos porque Black Hawk vende a través de su área comercial y de distribuidores.
Transición: Veamos cómo funcionará la solución.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recorrido del cliente, con lo que el sistema hace en cada paso.
• Es un diagrama de actividades simplificado: una fila por participante.
• Cliente: busca, revisa la ficha, compara y pulsa «Cotizar».
• Sistema: registra la consulta y abre WhatsApp con el modelo y el enlace.
• Área comercial o distribuidor: atiende y deriva. El gestor actualiza el estado y ve reportes.
Ejemplo: Un cliente compara BH-FR1500.1 y BH-FR3000.1, cotiza el segundo y el gestor ve después que ese modelo es el más consultado.
Transición: ¿Con qué metodología vamos a desarrollar esto? Con RUP.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RUP organiza el desarrollo en iteraciones guiadas por casos de uso y por la arquitectura.
• RUP es una metodología (un proceso) de desarrollo de software.
• Iterativo e incremental: el sistema crece por partes.
• Dirigido por casos de uso: el caso «Enviar consulta» guía el diseño y las pruebas.
• Centrado en la arquitectura: se valida la estructura antes de construir.
Ejemplo: Primero se construye el catálogo, luego las consultas y al final la administración; cada parte se prueba antes de seguir.
Transición: RUP organiza el trabajo en cuatro fases.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fases, cada una con un propósito, sus entregables y un hito que la cierra.
• Recorrer Inicio → Elaboración → Construcción → Transición: qué haremos, qué entregaremos y qué significa en Black Hawk.
• Cada fase termina en un hito: LCO, LCA, IOC y PR.
• No es una cascada: dentro de cada fase se repiten ciclos de análisis, diseño, desarrollo y prueba.
• Esta entrega cubre Inicio y Elaboración; Construcción y Transición quedan planificadas. Las semanas son una estimación académica.
Ejemplo: En Elaboración se prueba con un prototipo que registrar la consulta no retrasa la apertura de WhatsApp.
Transición: ¿Qué requisitos salieron del análisis?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requisitos dicen qué debe hacer el sistema (funcionales) y cómo debe hacerlo (no funcionales).
• Funcionales: buscar y ver fichas, comparar, consultar por WhatsApp con registro, administrar.
• Marcar cuáles ya existen y cuáles se proponen.
• No funcionales: usabilidad, adaptabilidad, rendimiento y seguridad.
• El catálogo completo, con criterios de aceptación, está en los anexos.
Ejemplo: Requisito propuesto: antes de abrir WhatsApp, el sistema registra la fecha, el producto y la página de origen, sin datos personales.
Transición: Los requisitos se modelan con UML.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UML mostramos quién usa el sistema, qué puede hacer y cómo se relacionan sus datos.
• RUP es la metodología, UML el lenguaje de los diagramas y Rational Rose la herramienta para dibujarlos.
• Casos de uso: actores (cliente, gestor, distribuidor y WhatsApp como sistema externo) y lo que pueden hacer.
• «include»: enviar la consulta siempre la registra.
• Clases: el producto pertenece a categorías y tiene especificaciones; una consulta puede referirse a un producto y derivarse a un distribuidor.
Ejemplo: Un producto tiene de 0 a muchas especificaciones, y si se borra el producto, sus especificaciones desaparecen (composición).
Transición: ¿Cómo se estructura técnicamente la solución?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tiene cuatro capas y se apoya en la plataforma que ya existe.
• Interfaz web: el sitio público y el panel de administración.
• Lógica: WooCommerce maneja el catálogo; YITH Catalog Mode oculta precio, carrito y pago; un módulo propio agrega lo nuevo.
• Datos: una base MySQL.
• WhatsApp es un canal externo: el sistema solo genera el enlace.
Ejemplo: El módulo propio guarda la consulta y arma el enlace wa.me; WooCommerce no se modifica, así sus actualizaciones no borran nada.
Transición: ¿Qué resultados esperamos?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cosas distintas: lo que ya diseñamos, lo que proponemos implementar y lo que esperamos lograr.
• Realizado: análisis y diseño (problema, requisitos, casos de uso, modelos, arquitectura, plan).
• Propuesto: las funciones nuevas que se implementarían.
• Esperado: beneficios de una futura implementación, que se medirían con indicadores.
• No afirmamos ventas ni tráfico: no tenemos esos datos.
Ejemplo: Un indicador esperado: el porcentaje de consultas que llegan con el producto identificado.
Transición: Para cerrar, nuestras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Necesidad, solución y metodología, en tres ideas.
• La necesidad: información confiable y una ruta clara al distribuidor, no una tienda.
• La solución: el SGCD-BH extiende la plataforma existente.
• La metodología: RUP permitió definir, modelar y planificar antes de construir.
Ejemplo: Cierre: «Diseñar bien antes de construir: ese es el valor de aplicar RUP a Black Hawk».
Transición: Muchas gracias. ¿Preguntas?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Abrimos la ronda de preguntas.
• Agradecer y escuchar la pregunta completa antes de responder.
Ejemplo: —
Transición: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../../assets/images/brand/subwoofer-96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0"/>
            <a:ext cx="638525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806440" y="0"/>
            <a:ext cx="6385255" cy="6858000"/>
          </a:xfrm>
          <a:prstGeom prst="rect">
            <a:avLst/>
          </a:prstGeom>
          <a:solidFill>
            <a:srgbClr val="0B0B0D">
              <a:alpha val="60000"/>
            </a:srgbClr>
          </a:solidFill>
          <a:ln/>
        </p:spPr>
      </p:sp>
      <p:pic>
        <p:nvPicPr>
          <p:cNvPr id="5" name="Image 1" descr="research/logo-w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371600" cy="7315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SISTEMAS DE INFORMACIÓN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20574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la metodología RUP en el diseño de un sistema de información para Black Hawk</a:t>
            </a:r>
            <a:endParaRPr lang="en-US" sz="29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206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Propuesta: SGCD-BH · Sistema de Gestión de Catálogo y Distribuidores Black Hawk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257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 [nombres del equipo]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[nombre del docente]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[Institución]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LA EMPRESA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Black Hawk?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03504" cy="603504"/>
          </a:xfrm>
          <a:prstGeom prst="ellipse">
            <a:avLst/>
          </a:prstGeom>
          <a:solidFill>
            <a:srgbClr val="EDE4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" y="1745041"/>
            <a:ext cx="313822" cy="31382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581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19110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automotriz (car audio), mercado peruano.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624328"/>
            <a:ext cx="603504" cy="603504"/>
          </a:xfrm>
          <a:prstGeom prst="ellipse">
            <a:avLst/>
          </a:prstGeom>
          <a:solidFill>
            <a:srgbClr val="EDE4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" y="2769169"/>
            <a:ext cx="313822" cy="31382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293522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Amplificadores, subwoofers, procesadores, parlantes y cargadores.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648456"/>
            <a:ext cx="603504" cy="603504"/>
          </a:xfrm>
          <a:prstGeom prst="ellipse">
            <a:avLst/>
          </a:prstGeom>
          <a:solidFill>
            <a:srgbClr val="EDE4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3793297"/>
            <a:ext cx="313822" cy="31382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3630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39593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equipa su vehículo y las tiendas o distribuidores que venden la marca.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4672584"/>
            <a:ext cx="603504" cy="603504"/>
          </a:xfrm>
          <a:prstGeom prst="ellipse">
            <a:avLst/>
          </a:prstGeom>
          <a:solidFill>
            <a:srgbClr val="EDE4F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4817425"/>
            <a:ext cx="313822" cy="31382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71600" y="46542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comercial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1371600" y="4983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web es un catálogo: no vende ni cobra. La compra se cierra con el área comercial o un distribuidor.</a:t>
            </a:r>
            <a:endParaRPr lang="en-US" sz="1350" dirty="0"/>
          </a:p>
        </p:txBody>
      </p:sp>
      <p:pic>
        <p:nvPicPr>
          <p:cNvPr id="22" name="Image 4" descr="../../assets/images/brand/amplificadores-96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54480"/>
            <a:ext cx="5148072" cy="287121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492240" y="4663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productos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9098280" y="4663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categorías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sitemap de la web renovada de Black Hawk (versión de prueba, consultada el 29-09-2026). Imagen: sitio oficial de Black Hawk.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LA EMPRESA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 actualmente?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737360"/>
            <a:ext cx="402336" cy="4023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2157984" y="2212848"/>
            <a:ext cx="258409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452969" y="16002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185" y="1737360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26121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062313" y="2212848"/>
            <a:ext cx="258409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4357299" y="16002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15" y="1737360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30451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del producto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966643" y="2212848"/>
            <a:ext cx="258409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6261628" y="16002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844" y="1737360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34780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«Cotizar»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870972" y="2212848"/>
            <a:ext cx="258409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8165958" y="16002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174" y="1737360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239110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9775302" y="2212848"/>
            <a:ext cx="258409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6" name="Shape 18"/>
          <p:cNvSpPr/>
          <p:nvPr/>
        </p:nvSpPr>
        <p:spPr>
          <a:xfrm>
            <a:off x="10070287" y="160020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0B0B0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5503" y="1737360"/>
            <a:ext cx="402336" cy="40233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143439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fuera de la web</a:t>
            </a:r>
            <a:endParaRPr lang="en-US" sz="1350" dirty="0"/>
          </a:p>
        </p:txBody>
      </p:sp>
      <p:pic>
        <p:nvPicPr>
          <p:cNvPr id="29" name="Image 6" descr="img/v2-ficha-cr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931367"/>
            <a:ext cx="5760720" cy="150986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48640" y="6263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real de la web renovada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6675120" y="3154680"/>
            <a:ext cx="4967935" cy="3063240"/>
          </a:xfrm>
          <a:prstGeom prst="roundRect">
            <a:avLst>
              <a:gd name="adj" fmla="val 2388"/>
            </a:avLst>
          </a:prstGeom>
          <a:solidFill>
            <a:srgbClr val="F5F5F7"/>
          </a:solidFill>
          <a:ln/>
        </p:spPr>
      </p:sp>
      <p:sp>
        <p:nvSpPr>
          <p:cNvPr id="32" name="Text 22"/>
          <p:cNvSpPr txBox="1"/>
          <p:nvPr/>
        </p:nvSpPr>
        <p:spPr>
          <a:xfrm>
            <a:off x="69494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EXISTE HOY</a:t>
            </a:r>
            <a:endParaRPr lang="en-US" sz="1050" dirty="0"/>
          </a:p>
        </p:txBody>
      </p:sp>
      <p:sp>
        <p:nvSpPr>
          <p:cNvPr id="33" name="Text 23"/>
          <p:cNvSpPr txBox="1"/>
          <p:nvPr/>
        </p:nvSpPr>
        <p:spPr>
          <a:xfrm>
            <a:off x="6949440" y="3703320"/>
            <a:ext cx="44192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118 productos en 12 categorías, con búsqueda y filtros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 por producto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 de hasta 3 modelos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«Cotizar»: abre WhatsApp con el modelo ya escrito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de dónde comprar, soporte y mayoristas</a:t>
            </a:r>
            <a:endParaRPr lang="en-US" sz="1350" dirty="0"/>
          </a:p>
        </p:txBody>
      </p:sp>
      <p:sp>
        <p:nvSpPr>
          <p:cNvPr id="34" name="Text 2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web renovada de Black Hawk (versión de prueba, consultada el 29-09-2026).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LA NECESIDAD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problema, en una frase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6D28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Hawk ya muestra su catálogo en la web, pero le falta una forma ordenada de mantener la información técnica, de llevar al comprador hasta un distribuidor y de saber qué se consulta.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técnica ordenada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566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 </a:t>
            </a:r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118 fichas muestran especificaciones, pero se cargan como texto: 6 están en párrafos y no se registra la fuente de cada dato.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31720" y="4754880"/>
            <a:ext cx="0" cy="22860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5029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08406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  </a:t>
            </a:r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y comparar los datos depende de la revisión manual.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961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Observado + supuesto académico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Llegar al punto de venta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4297680" y="34747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80560" y="3566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 </a:t>
            </a:r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«Dónde comprar» no tiene un directorio: toda consulta pasa por un único WhatsApp.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80760" y="4754880"/>
            <a:ext cx="0" cy="22860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297680" y="5029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80560" y="508406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  </a:t>
            </a:r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derivación depende de la atención manual.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5961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Observado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qué se consulta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8046720" y="34747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0" y="3566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 </a:t>
            </a:r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botón «Cotizar» abre WhatsApp fuera de la web y no deja registro.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829800" y="4754880"/>
            <a:ext cx="0" cy="22860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046720" y="5029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0" y="508406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  </a:t>
            </a:r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sabe qué productos generan interés.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046720" y="5961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 académico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LA PROPUESTA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proponemos?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0B0B0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Catálogo y Distribuidores Black Hawk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46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web que ordena la información de los productos, lleva al comprador hasta un distribuidor y registra cada consulta para darle seguimiento.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construye sobre la web actual (WordPress + WooCommerce): la extiende, no la reemplaza.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LO USARÁ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0" y="1920240"/>
            <a:ext cx="5242255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0939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9743" y="223003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0" y="2039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Busca, compara y consulta productos.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0" y="2962656"/>
            <a:ext cx="5242255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/>
        </p:spPr>
      </p:sp>
      <p:sp>
        <p:nvSpPr>
          <p:cNvPr id="18" name="Shape 14"/>
          <p:cNvSpPr/>
          <p:nvPr/>
        </p:nvSpPr>
        <p:spPr>
          <a:xfrm>
            <a:off x="6583680" y="3136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743" y="327245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15200" y="3081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del catálogo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34198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Mantiene productos, distribuidores y consultas.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0" y="4005072"/>
            <a:ext cx="5242255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/>
        </p:spPr>
      </p:sp>
      <p:sp>
        <p:nvSpPr>
          <p:cNvPr id="23" name="Shape 18"/>
          <p:cNvSpPr/>
          <p:nvPr/>
        </p:nvSpPr>
        <p:spPr>
          <a:xfrm>
            <a:off x="6583680" y="41788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43" y="4314871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15200" y="4123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315200" y="4462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usuarios, reportes, seguridad y respaldos.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00800" y="5047488"/>
            <a:ext cx="5242255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/>
        </p:spPr>
      </p:sp>
      <p:sp>
        <p:nvSpPr>
          <p:cNvPr id="28" name="Shape 22"/>
          <p:cNvSpPr/>
          <p:nvPr/>
        </p:nvSpPr>
        <p:spPr>
          <a:xfrm>
            <a:off x="6583680" y="52212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743" y="5357287"/>
            <a:ext cx="294803" cy="29480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15200" y="5166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315200" y="5504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 unirse a la red y recibe clientes derivados.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LA PROPUESTA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y alcance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5F5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0574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Diseñar, aplicando la metodología RUP, un sistema de información web que centralice el catálogo de Black Hawk, facilite consultar y comparar productos, conecte a los compradores con los distribuidores y permita dar seguimiento a las consultas comerciales.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233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el proceso comercial de Black Hawk e identificar sus necesidades de información.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los requisitos y los casos de uso del sistema.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el sistema con UML y diseñar su arquitectura general.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su desarrollo en las cuatro fases de RUP.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INCLUYE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1920240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/>
        </p:spPr>
      </p:sp>
      <p:sp>
        <p:nvSpPr>
          <p:cNvPr id="13" name="Shape 10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2128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22008" y="2157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35508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Categorías, búsqueda, filtros, fichas técnicas y comparador.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961120" y="1920240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EDE4FB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0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8" y="221284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710928" y="2157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con el modelo y el enlace, registro y seguimiento.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72200" y="3401568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/>
        </p:spPr>
      </p:sp>
      <p:sp>
        <p:nvSpPr>
          <p:cNvPr id="23" name="Shape 18"/>
          <p:cNvSpPr/>
          <p:nvPr/>
        </p:nvSpPr>
        <p:spPr>
          <a:xfrm>
            <a:off x="6355080" y="35844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69417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22008" y="3639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Distribuidores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355080" y="41330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por ciudad y solicitudes de incorporación.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961120" y="3401568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/>
        </p:spPr>
      </p:sp>
      <p:sp>
        <p:nvSpPr>
          <p:cNvPr id="28" name="Shape 22"/>
          <p:cNvSpPr/>
          <p:nvPr/>
        </p:nvSpPr>
        <p:spPr>
          <a:xfrm>
            <a:off x="9144000" y="35844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369417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10928" y="3639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144000" y="41330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y roles, contenidos, reportes, seguridad y respaldos.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172200" y="4983480"/>
            <a:ext cx="5470855" cy="1097280"/>
          </a:xfrm>
          <a:prstGeom prst="roundRect">
            <a:avLst>
              <a:gd name="adj" fmla="val 6667"/>
            </a:avLst>
          </a:prstGeom>
          <a:solidFill>
            <a:srgbClr val="0B0B0D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6400800" y="4983480"/>
            <a:ext cx="5013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incluye: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en línea: carrito, pagos y checkout · Inventario, precios y facturación (ERP) · Chatbot o API de WhatsApp Business · Aplicación móvil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LA PROPUESTA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funcionará la solución?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024128"/>
          </a:xfrm>
          <a:prstGeom prst="rect">
            <a:avLst/>
          </a:prstGeom>
          <a:solidFill>
            <a:srgbClr val="F5F5F7"/>
          </a:solidFill>
          <a:ln w="9525">
            <a:solidFill>
              <a:srgbClr val="E3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554480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11094415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633472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712464"/>
            <a:ext cx="11094415" cy="1024128"/>
          </a:xfrm>
          <a:prstGeom prst="rect">
            <a:avLst/>
          </a:prstGeom>
          <a:solidFill>
            <a:srgbClr val="F5F5F7"/>
          </a:solidFill>
          <a:ln w="9525">
            <a:solidFill>
              <a:srgbClr val="E3E4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712464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/ distribuidor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791456"/>
            <a:ext cx="11094415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4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4791456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468880" y="1737360"/>
            <a:ext cx="168853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42032" y="1737360"/>
            <a:ext cx="15422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en el catálogo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85427" y="1737360"/>
            <a:ext cx="168853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58579" y="1737360"/>
            <a:ext cx="15422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la ficha y compara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01974" y="1737360"/>
            <a:ext cx="168853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5126" y="1737360"/>
            <a:ext cx="15422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«Cotizar»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918521" y="2816352"/>
            <a:ext cx="1688531" cy="658368"/>
          </a:xfrm>
          <a:prstGeom prst="roundRect">
            <a:avLst>
              <a:gd name="adj" fmla="val 13889"/>
            </a:avLst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91673" y="2816352"/>
            <a:ext cx="15422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la consulta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735068" y="2816352"/>
            <a:ext cx="1688531" cy="658368"/>
          </a:xfrm>
          <a:prstGeom prst="roundRect">
            <a:avLst>
              <a:gd name="adj" fmla="val 13889"/>
            </a:avLst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08220" y="2816352"/>
            <a:ext cx="15422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WhatsApp con modelo y enlace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735068" y="3895344"/>
            <a:ext cx="168853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08220" y="3895344"/>
            <a:ext cx="15422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Atiende y deriva al punto de venta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918521" y="4974336"/>
            <a:ext cx="1688531" cy="658368"/>
          </a:xfrm>
          <a:prstGeom prst="roundRect">
            <a:avLst>
              <a:gd name="adj" fmla="val 13889"/>
            </a:avLst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91673" y="4974336"/>
            <a:ext cx="15422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 el estado y ve reportes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157411" y="2066544"/>
            <a:ext cx="128016" cy="0"/>
          </a:xfrm>
          <a:prstGeom prst="line">
            <a:avLst/>
          </a:prstGeom>
          <a:noFill/>
          <a:ln w="15875">
            <a:solidFill>
              <a:srgbClr val="0B0B0D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973958" y="2066544"/>
            <a:ext cx="128016" cy="0"/>
          </a:xfrm>
          <a:prstGeom prst="line">
            <a:avLst/>
          </a:prstGeom>
          <a:noFill/>
          <a:ln w="15875">
            <a:solidFill>
              <a:srgbClr val="0B0B0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946240" y="2395728"/>
            <a:ext cx="972282" cy="603504"/>
          </a:xfrm>
          <a:prstGeom prst="line">
            <a:avLst/>
          </a:prstGeom>
          <a:noFill/>
          <a:ln w="15875">
            <a:solidFill>
              <a:srgbClr val="0B0B0D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607052" y="3145536"/>
            <a:ext cx="128016" cy="0"/>
          </a:xfrm>
          <a:prstGeom prst="line">
            <a:avLst/>
          </a:prstGeom>
          <a:noFill/>
          <a:ln w="15875">
            <a:solidFill>
              <a:srgbClr val="0B0B0D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579334" y="3474720"/>
            <a:ext cx="0" cy="420624"/>
          </a:xfrm>
          <a:prstGeom prst="line">
            <a:avLst/>
          </a:prstGeom>
          <a:noFill/>
          <a:ln w="15875">
            <a:solidFill>
              <a:srgbClr val="0B0B0D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 flipH="1">
            <a:off x="9607052" y="4553712"/>
            <a:ext cx="128016" cy="603504"/>
          </a:xfrm>
          <a:prstGeom prst="line">
            <a:avLst/>
          </a:prstGeom>
          <a:noFill/>
          <a:ln w="15875">
            <a:solidFill>
              <a:srgbClr val="0B0B0D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176272" y="1984248"/>
            <a:ext cx="182880" cy="182880"/>
          </a:xfrm>
          <a:prstGeom prst="ellipse">
            <a:avLst/>
          </a:prstGeom>
          <a:solidFill>
            <a:srgbClr val="0B0B0D"/>
          </a:solidFill>
          <a:ln/>
        </p:spPr>
      </p:sp>
      <p:sp>
        <p:nvSpPr>
          <p:cNvPr id="35" name="Shape 32"/>
          <p:cNvSpPr/>
          <p:nvPr/>
        </p:nvSpPr>
        <p:spPr>
          <a:xfrm>
            <a:off x="2359152" y="2075688"/>
            <a:ext cx="109728" cy="0"/>
          </a:xfrm>
          <a:prstGeom prst="line">
            <a:avLst/>
          </a:prstGeom>
          <a:noFill/>
          <a:ln w="15875">
            <a:solidFill>
              <a:srgbClr val="0B0B0D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48640" y="5943600"/>
            <a:ext cx="201168" cy="201168"/>
          </a:xfrm>
          <a:prstGeom prst="rect">
            <a:avLst/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68680" y="59161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Propuesto. Lo demás ya existe en la web renovada. Vista simplificada del diagrama de actividades (D-16).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LA METODOLOGÍA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utilizamos RUP?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 Unified Process es una metodología de desarrollo de software que organiza el trabajo en fases e iteraciones, con entregables y puntos de control definidos.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0B0B0D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788920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946928"/>
            <a:ext cx="342351" cy="3423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Iterativo e incremental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Black Hawk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480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crece por partes: primero el catálogo, luego las consultas y al final la administración. Cada parte se prueba antes de seguir.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297680" y="256032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5F5F7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0" y="278892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008" y="294692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720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Dirigido por casos de uso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Black Hawk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4480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«Enviar consulta por WhatsApp» guía qué se diseña, qué se construye y qué se prueba.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046720" y="256032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5F5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321040" y="278892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048" y="294692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2104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Centrado en la arquitectura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Black Hawk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4480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construir se valida la estructura: extender WordPress y WooCommerce con un módulo propio, sin modificar su núcleo.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LA METODOLOGÍA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fases de RUP y el plan de desarrollo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5570068" cy="4434840"/>
          </a:xfrm>
          <a:prstGeom prst="roundRect">
            <a:avLst>
              <a:gd name="adj" fmla="val 2062"/>
            </a:avLst>
          </a:prstGeom>
          <a:solidFill>
            <a:srgbClr val="EDE4FB">
              <a:alpha val="40000"/>
            </a:srgbClr>
          </a:solidFill>
          <a:ln w="12700">
            <a:solidFill>
              <a:srgbClr val="6D28D9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2670734" cy="7772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673352"/>
            <a:ext cx="23964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057400"/>
            <a:ext cx="2396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S1–S2 (estimado)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51460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HAREMOS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76148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el negocio, definir el problema y el alcance.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47472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ENTREGAREMOS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372160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Visión, modelo del negocio, riesgos iniciales.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443484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BLACK HAWK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468172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web deriva a WhatsApp y no vende.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5440680"/>
            <a:ext cx="245127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440680"/>
            <a:ext cx="2451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LCO  </a:t>
            </a:r>
            <a:pPr algn="ctr" indent="0" marL="0">
              <a:buNone/>
            </a:pPr>
            <a:r>
              <a:rPr lang="en-US" sz="11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acordados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356534" y="1600200"/>
            <a:ext cx="2670734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539414" y="1673352"/>
            <a:ext cx="23964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Elaboración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539414" y="2057400"/>
            <a:ext cx="2396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S3–S6 (estimado)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466262" y="251460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HAREMOS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466262" y="276148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los requisitos y diseñar el sistema.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466262" y="347472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ENTREGAREMOS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466262" y="372160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Requisitos, casos de uso, modelos UML, arquitectura, prototipo.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466262" y="443484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BLACK HAWK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466262" y="468172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que registrar la consulta no retrasa WhatsApp.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66262" y="5440680"/>
            <a:ext cx="245127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66262" y="5440680"/>
            <a:ext cx="2451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LCA  </a:t>
            </a:r>
            <a:pPr algn="ctr" indent="0" marL="0">
              <a:buNone/>
            </a:pPr>
            <a:r>
              <a:rPr lang="en-US" sz="11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validada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164428" y="1600200"/>
            <a:ext cx="2670734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47308" y="1673352"/>
            <a:ext cx="23964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347308" y="2057400"/>
            <a:ext cx="2396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S7–S12 (estimado)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274156" y="251460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HAREMOS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274156" y="276148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e integrar por incrementos.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274156" y="347472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ENTREGAREMOS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274156" y="372160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integrados y probados.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274156" y="443484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BLACK HAWK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6274156" y="468172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→ consultas → administración.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274156" y="5440680"/>
            <a:ext cx="245127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274156" y="5440680"/>
            <a:ext cx="2451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  </a:t>
            </a:r>
            <a:pPr algn="ctr" indent="0" marL="0">
              <a:buNone/>
            </a:pPr>
            <a:r>
              <a:rPr lang="en-US" sz="11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operativa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972321" y="1600200"/>
            <a:ext cx="2670734" cy="77724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9155201" y="1673352"/>
            <a:ext cx="23964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Transición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9155201" y="2057400"/>
            <a:ext cx="2396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S13–S14 (estimado)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9082049" y="251460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HAREMOS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9082049" y="276148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con usuarios, capacitar y desplegar.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9082049" y="347472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ENTREGAREMOS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9082049" y="372160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aceptación, manual, puesta en producción.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9082049" y="4434840"/>
            <a:ext cx="248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BLACK HAWK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9082049" y="4681728"/>
            <a:ext cx="2487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capacitado y distribuidores validados.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9082049" y="5440680"/>
            <a:ext cx="2451278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082049" y="5440680"/>
            <a:ext cx="2451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 </a:t>
            </a:r>
            <a:pPr algn="ctr" indent="0" marL="0">
              <a:buNone/>
            </a:pPr>
            <a:r>
              <a:rPr lang="en-US" sz="11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del producto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640080" y="6053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ENTREGA: ANÁLISIS Y DISEÑO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6309360" y="603504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cascada: cada fase itera análisis, diseño, desarrollo y prueba.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EL DISEÑO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principales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6355080" cy="4526280"/>
          </a:xfrm>
          <a:prstGeom prst="roundRect">
            <a:avLst>
              <a:gd name="adj" fmla="val 1616"/>
            </a:avLst>
          </a:prstGeom>
          <a:solidFill>
            <a:srgbClr val="F5F5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FUNCIONALES · qué hará el sistema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" y="2194560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0B0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19456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Buscar, filtrar y ver la ficha técnica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3136392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0B0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13639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30906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hasta 3 productos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22960" y="4078224"/>
            <a:ext cx="928116" cy="25603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078224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057400" y="40325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por WhatsApp con modelo y enlace, y registrar la consulta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" y="5020056"/>
            <a:ext cx="928116" cy="25603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5020056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057400" y="497433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 productos, distribuidores y el seguimiento de consultas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132320" y="1554480"/>
            <a:ext cx="4510735" cy="4526280"/>
          </a:xfrm>
          <a:prstGeom prst="roundRect">
            <a:avLst>
              <a:gd name="adj" fmla="val 1622"/>
            </a:avLst>
          </a:prstGeom>
          <a:solidFill>
            <a:srgbClr val="0B0B0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0664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FUNCIONALES · cómo debe hacerlo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247802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la consulta desde la ficha con un solo clic.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3090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Adaptabilidad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34198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Funcionar en celular y computadora sin desplazamiento horizontal.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40325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7406640" y="43616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la página principal en 2,5 s o menos (LCP).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406640" y="49743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5303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HTTPS y consentimiento para datos personales (Ley N.° 29733).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completo con criterios de aceptación: anexos (27 requisitos funcionales y 13 no funcionales).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EL DISEÑO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UML y Rational Rose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481328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83280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 </a:t>
            </a:r>
            <a:pPr indent="0" marL="0">
              <a:buNone/>
            </a:pPr>
            <a:r>
              <a:rPr lang="en-US" sz="1200" dirty="0">
                <a:solidFill>
                  <a:srgbClr val="EDE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de modelado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481328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5F5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080760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 Rose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modelado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1481328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de la diapositiva 7 es el diagrama de actividades.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1031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uso: quién usa el sistema y qué puede hacer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783080" y="2468880"/>
            <a:ext cx="3017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83080" y="25054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11680" y="2788920"/>
            <a:ext cx="205740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11680" y="2788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catálogo y ficha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11680" y="3211830"/>
            <a:ext cx="205740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11680" y="321183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productos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011680" y="3634740"/>
            <a:ext cx="205740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11680" y="36347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consulta por WhatsApp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697480" y="4057650"/>
            <a:ext cx="2057400" cy="365760"/>
          </a:xfrm>
          <a:prstGeom prst="ellipse">
            <a:avLst/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697480" y="405765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consulta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011680" y="4480560"/>
            <a:ext cx="205740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11680" y="4480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ser distribuidor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011680" y="4903470"/>
            <a:ext cx="205740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11680" y="490347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 catálogo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11680" y="5326380"/>
            <a:ext cx="2057400" cy="365760"/>
          </a:xfrm>
          <a:prstGeom prst="ellipse">
            <a:avLst/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011680" y="53263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distribuidores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011680" y="5749290"/>
            <a:ext cx="2057400" cy="365760"/>
          </a:xfrm>
          <a:prstGeom prst="ellipse">
            <a:avLst/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011680" y="574929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y reportes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50976" y="297180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1560" y="3172968"/>
            <a:ext cx="0" cy="301752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8680" y="3273552"/>
            <a:ext cx="365760" cy="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905256" y="3474720"/>
            <a:ext cx="146304" cy="2286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51560" y="3474720"/>
            <a:ext cx="146304" cy="2286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73989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50976" y="480060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51560" y="5001768"/>
            <a:ext cx="0" cy="301752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68680" y="5102352"/>
            <a:ext cx="365760" cy="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H="1">
            <a:off x="905256" y="5303520"/>
            <a:ext cx="146304" cy="2286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51560" y="5303520"/>
            <a:ext cx="146304" cy="2286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7200" y="55686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340096" y="333756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40680" y="3538728"/>
            <a:ext cx="0" cy="301752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257800" y="3639312"/>
            <a:ext cx="365760" cy="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H="1">
            <a:off x="5294376" y="3840480"/>
            <a:ext cx="146304" cy="2286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40680" y="3840480"/>
            <a:ext cx="146304" cy="2286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846320" y="41056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«sistema»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5340096" y="49834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440680" y="5184648"/>
            <a:ext cx="0" cy="301752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257800" y="5285232"/>
            <a:ext cx="365760" cy="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H="1">
            <a:off x="5294376" y="5486400"/>
            <a:ext cx="146304" cy="2286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40680" y="5486400"/>
            <a:ext cx="146304" cy="2286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846320" y="57515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/ Admin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 flipV="1">
            <a:off x="1280160" y="2971800"/>
            <a:ext cx="731520" cy="32004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280160" y="3291840"/>
            <a:ext cx="731520" cy="10287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280160" y="3291840"/>
            <a:ext cx="731520" cy="52578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1280160" y="4663440"/>
            <a:ext cx="731520" cy="45720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4069080" y="3657600"/>
            <a:ext cx="1143000" cy="16002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069080" y="5086350"/>
            <a:ext cx="1143000" cy="21717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V="1">
            <a:off x="4069080" y="5303520"/>
            <a:ext cx="1143000" cy="20574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4069080" y="5303520"/>
            <a:ext cx="1143000" cy="62865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017520" y="4000500"/>
            <a:ext cx="228600" cy="57150"/>
          </a:xfrm>
          <a:prstGeom prst="line">
            <a:avLst/>
          </a:prstGeom>
          <a:noFill/>
          <a:ln w="15875">
            <a:solidFill>
              <a:srgbClr val="0B0B0D"/>
            </a:solidFill>
            <a:prstDash val="dash"/>
            <a:tailEnd type="triangle"/>
          </a:ln>
        </p:spPr>
      </p:sp>
      <p:sp>
        <p:nvSpPr>
          <p:cNvPr id="65" name="Text 62"/>
          <p:cNvSpPr txBox="1"/>
          <p:nvPr/>
        </p:nvSpPr>
        <p:spPr>
          <a:xfrm>
            <a:off x="2057400" y="40187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«include»</a:t>
            </a:r>
            <a:endParaRPr lang="en-US" sz="800" dirty="0"/>
          </a:p>
        </p:txBody>
      </p:sp>
      <p:sp>
        <p:nvSpPr>
          <p:cNvPr id="66" name="Text 63"/>
          <p:cNvSpPr txBox="1"/>
          <p:nvPr/>
        </p:nvSpPr>
        <p:spPr>
          <a:xfrm>
            <a:off x="649224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Clases: cómo se relacionan los datos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6492240" y="2606040"/>
            <a:ext cx="1463040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49224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8549640" y="2606040"/>
            <a:ext cx="1463040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54964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10177272" y="2606040"/>
            <a:ext cx="1463040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177272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8549640" y="5257800"/>
            <a:ext cx="1463040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8549640" y="5257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técnica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10177272" y="3931920"/>
            <a:ext cx="1463040" cy="502920"/>
          </a:xfrm>
          <a:prstGeom prst="rect">
            <a:avLst/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177272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comercial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10177272" y="5257800"/>
            <a:ext cx="1463040" cy="502920"/>
          </a:xfrm>
          <a:prstGeom prst="rect">
            <a:avLst/>
          </a:prstGeom>
          <a:solidFill>
            <a:srgbClr val="EDE4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10177272" y="5257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endParaRPr lang="en-US" sz="1050" dirty="0"/>
          </a:p>
        </p:txBody>
      </p:sp>
      <p:sp>
        <p:nvSpPr>
          <p:cNvPr id="79" name="Shape 76"/>
          <p:cNvSpPr/>
          <p:nvPr/>
        </p:nvSpPr>
        <p:spPr>
          <a:xfrm>
            <a:off x="7955280" y="2852928"/>
            <a:ext cx="594360" cy="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7991856" y="26517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1..*</a:t>
            </a:r>
            <a:endParaRPr lang="en-US" sz="950" dirty="0"/>
          </a:p>
        </p:txBody>
      </p:sp>
      <p:sp>
        <p:nvSpPr>
          <p:cNvPr id="81" name="Text 78"/>
          <p:cNvSpPr txBox="1"/>
          <p:nvPr/>
        </p:nvSpPr>
        <p:spPr>
          <a:xfrm>
            <a:off x="8220456" y="28895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0..*</a:t>
            </a:r>
            <a:endParaRPr lang="en-US" sz="950" dirty="0"/>
          </a:p>
        </p:txBody>
      </p:sp>
      <p:sp>
        <p:nvSpPr>
          <p:cNvPr id="82" name="Text 79"/>
          <p:cNvSpPr txBox="1"/>
          <p:nvPr/>
        </p:nvSpPr>
        <p:spPr>
          <a:xfrm>
            <a:off x="777240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pertenece a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8878824" y="3108960"/>
            <a:ext cx="164592" cy="164592"/>
          </a:xfrm>
          <a:prstGeom prst="diamond">
            <a:avLst/>
          </a:prstGeom>
          <a:solidFill>
            <a:srgbClr val="0B0B0D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961120" y="3273552"/>
            <a:ext cx="0" cy="1984248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052560" y="32186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86" name="Text 83"/>
          <p:cNvSpPr txBox="1"/>
          <p:nvPr/>
        </p:nvSpPr>
        <p:spPr>
          <a:xfrm>
            <a:off x="9052560" y="5029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0..*</a:t>
            </a:r>
            <a:endParaRPr lang="en-US" sz="950" dirty="0"/>
          </a:p>
        </p:txBody>
      </p:sp>
      <p:sp>
        <p:nvSpPr>
          <p:cNvPr id="87" name="Text 84"/>
          <p:cNvSpPr txBox="1"/>
          <p:nvPr/>
        </p:nvSpPr>
        <p:spPr>
          <a:xfrm>
            <a:off x="7863840" y="4206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9784080" y="3108960"/>
            <a:ext cx="621792" cy="82296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9829800" y="31546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0..1</a:t>
            </a:r>
            <a:endParaRPr lang="en-US" sz="950" dirty="0"/>
          </a:p>
        </p:txBody>
      </p:sp>
      <p:sp>
        <p:nvSpPr>
          <p:cNvPr id="90" name="Text 87"/>
          <p:cNvSpPr txBox="1"/>
          <p:nvPr/>
        </p:nvSpPr>
        <p:spPr>
          <a:xfrm>
            <a:off x="9994392" y="3703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0..*</a:t>
            </a:r>
            <a:endParaRPr lang="en-US" sz="950" dirty="0"/>
          </a:p>
        </p:txBody>
      </p:sp>
      <p:sp>
        <p:nvSpPr>
          <p:cNvPr id="91" name="Text 88"/>
          <p:cNvSpPr txBox="1"/>
          <p:nvPr/>
        </p:nvSpPr>
        <p:spPr>
          <a:xfrm>
            <a:off x="9692640" y="3520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10908792" y="3108960"/>
            <a:ext cx="0" cy="82296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10963656" y="3136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0..1</a:t>
            </a:r>
            <a:endParaRPr lang="en-US" sz="950" dirty="0"/>
          </a:p>
        </p:txBody>
      </p:sp>
      <p:sp>
        <p:nvSpPr>
          <p:cNvPr id="94" name="Text 91"/>
          <p:cNvSpPr txBox="1"/>
          <p:nvPr/>
        </p:nvSpPr>
        <p:spPr>
          <a:xfrm>
            <a:off x="10963656" y="3703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0..*</a:t>
            </a:r>
            <a:endParaRPr lang="en-US" sz="950" dirty="0"/>
          </a:p>
        </p:txBody>
      </p:sp>
      <p:sp>
        <p:nvSpPr>
          <p:cNvPr id="95" name="Text 92"/>
          <p:cNvSpPr txBox="1"/>
          <p:nvPr/>
        </p:nvSpPr>
        <p:spPr>
          <a:xfrm>
            <a:off x="10222992" y="34290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atiende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10908792" y="4434840"/>
            <a:ext cx="0" cy="822960"/>
          </a:xfrm>
          <a:prstGeom prst="line">
            <a:avLst/>
          </a:prstGeom>
          <a:noFill/>
          <a:ln w="12700">
            <a:solidFill>
              <a:srgbClr val="0B0B0D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10963656" y="44622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0..*</a:t>
            </a:r>
            <a:endParaRPr lang="en-US" sz="950" dirty="0"/>
          </a:p>
        </p:txBody>
      </p:sp>
      <p:sp>
        <p:nvSpPr>
          <p:cNvPr id="98" name="Text 95"/>
          <p:cNvSpPr txBox="1"/>
          <p:nvPr/>
        </p:nvSpPr>
        <p:spPr>
          <a:xfrm>
            <a:off x="10963656" y="5029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0..1</a:t>
            </a:r>
            <a:endParaRPr lang="en-US" sz="950" dirty="0"/>
          </a:p>
        </p:txBody>
      </p:sp>
      <p:sp>
        <p:nvSpPr>
          <p:cNvPr id="99" name="Text 96"/>
          <p:cNvSpPr txBox="1"/>
          <p:nvPr/>
        </p:nvSpPr>
        <p:spPr>
          <a:xfrm>
            <a:off x="10040112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derivada a</a:t>
            </a:r>
            <a:endParaRPr lang="en-US" sz="850" dirty="0"/>
          </a:p>
        </p:txBody>
      </p:sp>
      <p:sp>
        <p:nvSpPr>
          <p:cNvPr id="100" name="Text 97"/>
          <p:cNvSpPr txBox="1"/>
          <p:nvPr/>
        </p:nvSpPr>
        <p:spPr>
          <a:xfrm>
            <a:off x="6492240" y="605332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Morado: propuesto. Diagramas completos (22) en los anexos.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EL DISEÑO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general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web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783080"/>
            <a:ext cx="29489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97480" y="1874520"/>
            <a:ext cx="2674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público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2240280"/>
            <a:ext cx="267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hijo Black Hawk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46420" y="1783080"/>
            <a:ext cx="29489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83580" y="1874520"/>
            <a:ext cx="2674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administración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83580" y="2240280"/>
            <a:ext cx="267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2944368"/>
            <a:ext cx="0" cy="219456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48640" y="3182112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3182112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del sistema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560320" y="336499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97480" y="3456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WooCommerce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697480" y="3822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productos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17720" y="336499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0" y="3456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YITH Catalog Mode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754880" y="3822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carrito ni pago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75120" y="3364992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6D28D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12280" y="3456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propio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3822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Consultas, distribuidores, reportes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663440" y="4526280"/>
            <a:ext cx="0" cy="219456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48640" y="4764024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4764024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2560320" y="4946904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697480" y="50383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2697480" y="54041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MariaDB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144000" y="3182112"/>
            <a:ext cx="2499055" cy="1325880"/>
          </a:xfrm>
          <a:prstGeom prst="roundRect">
            <a:avLst>
              <a:gd name="adj" fmla="val 5517"/>
            </a:avLst>
          </a:prstGeom>
          <a:solidFill>
            <a:srgbClr val="0B0B0D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3364992"/>
            <a:ext cx="411480" cy="41148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829800" y="33649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9326880" y="3822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externo: el sistema solo genera el enlace wa.me.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8796528" y="3840480"/>
            <a:ext cx="347472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dash"/>
            <a:tailEnd type="triangle"/>
          </a:ln>
        </p:spPr>
      </p:sp>
      <p:sp>
        <p:nvSpPr>
          <p:cNvPr id="37" name="Text 33"/>
          <p:cNvSpPr txBox="1"/>
          <p:nvPr/>
        </p:nvSpPr>
        <p:spPr>
          <a:xfrm>
            <a:off x="9144000" y="4754880"/>
            <a:ext cx="2499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tecnológica: WordPress + WooCommerce. Se extiende la plataforma, no se reemplaza.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RESULTADOS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esperados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5F5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REALIZADO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diseño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y alcance definidos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priorizados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y modelos UML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plan de desarrollo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0B0B0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PROPONE IMPLEMENTAR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nuevas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6974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y seguimiento de consultas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de distribuidores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 verificadas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y control de accesos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EDE4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2104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ESPERA CONSEGUIR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futuros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6974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con el producto identificado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técnica más confiable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qué productos generan interés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Derivación más ágil al punto de venta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beneficios esperados son hipótesis: se medirían después de implementar el sistema.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65615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RUP   14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necesidad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Hawk no necesita una tienda en línea: necesita información confiable y una ruta clara del producto al distribuidor.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788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SGCD-BH se apoya en la plataforma que ya existe y agrega lo que falta: verificar datos, registrar consultas y organizar distribuidores.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metodología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2788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 permitió definir el alcance, modelar el sistema y planificarlo por fases, validando la arquitectura antes de construir.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98348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6D28D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98348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bien antes de construir: ese es el valor de aplicar RUP a Black Hawk.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research/logo-w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008" y="1554480"/>
            <a:ext cx="2011680" cy="10698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1752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SGCD-BH · Aplicación de RUP a Black Hawk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de RUP — SGCD-BH Black Hawk (V2)</dc:title>
  <dc:subject>PptxGenJS Presentation</dc:subject>
  <dc:creator>Equipo del proyecto SGCD-BH</dc:creator>
  <cp:lastModifiedBy>Equipo del proyecto SGCD-BH</cp:lastModifiedBy>
  <cp:revision>1</cp:revision>
  <dcterms:created xsi:type="dcterms:W3CDTF">2026-09-29T20:48:08Z</dcterms:created>
  <dcterms:modified xsi:type="dcterms:W3CDTF">2026-09-29T20:48:08Z</dcterms:modified>
</cp:coreProperties>
</file>