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cómo apliqué RUP para renovar la plataforma web de Black Hawk.
Es un proyecto sobre una empresa real: parto de su web original, desarrollo una versión renovada y uso RUP para organizar y justificar el proceso.
Ejemplo: Black Hawk es una marca peruana de car audio: amplificadores, subwoofers, procesadores.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exposición sigue el orden del proyecto: de la situación original al resultado.
Primero el punto de partida y el problema; luego cómo se organizó el trabajo con RUP; después los requisitos, los diagramas y la arquitectura; la solución construida y cómo se verificó; y al final el resultado, la transición y las conclusiones.
Ejemplo: La web renovada se muestra en el bloque 4, cuando ya se explicó cómo se diseñó.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Hawk es una marca de car audio que usa su web como catálogo, no como tienda.
Vende a través de su área comercial y de distribuidores. La web muestra los productos y orienta la compra; no cobra ni tiene carrito.
Ejemplo: Su sitio original publica 110 productos en 11 categorías, como el subwoofer BH-SW12XXG o el procesador BH-4.8DSP.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Hawk ya tiene un sistema web: no partimos de cero.
El sitio original funciona sobre WordPress y WooCommerce, tiene catálogo por categorías, buscador y fichas. Es la base que se busca mejorar.
Ejemplo: Estas tres capturas son del sitio original, tomadas el 29-09-2026: home, tienda y ficha del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Hallazgos observables, clasificados: qué no existe, qué existe pero está oculto y qué recorrido se puede mejorar.
Cada número está marcado sobre una captura real. No digo que al sitio le falte algo que sí tiene: por ejemplo, WhatsApp existe, pero solo en la página de ventas al mayor.
Ejemplo: Al pulsar «Productos» se abre una tienda sin productos (1); la ficha del BH-SW12XXG no tiene botón de consulta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plataforma informa, pero no guía hacia una acción comercial.
De los hallazgos salen tres necesidades: llevar al cliente del interés al contacto, tener un catálogo claro y comparable, y mostrar una marca moderna que funcione en el celular.
Ejemplo: Un cliente que llega a la ficha del BH-SW12XXG no tiene un botón para consultar: debe buscar el contacto por su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desarrollar la web renovada aplicando RUP; el alcance separa lo desarrollado de lo propuesto.
Los cuatro objetivos específicos siguen el orden del trabajo: analizar, especificar y modelar, desarrollar, y validar. El alcance tiene cinco grupos: los cuatro primeros forman el rediseño; el quinto son las ampliaciones.
Ejemplo: Se excluye la venta en línea porque Black Hawk vende a través de distribuidores.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es una metodología iterativa, dirigida por casos de uso y centrada en la arquitectura; encaja con un proyecto que se construye por partes.
La web renovada no se hizo de una vez: primero la home y la identidad, luego el catálogo y la ficha, después el recorrido de cotización. Cada parte se diseñó, construyó y verificó.
Ejemplo: El caso de uso «Cotizar por WhatsApp» guió el diseño de la ficha, del mensaje y de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tiene dos dimensiones: en el tiempo, fases e iteraciones; en el contenido, disciplinas.
Las columnas son las fases, con sus iteraciones. Las filas son las disciplinas. La barra indica cuánto trabajo tiene cada disciplina en cada fase: requisitos pesa más al inicio, implementación en construcción. Todas conviven: no es una cascada.
Ejemplo: En Elaboración ya se programó un prototipo, y en Construcción se ajustaron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Inicio entendí el negocio y acordé qué construir. Está realizada.
Analicé el sitio original con capturas, identifiqué a los interesados y las necesidades, y fijé el alcance y las exclusiones. El hito LCO significa que los objetivos y el alcance quedan acordados.
Ejemplo: La tienda vacía y la ficha sin consulta se documentaron en esta fase.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Elaboración definí requisitos, modelé con UML y validé la arquitectura. Está realizada.
Aquí se decide cómo será el sistema antes de construirlo: requisitos, casos de uso, diagramas, arquitectura y prototipos. La decisión clave fue rediseñar sobre la misma plataforma con un tema hijo. El hito LCA indica que la arquitectura está validada.
Ejemplo: Antes de construir se definió cómo serían la home, el catálogo, la ficha y el comparador, y cómo se conectarían con WooCommerce.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Construcción desarrollé la web renovada por incrementos. Está en curso: el rediseño funciona; las ampliaciones están planificadas.
C1: identidad y home. C2: catálogo, fichas, búsqueda y comparador. C3: el recorrido de cotización con WhatsApp, Dónde comprar, Mayoristas y Soporte. Verifiqué cada incremento y lo documenté con capturas; las pruebas formales están planificadas.
Ejemplo: Se verificó que el comparador rechaza un cuarto producto y conserva la selección al cambiar de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es la entrega a Black Hawk: validar, publicar, capacitar y mantener. Está planificada.
La web renovada funciona en un entorno de prueba; falta validarla con la empresa, publicarla en su dominio con respaldo previo y capacitar al gestor. El hito PR es la publicación del producto.
Ejemplo: Al publicarla en blackhawkcaraudio.com se podrá medir su uso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matriz muestra qué se produjo en cada iteración y qué está realizado, en curso o planificado.
Las columnas son las siete iteraciones; las filas, las disciplinas de ingeniería. Cada celda es el entregable principal. Se ve el carácter iterativo: requisitos y diseño aparecen varias veces, y la implementación empieza con un prototipo en Elaboración.
Ejemplo: C2 produjo el catálogo, la ficha y el comparador; C3 está en curso por las ampliaciones.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RUP ataca los riesgos temprano: estos son los principales del proyecto y la respuesta a cada uno.
La matriz cruza probabilidad e impacto; la tabla dice qué se hizo con cada riesgo. Los dos primeros se atacaron en Inicio y Elaboración: el alcance quedó acordado y el tema hijo aísla el rediseño de las actualizaciones. El rendimiento se midió. Siguen abiertos o planificados los que dependen de la publicación.
Ejemplo: El riesgo 3 se midió: la ficha del BH-SW12XXG pasó de 5,28 MB a 0,38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dicen qué hace la web renovada y con qué calidad; cada uno se enlaza con el catálogo completo.
Funcionales: explorar, buscar, ver la ficha, comparar, cotizar y consultar dónde comprar ya están desarrollados; registrar la consulta, el directorio y los reportes son propuestos. No funcionales: celular, usabilidad, peso de página, idioma y datos personales.
Ejemplo: Requisito no funcional medido: la ficha del BH-SW12XXG pasó de 5,28 MB a 0,38 MB transferidos en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puede hacer cada actor con la web renovada.
Los actores externos están a la izquierda y el gestor a la derecha; WhatsApp es un sistema externo. El cliente interesado hereda lo que hace el visitante. «Cotizar por WhatsApp» incluiría registrar la consulta, que es una ampliación propuesta.
Ejemplo: CU-05 Comparar productos y CU-08 Cotizar por WhatsApp ya funcionan en la web renovada.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avanza el recorrido comercial, paso a paso, y quién hace cada paso.
Tres calles: el cliente, la web renovada y el área comercial o distribuidor. Las decisiones son rombos: si conoce el modelo, si quiere comparar, si tiene intención de compra. La acción en morado (registrar la consulta) es la ampliación.
Ejemplo: Si el cliente no conoce el modelo, explora y filtra el catálogo; si lo conoce, lo busca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interactúan los componentes cuando el cliente consulta un producto por WhatsApp.
Se lee de arriba hacia abajo, en el orden de los mensajes. La ficha pide el producto a WooCommerce, arma el mensaje con el modelo y abre WhatsApp. El recuadro morado es la ampliación: registrar el inicio de la consulta sin demorar la apertura.
Ejemplo: El mensaje 8 arma «quiero cotizar el modelo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estructura la información del sistema.
El producto es el centro: pertenece a una o más categorías y se compone de especificaciones e imágenes. Las clases en morado son propuestas: el evento de consulta registra que se inició una consulta, y el distribuidor forma el directorio.
Ejemplo: Si se elimina el producto BH-SW12XXG, sus especificaciones desaparecen con él: eso es la composición.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Dónde se guardan realmente los datos de la web renovada: las tablas de MySQL que usan WordPress y WooCommerce.
El diagrama de clases es el modelo conceptual; este es el físico. WooCommerce guarda cada producto como una fila de wp_posts y sus datos adicionales en wp_postmeta; las categorías están en wp_terms y wp_term_taxonomy, y wp_term_relationships une productos y categorías (muchos a muchos). La tabla morada, wp_bh_consulta, es la ampliación propuesta. WordPress no declara claves foráneas en el motor: la integridad la controla la aplicación.
Ejemplo: El BH-SW12XXG es una fila de wp_posts con post_type = product; su categoría Subwoofer se enlaza mediante wp_term_relationships.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está organizado técnicamente el sistema.
El rediseño vive en el tema hijo: plantillas, páginas y el botón de WhatsApp. WooCommerce maneja los productos; YITH Catalog Mode oculta precio y carrito; todo corre sobre WordPress y MySQL. El módulo propio en morado alojaría las ampliaciones.
Ejemplo: Como el rediseño está en el tema hijo, actualizar WooCommerce no borra los cambios.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Dónde se ejecuta el sistema: nodos físicos y cómo se conectan.
El cliente y el gestor acceden por HTTPS al servidor de producción, que corre WordPress con WooCommerce, YITH Catalog Mode y el tema hijo sobre LiteSpeed y PHP, con la base de datos local. Hoy la web renovada está en un entorno de prueba; en la Transición se publica en producción. El módulo propio y el respaldo externo son propuestos.
Ejemplo: «Cotizar» abre WhatsApp desde el navegador del cliente con un enlace wa.me: el servidor no se conecta con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entrego a Black Hawk es la web renovada: rediseño, catálogo y recorrido comercial sobre la misma plataforma.
Hay que separar tres cosas: el sitio original (punto de partida), la web renovada que desarrollo (la solución) y las ampliaciones que propongo (lo que viene después).
Ejemplo: La web renovada está construida como tema hijo sobre WordPress y WooCommerce y ya funciona en un entorno de prueba.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 pantallas equivalentes: qué había, qué necesidad detecté, qué cambié y qué espero lograr.
Home: la marca ahora tiene jerarquía y el encabezado siempre ofrece buscar y cotizar. Catálogo: «Productos» ya no lleva a una tienda vacía; muestra los 118 productos con pestañas, contador y filtros.
Ejemplo: En el sitio original, al pulsar «Productos» aparecía «Tienda» sin productos; en la web renovada, el catálogo muestra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ficha pasa de mostrar datos a llevar a una consulta, también en el celular.
Antes la ficha terminaba en las especificaciones. Ahora tiene «Cotizar» junto al modelo, «Comparar» y, en el celular, una barra fija con el botón de cotización.
Ejemplo: En el celular, la ficha renovada del BH-SW12XXG muestra abajo «Cotizar · BH-SW12XXG» todo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recorrido completo, desde el catálogo hasta la atención comercial, separando lo desarrollado de lo propuesto.
La fila negra es lo que ya funciona en la web renovada. Debajo, en morado punteado, las ampliaciones: registrar el inicio de la consulta, un directorio estructurado y el seguimiento, que requiere un mecanismo adicional.
Ejemplo: El mensaje dice: «Hola Black Hawk, vengo de la web y quiero cotizar el modelo BH-SW12XXG».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grupos de funciones: cuatro desarrollados en el rediseño y uno propuesto.
No enumero módulos sueltos: agrupo por lo que resuelven. La administración usa el panel de WordPress y WooCommerce, que ya existía, sin programar uno nuevo.
Ejemplo: El comparador admite hasta 3 modelos y guarda la selección en el navegador durante 24 horas.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función principal se verificó en la web renovada; las pruebas de aceptación quedan para la Transición.
Cada fila es una prueba funcional: qué se hizo, qué debía pasar y su estado. Las siete primeras se ejecutaron y se documentaron con capturas. La aceptación con Black Hawk y las pruebas en el dominio oficial están planificadas: no las presento como hechas.
Ejemplo: Al agregar un cuarto modelo al comparador aparece «Puedes comparar hasta 3 productos»: es el criterio de aceptación del requisito.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web renovada ya resuelve las tres necesidades iniciales; las ampliaciones las completarían.
Guiar al contacto: «Cotizar» en encabezado y ficha. Catálogo claro: 118 productos con filtros y comparador. Marca moderna: identidad nueva y diseño adaptable. Además, las páginas son más livianas.
Ejemplo: La ficha del BH-SW12XXG transfiere 0,38 MB en lugar de 5,28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se cierra el proyecto: la web se publica de forma segura y cada rol sabe usarla. Es el camino al hito PR.
A la izquierda, los cinco pasos de la puesta en producción: aceptación, respaldo, publicación, verificación y, si algo falla, reversión. A la derecha, la capacitación según lo que hace cada rol: quien edita el catálogo, quien atiende las consultas y quien mantiene el sitio. Todo está planificado.
Ejemplo: El área comercial aprende que el mensaje ya llega con el modelo, por ejemplo «quiero cotizar el modelo BH-SW12XXG», y lo deriva al distribuidor.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Comprendí el negocio, desarrollé una solución real y la organicé con RUP y UML.
Punto de partida: había plataforma, pero no guiaba a la venta. Solución: la web renovada rediseña marca, catálogo y recorrido. Metodología: RUP con Inicio y Elaboración realizados, Construcción avanzada y Transición planificada.
Ejemplo: Próximo paso inmediato: validar la web renovada con Black Hawk y publicarla en su dominio.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Abrimos la ronda de preguntas.
Escuchar la pregunta completa antes de responder.
Ejemplo: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p:bgPr>
    </p:bg>
    <p:spTree>
      <p:nvGrpSpPr>
        <p:cNvPr id="1" name=""/>
        <p:cNvGrpSpPr/>
        <p:nvPr/>
      </p:nvGrpSpPr>
      <p:grpSpPr>
        <a:xfrm>
          <a:off x="0" y="0"/>
          <a:ext cx="0" cy="0"/>
          <a:chOff x="0" y="0"/>
          <a:chExt cx="0" cy="0"/>
        </a:xfrm>
      </p:grpSpPr>
      <p:pic>
        <p:nvPicPr>
          <p:cNvPr id="3" name="Image 0" descr="../../assets/images/brand/subwoofer-960.jpg">    </p:cNvPr>
          <p:cNvPicPr>
            <a:picLocks noChangeAspect="1"/>
          </p:cNvPicPr>
          <p:nvPr/>
        </p:nvPicPr>
        <p:blipFill>
          <a:blip r:embed="rId1"/>
          <a:srcRect l="0" r="0" t="0" b="0"/>
          <a:stretch/>
        </p:blipFill>
        <p:spPr>
          <a:xfrm>
            <a:off x="5495544" y="0"/>
            <a:ext cx="6693408" cy="6858000"/>
          </a:xfrm>
          <a:prstGeom prst="rect">
            <a:avLst/>
          </a:prstGeom>
        </p:spPr>
      </p:pic>
      <p:sp>
        <p:nvSpPr>
          <p:cNvPr id="4" name="Shape 0"/>
          <p:cNvSpPr/>
          <p:nvPr/>
        </p:nvSpPr>
        <p:spPr>
          <a:xfrm>
            <a:off x="5495544" y="0"/>
            <a:ext cx="6693408" cy="6858000"/>
          </a:xfrm>
          <a:prstGeom prst="rect">
            <a:avLst/>
          </a:prstGeom>
          <a:solidFill>
            <a:srgbClr val="0B0B0D">
              <a:alpha val="60000"/>
            </a:srgbClr>
          </a:solidFill>
          <a:ln/>
        </p:spPr>
      </p:sp>
      <p:pic>
        <p:nvPicPr>
          <p:cNvPr id="5" name="Image 1" descr="research/logo-w-t.png">    </p:cNvPr>
          <p:cNvPicPr>
            <a:picLocks noChangeAspect="1"/>
          </p:cNvPicPr>
          <p:nvPr/>
        </p:nvPicPr>
        <p:blipFill>
          <a:blip r:embed="rId2"/>
          <a:stretch>
            <a:fillRect/>
          </a:stretch>
        </p:blipFill>
        <p:spPr>
          <a:xfrm>
            <a:off x="548640" y="548640"/>
            <a:ext cx="1371600" cy="731520"/>
          </a:xfrm>
          <a:prstGeom prst="rect">
            <a:avLst/>
          </a:prstGeom>
        </p:spPr>
      </p:pic>
      <p:sp>
        <p:nvSpPr>
          <p:cNvPr id="6" name="Text 1"/>
          <p:cNvSpPr txBox="1"/>
          <p:nvPr/>
        </p:nvSpPr>
        <p:spPr>
          <a:xfrm>
            <a:off x="548640" y="1691640"/>
            <a:ext cx="5120640" cy="274320"/>
          </a:xfrm>
          <a:prstGeom prst="rect">
            <a:avLst/>
          </a:prstGeom>
          <a:noFill/>
          <a:ln/>
        </p:spPr>
        <p:txBody>
          <a:bodyPr wrap="square" lIns="0" tIns="0" rIns="0" bIns="0" rtlCol="0" anchor="t"/>
          <a:lstStyle/>
          <a:p>
            <a:pPr indent="0" marL="0">
              <a:buNone/>
            </a:pPr>
            <a:r>
              <a:rPr lang="en-US" sz="1100" b="1" spc="300" kern="0" dirty="0">
                <a:solidFill>
                  <a:srgbClr val="A78BFA"/>
                </a:solidFill>
                <a:latin typeface="Arial" pitchFamily="34" charset="0"/>
                <a:ea typeface="Arial" pitchFamily="34" charset="-122"/>
                <a:cs typeface="Arial" pitchFamily="34" charset="-120"/>
              </a:rPr>
              <a:t>DISEÑO DE SISTEMAS DE INFORMACIÓN</a:t>
            </a:r>
            <a:endParaRPr lang="en-US" sz="1100" dirty="0"/>
          </a:p>
        </p:txBody>
      </p:sp>
      <p:sp>
        <p:nvSpPr>
          <p:cNvPr id="7" name="Text 2"/>
          <p:cNvSpPr txBox="1"/>
          <p:nvPr/>
        </p:nvSpPr>
        <p:spPr>
          <a:xfrm>
            <a:off x="548640" y="2057400"/>
            <a:ext cx="5120640" cy="2103120"/>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Aplicación de la metodología RUP en el análisis, diseño y desarrollo de la web renovada de Black Hawk</a:t>
            </a:r>
            <a:endParaRPr lang="en-US" sz="2700" dirty="0"/>
          </a:p>
        </p:txBody>
      </p:sp>
      <p:sp>
        <p:nvSpPr>
          <p:cNvPr id="8" name="Text 3"/>
          <p:cNvSpPr txBox="1"/>
          <p:nvPr/>
        </p:nvSpPr>
        <p:spPr>
          <a:xfrm>
            <a:off x="548640" y="4206240"/>
            <a:ext cx="4937760" cy="640080"/>
          </a:xfrm>
          <a:prstGeom prst="rect">
            <a:avLst/>
          </a:prstGeom>
          <a:noFill/>
          <a:ln/>
        </p:spPr>
        <p:txBody>
          <a:bodyPr wrap="square" lIns="0" tIns="0" rIns="0" bIns="0" rtlCol="0" anchor="t"/>
          <a:lstStyle/>
          <a:p>
            <a:pPr indent="0" marL="0">
              <a:buNone/>
            </a:pPr>
            <a:r>
              <a:rPr lang="en-US" sz="1400" dirty="0">
                <a:solidFill>
                  <a:srgbClr val="9CA3AF"/>
                </a:solidFill>
                <a:latin typeface="Arial" pitchFamily="34" charset="0"/>
                <a:ea typeface="Arial" pitchFamily="34" charset="-122"/>
                <a:cs typeface="Arial" pitchFamily="34" charset="-120"/>
              </a:rPr>
              <a:t>Del sitio original a una plataforma que guía al cliente hasta la consulta comercial</a:t>
            </a:r>
            <a:endParaRPr lang="en-US" sz="1400" dirty="0"/>
          </a:p>
        </p:txBody>
      </p:sp>
      <p:sp>
        <p:nvSpPr>
          <p:cNvPr id="9" name="Text 4"/>
          <p:cNvSpPr txBox="1"/>
          <p:nvPr/>
        </p:nvSpPr>
        <p:spPr>
          <a:xfrm>
            <a:off x="548640" y="5257800"/>
            <a:ext cx="5029200" cy="914400"/>
          </a:xfrm>
          <a:prstGeom prst="rect">
            <a:avLst/>
          </a:prstGeom>
          <a:noFill/>
          <a:ln/>
        </p:spPr>
        <p:txBody>
          <a:bodyPr wrap="square" lIns="0" tIns="0" rIns="0" bIns="0" rtlCol="0" anchor="t"/>
          <a:lstStyle/>
          <a:p>
            <a:pPr indent="0" marL="0">
              <a:spcAft>
                <a:spcPts val="400"/>
              </a:spcAft>
              <a:buNone/>
            </a:pPr>
            <a:r>
              <a:rPr lang="en-US" sz="1200" dirty="0">
                <a:solidFill>
                  <a:srgbClr val="9CA3AF"/>
                </a:solidFill>
                <a:latin typeface="Arial" pitchFamily="34" charset="0"/>
                <a:ea typeface="Arial" pitchFamily="34" charset="-122"/>
                <a:cs typeface="Arial" pitchFamily="34" charset="-120"/>
              </a:rPr>
              <a:t>Nils Alexander Tovar Pinzón</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Diseño de Sistemas de Información - José Rojas</a:t>
            </a:r>
            <a:endParaRPr lang="en-US" sz="1200" dirty="0"/>
          </a:p>
          <a:p>
            <a:pPr indent="0" marL="0">
              <a:spcAft>
                <a:spcPts val="400"/>
              </a:spcAft>
              <a:buNone/>
            </a:pPr>
            <a:r>
              <a:rPr lang="en-US" sz="1200" dirty="0">
                <a:solidFill>
                  <a:srgbClr val="9CA3AF"/>
                </a:solidFill>
                <a:latin typeface="Arial" pitchFamily="34" charset="0"/>
                <a:ea typeface="Arial" pitchFamily="34" charset="-122"/>
                <a:cs typeface="Arial" pitchFamily="34" charset="-120"/>
              </a:rPr>
              <a:t>IESTP José Pardo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Agenda</a:t>
            </a:r>
            <a:endParaRPr lang="en-US" sz="3000" dirty="0"/>
          </a:p>
        </p:txBody>
      </p:sp>
      <p:sp>
        <p:nvSpPr>
          <p:cNvPr id="4" name="Text 1"/>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a:t>
            </a:r>
            <a:endParaRPr lang="en-US" sz="900" dirty="0"/>
          </a:p>
        </p:txBody>
      </p:sp>
      <p:sp>
        <p:nvSpPr>
          <p:cNvPr id="5" name="Shape 2"/>
          <p:cNvSpPr/>
          <p:nvPr/>
        </p:nvSpPr>
        <p:spPr>
          <a:xfrm>
            <a:off x="548640" y="1600200"/>
            <a:ext cx="2036003" cy="4069080"/>
          </a:xfrm>
          <a:prstGeom prst="roundRect">
            <a:avLst>
              <a:gd name="adj" fmla="val 3593"/>
            </a:avLst>
          </a:prstGeom>
          <a:solidFill>
            <a:srgbClr val="F5F5F7"/>
          </a:solidFill>
          <a:ln/>
        </p:spPr>
      </p:sp>
      <p:sp>
        <p:nvSpPr>
          <p:cNvPr id="6" name="Shape 3"/>
          <p:cNvSpPr/>
          <p:nvPr/>
        </p:nvSpPr>
        <p:spPr>
          <a:xfrm>
            <a:off x="822960" y="1874520"/>
            <a:ext cx="640080" cy="640080"/>
          </a:xfrm>
          <a:prstGeom prst="ellipse">
            <a:avLst/>
          </a:prstGeom>
          <a:solidFill>
            <a:srgbClr val="EDE4FB"/>
          </a:solidFill>
          <a:ln/>
        </p:spPr>
      </p:sp>
      <p:pic>
        <p:nvPicPr>
          <p:cNvPr id="7" name="Image 0" descr="preencoded.png">    </p:cNvPr>
          <p:cNvPicPr>
            <a:picLocks noChangeAspect="1"/>
          </p:cNvPicPr>
          <p:nvPr/>
        </p:nvPicPr>
        <p:blipFill>
          <a:blip r:embed="rId1"/>
          <a:stretch>
            <a:fillRect/>
          </a:stretch>
        </p:blipFill>
        <p:spPr>
          <a:xfrm>
            <a:off x="976579" y="2028139"/>
            <a:ext cx="332842" cy="332842"/>
          </a:xfrm>
          <a:prstGeom prst="rect">
            <a:avLst/>
          </a:prstGeom>
        </p:spPr>
      </p:pic>
      <p:sp>
        <p:nvSpPr>
          <p:cNvPr id="8" name="Text 4"/>
          <p:cNvSpPr txBox="1"/>
          <p:nvPr/>
        </p:nvSpPr>
        <p:spPr>
          <a:xfrm>
            <a:off x="822960" y="2743200"/>
            <a:ext cx="1097280" cy="54864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01</a:t>
            </a:r>
            <a:endParaRPr lang="en-US" sz="3000" dirty="0"/>
          </a:p>
        </p:txBody>
      </p:sp>
      <p:sp>
        <p:nvSpPr>
          <p:cNvPr id="9" name="Text 5"/>
          <p:cNvSpPr txBox="1"/>
          <p:nvPr/>
        </p:nvSpPr>
        <p:spPr>
          <a:xfrm>
            <a:off x="822960" y="3337560"/>
            <a:ext cx="1578803" cy="68580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Situación original</a:t>
            </a:r>
            <a:endParaRPr lang="en-US" sz="1700" dirty="0"/>
          </a:p>
        </p:txBody>
      </p:sp>
      <p:sp>
        <p:nvSpPr>
          <p:cNvPr id="10" name="Text 6"/>
          <p:cNvSpPr txBox="1"/>
          <p:nvPr/>
        </p:nvSpPr>
        <p:spPr>
          <a:xfrm>
            <a:off x="822960" y="4114800"/>
            <a:ext cx="1578803"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La empresa</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El sitio original y sus hallazgos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Problema y objetivos</a:t>
            </a:r>
            <a:endParaRPr lang="en-US" sz="1250" dirty="0"/>
          </a:p>
        </p:txBody>
      </p:sp>
      <p:sp>
        <p:nvSpPr>
          <p:cNvPr id="11" name="Shape 7"/>
          <p:cNvSpPr/>
          <p:nvPr/>
        </p:nvSpPr>
        <p:spPr>
          <a:xfrm>
            <a:off x="2813243" y="1600200"/>
            <a:ext cx="2036003" cy="4069080"/>
          </a:xfrm>
          <a:prstGeom prst="roundRect">
            <a:avLst>
              <a:gd name="adj" fmla="val 3593"/>
            </a:avLst>
          </a:prstGeom>
          <a:solidFill>
            <a:srgbClr val="F5F5F7"/>
          </a:solidFill>
          <a:ln/>
        </p:spPr>
      </p:sp>
      <p:sp>
        <p:nvSpPr>
          <p:cNvPr id="12" name="Shape 8"/>
          <p:cNvSpPr/>
          <p:nvPr/>
        </p:nvSpPr>
        <p:spPr>
          <a:xfrm>
            <a:off x="3087563" y="1874520"/>
            <a:ext cx="640080" cy="640080"/>
          </a:xfrm>
          <a:prstGeom prst="ellipse">
            <a:avLst/>
          </a:prstGeom>
          <a:solidFill>
            <a:srgbClr val="EDE4FB"/>
          </a:solidFill>
          <a:ln/>
        </p:spPr>
      </p:sp>
      <p:pic>
        <p:nvPicPr>
          <p:cNvPr id="13" name="Image 1" descr="preencoded.png">    </p:cNvPr>
          <p:cNvPicPr>
            <a:picLocks noChangeAspect="1"/>
          </p:cNvPicPr>
          <p:nvPr/>
        </p:nvPicPr>
        <p:blipFill>
          <a:blip r:embed="rId2"/>
          <a:stretch>
            <a:fillRect/>
          </a:stretch>
        </p:blipFill>
        <p:spPr>
          <a:xfrm>
            <a:off x="3241182" y="2028139"/>
            <a:ext cx="332842" cy="332842"/>
          </a:xfrm>
          <a:prstGeom prst="rect">
            <a:avLst/>
          </a:prstGeom>
        </p:spPr>
      </p:pic>
      <p:sp>
        <p:nvSpPr>
          <p:cNvPr id="14" name="Text 9"/>
          <p:cNvSpPr txBox="1"/>
          <p:nvPr/>
        </p:nvSpPr>
        <p:spPr>
          <a:xfrm>
            <a:off x="3087563" y="2743200"/>
            <a:ext cx="1097280" cy="54864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02</a:t>
            </a:r>
            <a:endParaRPr lang="en-US" sz="3000" dirty="0"/>
          </a:p>
        </p:txBody>
      </p:sp>
      <p:sp>
        <p:nvSpPr>
          <p:cNvPr id="15" name="Text 10"/>
          <p:cNvSpPr txBox="1"/>
          <p:nvPr/>
        </p:nvSpPr>
        <p:spPr>
          <a:xfrm>
            <a:off x="3087563" y="3337560"/>
            <a:ext cx="1578803" cy="68580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Metodología RUP</a:t>
            </a:r>
            <a:endParaRPr lang="en-US" sz="1700" dirty="0"/>
          </a:p>
        </p:txBody>
      </p:sp>
      <p:sp>
        <p:nvSpPr>
          <p:cNvPr id="16" name="Text 11"/>
          <p:cNvSpPr txBox="1"/>
          <p:nvPr/>
        </p:nvSpPr>
        <p:spPr>
          <a:xfrm>
            <a:off x="3087563" y="4114800"/>
            <a:ext cx="1578803"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Fases e hitos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Iteraciones y entregables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Gestión de riesgos</a:t>
            </a:r>
            <a:endParaRPr lang="en-US" sz="1250" dirty="0"/>
          </a:p>
        </p:txBody>
      </p:sp>
      <p:sp>
        <p:nvSpPr>
          <p:cNvPr id="17" name="Shape 12"/>
          <p:cNvSpPr/>
          <p:nvPr/>
        </p:nvSpPr>
        <p:spPr>
          <a:xfrm>
            <a:off x="5077846" y="1600200"/>
            <a:ext cx="2036003" cy="4069080"/>
          </a:xfrm>
          <a:prstGeom prst="roundRect">
            <a:avLst>
              <a:gd name="adj" fmla="val 3593"/>
            </a:avLst>
          </a:prstGeom>
          <a:solidFill>
            <a:srgbClr val="F5F5F7"/>
          </a:solidFill>
          <a:ln/>
        </p:spPr>
      </p:sp>
      <p:sp>
        <p:nvSpPr>
          <p:cNvPr id="18" name="Shape 13"/>
          <p:cNvSpPr/>
          <p:nvPr/>
        </p:nvSpPr>
        <p:spPr>
          <a:xfrm>
            <a:off x="5352166" y="1874520"/>
            <a:ext cx="640080" cy="640080"/>
          </a:xfrm>
          <a:prstGeom prst="ellipse">
            <a:avLst/>
          </a:prstGeom>
          <a:solidFill>
            <a:srgbClr val="EDE4FB"/>
          </a:solidFill>
          <a:ln/>
        </p:spPr>
      </p:sp>
      <p:pic>
        <p:nvPicPr>
          <p:cNvPr id="19" name="Image 2" descr="preencoded.png">    </p:cNvPr>
          <p:cNvPicPr>
            <a:picLocks noChangeAspect="1"/>
          </p:cNvPicPr>
          <p:nvPr/>
        </p:nvPicPr>
        <p:blipFill>
          <a:blip r:embed="rId3"/>
          <a:stretch>
            <a:fillRect/>
          </a:stretch>
        </p:blipFill>
        <p:spPr>
          <a:xfrm>
            <a:off x="5505785" y="2028139"/>
            <a:ext cx="332842" cy="332842"/>
          </a:xfrm>
          <a:prstGeom prst="rect">
            <a:avLst/>
          </a:prstGeom>
        </p:spPr>
      </p:pic>
      <p:sp>
        <p:nvSpPr>
          <p:cNvPr id="20" name="Text 14"/>
          <p:cNvSpPr txBox="1"/>
          <p:nvPr/>
        </p:nvSpPr>
        <p:spPr>
          <a:xfrm>
            <a:off x="5352166" y="2743200"/>
            <a:ext cx="1097280" cy="54864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03</a:t>
            </a:r>
            <a:endParaRPr lang="en-US" sz="3000" dirty="0"/>
          </a:p>
        </p:txBody>
      </p:sp>
      <p:sp>
        <p:nvSpPr>
          <p:cNvPr id="21" name="Text 15"/>
          <p:cNvSpPr txBox="1"/>
          <p:nvPr/>
        </p:nvSpPr>
        <p:spPr>
          <a:xfrm>
            <a:off x="5352166" y="3337560"/>
            <a:ext cx="1578803" cy="68580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Modelado y diseño</a:t>
            </a:r>
            <a:endParaRPr lang="en-US" sz="1700" dirty="0"/>
          </a:p>
        </p:txBody>
      </p:sp>
      <p:sp>
        <p:nvSpPr>
          <p:cNvPr id="22" name="Text 16"/>
          <p:cNvSpPr txBox="1"/>
          <p:nvPr/>
        </p:nvSpPr>
        <p:spPr>
          <a:xfrm>
            <a:off x="5352166" y="4114800"/>
            <a:ext cx="1578803"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Requisitos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Diagramas UML</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Datos, arquitectura y despliegue</a:t>
            </a:r>
            <a:endParaRPr lang="en-US" sz="1250" dirty="0"/>
          </a:p>
        </p:txBody>
      </p:sp>
      <p:sp>
        <p:nvSpPr>
          <p:cNvPr id="23" name="Shape 17"/>
          <p:cNvSpPr/>
          <p:nvPr/>
        </p:nvSpPr>
        <p:spPr>
          <a:xfrm>
            <a:off x="7342449" y="1600200"/>
            <a:ext cx="2036003" cy="4069080"/>
          </a:xfrm>
          <a:prstGeom prst="roundRect">
            <a:avLst>
              <a:gd name="adj" fmla="val 3593"/>
            </a:avLst>
          </a:prstGeom>
          <a:solidFill>
            <a:srgbClr val="F5F5F7"/>
          </a:solidFill>
          <a:ln/>
        </p:spPr>
      </p:sp>
      <p:sp>
        <p:nvSpPr>
          <p:cNvPr id="24" name="Shape 18"/>
          <p:cNvSpPr/>
          <p:nvPr/>
        </p:nvSpPr>
        <p:spPr>
          <a:xfrm>
            <a:off x="7616769" y="1874520"/>
            <a:ext cx="640080" cy="640080"/>
          </a:xfrm>
          <a:prstGeom prst="ellipse">
            <a:avLst/>
          </a:prstGeom>
          <a:solidFill>
            <a:srgbClr val="EDE4FB"/>
          </a:solidFill>
          <a:ln/>
        </p:spPr>
      </p:sp>
      <p:pic>
        <p:nvPicPr>
          <p:cNvPr id="25" name="Image 3" descr="preencoded.png">    </p:cNvPr>
          <p:cNvPicPr>
            <a:picLocks noChangeAspect="1"/>
          </p:cNvPicPr>
          <p:nvPr/>
        </p:nvPicPr>
        <p:blipFill>
          <a:blip r:embed="rId4"/>
          <a:stretch>
            <a:fillRect/>
          </a:stretch>
        </p:blipFill>
        <p:spPr>
          <a:xfrm>
            <a:off x="7770388" y="2028139"/>
            <a:ext cx="332842" cy="332842"/>
          </a:xfrm>
          <a:prstGeom prst="rect">
            <a:avLst/>
          </a:prstGeom>
        </p:spPr>
      </p:pic>
      <p:sp>
        <p:nvSpPr>
          <p:cNvPr id="26" name="Text 19"/>
          <p:cNvSpPr txBox="1"/>
          <p:nvPr/>
        </p:nvSpPr>
        <p:spPr>
          <a:xfrm>
            <a:off x="7616769" y="2743200"/>
            <a:ext cx="1097280" cy="54864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04</a:t>
            </a:r>
            <a:endParaRPr lang="en-US" sz="3000" dirty="0"/>
          </a:p>
        </p:txBody>
      </p:sp>
      <p:sp>
        <p:nvSpPr>
          <p:cNvPr id="27" name="Text 20"/>
          <p:cNvSpPr txBox="1"/>
          <p:nvPr/>
        </p:nvSpPr>
        <p:spPr>
          <a:xfrm>
            <a:off x="7616769" y="3337560"/>
            <a:ext cx="1578803" cy="68580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La solución</a:t>
            </a:r>
            <a:endParaRPr lang="en-US" sz="1700" dirty="0"/>
          </a:p>
        </p:txBody>
      </p:sp>
      <p:sp>
        <p:nvSpPr>
          <p:cNvPr id="28" name="Text 21"/>
          <p:cNvSpPr txBox="1"/>
          <p:nvPr/>
        </p:nvSpPr>
        <p:spPr>
          <a:xfrm>
            <a:off x="7616769" y="4114800"/>
            <a:ext cx="1578803"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La web renovada</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Antes y después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Funcionalidades y pruebas</a:t>
            </a:r>
            <a:endParaRPr lang="en-US" sz="1250" dirty="0"/>
          </a:p>
        </p:txBody>
      </p:sp>
      <p:sp>
        <p:nvSpPr>
          <p:cNvPr id="29" name="Shape 22"/>
          <p:cNvSpPr/>
          <p:nvPr/>
        </p:nvSpPr>
        <p:spPr>
          <a:xfrm>
            <a:off x="9607052" y="1600200"/>
            <a:ext cx="2036003" cy="4069080"/>
          </a:xfrm>
          <a:prstGeom prst="roundRect">
            <a:avLst>
              <a:gd name="adj" fmla="val 3593"/>
            </a:avLst>
          </a:prstGeom>
          <a:solidFill>
            <a:srgbClr val="F5F5F7"/>
          </a:solidFill>
          <a:ln/>
        </p:spPr>
      </p:sp>
      <p:sp>
        <p:nvSpPr>
          <p:cNvPr id="30" name="Shape 23"/>
          <p:cNvSpPr/>
          <p:nvPr/>
        </p:nvSpPr>
        <p:spPr>
          <a:xfrm>
            <a:off x="9881372" y="1874520"/>
            <a:ext cx="640080" cy="640080"/>
          </a:xfrm>
          <a:prstGeom prst="ellipse">
            <a:avLst/>
          </a:prstGeom>
          <a:solidFill>
            <a:srgbClr val="EDE4FB"/>
          </a:solidFill>
          <a:ln/>
        </p:spPr>
      </p:sp>
      <p:pic>
        <p:nvPicPr>
          <p:cNvPr id="31" name="Image 4" descr="preencoded.png">    </p:cNvPr>
          <p:cNvPicPr>
            <a:picLocks noChangeAspect="1"/>
          </p:cNvPicPr>
          <p:nvPr/>
        </p:nvPicPr>
        <p:blipFill>
          <a:blip r:embed="rId5"/>
          <a:stretch>
            <a:fillRect/>
          </a:stretch>
        </p:blipFill>
        <p:spPr>
          <a:xfrm>
            <a:off x="10034991" y="2028139"/>
            <a:ext cx="332842" cy="332842"/>
          </a:xfrm>
          <a:prstGeom prst="rect">
            <a:avLst/>
          </a:prstGeom>
        </p:spPr>
      </p:pic>
      <p:sp>
        <p:nvSpPr>
          <p:cNvPr id="32" name="Text 24"/>
          <p:cNvSpPr txBox="1"/>
          <p:nvPr/>
        </p:nvSpPr>
        <p:spPr>
          <a:xfrm>
            <a:off x="9881372" y="2743200"/>
            <a:ext cx="1097280" cy="548640"/>
          </a:xfrm>
          <a:prstGeom prst="rect">
            <a:avLst/>
          </a:prstGeom>
          <a:noFill/>
          <a:ln/>
        </p:spPr>
        <p:txBody>
          <a:bodyPr wrap="square" lIns="0" tIns="0" rIns="0" bIns="0" rtlCol="0" anchor="t"/>
          <a:lstStyle/>
          <a:p>
            <a:pPr indent="0" marL="0">
              <a:buNone/>
            </a:pPr>
            <a:r>
              <a:rPr lang="en-US" sz="3000" b="1" dirty="0">
                <a:solidFill>
                  <a:srgbClr val="6D28D9"/>
                </a:solidFill>
                <a:latin typeface="Arial" pitchFamily="34" charset="0"/>
                <a:ea typeface="Arial" pitchFamily="34" charset="-122"/>
                <a:cs typeface="Arial" pitchFamily="34" charset="-120"/>
              </a:rPr>
              <a:t>05</a:t>
            </a:r>
            <a:endParaRPr lang="en-US" sz="3000" dirty="0"/>
          </a:p>
        </p:txBody>
      </p:sp>
      <p:sp>
        <p:nvSpPr>
          <p:cNvPr id="33" name="Text 25"/>
          <p:cNvSpPr txBox="1"/>
          <p:nvPr/>
        </p:nvSpPr>
        <p:spPr>
          <a:xfrm>
            <a:off x="9881372" y="3337560"/>
            <a:ext cx="1578803" cy="68580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Resultados y cierre</a:t>
            </a:r>
            <a:endParaRPr lang="en-US" sz="1700" dirty="0"/>
          </a:p>
        </p:txBody>
      </p:sp>
      <p:sp>
        <p:nvSpPr>
          <p:cNvPr id="34" name="Text 26"/>
          <p:cNvSpPr txBox="1"/>
          <p:nvPr/>
        </p:nvSpPr>
        <p:spPr>
          <a:xfrm>
            <a:off x="9881372" y="4114800"/>
            <a:ext cx="1578803" cy="17373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Resultado medido</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Plan de transición</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Conclusiones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LA EMPRESA</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Black Hawk Car Audio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3</a:t>
            </a:r>
            <a:endParaRPr lang="en-US" sz="900" dirty="0"/>
          </a:p>
        </p:txBody>
      </p:sp>
      <p:sp>
        <p:nvSpPr>
          <p:cNvPr id="6" name="Shape 3"/>
          <p:cNvSpPr/>
          <p:nvPr/>
        </p:nvSpPr>
        <p:spPr>
          <a:xfrm>
            <a:off x="548640" y="1554480"/>
            <a:ext cx="603504" cy="603504"/>
          </a:xfrm>
          <a:prstGeom prst="ellipse">
            <a:avLst/>
          </a:prstGeom>
          <a:solidFill>
            <a:srgbClr val="EDE4FB"/>
          </a:solidFill>
          <a:ln/>
        </p:spPr>
      </p:sp>
      <p:pic>
        <p:nvPicPr>
          <p:cNvPr id="7" name="Image 0" descr="preencoded.png">    </p:cNvPr>
          <p:cNvPicPr>
            <a:picLocks noChangeAspect="1"/>
          </p:cNvPicPr>
          <p:nvPr/>
        </p:nvPicPr>
        <p:blipFill>
          <a:blip r:embed="rId1"/>
          <a:stretch>
            <a:fillRect/>
          </a:stretch>
        </p:blipFill>
        <p:spPr>
          <a:xfrm>
            <a:off x="693481" y="1699321"/>
            <a:ext cx="313822" cy="313822"/>
          </a:xfrm>
          <a:prstGeom prst="rect">
            <a:avLst/>
          </a:prstGeom>
        </p:spPr>
      </p:pic>
      <p:sp>
        <p:nvSpPr>
          <p:cNvPr id="8" name="Text 4"/>
          <p:cNvSpPr txBox="1"/>
          <p:nvPr/>
        </p:nvSpPr>
        <p:spPr>
          <a:xfrm>
            <a:off x="1371600" y="1554480"/>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Sector</a:t>
            </a:r>
            <a:endParaRPr lang="en-US" sz="1600" dirty="0"/>
          </a:p>
        </p:txBody>
      </p:sp>
      <p:sp>
        <p:nvSpPr>
          <p:cNvPr id="9" name="Text 5"/>
          <p:cNvSpPr txBox="1"/>
          <p:nvPr/>
        </p:nvSpPr>
        <p:spPr>
          <a:xfrm>
            <a:off x="1371600" y="1883664"/>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Audio automotriz en el Perú.</a:t>
            </a:r>
            <a:endParaRPr lang="en-US" sz="1350" dirty="0"/>
          </a:p>
        </p:txBody>
      </p:sp>
      <p:sp>
        <p:nvSpPr>
          <p:cNvPr id="10" name="Shape 6"/>
          <p:cNvSpPr/>
          <p:nvPr/>
        </p:nvSpPr>
        <p:spPr>
          <a:xfrm>
            <a:off x="548640" y="2578608"/>
            <a:ext cx="603504" cy="603504"/>
          </a:xfrm>
          <a:prstGeom prst="ellipse">
            <a:avLst/>
          </a:prstGeom>
          <a:solidFill>
            <a:srgbClr val="EDE4FB"/>
          </a:solidFill>
          <a:ln/>
        </p:spPr>
      </p:sp>
      <p:pic>
        <p:nvPicPr>
          <p:cNvPr id="11" name="Image 1" descr="preencoded.png">    </p:cNvPr>
          <p:cNvPicPr>
            <a:picLocks noChangeAspect="1"/>
          </p:cNvPicPr>
          <p:nvPr/>
        </p:nvPicPr>
        <p:blipFill>
          <a:blip r:embed="rId2"/>
          <a:stretch>
            <a:fillRect/>
          </a:stretch>
        </p:blipFill>
        <p:spPr>
          <a:xfrm>
            <a:off x="693481" y="2723449"/>
            <a:ext cx="313822" cy="313822"/>
          </a:xfrm>
          <a:prstGeom prst="rect">
            <a:avLst/>
          </a:prstGeom>
        </p:spPr>
      </p:pic>
      <p:sp>
        <p:nvSpPr>
          <p:cNvPr id="12" name="Text 7"/>
          <p:cNvSpPr txBox="1"/>
          <p:nvPr/>
        </p:nvSpPr>
        <p:spPr>
          <a:xfrm>
            <a:off x="1371600" y="2578608"/>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Productos</a:t>
            </a:r>
            <a:endParaRPr lang="en-US" sz="1600" dirty="0"/>
          </a:p>
        </p:txBody>
      </p:sp>
      <p:sp>
        <p:nvSpPr>
          <p:cNvPr id="13" name="Text 8"/>
          <p:cNvSpPr txBox="1"/>
          <p:nvPr/>
        </p:nvSpPr>
        <p:spPr>
          <a:xfrm>
            <a:off x="1371600" y="2907792"/>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Amplificadores, subwoofers, procesadores, parlantes y más.</a:t>
            </a:r>
            <a:endParaRPr lang="en-US" sz="1350" dirty="0"/>
          </a:p>
        </p:txBody>
      </p:sp>
      <p:sp>
        <p:nvSpPr>
          <p:cNvPr id="14" name="Shape 9"/>
          <p:cNvSpPr/>
          <p:nvPr/>
        </p:nvSpPr>
        <p:spPr>
          <a:xfrm>
            <a:off x="548640" y="3602736"/>
            <a:ext cx="603504" cy="603504"/>
          </a:xfrm>
          <a:prstGeom prst="ellipse">
            <a:avLst/>
          </a:prstGeom>
          <a:solidFill>
            <a:srgbClr val="EDE4FB"/>
          </a:solidFill>
          <a:ln/>
        </p:spPr>
      </p:sp>
      <p:pic>
        <p:nvPicPr>
          <p:cNvPr id="15" name="Image 2" descr="preencoded.png">    </p:cNvPr>
          <p:cNvPicPr>
            <a:picLocks noChangeAspect="1"/>
          </p:cNvPicPr>
          <p:nvPr/>
        </p:nvPicPr>
        <p:blipFill>
          <a:blip r:embed="rId3"/>
          <a:stretch>
            <a:fillRect/>
          </a:stretch>
        </p:blipFill>
        <p:spPr>
          <a:xfrm>
            <a:off x="693481" y="3747577"/>
            <a:ext cx="313822" cy="313822"/>
          </a:xfrm>
          <a:prstGeom prst="rect">
            <a:avLst/>
          </a:prstGeom>
        </p:spPr>
      </p:pic>
      <p:sp>
        <p:nvSpPr>
          <p:cNvPr id="16" name="Text 10"/>
          <p:cNvSpPr txBox="1"/>
          <p:nvPr/>
        </p:nvSpPr>
        <p:spPr>
          <a:xfrm>
            <a:off x="1371600" y="3602736"/>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Público</a:t>
            </a:r>
            <a:endParaRPr lang="en-US" sz="1600" dirty="0"/>
          </a:p>
        </p:txBody>
      </p:sp>
      <p:sp>
        <p:nvSpPr>
          <p:cNvPr id="17" name="Text 11"/>
          <p:cNvSpPr txBox="1"/>
          <p:nvPr/>
        </p:nvSpPr>
        <p:spPr>
          <a:xfrm>
            <a:off x="1371600" y="3931920"/>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Quien equipa su vehículo y las tiendas que venden la marca.</a:t>
            </a:r>
            <a:endParaRPr lang="en-US" sz="1350" dirty="0"/>
          </a:p>
        </p:txBody>
      </p:sp>
      <p:sp>
        <p:nvSpPr>
          <p:cNvPr id="18" name="Shape 12"/>
          <p:cNvSpPr/>
          <p:nvPr/>
        </p:nvSpPr>
        <p:spPr>
          <a:xfrm>
            <a:off x="548640" y="4626864"/>
            <a:ext cx="603504" cy="603504"/>
          </a:xfrm>
          <a:prstGeom prst="ellipse">
            <a:avLst/>
          </a:prstGeom>
          <a:solidFill>
            <a:srgbClr val="EDE4FB"/>
          </a:solidFill>
          <a:ln/>
        </p:spPr>
      </p:sp>
      <p:pic>
        <p:nvPicPr>
          <p:cNvPr id="19" name="Image 3" descr="preencoded.png">    </p:cNvPr>
          <p:cNvPicPr>
            <a:picLocks noChangeAspect="1"/>
          </p:cNvPicPr>
          <p:nvPr/>
        </p:nvPicPr>
        <p:blipFill>
          <a:blip r:embed="rId4"/>
          <a:stretch>
            <a:fillRect/>
          </a:stretch>
        </p:blipFill>
        <p:spPr>
          <a:xfrm>
            <a:off x="693481" y="4771705"/>
            <a:ext cx="313822" cy="313822"/>
          </a:xfrm>
          <a:prstGeom prst="rect">
            <a:avLst/>
          </a:prstGeom>
        </p:spPr>
      </p:pic>
      <p:sp>
        <p:nvSpPr>
          <p:cNvPr id="20" name="Text 13"/>
          <p:cNvSpPr txBox="1"/>
          <p:nvPr/>
        </p:nvSpPr>
        <p:spPr>
          <a:xfrm>
            <a:off x="1371600" y="4626864"/>
            <a:ext cx="4937760" cy="320040"/>
          </a:xfrm>
          <a:prstGeom prst="rect">
            <a:avLst/>
          </a:prstGeom>
          <a:noFill/>
          <a:ln/>
        </p:spPr>
        <p:txBody>
          <a:bodyPr wrap="square" lIns="0" tIns="0" rIns="0" bIns="0" rtlCol="0" anchor="t"/>
          <a:lstStyle/>
          <a:p>
            <a:pPr indent="0" marL="0">
              <a:buNone/>
            </a:pPr>
            <a:r>
              <a:rPr lang="en-US" sz="1600" b="1" dirty="0">
                <a:solidFill>
                  <a:srgbClr val="0B0B0D"/>
                </a:solidFill>
                <a:latin typeface="Arial" pitchFamily="34" charset="0"/>
                <a:ea typeface="Arial" pitchFamily="34" charset="-122"/>
                <a:cs typeface="Arial" pitchFamily="34" charset="-120"/>
              </a:rPr>
              <a:t>Modelo comercial</a:t>
            </a:r>
            <a:endParaRPr lang="en-US" sz="1600" dirty="0"/>
          </a:p>
        </p:txBody>
      </p:sp>
      <p:sp>
        <p:nvSpPr>
          <p:cNvPr id="21" name="Text 14"/>
          <p:cNvSpPr txBox="1"/>
          <p:nvPr/>
        </p:nvSpPr>
        <p:spPr>
          <a:xfrm>
            <a:off x="1371600" y="4956048"/>
            <a:ext cx="4937760" cy="594360"/>
          </a:xfrm>
          <a:prstGeom prst="rect">
            <a:avLst/>
          </a:prstGeom>
          <a:noFill/>
          <a:ln/>
        </p:spPr>
        <p:txBody>
          <a:bodyPr wrap="square" lIns="0" tIns="0" rIns="0" bIns="0" rtlCol="0" anchor="t"/>
          <a:lstStyle/>
          <a:p>
            <a:pPr indent="0" marL="0">
              <a:buNone/>
            </a:pPr>
            <a:r>
              <a:rPr lang="en-US" sz="1350" dirty="0">
                <a:solidFill>
                  <a:srgbClr val="6B7280"/>
                </a:solidFill>
                <a:latin typeface="Arial" pitchFamily="34" charset="0"/>
                <a:ea typeface="Arial" pitchFamily="34" charset="-122"/>
                <a:cs typeface="Arial" pitchFamily="34" charset="-120"/>
              </a:rPr>
              <a:t>La web es un catálogo: la compra se cierra con el área comercial o un distribuidor.</a:t>
            </a:r>
            <a:endParaRPr lang="en-US" sz="1350" dirty="0"/>
          </a:p>
        </p:txBody>
      </p:sp>
      <p:pic>
        <p:nvPicPr>
          <p:cNvPr id="22" name="Image 4" descr="../../assets/images/brand/amplificadores-960.jpg">    </p:cNvPr>
          <p:cNvPicPr>
            <a:picLocks noChangeAspect="1"/>
          </p:cNvPicPr>
          <p:nvPr/>
        </p:nvPicPr>
        <p:blipFill>
          <a:blip r:embed="rId5"/>
          <a:stretch>
            <a:fillRect/>
          </a:stretch>
        </p:blipFill>
        <p:spPr>
          <a:xfrm>
            <a:off x="6492240" y="1508760"/>
            <a:ext cx="5148072" cy="2871216"/>
          </a:xfrm>
          <a:prstGeom prst="rect">
            <a:avLst/>
          </a:prstGeom>
        </p:spPr>
      </p:pic>
      <p:sp>
        <p:nvSpPr>
          <p:cNvPr id="23" name="Text 15"/>
          <p:cNvSpPr txBox="1"/>
          <p:nvPr/>
        </p:nvSpPr>
        <p:spPr>
          <a:xfrm>
            <a:off x="6492240" y="4617720"/>
            <a:ext cx="2560320" cy="731520"/>
          </a:xfrm>
          <a:prstGeom prst="rect">
            <a:avLst/>
          </a:prstGeom>
          <a:noFill/>
          <a:ln/>
        </p:spPr>
        <p:txBody>
          <a:bodyPr wrap="square" lIns="0" tIns="0" rIns="0" bIns="0" rtlCol="0" anchor="ctr"/>
          <a:lstStyle/>
          <a:p>
            <a:pPr indent="0" marL="0">
              <a:buNone/>
            </a:pPr>
            <a:r>
              <a:rPr lang="en-US" sz="3800" b="1" dirty="0">
                <a:solidFill>
                  <a:srgbClr val="0B0B0D"/>
                </a:solidFill>
                <a:latin typeface="Arial" pitchFamily="34" charset="0"/>
                <a:ea typeface="Arial" pitchFamily="34" charset="-122"/>
                <a:cs typeface="Arial" pitchFamily="34" charset="-120"/>
              </a:rPr>
              <a:t>110</a:t>
            </a:r>
            <a:pPr indent="0" marL="0">
              <a:buNone/>
            </a:pPr>
            <a:r>
              <a:rPr lang="en-US" sz="1400" dirty="0">
                <a:solidFill>
                  <a:srgbClr val="6B7280"/>
                </a:solidFill>
                <a:latin typeface="Arial" pitchFamily="34" charset="0"/>
                <a:ea typeface="Arial" pitchFamily="34" charset="-122"/>
                <a:cs typeface="Arial" pitchFamily="34" charset="-120"/>
              </a:rPr>
              <a:t>  productos</a:t>
            </a:r>
            <a:endParaRPr lang="en-US" sz="1500" dirty="0"/>
          </a:p>
        </p:txBody>
      </p:sp>
      <p:sp>
        <p:nvSpPr>
          <p:cNvPr id="24" name="Text 16"/>
          <p:cNvSpPr txBox="1"/>
          <p:nvPr/>
        </p:nvSpPr>
        <p:spPr>
          <a:xfrm>
            <a:off x="9098280" y="4617720"/>
            <a:ext cx="2560320" cy="731520"/>
          </a:xfrm>
          <a:prstGeom prst="rect">
            <a:avLst/>
          </a:prstGeom>
          <a:noFill/>
          <a:ln/>
        </p:spPr>
        <p:txBody>
          <a:bodyPr wrap="square" lIns="0" tIns="0" rIns="0" bIns="0" rtlCol="0" anchor="ctr"/>
          <a:lstStyle/>
          <a:p>
            <a:pPr indent="0" marL="0">
              <a:buNone/>
            </a:pPr>
            <a:r>
              <a:rPr lang="en-US" sz="3800" b="1" dirty="0">
                <a:solidFill>
                  <a:srgbClr val="6D28D9"/>
                </a:solidFill>
                <a:latin typeface="Arial" pitchFamily="34" charset="0"/>
                <a:ea typeface="Arial" pitchFamily="34" charset="-122"/>
                <a:cs typeface="Arial" pitchFamily="34" charset="-120"/>
              </a:rPr>
              <a:t>11</a:t>
            </a:r>
            <a:pPr indent="0" marL="0">
              <a:buNone/>
            </a:pPr>
            <a:r>
              <a:rPr lang="en-US" sz="1400" dirty="0">
                <a:solidFill>
                  <a:srgbClr val="6B7280"/>
                </a:solidFill>
                <a:latin typeface="Arial" pitchFamily="34" charset="0"/>
                <a:ea typeface="Arial" pitchFamily="34" charset="-122"/>
                <a:cs typeface="Arial" pitchFamily="34" charset="-120"/>
              </a:rPr>
              <a:t>  categorías</a:t>
            </a:r>
            <a:endParaRPr lang="en-US" sz="1500" dirty="0"/>
          </a:p>
        </p:txBody>
      </p:sp>
      <p:sp>
        <p:nvSpPr>
          <p:cNvPr id="25" name="Text 17"/>
          <p:cNvSpPr txBox="1"/>
          <p:nvPr/>
        </p:nvSpPr>
        <p:spPr>
          <a:xfrm>
            <a:off x="548640" y="6446520"/>
            <a:ext cx="8961120" cy="274320"/>
          </a:xfrm>
          <a:prstGeom prst="rect">
            <a:avLst/>
          </a:prstGeom>
          <a:noFill/>
          <a:ln/>
        </p:spPr>
        <p:txBody>
          <a:bodyPr wrap="square" lIns="0" tIns="0" rIns="0" bIns="0" rtlCol="0" anchor="t"/>
          <a:lstStyle/>
          <a:p>
            <a:pPr indent="0" marL="0">
              <a:buNone/>
            </a:pPr>
            <a:r>
              <a:rPr lang="en-US" sz="900" dirty="0">
                <a:solidFill>
                  <a:srgbClr val="9CA3AF"/>
                </a:solidFill>
                <a:latin typeface="Arial" pitchFamily="34" charset="0"/>
                <a:ea typeface="Arial" pitchFamily="34" charset="-122"/>
                <a:cs typeface="Arial" pitchFamily="34" charset="-120"/>
              </a:rPr>
              <a:t>Cifras del sitemap del sitio original (29-09-2026). Imagen: sitio oficial de Black Hawk.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La plataforma original: una base que ya funciona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4</a:t>
            </a:r>
            <a:endParaRPr lang="en-US" sz="900" dirty="0"/>
          </a:p>
        </p:txBody>
      </p:sp>
      <p:pic>
        <p:nvPicPr>
          <p:cNvPr id="6" name="Image 0" descr="img/v3-A-home.png">    </p:cNvPr>
          <p:cNvPicPr>
            <a:picLocks noChangeAspect="1"/>
          </p:cNvPicPr>
          <p:nvPr/>
        </p:nvPicPr>
        <p:blipFill>
          <a:blip r:embed="rId1"/>
          <a:stretch>
            <a:fillRect/>
          </a:stretch>
        </p:blipFill>
        <p:spPr>
          <a:xfrm>
            <a:off x="548640" y="1465326"/>
            <a:ext cx="2377440" cy="1485900"/>
          </a:xfrm>
          <a:prstGeom prst="rect">
            <a:avLst/>
          </a:prstGeom>
        </p:spPr>
      </p:pic>
      <p:sp>
        <p:nvSpPr>
          <p:cNvPr id="7" name="Shape 3"/>
          <p:cNvSpPr/>
          <p:nvPr/>
        </p:nvSpPr>
        <p:spPr>
          <a:xfrm>
            <a:off x="548640" y="1465326"/>
            <a:ext cx="2377440" cy="1485900"/>
          </a:xfrm>
          <a:prstGeom prst="rect">
            <a:avLst/>
          </a:prstGeom>
          <a:ln w="12700">
            <a:solidFill>
              <a:srgbClr val="E3E4E8"/>
            </a:solidFill>
            <a:prstDash val="solid"/>
          </a:ln>
        </p:spPr>
      </p:sp>
      <p:sp>
        <p:nvSpPr>
          <p:cNvPr id="8" name="Text 4"/>
          <p:cNvSpPr txBox="1"/>
          <p:nvPr/>
        </p:nvSpPr>
        <p:spPr>
          <a:xfrm>
            <a:off x="548640"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Home</a:t>
            </a:r>
            <a:endParaRPr lang="en-US" sz="1100" dirty="0"/>
          </a:p>
        </p:txBody>
      </p:sp>
      <p:pic>
        <p:nvPicPr>
          <p:cNvPr id="9" name="Image 1" descr="img/v3-A-shop.png">    </p:cNvPr>
          <p:cNvPicPr>
            <a:picLocks noChangeAspect="1"/>
          </p:cNvPicPr>
          <p:nvPr/>
        </p:nvPicPr>
        <p:blipFill>
          <a:blip r:embed="rId2"/>
          <a:stretch>
            <a:fillRect/>
          </a:stretch>
        </p:blipFill>
        <p:spPr>
          <a:xfrm>
            <a:off x="3035808" y="1465326"/>
            <a:ext cx="2377440" cy="1485900"/>
          </a:xfrm>
          <a:prstGeom prst="rect">
            <a:avLst/>
          </a:prstGeom>
        </p:spPr>
      </p:pic>
      <p:sp>
        <p:nvSpPr>
          <p:cNvPr id="10" name="Shape 5"/>
          <p:cNvSpPr/>
          <p:nvPr/>
        </p:nvSpPr>
        <p:spPr>
          <a:xfrm>
            <a:off x="3035808" y="1465326"/>
            <a:ext cx="2377440" cy="1485900"/>
          </a:xfrm>
          <a:prstGeom prst="rect">
            <a:avLst/>
          </a:prstGeom>
          <a:ln w="12700">
            <a:solidFill>
              <a:srgbClr val="E3E4E8"/>
            </a:solidFill>
            <a:prstDash val="solid"/>
          </a:ln>
        </p:spPr>
      </p:sp>
      <p:sp>
        <p:nvSpPr>
          <p:cNvPr id="11" name="Text 6"/>
          <p:cNvSpPr txBox="1"/>
          <p:nvPr/>
        </p:nvSpPr>
        <p:spPr>
          <a:xfrm>
            <a:off x="3035808"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Tienda (/shop/)</a:t>
            </a:r>
            <a:endParaRPr lang="en-US" sz="1100" dirty="0"/>
          </a:p>
        </p:txBody>
      </p:sp>
      <p:pic>
        <p:nvPicPr>
          <p:cNvPr id="12" name="Image 2" descr="img/v3-A-ficha.png">    </p:cNvPr>
          <p:cNvPicPr>
            <a:picLocks noChangeAspect="1"/>
          </p:cNvPicPr>
          <p:nvPr/>
        </p:nvPicPr>
        <p:blipFill>
          <a:blip r:embed="rId3"/>
          <a:stretch>
            <a:fillRect/>
          </a:stretch>
        </p:blipFill>
        <p:spPr>
          <a:xfrm>
            <a:off x="5522976" y="1465326"/>
            <a:ext cx="2377440" cy="1485900"/>
          </a:xfrm>
          <a:prstGeom prst="rect">
            <a:avLst/>
          </a:prstGeom>
        </p:spPr>
      </p:pic>
      <p:sp>
        <p:nvSpPr>
          <p:cNvPr id="13" name="Shape 7"/>
          <p:cNvSpPr/>
          <p:nvPr/>
        </p:nvSpPr>
        <p:spPr>
          <a:xfrm>
            <a:off x="5522976" y="1465326"/>
            <a:ext cx="2377440" cy="1485900"/>
          </a:xfrm>
          <a:prstGeom prst="rect">
            <a:avLst/>
          </a:prstGeom>
          <a:ln w="12700">
            <a:solidFill>
              <a:srgbClr val="E3E4E8"/>
            </a:solidFill>
            <a:prstDash val="solid"/>
          </a:ln>
        </p:spPr>
      </p:sp>
      <p:sp>
        <p:nvSpPr>
          <p:cNvPr id="14" name="Text 8"/>
          <p:cNvSpPr txBox="1"/>
          <p:nvPr/>
        </p:nvSpPr>
        <p:spPr>
          <a:xfrm>
            <a:off x="5522976" y="3017520"/>
            <a:ext cx="237744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Ficha BH-SW12XXG</a:t>
            </a:r>
            <a:endParaRPr lang="en-US" sz="1100" dirty="0"/>
          </a:p>
        </p:txBody>
      </p:sp>
      <p:sp>
        <p:nvSpPr>
          <p:cNvPr id="15" name="Shape 9"/>
          <p:cNvSpPr/>
          <p:nvPr/>
        </p:nvSpPr>
        <p:spPr>
          <a:xfrm>
            <a:off x="548640" y="3383280"/>
            <a:ext cx="625221" cy="256032"/>
          </a:xfrm>
          <a:prstGeom prst="roundRect">
            <a:avLst>
              <a:gd name="adj" fmla="val 50000"/>
            </a:avLst>
          </a:prstGeom>
          <a:solidFill>
            <a:srgbClr val="FFFFFF"/>
          </a:solidFill>
          <a:ln w="9525">
            <a:solidFill>
              <a:srgbClr val="0B0B0D"/>
            </a:solidFill>
            <a:prstDash val="solid"/>
          </a:ln>
        </p:spPr>
      </p:sp>
      <p:sp>
        <p:nvSpPr>
          <p:cNvPr id="16" name="Text 10"/>
          <p:cNvSpPr txBox="1"/>
          <p:nvPr/>
        </p:nvSpPr>
        <p:spPr>
          <a:xfrm>
            <a:off x="548640" y="3383280"/>
            <a:ext cx="625221"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ANTES</a:t>
            </a:r>
            <a:endParaRPr lang="en-US" sz="950" dirty="0"/>
          </a:p>
        </p:txBody>
      </p:sp>
      <p:sp>
        <p:nvSpPr>
          <p:cNvPr id="17" name="Text 11"/>
          <p:cNvSpPr txBox="1"/>
          <p:nvPr/>
        </p:nvSpPr>
        <p:spPr>
          <a:xfrm>
            <a:off x="1371600" y="3401568"/>
            <a:ext cx="5486400" cy="22860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Capturas reales del sitio original, 20-09-2026</a:t>
            </a:r>
            <a:endParaRPr lang="en-US" sz="1050" dirty="0"/>
          </a:p>
        </p:txBody>
      </p:sp>
      <p:sp>
        <p:nvSpPr>
          <p:cNvPr id="18" name="Shape 12"/>
          <p:cNvSpPr/>
          <p:nvPr/>
        </p:nvSpPr>
        <p:spPr>
          <a:xfrm>
            <a:off x="8183880" y="1463040"/>
            <a:ext cx="3459175" cy="4526280"/>
          </a:xfrm>
          <a:prstGeom prst="roundRect">
            <a:avLst>
              <a:gd name="adj" fmla="val 2115"/>
            </a:avLst>
          </a:prstGeom>
          <a:solidFill>
            <a:srgbClr val="F5F5F7"/>
          </a:solidFill>
          <a:ln/>
        </p:spPr>
      </p:sp>
      <p:sp>
        <p:nvSpPr>
          <p:cNvPr id="19" name="Text 13"/>
          <p:cNvSpPr txBox="1"/>
          <p:nvPr/>
        </p:nvSpPr>
        <p:spPr>
          <a:xfrm>
            <a:off x="8412480" y="1645920"/>
            <a:ext cx="32004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LO QUE YA TIENE</a:t>
            </a:r>
            <a:endParaRPr lang="en-US" sz="1050" dirty="0"/>
          </a:p>
        </p:txBody>
      </p:sp>
      <p:sp>
        <p:nvSpPr>
          <p:cNvPr id="20" name="Text 14"/>
          <p:cNvSpPr txBox="1"/>
          <p:nvPr/>
        </p:nvSpPr>
        <p:spPr>
          <a:xfrm>
            <a:off x="8412480" y="2011680"/>
            <a:ext cx="3063240" cy="384048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WordPress + WooCommerce con tema propio y modo catálogo (sin carrito ni pago)</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110 productos en 11 categorías, con menú «Productos»</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Buscador con sugerencias en escritorio</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Fichas con imagen, breadcrumb y productos relacionados</a:t>
            </a:r>
            <a:endParaRPr lang="en-US" sz="1250" dirty="0"/>
          </a:p>
          <a:p>
            <a:pPr marL="342900" indent="-342900">
              <a:spcAft>
                <a:spcPts val="900"/>
              </a:spcAft>
              <a:buSzPct val="100000"/>
              <a:buChar char="✓"/>
            </a:pPr>
            <a:r>
              <a:rPr lang="en-US" sz="1250" dirty="0">
                <a:solidFill>
                  <a:srgbClr val="0B0B0D"/>
                </a:solidFill>
                <a:latin typeface="Arial" pitchFamily="34" charset="0"/>
                <a:ea typeface="Arial" pitchFamily="34" charset="-122"/>
                <a:cs typeface="Arial" pitchFamily="34" charset="-120"/>
              </a:rPr>
              <a:t>Galería de fotos y enlaces a redes sociales</a:t>
            </a:r>
            <a:endParaRPr lang="en-US" sz="1250" dirty="0"/>
          </a:p>
        </p:txBody>
      </p:sp>
      <p:sp>
        <p:nvSpPr>
          <p:cNvPr id="21" name="Shape 15"/>
          <p:cNvSpPr/>
          <p:nvPr/>
        </p:nvSpPr>
        <p:spPr>
          <a:xfrm>
            <a:off x="548640" y="3886200"/>
            <a:ext cx="7360920" cy="2103120"/>
          </a:xfrm>
          <a:prstGeom prst="roundRect">
            <a:avLst>
              <a:gd name="adj" fmla="val 3478"/>
            </a:avLst>
          </a:prstGeom>
          <a:solidFill>
            <a:srgbClr val="0B0B0D"/>
          </a:solidFill>
          <a:ln/>
        </p:spPr>
      </p:sp>
      <p:sp>
        <p:nvSpPr>
          <p:cNvPr id="22" name="Text 16"/>
          <p:cNvSpPr txBox="1"/>
          <p:nvPr/>
        </p:nvSpPr>
        <p:spPr>
          <a:xfrm>
            <a:off x="822960" y="4069080"/>
            <a:ext cx="67665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Punto de partida</a:t>
            </a:r>
            <a:endParaRPr lang="en-US" sz="1700" dirty="0"/>
          </a:p>
        </p:txBody>
      </p:sp>
      <p:sp>
        <p:nvSpPr>
          <p:cNvPr id="23" name="Text 17"/>
          <p:cNvSpPr txBox="1"/>
          <p:nvPr/>
        </p:nvSpPr>
        <p:spPr>
          <a:xfrm>
            <a:off x="822960" y="4526280"/>
            <a:ext cx="6766560" cy="1280160"/>
          </a:xfrm>
          <a:prstGeom prst="rect">
            <a:avLst/>
          </a:prstGeom>
          <a:noFill/>
          <a:ln/>
        </p:spPr>
        <p:txBody>
          <a:bodyPr wrap="square" lIns="0" tIns="0" rIns="0" bIns="0" rtlCol="0" anchor="t"/>
          <a:lstStyle/>
          <a:p>
            <a:pPr indent="0" marL="0">
              <a:buNone/>
            </a:pPr>
            <a:r>
              <a:rPr lang="en-US" sz="1400" dirty="0">
                <a:solidFill>
                  <a:srgbClr val="9CA3AF"/>
                </a:solidFill>
                <a:latin typeface="Arial" pitchFamily="34" charset="0"/>
                <a:ea typeface="Arial" pitchFamily="34" charset="-122"/>
                <a:cs typeface="Arial" pitchFamily="34" charset="-120"/>
              </a:rPr>
              <a:t>El sitio original informa sobre los productos. El proyecto no lo reemplaza: rediseña su presentación, su catálogo y el camino que sigue el cliente hasta el contacto comercial.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SITUACIÓN ORIGINAL</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Análisis del sitio original: qué se observa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5</a:t>
            </a:r>
            <a:endParaRPr lang="en-US" sz="900" dirty="0"/>
          </a:p>
        </p:txBody>
      </p:sp>
      <p:pic>
        <p:nvPicPr>
          <p:cNvPr id="6" name="Image 0" descr="img/v3-A-shop.png">    </p:cNvPr>
          <p:cNvPicPr>
            <a:picLocks noChangeAspect="1"/>
          </p:cNvPicPr>
          <p:nvPr/>
        </p:nvPicPr>
        <p:blipFill>
          <a:blip r:embed="rId1"/>
          <a:stretch>
            <a:fillRect/>
          </a:stretch>
        </p:blipFill>
        <p:spPr>
          <a:xfrm>
            <a:off x="548640" y="1418463"/>
            <a:ext cx="3566160" cy="2228850"/>
          </a:xfrm>
          <a:prstGeom prst="rect">
            <a:avLst/>
          </a:prstGeom>
        </p:spPr>
      </p:pic>
      <p:sp>
        <p:nvSpPr>
          <p:cNvPr id="7" name="Shape 3"/>
          <p:cNvSpPr/>
          <p:nvPr/>
        </p:nvSpPr>
        <p:spPr>
          <a:xfrm>
            <a:off x="548640" y="1418463"/>
            <a:ext cx="3566160" cy="2228850"/>
          </a:xfrm>
          <a:prstGeom prst="rect">
            <a:avLst/>
          </a:prstGeom>
          <a:ln w="12700">
            <a:solidFill>
              <a:srgbClr val="E3E4E8"/>
            </a:solidFill>
            <a:prstDash val="solid"/>
          </a:ln>
        </p:spPr>
      </p:sp>
      <p:sp>
        <p:nvSpPr>
          <p:cNvPr id="8" name="Shape 4"/>
          <p:cNvSpPr/>
          <p:nvPr/>
        </p:nvSpPr>
        <p:spPr>
          <a:xfrm>
            <a:off x="2585923" y="2849499"/>
            <a:ext cx="347472" cy="347472"/>
          </a:xfrm>
          <a:prstGeom prst="ellipse">
            <a:avLst/>
          </a:prstGeom>
          <a:solidFill>
            <a:srgbClr val="6D28D9"/>
          </a:solidFill>
          <a:ln w="19050">
            <a:solidFill>
              <a:srgbClr val="FFFFFF"/>
            </a:solidFill>
            <a:prstDash val="solid"/>
          </a:ln>
        </p:spPr>
      </p:sp>
      <p:sp>
        <p:nvSpPr>
          <p:cNvPr id="9" name="Text 5"/>
          <p:cNvSpPr txBox="1"/>
          <p:nvPr/>
        </p:nvSpPr>
        <p:spPr>
          <a:xfrm>
            <a:off x="2585923" y="2849499"/>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Shape 6"/>
          <p:cNvSpPr/>
          <p:nvPr/>
        </p:nvSpPr>
        <p:spPr>
          <a:xfrm>
            <a:off x="731520" y="1389602"/>
            <a:ext cx="347472" cy="347472"/>
          </a:xfrm>
          <a:prstGeom prst="ellipse">
            <a:avLst/>
          </a:prstGeom>
          <a:solidFill>
            <a:srgbClr val="6D28D9"/>
          </a:solidFill>
          <a:ln w="19050">
            <a:solidFill>
              <a:srgbClr val="FFFFFF"/>
            </a:solidFill>
            <a:prstDash val="solid"/>
          </a:ln>
        </p:spPr>
      </p:sp>
      <p:sp>
        <p:nvSpPr>
          <p:cNvPr id="11" name="Text 7"/>
          <p:cNvSpPr txBox="1"/>
          <p:nvPr/>
        </p:nvSpPr>
        <p:spPr>
          <a:xfrm>
            <a:off x="731520" y="13896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2" name="Text 8"/>
          <p:cNvSpPr txBox="1"/>
          <p:nvPr/>
        </p:nvSpPr>
        <p:spPr>
          <a:xfrm>
            <a:off x="54864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Tienda (/shop/)</a:t>
            </a:r>
            <a:endParaRPr lang="en-US" sz="1000" dirty="0"/>
          </a:p>
        </p:txBody>
      </p:sp>
      <p:pic>
        <p:nvPicPr>
          <p:cNvPr id="13" name="Image 1" descr="img/v3-A-ficha.png">    </p:cNvPr>
          <p:cNvPicPr>
            <a:picLocks noChangeAspect="1"/>
          </p:cNvPicPr>
          <p:nvPr/>
        </p:nvPicPr>
        <p:blipFill>
          <a:blip r:embed="rId2"/>
          <a:stretch>
            <a:fillRect/>
          </a:stretch>
        </p:blipFill>
        <p:spPr>
          <a:xfrm>
            <a:off x="4251960" y="1418463"/>
            <a:ext cx="3566160" cy="2228850"/>
          </a:xfrm>
          <a:prstGeom prst="rect">
            <a:avLst/>
          </a:prstGeom>
        </p:spPr>
      </p:pic>
      <p:sp>
        <p:nvSpPr>
          <p:cNvPr id="14" name="Shape 9"/>
          <p:cNvSpPr/>
          <p:nvPr/>
        </p:nvSpPr>
        <p:spPr>
          <a:xfrm>
            <a:off x="4251960" y="1418463"/>
            <a:ext cx="3566160" cy="2228850"/>
          </a:xfrm>
          <a:prstGeom prst="rect">
            <a:avLst/>
          </a:prstGeom>
          <a:ln w="12700">
            <a:solidFill>
              <a:srgbClr val="E3E4E8"/>
            </a:solidFill>
            <a:prstDash val="solid"/>
          </a:ln>
        </p:spPr>
      </p:sp>
      <p:sp>
        <p:nvSpPr>
          <p:cNvPr id="15" name="Shape 10"/>
          <p:cNvSpPr/>
          <p:nvPr/>
        </p:nvSpPr>
        <p:spPr>
          <a:xfrm>
            <a:off x="6752844" y="3139250"/>
            <a:ext cx="347472" cy="347472"/>
          </a:xfrm>
          <a:prstGeom prst="ellipse">
            <a:avLst/>
          </a:prstGeom>
          <a:solidFill>
            <a:srgbClr val="6D28D9"/>
          </a:solidFill>
          <a:ln w="19050">
            <a:solidFill>
              <a:srgbClr val="FFFFFF"/>
            </a:solidFill>
            <a:prstDash val="solid"/>
          </a:ln>
        </p:spPr>
      </p:sp>
      <p:sp>
        <p:nvSpPr>
          <p:cNvPr id="16" name="Text 11"/>
          <p:cNvSpPr txBox="1"/>
          <p:nvPr/>
        </p:nvSpPr>
        <p:spPr>
          <a:xfrm>
            <a:off x="6752844" y="313925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2"/>
          <p:cNvSpPr txBox="1"/>
          <p:nvPr/>
        </p:nvSpPr>
        <p:spPr>
          <a:xfrm>
            <a:off x="4251960" y="3693033"/>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Ficha BH-SW12XXG</a:t>
            </a:r>
            <a:endParaRPr lang="en-US" sz="1000" dirty="0"/>
          </a:p>
        </p:txBody>
      </p:sp>
      <p:pic>
        <p:nvPicPr>
          <p:cNvPr id="18" name="Image 2" descr="img/v3-A-mayoristas.png">    </p:cNvPr>
          <p:cNvPicPr>
            <a:picLocks noChangeAspect="1"/>
          </p:cNvPicPr>
          <p:nvPr/>
        </p:nvPicPr>
        <p:blipFill>
          <a:blip r:embed="rId3"/>
          <a:stretch>
            <a:fillRect/>
          </a:stretch>
        </p:blipFill>
        <p:spPr>
          <a:xfrm>
            <a:off x="722376" y="4023360"/>
            <a:ext cx="3218688" cy="2011680"/>
          </a:xfrm>
          <a:prstGeom prst="rect">
            <a:avLst/>
          </a:prstGeom>
        </p:spPr>
      </p:pic>
      <p:sp>
        <p:nvSpPr>
          <p:cNvPr id="19" name="Shape 13"/>
          <p:cNvSpPr/>
          <p:nvPr/>
        </p:nvSpPr>
        <p:spPr>
          <a:xfrm>
            <a:off x="722376" y="4023360"/>
            <a:ext cx="3218688" cy="2011680"/>
          </a:xfrm>
          <a:prstGeom prst="rect">
            <a:avLst/>
          </a:prstGeom>
          <a:ln w="12700">
            <a:solidFill>
              <a:srgbClr val="E3E4E8"/>
            </a:solidFill>
            <a:prstDash val="solid"/>
          </a:ln>
        </p:spPr>
      </p:sp>
      <p:sp>
        <p:nvSpPr>
          <p:cNvPr id="20" name="Shape 14"/>
          <p:cNvSpPr/>
          <p:nvPr/>
        </p:nvSpPr>
        <p:spPr>
          <a:xfrm>
            <a:off x="2157984" y="4654296"/>
            <a:ext cx="347472" cy="347472"/>
          </a:xfrm>
          <a:prstGeom prst="ellipse">
            <a:avLst/>
          </a:prstGeom>
          <a:solidFill>
            <a:srgbClr val="6D28D9"/>
          </a:solidFill>
          <a:ln w="19050">
            <a:solidFill>
              <a:srgbClr val="FFFFFF"/>
            </a:solidFill>
            <a:prstDash val="solid"/>
          </a:ln>
        </p:spPr>
      </p:sp>
      <p:sp>
        <p:nvSpPr>
          <p:cNvPr id="21" name="Text 15"/>
          <p:cNvSpPr txBox="1"/>
          <p:nvPr/>
        </p:nvSpPr>
        <p:spPr>
          <a:xfrm>
            <a:off x="2157984" y="46542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16"/>
          <p:cNvSpPr txBox="1"/>
          <p:nvPr/>
        </p:nvSpPr>
        <p:spPr>
          <a:xfrm>
            <a:off x="54864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«Ventas al mayor»</a:t>
            </a:r>
            <a:endParaRPr lang="en-US" sz="1000" dirty="0"/>
          </a:p>
        </p:txBody>
      </p:sp>
      <p:pic>
        <p:nvPicPr>
          <p:cNvPr id="23" name="Image 3" descr="../../evidence/screens/A-cat-sub-d-view.png">    </p:cNvPr>
          <p:cNvPicPr>
            <a:picLocks noChangeAspect="1"/>
          </p:cNvPicPr>
          <p:nvPr/>
        </p:nvPicPr>
        <p:blipFill>
          <a:blip r:embed="rId4"/>
          <a:stretch>
            <a:fillRect/>
          </a:stretch>
        </p:blipFill>
        <p:spPr>
          <a:xfrm>
            <a:off x="4425696" y="4023360"/>
            <a:ext cx="3218688" cy="2011680"/>
          </a:xfrm>
          <a:prstGeom prst="rect">
            <a:avLst/>
          </a:prstGeom>
        </p:spPr>
      </p:pic>
      <p:sp>
        <p:nvSpPr>
          <p:cNvPr id="24" name="Shape 17"/>
          <p:cNvSpPr/>
          <p:nvPr/>
        </p:nvSpPr>
        <p:spPr>
          <a:xfrm>
            <a:off x="4425696" y="4023360"/>
            <a:ext cx="3218688" cy="2011680"/>
          </a:xfrm>
          <a:prstGeom prst="rect">
            <a:avLst/>
          </a:prstGeom>
          <a:ln w="12700">
            <a:solidFill>
              <a:srgbClr val="E3E4E8"/>
            </a:solidFill>
            <a:prstDash val="solid"/>
          </a:ln>
        </p:spPr>
      </p:sp>
      <p:sp>
        <p:nvSpPr>
          <p:cNvPr id="25" name="Shape 18"/>
          <p:cNvSpPr/>
          <p:nvPr/>
        </p:nvSpPr>
        <p:spPr>
          <a:xfrm>
            <a:off x="5700370" y="4593946"/>
            <a:ext cx="347472" cy="347472"/>
          </a:xfrm>
          <a:prstGeom prst="ellipse">
            <a:avLst/>
          </a:prstGeom>
          <a:solidFill>
            <a:srgbClr val="6D28D9"/>
          </a:solidFill>
          <a:ln w="19050">
            <a:solidFill>
              <a:srgbClr val="FFFFFF"/>
            </a:solidFill>
            <a:prstDash val="solid"/>
          </a:ln>
        </p:spPr>
      </p:sp>
      <p:sp>
        <p:nvSpPr>
          <p:cNvPr id="26" name="Text 19"/>
          <p:cNvSpPr txBox="1"/>
          <p:nvPr/>
        </p:nvSpPr>
        <p:spPr>
          <a:xfrm>
            <a:off x="5700370" y="459394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Text 20"/>
          <p:cNvSpPr txBox="1"/>
          <p:nvPr/>
        </p:nvSpPr>
        <p:spPr>
          <a:xfrm>
            <a:off x="4251960" y="6062472"/>
            <a:ext cx="3566160" cy="228600"/>
          </a:xfrm>
          <a:prstGeom prst="rect">
            <a:avLst/>
          </a:prstGeom>
          <a:noFill/>
          <a:ln/>
        </p:spPr>
        <p:txBody>
          <a:bodyPr wrap="square" lIns="0" tIns="0" rIns="0" bIns="0" rtlCol="0" anchor="t"/>
          <a:lstStyle/>
          <a:p>
            <a:pPr indent="0" marL="0">
              <a:buNone/>
            </a:pPr>
            <a:r>
              <a:rPr lang="en-US" sz="1000" dirty="0">
                <a:solidFill>
                  <a:srgbClr val="6B7280"/>
                </a:solidFill>
                <a:latin typeface="Arial" pitchFamily="34" charset="0"/>
                <a:ea typeface="Arial" pitchFamily="34" charset="-122"/>
                <a:cs typeface="Arial" pitchFamily="34" charset="-120"/>
              </a:rPr>
              <a:t>Categoría Subwoofer</a:t>
            </a:r>
            <a:endParaRPr lang="en-US" sz="1000" dirty="0"/>
          </a:p>
        </p:txBody>
      </p:sp>
      <p:sp>
        <p:nvSpPr>
          <p:cNvPr id="28" name="Shape 21"/>
          <p:cNvSpPr/>
          <p:nvPr/>
        </p:nvSpPr>
        <p:spPr>
          <a:xfrm>
            <a:off x="8001000" y="1426464"/>
            <a:ext cx="347472" cy="347472"/>
          </a:xfrm>
          <a:prstGeom prst="ellipse">
            <a:avLst/>
          </a:prstGeom>
          <a:solidFill>
            <a:srgbClr val="6D28D9"/>
          </a:solidFill>
          <a:ln w="19050">
            <a:solidFill>
              <a:srgbClr val="FFFFFF"/>
            </a:solidFill>
            <a:prstDash val="solid"/>
          </a:ln>
        </p:spPr>
      </p:sp>
      <p:sp>
        <p:nvSpPr>
          <p:cNvPr id="29" name="Text 22"/>
          <p:cNvSpPr txBox="1"/>
          <p:nvPr/>
        </p:nvSpPr>
        <p:spPr>
          <a:xfrm>
            <a:off x="8001000" y="1426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0" name="Text 23"/>
          <p:cNvSpPr txBox="1"/>
          <p:nvPr/>
        </p:nvSpPr>
        <p:spPr>
          <a:xfrm>
            <a:off x="8458200" y="138074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«Productos» abre una tienda sin productos</a:t>
            </a:r>
            <a:endParaRPr lang="en-US" sz="1150" dirty="0"/>
          </a:p>
        </p:txBody>
      </p:sp>
      <p:sp>
        <p:nvSpPr>
          <p:cNvPr id="31" name="Shape 24"/>
          <p:cNvSpPr/>
          <p:nvPr/>
        </p:nvSpPr>
        <p:spPr>
          <a:xfrm>
            <a:off x="8458200" y="1874520"/>
            <a:ext cx="1511275" cy="256032"/>
          </a:xfrm>
          <a:prstGeom prst="roundRect">
            <a:avLst>
              <a:gd name="adj" fmla="val 50000"/>
            </a:avLst>
          </a:prstGeom>
          <a:solidFill>
            <a:srgbClr val="EDE4FB"/>
          </a:solidFill>
          <a:ln w="9525">
            <a:solidFill>
              <a:srgbClr val="6D28D9"/>
            </a:solidFill>
            <a:prstDash val="solid"/>
          </a:ln>
        </p:spPr>
      </p:sp>
      <p:sp>
        <p:nvSpPr>
          <p:cNvPr id="32" name="Text 25"/>
          <p:cNvSpPr txBox="1"/>
          <p:nvPr/>
        </p:nvSpPr>
        <p:spPr>
          <a:xfrm>
            <a:off x="8458200" y="1874520"/>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33" name="Shape 26"/>
          <p:cNvSpPr/>
          <p:nvPr/>
        </p:nvSpPr>
        <p:spPr>
          <a:xfrm>
            <a:off x="8001000" y="2212848"/>
            <a:ext cx="347472" cy="347472"/>
          </a:xfrm>
          <a:prstGeom prst="ellipse">
            <a:avLst/>
          </a:prstGeom>
          <a:solidFill>
            <a:srgbClr val="6D28D9"/>
          </a:solidFill>
          <a:ln w="19050">
            <a:solidFill>
              <a:srgbClr val="FFFFFF"/>
            </a:solidFill>
            <a:prstDash val="solid"/>
          </a:ln>
        </p:spPr>
      </p:sp>
      <p:sp>
        <p:nvSpPr>
          <p:cNvPr id="34" name="Text 27"/>
          <p:cNvSpPr txBox="1"/>
          <p:nvPr/>
        </p:nvSpPr>
        <p:spPr>
          <a:xfrm>
            <a:off x="8001000"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5" name="Text 28"/>
          <p:cNvSpPr txBox="1"/>
          <p:nvPr/>
        </p:nvSpPr>
        <p:spPr>
          <a:xfrm>
            <a:off x="8458200" y="2167128"/>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La ficha no tiene un paso de consulta</a:t>
            </a:r>
            <a:endParaRPr lang="en-US" sz="1150" dirty="0"/>
          </a:p>
        </p:txBody>
      </p:sp>
      <p:sp>
        <p:nvSpPr>
          <p:cNvPr id="36" name="Shape 29"/>
          <p:cNvSpPr/>
          <p:nvPr/>
        </p:nvSpPr>
        <p:spPr>
          <a:xfrm>
            <a:off x="8458200" y="2660904"/>
            <a:ext cx="982751" cy="256032"/>
          </a:xfrm>
          <a:prstGeom prst="roundRect">
            <a:avLst>
              <a:gd name="adj" fmla="val 50000"/>
            </a:avLst>
          </a:prstGeom>
          <a:solidFill>
            <a:srgbClr val="0B0B0D"/>
          </a:solidFill>
          <a:ln w="9525">
            <a:solidFill>
              <a:srgbClr val="0B0B0D"/>
            </a:solidFill>
            <a:prstDash val="solid"/>
          </a:ln>
        </p:spPr>
      </p:sp>
      <p:sp>
        <p:nvSpPr>
          <p:cNvPr id="37" name="Text 30"/>
          <p:cNvSpPr txBox="1"/>
          <p:nvPr/>
        </p:nvSpPr>
        <p:spPr>
          <a:xfrm>
            <a:off x="8458200" y="2660904"/>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
        <p:nvSpPr>
          <p:cNvPr id="38" name="Shape 31"/>
          <p:cNvSpPr/>
          <p:nvPr/>
        </p:nvSpPr>
        <p:spPr>
          <a:xfrm>
            <a:off x="8001000" y="2999232"/>
            <a:ext cx="347472" cy="347472"/>
          </a:xfrm>
          <a:prstGeom prst="ellipse">
            <a:avLst/>
          </a:prstGeom>
          <a:solidFill>
            <a:srgbClr val="6D28D9"/>
          </a:solidFill>
          <a:ln w="19050">
            <a:solidFill>
              <a:srgbClr val="FFFFFF"/>
            </a:solidFill>
            <a:prstDash val="solid"/>
          </a:ln>
        </p:spPr>
      </p:sp>
      <p:sp>
        <p:nvSpPr>
          <p:cNvPr id="39" name="Text 32"/>
          <p:cNvSpPr txBox="1"/>
          <p:nvPr/>
        </p:nvSpPr>
        <p:spPr>
          <a:xfrm>
            <a:off x="8001000" y="29992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0" name="Text 33"/>
          <p:cNvSpPr txBox="1"/>
          <p:nvPr/>
        </p:nvSpPr>
        <p:spPr>
          <a:xfrm>
            <a:off x="8458200" y="2953512"/>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menú no lleva a contacto ni a dónde comprar</a:t>
            </a:r>
            <a:endParaRPr lang="en-US" sz="1150" dirty="0"/>
          </a:p>
        </p:txBody>
      </p:sp>
      <p:sp>
        <p:nvSpPr>
          <p:cNvPr id="41" name="Shape 34"/>
          <p:cNvSpPr/>
          <p:nvPr/>
        </p:nvSpPr>
        <p:spPr>
          <a:xfrm>
            <a:off x="8458200" y="3447288"/>
            <a:ext cx="1577340" cy="256032"/>
          </a:xfrm>
          <a:prstGeom prst="roundRect">
            <a:avLst>
              <a:gd name="adj" fmla="val 50000"/>
            </a:avLst>
          </a:prstGeom>
          <a:solidFill>
            <a:srgbClr val="FFFFFF"/>
          </a:solidFill>
          <a:ln w="9525">
            <a:solidFill>
              <a:srgbClr val="0B0B0D"/>
            </a:solidFill>
            <a:prstDash val="solid"/>
          </a:ln>
        </p:spPr>
      </p:sp>
      <p:sp>
        <p:nvSpPr>
          <p:cNvPr id="42" name="Text 35"/>
          <p:cNvSpPr txBox="1"/>
          <p:nvPr/>
        </p:nvSpPr>
        <p:spPr>
          <a:xfrm>
            <a:off x="8458200" y="3447288"/>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3" name="Shape 36"/>
          <p:cNvSpPr/>
          <p:nvPr/>
        </p:nvSpPr>
        <p:spPr>
          <a:xfrm>
            <a:off x="8001000" y="3785616"/>
            <a:ext cx="347472" cy="347472"/>
          </a:xfrm>
          <a:prstGeom prst="ellipse">
            <a:avLst/>
          </a:prstGeom>
          <a:solidFill>
            <a:srgbClr val="6D28D9"/>
          </a:solidFill>
          <a:ln w="19050">
            <a:solidFill>
              <a:srgbClr val="FFFFFF"/>
            </a:solidFill>
            <a:prstDash val="solid"/>
          </a:ln>
        </p:spPr>
      </p:sp>
      <p:sp>
        <p:nvSpPr>
          <p:cNvPr id="44" name="Text 37"/>
          <p:cNvSpPr txBox="1"/>
          <p:nvPr/>
        </p:nvSpPr>
        <p:spPr>
          <a:xfrm>
            <a:off x="8001000" y="3785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5" name="Text 38"/>
          <p:cNvSpPr txBox="1"/>
          <p:nvPr/>
        </p:nvSpPr>
        <p:spPr>
          <a:xfrm>
            <a:off x="8458200" y="3739896"/>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El canal mayorista está oculto</a:t>
            </a:r>
            <a:endParaRPr lang="en-US" sz="1150" dirty="0"/>
          </a:p>
        </p:txBody>
      </p:sp>
      <p:sp>
        <p:nvSpPr>
          <p:cNvPr id="46" name="Shape 39"/>
          <p:cNvSpPr/>
          <p:nvPr/>
        </p:nvSpPr>
        <p:spPr>
          <a:xfrm>
            <a:off x="8458200" y="4233672"/>
            <a:ext cx="1577340" cy="256032"/>
          </a:xfrm>
          <a:prstGeom prst="roundRect">
            <a:avLst>
              <a:gd name="adj" fmla="val 50000"/>
            </a:avLst>
          </a:prstGeom>
          <a:solidFill>
            <a:srgbClr val="FFFFFF"/>
          </a:solidFill>
          <a:ln w="9525">
            <a:solidFill>
              <a:srgbClr val="0B0B0D"/>
            </a:solidFill>
            <a:prstDash val="solid"/>
          </a:ln>
        </p:spPr>
      </p:sp>
      <p:sp>
        <p:nvSpPr>
          <p:cNvPr id="47" name="Text 40"/>
          <p:cNvSpPr txBox="1"/>
          <p:nvPr/>
        </p:nvSpPr>
        <p:spPr>
          <a:xfrm>
            <a:off x="8458200" y="4233672"/>
            <a:ext cx="1577340"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Existe, poco visible</a:t>
            </a:r>
            <a:endParaRPr lang="en-US" sz="850" dirty="0"/>
          </a:p>
        </p:txBody>
      </p:sp>
      <p:sp>
        <p:nvSpPr>
          <p:cNvPr id="48" name="Shape 41"/>
          <p:cNvSpPr/>
          <p:nvPr/>
        </p:nvSpPr>
        <p:spPr>
          <a:xfrm>
            <a:off x="8001000" y="4572000"/>
            <a:ext cx="347472" cy="347472"/>
          </a:xfrm>
          <a:prstGeom prst="ellipse">
            <a:avLst/>
          </a:prstGeom>
          <a:solidFill>
            <a:srgbClr val="6D28D9"/>
          </a:solidFill>
          <a:ln w="19050">
            <a:solidFill>
              <a:srgbClr val="FFFFFF"/>
            </a:solidFill>
            <a:prstDash val="solid"/>
          </a:ln>
        </p:spPr>
      </p:sp>
      <p:sp>
        <p:nvSpPr>
          <p:cNvPr id="49" name="Text 42"/>
          <p:cNvSpPr txBox="1"/>
          <p:nvPr/>
        </p:nvSpPr>
        <p:spPr>
          <a:xfrm>
            <a:off x="8001000" y="45720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50" name="Text 43"/>
          <p:cNvSpPr txBox="1"/>
          <p:nvPr/>
        </p:nvSpPr>
        <p:spPr>
          <a:xfrm>
            <a:off x="8458200" y="4526280"/>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Catálogo poco informativo</a:t>
            </a:r>
            <a:endParaRPr lang="en-US" sz="1150" dirty="0"/>
          </a:p>
        </p:txBody>
      </p:sp>
      <p:sp>
        <p:nvSpPr>
          <p:cNvPr id="51" name="Shape 44"/>
          <p:cNvSpPr/>
          <p:nvPr/>
        </p:nvSpPr>
        <p:spPr>
          <a:xfrm>
            <a:off x="8458200" y="5020056"/>
            <a:ext cx="1511275" cy="256032"/>
          </a:xfrm>
          <a:prstGeom prst="roundRect">
            <a:avLst>
              <a:gd name="adj" fmla="val 50000"/>
            </a:avLst>
          </a:prstGeom>
          <a:solidFill>
            <a:srgbClr val="EDE4FB"/>
          </a:solidFill>
          <a:ln w="9525">
            <a:solidFill>
              <a:srgbClr val="6D28D9"/>
            </a:solidFill>
            <a:prstDash val="solid"/>
          </a:ln>
        </p:spPr>
      </p:sp>
      <p:sp>
        <p:nvSpPr>
          <p:cNvPr id="52" name="Text 45"/>
          <p:cNvSpPr txBox="1"/>
          <p:nvPr/>
        </p:nvSpPr>
        <p:spPr>
          <a:xfrm>
            <a:off x="8458200" y="5020056"/>
            <a:ext cx="1511275" cy="256032"/>
          </a:xfrm>
          <a:prstGeom prst="rect">
            <a:avLst/>
          </a:prstGeom>
          <a:noFill/>
          <a:ln/>
        </p:spPr>
        <p:txBody>
          <a:bodyPr wrap="square" lIns="0" tIns="0" rIns="0" bIns="0" rtlCol="0" anchor="ctr"/>
          <a:lstStyle/>
          <a:p>
            <a:pPr algn="ctr" indent="0" marL="0">
              <a:buNone/>
            </a:pPr>
            <a:r>
              <a:rPr lang="en-US" sz="850" b="1" dirty="0">
                <a:solidFill>
                  <a:srgbClr val="6D28D9"/>
                </a:solidFill>
                <a:latin typeface="Arial" pitchFamily="34" charset="0"/>
                <a:ea typeface="Arial" pitchFamily="34" charset="-122"/>
                <a:cs typeface="Arial" pitchFamily="34" charset="-120"/>
              </a:rPr>
              <a:t>Recorrido mejorable</a:t>
            </a:r>
            <a:endParaRPr lang="en-US" sz="850" dirty="0"/>
          </a:p>
        </p:txBody>
      </p:sp>
      <p:sp>
        <p:nvSpPr>
          <p:cNvPr id="53" name="Shape 46"/>
          <p:cNvSpPr/>
          <p:nvPr/>
        </p:nvSpPr>
        <p:spPr>
          <a:xfrm>
            <a:off x="8001000" y="5358384"/>
            <a:ext cx="347472" cy="347472"/>
          </a:xfrm>
          <a:prstGeom prst="ellipse">
            <a:avLst/>
          </a:prstGeom>
          <a:solidFill>
            <a:srgbClr val="6D28D9"/>
          </a:solidFill>
          <a:ln w="19050">
            <a:solidFill>
              <a:srgbClr val="FFFFFF"/>
            </a:solidFill>
            <a:prstDash val="solid"/>
          </a:ln>
        </p:spPr>
      </p:sp>
      <p:sp>
        <p:nvSpPr>
          <p:cNvPr id="54" name="Text 47"/>
          <p:cNvSpPr txBox="1"/>
          <p:nvPr/>
        </p:nvSpPr>
        <p:spPr>
          <a:xfrm>
            <a:off x="8001000" y="53583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55" name="Text 48"/>
          <p:cNvSpPr txBox="1"/>
          <p:nvPr/>
        </p:nvSpPr>
        <p:spPr>
          <a:xfrm>
            <a:off x="8458200" y="5312664"/>
            <a:ext cx="3246120" cy="411480"/>
          </a:xfrm>
          <a:prstGeom prst="rect">
            <a:avLst/>
          </a:prstGeom>
          <a:noFill/>
          <a:ln/>
        </p:spPr>
        <p:txBody>
          <a:bodyPr wrap="square" lIns="0" tIns="0" rIns="0" bIns="0" rtlCol="0" anchor="t"/>
          <a:lstStyle/>
          <a:p>
            <a:pPr indent="0" marL="0">
              <a:buNone/>
            </a:pPr>
            <a:r>
              <a:rPr lang="en-US" sz="1150" b="1" dirty="0">
                <a:solidFill>
                  <a:srgbClr val="0B0B0D"/>
                </a:solidFill>
                <a:latin typeface="Arial" pitchFamily="34" charset="0"/>
                <a:ea typeface="Arial" pitchFamily="34" charset="-122"/>
                <a:cs typeface="Arial" pitchFamily="34" charset="-120"/>
              </a:rPr>
              <a:t>Sin comparador ni «Dónde comprar»</a:t>
            </a:r>
            <a:endParaRPr lang="en-US" sz="1150" dirty="0"/>
          </a:p>
        </p:txBody>
      </p:sp>
      <p:sp>
        <p:nvSpPr>
          <p:cNvPr id="56" name="Shape 49"/>
          <p:cNvSpPr/>
          <p:nvPr/>
        </p:nvSpPr>
        <p:spPr>
          <a:xfrm>
            <a:off x="8458200" y="5806440"/>
            <a:ext cx="982751" cy="256032"/>
          </a:xfrm>
          <a:prstGeom prst="roundRect">
            <a:avLst>
              <a:gd name="adj" fmla="val 50000"/>
            </a:avLst>
          </a:prstGeom>
          <a:solidFill>
            <a:srgbClr val="0B0B0D"/>
          </a:solidFill>
          <a:ln w="9525">
            <a:solidFill>
              <a:srgbClr val="0B0B0D"/>
            </a:solidFill>
            <a:prstDash val="solid"/>
          </a:ln>
        </p:spPr>
      </p:sp>
      <p:sp>
        <p:nvSpPr>
          <p:cNvPr id="57" name="Text 50"/>
          <p:cNvSpPr txBox="1"/>
          <p:nvPr/>
        </p:nvSpPr>
        <p:spPr>
          <a:xfrm>
            <a:off x="8458200" y="5806440"/>
            <a:ext cx="98275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Inexistente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NECESIDAD</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El problema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6</a:t>
            </a:r>
            <a:endParaRPr lang="en-US" sz="900" dirty="0"/>
          </a:p>
        </p:txBody>
      </p:sp>
      <p:sp>
        <p:nvSpPr>
          <p:cNvPr id="6" name="Shape 3"/>
          <p:cNvSpPr/>
          <p:nvPr/>
        </p:nvSpPr>
        <p:spPr>
          <a:xfrm>
            <a:off x="548640" y="1463040"/>
            <a:ext cx="11094415" cy="1097280"/>
          </a:xfrm>
          <a:prstGeom prst="roundRect">
            <a:avLst>
              <a:gd name="adj" fmla="val 6667"/>
            </a:avLst>
          </a:prstGeom>
          <a:solidFill>
            <a:srgbClr val="6D28D9"/>
          </a:solidFill>
          <a:ln/>
        </p:spPr>
      </p:sp>
      <p:sp>
        <p:nvSpPr>
          <p:cNvPr id="7" name="Text 4"/>
          <p:cNvSpPr txBox="1"/>
          <p:nvPr/>
        </p:nvSpPr>
        <p:spPr>
          <a:xfrm>
            <a:off x="868680" y="1463040"/>
            <a:ext cx="10454335" cy="10972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La plataforma original muestra el catálogo, pero no guía al usuario desde el interés en un producto hasta el contacto comercial.</a:t>
            </a:r>
            <a:endParaRPr lang="en-US" sz="2000" dirty="0"/>
          </a:p>
        </p:txBody>
      </p:sp>
      <p:sp>
        <p:nvSpPr>
          <p:cNvPr id="8" name="Text 5"/>
          <p:cNvSpPr txBox="1"/>
          <p:nvPr/>
        </p:nvSpPr>
        <p:spPr>
          <a:xfrm>
            <a:off x="548640" y="2743200"/>
            <a:ext cx="11094415" cy="365760"/>
          </a:xfrm>
          <a:prstGeom prst="rect">
            <a:avLst/>
          </a:prstGeom>
          <a:noFill/>
          <a:ln/>
        </p:spPr>
        <p:txBody>
          <a:bodyPr wrap="square" lIns="0" tIns="0" rIns="0" bIns="0" rtlCol="0" anchor="t"/>
          <a:lstStyle/>
          <a:p>
            <a:pPr indent="0" marL="0">
              <a:buNone/>
            </a:pPr>
            <a:r>
              <a:rPr lang="en-US" sz="1400" i="1" dirty="0">
                <a:solidFill>
                  <a:srgbClr val="6B7280"/>
                </a:solidFill>
                <a:latin typeface="Arial" pitchFamily="34" charset="0"/>
                <a:ea typeface="Arial" pitchFamily="34" charset="-122"/>
                <a:cs typeface="Arial" pitchFamily="34" charset="-120"/>
              </a:rPr>
              <a:t>Necesidad central: transformar una plataforma informativa en una herramienta que oriente a una acción comercial concreta.</a:t>
            </a:r>
            <a:endParaRPr lang="en-US" sz="1400" dirty="0"/>
          </a:p>
        </p:txBody>
      </p:sp>
      <p:sp>
        <p:nvSpPr>
          <p:cNvPr id="9" name="Shape 6"/>
          <p:cNvSpPr/>
          <p:nvPr/>
        </p:nvSpPr>
        <p:spPr>
          <a:xfrm>
            <a:off x="548640" y="3291840"/>
            <a:ext cx="3566160" cy="2697480"/>
          </a:xfrm>
          <a:prstGeom prst="roundRect">
            <a:avLst>
              <a:gd name="adj" fmla="val 2712"/>
            </a:avLst>
          </a:prstGeom>
          <a:solidFill>
            <a:srgbClr val="0B0B0D"/>
          </a:solidFill>
          <a:ln/>
        </p:spPr>
      </p:sp>
      <p:sp>
        <p:nvSpPr>
          <p:cNvPr id="10" name="Text 7"/>
          <p:cNvSpPr txBox="1"/>
          <p:nvPr/>
        </p:nvSpPr>
        <p:spPr>
          <a:xfrm>
            <a:off x="822960" y="3474720"/>
            <a:ext cx="914400" cy="457200"/>
          </a:xfrm>
          <a:prstGeom prst="rect">
            <a:avLst/>
          </a:prstGeom>
          <a:noFill/>
          <a:ln/>
        </p:spPr>
        <p:txBody>
          <a:bodyPr wrap="square" lIns="0" tIns="0" rIns="0" bIns="0" rtlCol="0" anchor="t"/>
          <a:lstStyle/>
          <a:p>
            <a:pPr indent="0" marL="0">
              <a:buNone/>
            </a:pPr>
            <a:r>
              <a:rPr lang="en-US" sz="2400" b="1" dirty="0">
                <a:solidFill>
                  <a:srgbClr val="A78BFA"/>
                </a:solidFill>
                <a:latin typeface="Arial" pitchFamily="34" charset="0"/>
                <a:ea typeface="Arial" pitchFamily="34" charset="-122"/>
                <a:cs typeface="Arial" pitchFamily="34" charset="-120"/>
              </a:rPr>
              <a:t>01</a:t>
            </a:r>
            <a:endParaRPr lang="en-US" sz="2400" dirty="0"/>
          </a:p>
        </p:txBody>
      </p:sp>
      <p:sp>
        <p:nvSpPr>
          <p:cNvPr id="11" name="Text 8"/>
          <p:cNvSpPr txBox="1"/>
          <p:nvPr/>
        </p:nvSpPr>
        <p:spPr>
          <a:xfrm>
            <a:off x="822960" y="3977640"/>
            <a:ext cx="3017520" cy="6400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Guiar del interés al contacto</a:t>
            </a:r>
            <a:endParaRPr lang="en-US" sz="1700" dirty="0"/>
          </a:p>
        </p:txBody>
      </p:sp>
      <p:sp>
        <p:nvSpPr>
          <p:cNvPr id="12" name="Text 9"/>
          <p:cNvSpPr txBox="1"/>
          <p:nvPr/>
        </p:nvSpPr>
        <p:spPr>
          <a:xfrm>
            <a:off x="822960" y="4663440"/>
            <a:ext cx="3017520" cy="82296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Llamadas a la acción visibles y una consulta que ya incluya el modelo.</a:t>
            </a:r>
            <a:endParaRPr lang="en-US" sz="1250" dirty="0"/>
          </a:p>
        </p:txBody>
      </p:sp>
      <p:sp>
        <p:nvSpPr>
          <p:cNvPr id="13" name="Text 10"/>
          <p:cNvSpPr txBox="1"/>
          <p:nvPr/>
        </p:nvSpPr>
        <p:spPr>
          <a:xfrm>
            <a:off x="822960" y="5577840"/>
            <a:ext cx="3017520" cy="274320"/>
          </a:xfrm>
          <a:prstGeom prst="rect">
            <a:avLst/>
          </a:prstGeom>
          <a:noFill/>
          <a:ln/>
        </p:spPr>
        <p:txBody>
          <a:bodyPr wrap="square" lIns="0" tIns="0" rIns="0" bIns="0" rtlCol="0" anchor="t"/>
          <a:lstStyle/>
          <a:p>
            <a:pPr indent="0" marL="0">
              <a:buNone/>
            </a:pPr>
            <a:r>
              <a:rPr lang="en-US" sz="1050" b="1" dirty="0">
                <a:solidFill>
                  <a:srgbClr val="A78BFA"/>
                </a:solidFill>
                <a:latin typeface="Arial" pitchFamily="34" charset="0"/>
                <a:ea typeface="Arial" pitchFamily="34" charset="-122"/>
                <a:cs typeface="Arial" pitchFamily="34" charset="-120"/>
              </a:rPr>
              <a:t>Hallazgos: 2, 3, 4</a:t>
            </a:r>
            <a:endParaRPr lang="en-US" sz="1050" dirty="0"/>
          </a:p>
        </p:txBody>
      </p:sp>
      <p:sp>
        <p:nvSpPr>
          <p:cNvPr id="14" name="Shape 11"/>
          <p:cNvSpPr/>
          <p:nvPr/>
        </p:nvSpPr>
        <p:spPr>
          <a:xfrm>
            <a:off x="4297680" y="3291840"/>
            <a:ext cx="3566160" cy="2697480"/>
          </a:xfrm>
          <a:prstGeom prst="roundRect">
            <a:avLst>
              <a:gd name="adj" fmla="val 2712"/>
            </a:avLst>
          </a:prstGeom>
          <a:solidFill>
            <a:srgbClr val="F5F5F7"/>
          </a:solidFill>
          <a:ln/>
        </p:spPr>
      </p:sp>
      <p:sp>
        <p:nvSpPr>
          <p:cNvPr id="15" name="Text 12"/>
          <p:cNvSpPr txBox="1"/>
          <p:nvPr/>
        </p:nvSpPr>
        <p:spPr>
          <a:xfrm>
            <a:off x="4572000" y="3474720"/>
            <a:ext cx="914400" cy="457200"/>
          </a:xfrm>
          <a:prstGeom prst="rect">
            <a:avLst/>
          </a:prstGeom>
          <a:noFill/>
          <a:ln/>
        </p:spPr>
        <p:txBody>
          <a:bodyPr wrap="square" lIns="0" tIns="0" rIns="0" bIns="0" rtlCol="0" anchor="t"/>
          <a:lstStyle/>
          <a:p>
            <a:pPr indent="0" marL="0">
              <a:buNone/>
            </a:pPr>
            <a:r>
              <a:rPr lang="en-US" sz="2400" b="1" dirty="0">
                <a:solidFill>
                  <a:srgbClr val="6D28D9"/>
                </a:solidFill>
                <a:latin typeface="Arial" pitchFamily="34" charset="0"/>
                <a:ea typeface="Arial" pitchFamily="34" charset="-122"/>
                <a:cs typeface="Arial" pitchFamily="34" charset="-120"/>
              </a:rPr>
              <a:t>02</a:t>
            </a:r>
            <a:endParaRPr lang="en-US" sz="2400" dirty="0"/>
          </a:p>
        </p:txBody>
      </p:sp>
      <p:sp>
        <p:nvSpPr>
          <p:cNvPr id="16" name="Text 13"/>
          <p:cNvSpPr txBox="1"/>
          <p:nvPr/>
        </p:nvSpPr>
        <p:spPr>
          <a:xfrm>
            <a:off x="4572000" y="3977640"/>
            <a:ext cx="3017520" cy="6400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Un catálogo claro y comparable</a:t>
            </a:r>
            <a:endParaRPr lang="en-US" sz="1700" dirty="0"/>
          </a:p>
        </p:txBody>
      </p:sp>
      <p:sp>
        <p:nvSpPr>
          <p:cNvPr id="17" name="Text 14"/>
          <p:cNvSpPr txBox="1"/>
          <p:nvPr/>
        </p:nvSpPr>
        <p:spPr>
          <a:xfrm>
            <a:off x="4572000" y="4663440"/>
            <a:ext cx="3017520" cy="8229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Catálogo que se pueda recorrer, tarjetas con información útil y comparación entre modelos.</a:t>
            </a:r>
            <a:endParaRPr lang="en-US" sz="1250" dirty="0"/>
          </a:p>
        </p:txBody>
      </p:sp>
      <p:sp>
        <p:nvSpPr>
          <p:cNvPr id="18" name="Text 15"/>
          <p:cNvSpPr txBox="1"/>
          <p:nvPr/>
        </p:nvSpPr>
        <p:spPr>
          <a:xfrm>
            <a:off x="4572000" y="5577840"/>
            <a:ext cx="3017520" cy="27432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Hallazgos: 1, 5, 6</a:t>
            </a:r>
            <a:endParaRPr lang="en-US" sz="1050" dirty="0"/>
          </a:p>
        </p:txBody>
      </p:sp>
      <p:sp>
        <p:nvSpPr>
          <p:cNvPr id="19" name="Shape 16"/>
          <p:cNvSpPr/>
          <p:nvPr/>
        </p:nvSpPr>
        <p:spPr>
          <a:xfrm>
            <a:off x="8046720" y="3291840"/>
            <a:ext cx="3566160" cy="2697480"/>
          </a:xfrm>
          <a:prstGeom prst="roundRect">
            <a:avLst>
              <a:gd name="adj" fmla="val 2712"/>
            </a:avLst>
          </a:prstGeom>
          <a:solidFill>
            <a:srgbClr val="F5F5F7"/>
          </a:solidFill>
          <a:ln/>
        </p:spPr>
      </p:sp>
      <p:sp>
        <p:nvSpPr>
          <p:cNvPr id="20" name="Text 17"/>
          <p:cNvSpPr txBox="1"/>
          <p:nvPr/>
        </p:nvSpPr>
        <p:spPr>
          <a:xfrm>
            <a:off x="8321040" y="3474720"/>
            <a:ext cx="914400" cy="457200"/>
          </a:xfrm>
          <a:prstGeom prst="rect">
            <a:avLst/>
          </a:prstGeom>
          <a:noFill/>
          <a:ln/>
        </p:spPr>
        <p:txBody>
          <a:bodyPr wrap="square" lIns="0" tIns="0" rIns="0" bIns="0" rtlCol="0" anchor="t"/>
          <a:lstStyle/>
          <a:p>
            <a:pPr indent="0" marL="0">
              <a:buNone/>
            </a:pPr>
            <a:r>
              <a:rPr lang="en-US" sz="2400" b="1" dirty="0">
                <a:solidFill>
                  <a:srgbClr val="6D28D9"/>
                </a:solidFill>
                <a:latin typeface="Arial" pitchFamily="34" charset="0"/>
                <a:ea typeface="Arial" pitchFamily="34" charset="-122"/>
                <a:cs typeface="Arial" pitchFamily="34" charset="-120"/>
              </a:rPr>
              <a:t>03</a:t>
            </a:r>
            <a:endParaRPr lang="en-US" sz="2400" dirty="0"/>
          </a:p>
        </p:txBody>
      </p:sp>
      <p:sp>
        <p:nvSpPr>
          <p:cNvPr id="21" name="Text 18"/>
          <p:cNvSpPr txBox="1"/>
          <p:nvPr/>
        </p:nvSpPr>
        <p:spPr>
          <a:xfrm>
            <a:off x="8321040" y="3977640"/>
            <a:ext cx="3017520" cy="6400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Una marca moderna, también en el celular</a:t>
            </a:r>
            <a:endParaRPr lang="en-US" sz="1700" dirty="0"/>
          </a:p>
        </p:txBody>
      </p:sp>
      <p:sp>
        <p:nvSpPr>
          <p:cNvPr id="22" name="Text 19"/>
          <p:cNvSpPr txBox="1"/>
          <p:nvPr/>
        </p:nvSpPr>
        <p:spPr>
          <a:xfrm>
            <a:off x="8321040" y="4663440"/>
            <a:ext cx="3017520" cy="82296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Identidad coherente, jerarquía visual y acceso claro para compradores y distribuidores.</a:t>
            </a:r>
            <a:endParaRPr lang="en-US" sz="1250" dirty="0"/>
          </a:p>
        </p:txBody>
      </p:sp>
      <p:sp>
        <p:nvSpPr>
          <p:cNvPr id="23" name="Text 20"/>
          <p:cNvSpPr txBox="1"/>
          <p:nvPr/>
        </p:nvSpPr>
        <p:spPr>
          <a:xfrm>
            <a:off x="8321040" y="5577840"/>
            <a:ext cx="3017520" cy="27432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Hallazgos: 3, 4</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01 · NECESIDAD</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Objetivos y alcance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7</a:t>
            </a:r>
            <a:endParaRPr lang="en-US" sz="900" dirty="0"/>
          </a:p>
        </p:txBody>
      </p:sp>
      <p:sp>
        <p:nvSpPr>
          <p:cNvPr id="6" name="Shape 3"/>
          <p:cNvSpPr/>
          <p:nvPr/>
        </p:nvSpPr>
        <p:spPr>
          <a:xfrm>
            <a:off x="548640" y="1417320"/>
            <a:ext cx="5760720" cy="4617720"/>
          </a:xfrm>
          <a:prstGeom prst="roundRect">
            <a:avLst>
              <a:gd name="adj" fmla="val 1584"/>
            </a:avLst>
          </a:prstGeom>
          <a:solidFill>
            <a:srgbClr val="F5F5F7"/>
          </a:solidFill>
          <a:ln/>
        </p:spPr>
      </p:sp>
      <p:sp>
        <p:nvSpPr>
          <p:cNvPr id="7" name="Text 4"/>
          <p:cNvSpPr txBox="1"/>
          <p:nvPr/>
        </p:nvSpPr>
        <p:spPr>
          <a:xfrm>
            <a:off x="822960" y="160020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OBJETIVO GENERAL</a:t>
            </a:r>
            <a:endParaRPr lang="en-US" sz="1050" dirty="0"/>
          </a:p>
        </p:txBody>
      </p:sp>
      <p:sp>
        <p:nvSpPr>
          <p:cNvPr id="8" name="Text 5"/>
          <p:cNvSpPr txBox="1"/>
          <p:nvPr/>
        </p:nvSpPr>
        <p:spPr>
          <a:xfrm>
            <a:off x="822960" y="1920240"/>
            <a:ext cx="5212080" cy="1554480"/>
          </a:xfrm>
          <a:prstGeom prst="rect">
            <a:avLst/>
          </a:prstGeom>
          <a:noFill/>
          <a:ln/>
        </p:spPr>
        <p:txBody>
          <a:bodyPr wrap="square" lIns="0" tIns="0" rIns="0" bIns="0" rtlCol="0" anchor="t"/>
          <a:lstStyle/>
          <a:p>
            <a:pPr indent="0" marL="0">
              <a:buNone/>
            </a:pPr>
            <a:r>
              <a:rPr lang="en-US" sz="1300" b="1" dirty="0">
                <a:solidFill>
                  <a:srgbClr val="0B0B0D"/>
                </a:solidFill>
                <a:latin typeface="Arial" pitchFamily="34" charset="0"/>
                <a:ea typeface="Arial" pitchFamily="34" charset="-122"/>
                <a:cs typeface="Arial" pitchFamily="34" charset="-120"/>
              </a:rPr>
              <a:t>Analizar, diseñar y desarrollar, aplicando la metodología RUP, una versión renovada del sitio web de Black Hawk que modernice la presentación de la marca, facilite la consulta del catálogo y guíe al usuario hasta el contacto con el área comercial o un distribuidor.</a:t>
            </a:r>
            <a:endParaRPr lang="en-US" sz="1300" dirty="0"/>
          </a:p>
        </p:txBody>
      </p:sp>
      <p:sp>
        <p:nvSpPr>
          <p:cNvPr id="9" name="Text 6"/>
          <p:cNvSpPr txBox="1"/>
          <p:nvPr/>
        </p:nvSpPr>
        <p:spPr>
          <a:xfrm>
            <a:off x="822960" y="361188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OBJETIVOS ESPECÍFICOS</a:t>
            </a:r>
            <a:endParaRPr lang="en-US" sz="1050" dirty="0"/>
          </a:p>
        </p:txBody>
      </p:sp>
      <p:sp>
        <p:nvSpPr>
          <p:cNvPr id="10" name="Text 7"/>
          <p:cNvSpPr txBox="1"/>
          <p:nvPr/>
        </p:nvSpPr>
        <p:spPr>
          <a:xfrm>
            <a:off x="822960" y="3931920"/>
            <a:ext cx="5212080" cy="20116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Analizar la plataforma original e identificar sus oportunidades de mejora.</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Especificar los requisitos y modelar el sistema con UML.</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Desarrollar el rediseño: identidad visual, catálogo, fichas, comparador y recorrido de consulta.</a:t>
            </a:r>
            <a:endParaRPr lang="en-US" sz="1250" dirty="0"/>
          </a:p>
          <a:p>
            <a:pPr marL="342900" indent="-342900">
              <a:spcAft>
                <a:spcPts val="500"/>
              </a:spcAft>
              <a:buSzPct val="100000"/>
              <a:buFont typeface="+mj-lt"/>
              <a:buAutoNum type="arabicPeriod" startAt="1"/>
            </a:pPr>
            <a:r>
              <a:rPr lang="en-US" sz="1250" dirty="0">
                <a:solidFill>
                  <a:srgbClr val="0B0B0D"/>
                </a:solidFill>
                <a:latin typeface="Arial" pitchFamily="34" charset="0"/>
                <a:ea typeface="Arial" pitchFamily="34" charset="-122"/>
                <a:cs typeface="Arial" pitchFamily="34" charset="-120"/>
              </a:rPr>
              <a:t>Validar la solución y planificar su publicación y las ampliaciones.</a:t>
            </a:r>
            <a:endParaRPr lang="en-US" sz="1250" dirty="0"/>
          </a:p>
        </p:txBody>
      </p:sp>
      <p:sp>
        <p:nvSpPr>
          <p:cNvPr id="11" name="Text 8"/>
          <p:cNvSpPr txBox="1"/>
          <p:nvPr/>
        </p:nvSpPr>
        <p:spPr>
          <a:xfrm>
            <a:off x="6629400" y="1417320"/>
            <a:ext cx="4572000" cy="274320"/>
          </a:xfrm>
          <a:prstGeom prst="rect">
            <a:avLst/>
          </a:prstGeom>
          <a:noFill/>
          <a:ln/>
        </p:spPr>
        <p:txBody>
          <a:bodyPr wrap="square" lIns="0" tIns="0" rIns="0" bIns="0" rtlCol="0" anchor="t"/>
          <a:lstStyle/>
          <a:p>
            <a:pPr indent="0" marL="0">
              <a:buNone/>
            </a:pPr>
            <a:r>
              <a:rPr lang="en-US" sz="1050" b="1" spc="200" kern="0" dirty="0">
                <a:solidFill>
                  <a:srgbClr val="6D28D9"/>
                </a:solidFill>
                <a:latin typeface="Arial" pitchFamily="34" charset="0"/>
                <a:ea typeface="Arial" pitchFamily="34" charset="-122"/>
                <a:cs typeface="Arial" pitchFamily="34" charset="-120"/>
              </a:rPr>
              <a:t>ALCANCE</a:t>
            </a:r>
            <a:endParaRPr lang="en-US" sz="1050" dirty="0"/>
          </a:p>
        </p:txBody>
      </p:sp>
      <p:sp>
        <p:nvSpPr>
          <p:cNvPr id="12" name="Shape 9"/>
          <p:cNvSpPr/>
          <p:nvPr/>
        </p:nvSpPr>
        <p:spPr>
          <a:xfrm>
            <a:off x="6629400" y="1737360"/>
            <a:ext cx="5013655" cy="566928"/>
          </a:xfrm>
          <a:prstGeom prst="roundRect">
            <a:avLst>
              <a:gd name="adj" fmla="val 12903"/>
            </a:avLst>
          </a:prstGeom>
          <a:solidFill>
            <a:srgbClr val="F5F5F7"/>
          </a:solidFill>
          <a:ln/>
        </p:spPr>
      </p:sp>
      <p:sp>
        <p:nvSpPr>
          <p:cNvPr id="13" name="Text 10"/>
          <p:cNvSpPr txBox="1"/>
          <p:nvPr/>
        </p:nvSpPr>
        <p:spPr>
          <a:xfrm>
            <a:off x="6812280" y="1737360"/>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A · Rediseño visual</a:t>
            </a:r>
            <a:endParaRPr lang="en-US" sz="1350" dirty="0"/>
          </a:p>
        </p:txBody>
      </p:sp>
      <p:sp>
        <p:nvSpPr>
          <p:cNvPr id="14" name="Shape 11"/>
          <p:cNvSpPr/>
          <p:nvPr/>
        </p:nvSpPr>
        <p:spPr>
          <a:xfrm>
            <a:off x="10058400" y="1892808"/>
            <a:ext cx="1142086" cy="256032"/>
          </a:xfrm>
          <a:prstGeom prst="roundRect">
            <a:avLst>
              <a:gd name="adj" fmla="val 50000"/>
            </a:avLst>
          </a:prstGeom>
          <a:solidFill>
            <a:srgbClr val="FFFFFF"/>
          </a:solidFill>
          <a:ln w="9525">
            <a:solidFill>
              <a:srgbClr val="0B0B0D"/>
            </a:solidFill>
            <a:prstDash val="solid"/>
          </a:ln>
        </p:spPr>
      </p:sp>
      <p:sp>
        <p:nvSpPr>
          <p:cNvPr id="15" name="Text 12"/>
          <p:cNvSpPr txBox="1"/>
          <p:nvPr/>
        </p:nvSpPr>
        <p:spPr>
          <a:xfrm>
            <a:off x="10058400" y="1892808"/>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16" name="Shape 13"/>
          <p:cNvSpPr/>
          <p:nvPr/>
        </p:nvSpPr>
        <p:spPr>
          <a:xfrm>
            <a:off x="6629400" y="2395728"/>
            <a:ext cx="5013655" cy="566928"/>
          </a:xfrm>
          <a:prstGeom prst="roundRect">
            <a:avLst>
              <a:gd name="adj" fmla="val 12903"/>
            </a:avLst>
          </a:prstGeom>
          <a:solidFill>
            <a:srgbClr val="F5F5F7"/>
          </a:solidFill>
          <a:ln/>
        </p:spPr>
      </p:sp>
      <p:sp>
        <p:nvSpPr>
          <p:cNvPr id="17" name="Text 14"/>
          <p:cNvSpPr txBox="1"/>
          <p:nvPr/>
        </p:nvSpPr>
        <p:spPr>
          <a:xfrm>
            <a:off x="6812280" y="2395728"/>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B · Catálogo y consulta</a:t>
            </a:r>
            <a:endParaRPr lang="en-US" sz="1350" dirty="0"/>
          </a:p>
        </p:txBody>
      </p:sp>
      <p:sp>
        <p:nvSpPr>
          <p:cNvPr id="18" name="Shape 15"/>
          <p:cNvSpPr/>
          <p:nvPr/>
        </p:nvSpPr>
        <p:spPr>
          <a:xfrm>
            <a:off x="10058400" y="2551176"/>
            <a:ext cx="1142086" cy="256032"/>
          </a:xfrm>
          <a:prstGeom prst="roundRect">
            <a:avLst>
              <a:gd name="adj" fmla="val 50000"/>
            </a:avLst>
          </a:prstGeom>
          <a:solidFill>
            <a:srgbClr val="FFFFFF"/>
          </a:solidFill>
          <a:ln w="9525">
            <a:solidFill>
              <a:srgbClr val="0B0B0D"/>
            </a:solidFill>
            <a:prstDash val="solid"/>
          </a:ln>
        </p:spPr>
      </p:sp>
      <p:sp>
        <p:nvSpPr>
          <p:cNvPr id="19" name="Text 16"/>
          <p:cNvSpPr txBox="1"/>
          <p:nvPr/>
        </p:nvSpPr>
        <p:spPr>
          <a:xfrm>
            <a:off x="10058400" y="2551176"/>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20" name="Shape 17"/>
          <p:cNvSpPr/>
          <p:nvPr/>
        </p:nvSpPr>
        <p:spPr>
          <a:xfrm>
            <a:off x="6629400" y="3054096"/>
            <a:ext cx="5013655" cy="566928"/>
          </a:xfrm>
          <a:prstGeom prst="roundRect">
            <a:avLst>
              <a:gd name="adj" fmla="val 12903"/>
            </a:avLst>
          </a:prstGeom>
          <a:solidFill>
            <a:srgbClr val="F5F5F7"/>
          </a:solidFill>
          <a:ln/>
        </p:spPr>
      </p:sp>
      <p:sp>
        <p:nvSpPr>
          <p:cNvPr id="21" name="Text 18"/>
          <p:cNvSpPr txBox="1"/>
          <p:nvPr/>
        </p:nvSpPr>
        <p:spPr>
          <a:xfrm>
            <a:off x="6812280" y="3054096"/>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C · Recorrido comercial</a:t>
            </a:r>
            <a:endParaRPr lang="en-US" sz="1350" dirty="0"/>
          </a:p>
        </p:txBody>
      </p:sp>
      <p:sp>
        <p:nvSpPr>
          <p:cNvPr id="22" name="Shape 19"/>
          <p:cNvSpPr/>
          <p:nvPr/>
        </p:nvSpPr>
        <p:spPr>
          <a:xfrm>
            <a:off x="10058400" y="3209544"/>
            <a:ext cx="1142086" cy="256032"/>
          </a:xfrm>
          <a:prstGeom prst="roundRect">
            <a:avLst>
              <a:gd name="adj" fmla="val 50000"/>
            </a:avLst>
          </a:prstGeom>
          <a:solidFill>
            <a:srgbClr val="FFFFFF"/>
          </a:solidFill>
          <a:ln w="9525">
            <a:solidFill>
              <a:srgbClr val="0B0B0D"/>
            </a:solidFill>
            <a:prstDash val="solid"/>
          </a:ln>
        </p:spPr>
      </p:sp>
      <p:sp>
        <p:nvSpPr>
          <p:cNvPr id="23" name="Text 20"/>
          <p:cNvSpPr txBox="1"/>
          <p:nvPr/>
        </p:nvSpPr>
        <p:spPr>
          <a:xfrm>
            <a:off x="10058400" y="3209544"/>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24" name="Shape 21"/>
          <p:cNvSpPr/>
          <p:nvPr/>
        </p:nvSpPr>
        <p:spPr>
          <a:xfrm>
            <a:off x="6629400" y="3712464"/>
            <a:ext cx="5013655" cy="566928"/>
          </a:xfrm>
          <a:prstGeom prst="roundRect">
            <a:avLst>
              <a:gd name="adj" fmla="val 12903"/>
            </a:avLst>
          </a:prstGeom>
          <a:solidFill>
            <a:srgbClr val="F5F5F7"/>
          </a:solidFill>
          <a:ln/>
        </p:spPr>
      </p:sp>
      <p:sp>
        <p:nvSpPr>
          <p:cNvPr id="25" name="Text 22"/>
          <p:cNvSpPr txBox="1"/>
          <p:nvPr/>
        </p:nvSpPr>
        <p:spPr>
          <a:xfrm>
            <a:off x="6812280" y="3712464"/>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D · Administración</a:t>
            </a:r>
            <a:endParaRPr lang="en-US" sz="1350" dirty="0"/>
          </a:p>
        </p:txBody>
      </p:sp>
      <p:sp>
        <p:nvSpPr>
          <p:cNvPr id="26" name="Shape 23"/>
          <p:cNvSpPr/>
          <p:nvPr/>
        </p:nvSpPr>
        <p:spPr>
          <a:xfrm>
            <a:off x="10058400" y="3867912"/>
            <a:ext cx="1289761" cy="256032"/>
          </a:xfrm>
          <a:prstGeom prst="roundRect">
            <a:avLst>
              <a:gd name="adj" fmla="val 50000"/>
            </a:avLst>
          </a:prstGeom>
          <a:solidFill>
            <a:srgbClr val="FFFFFF"/>
          </a:solidFill>
          <a:ln w="9525">
            <a:solidFill>
              <a:srgbClr val="6B7280"/>
            </a:solidFill>
            <a:prstDash val="solid"/>
          </a:ln>
        </p:spPr>
      </p:sp>
      <p:sp>
        <p:nvSpPr>
          <p:cNvPr id="27" name="Text 24"/>
          <p:cNvSpPr txBox="1"/>
          <p:nvPr/>
        </p:nvSpPr>
        <p:spPr>
          <a:xfrm>
            <a:off x="10058400" y="3867912"/>
            <a:ext cx="1289761" cy="256032"/>
          </a:xfrm>
          <a:prstGeom prst="rect">
            <a:avLst/>
          </a:prstGeom>
          <a:noFill/>
          <a:ln/>
        </p:spPr>
        <p:txBody>
          <a:bodyPr wrap="square" lIns="0" tIns="0" rIns="0" bIns="0" rtlCol="0" anchor="ctr"/>
          <a:lstStyle/>
          <a:p>
            <a:pPr algn="ctr" indent="0" marL="0">
              <a:buNone/>
            </a:pPr>
            <a:r>
              <a:rPr lang="en-US" sz="950" b="1" dirty="0">
                <a:solidFill>
                  <a:srgbClr val="6B7280"/>
                </a:solidFill>
                <a:latin typeface="Arial" pitchFamily="34" charset="0"/>
                <a:ea typeface="Arial" pitchFamily="34" charset="-122"/>
                <a:cs typeface="Arial" pitchFamily="34" charset="-120"/>
              </a:rPr>
              <a:t>Base WordPress</a:t>
            </a:r>
            <a:endParaRPr lang="en-US" sz="950" dirty="0"/>
          </a:p>
        </p:txBody>
      </p:sp>
      <p:sp>
        <p:nvSpPr>
          <p:cNvPr id="28" name="Shape 25"/>
          <p:cNvSpPr/>
          <p:nvPr/>
        </p:nvSpPr>
        <p:spPr>
          <a:xfrm>
            <a:off x="6629400" y="4370832"/>
            <a:ext cx="5013655" cy="566928"/>
          </a:xfrm>
          <a:prstGeom prst="roundRect">
            <a:avLst>
              <a:gd name="adj" fmla="val 12903"/>
            </a:avLst>
          </a:prstGeom>
          <a:solidFill>
            <a:srgbClr val="EDE4FB"/>
          </a:solidFill>
          <a:ln/>
        </p:spPr>
      </p:sp>
      <p:sp>
        <p:nvSpPr>
          <p:cNvPr id="29" name="Text 26"/>
          <p:cNvSpPr txBox="1"/>
          <p:nvPr/>
        </p:nvSpPr>
        <p:spPr>
          <a:xfrm>
            <a:off x="6812280" y="4370832"/>
            <a:ext cx="2926080" cy="566928"/>
          </a:xfrm>
          <a:prstGeom prst="rect">
            <a:avLst/>
          </a:prstGeom>
          <a:noFill/>
          <a:ln/>
        </p:spPr>
        <p:txBody>
          <a:bodyPr wrap="square" lIns="0" tIns="0" rIns="0" bIns="0" rtlCol="0" anchor="ctr"/>
          <a:lstStyle/>
          <a:p>
            <a:pPr indent="0" marL="0">
              <a:buNone/>
            </a:pPr>
            <a:r>
              <a:rPr lang="en-US" sz="1350" b="1" dirty="0">
                <a:solidFill>
                  <a:srgbClr val="0B0B0D"/>
                </a:solidFill>
                <a:latin typeface="Arial" pitchFamily="34" charset="0"/>
                <a:ea typeface="Arial" pitchFamily="34" charset="-122"/>
                <a:cs typeface="Arial" pitchFamily="34" charset="-120"/>
              </a:rPr>
              <a:t>E · Mejoras complementarias</a:t>
            </a:r>
            <a:endParaRPr lang="en-US" sz="1350" dirty="0"/>
          </a:p>
        </p:txBody>
      </p:sp>
      <p:sp>
        <p:nvSpPr>
          <p:cNvPr id="30" name="Shape 27"/>
          <p:cNvSpPr/>
          <p:nvPr/>
        </p:nvSpPr>
        <p:spPr>
          <a:xfrm>
            <a:off x="10058400" y="4526280"/>
            <a:ext cx="920572" cy="256032"/>
          </a:xfrm>
          <a:prstGeom prst="roundRect">
            <a:avLst>
              <a:gd name="adj" fmla="val 50000"/>
            </a:avLst>
          </a:prstGeom>
          <a:solidFill>
            <a:srgbClr val="6D28D9"/>
          </a:solidFill>
          <a:ln w="9525">
            <a:solidFill>
              <a:srgbClr val="6D28D9"/>
            </a:solidFill>
            <a:prstDash val="solid"/>
          </a:ln>
        </p:spPr>
      </p:sp>
      <p:sp>
        <p:nvSpPr>
          <p:cNvPr id="31" name="Text 28"/>
          <p:cNvSpPr txBox="1"/>
          <p:nvPr/>
        </p:nvSpPr>
        <p:spPr>
          <a:xfrm>
            <a:off x="10058400" y="4526280"/>
            <a:ext cx="9205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sp>
        <p:nvSpPr>
          <p:cNvPr id="32" name="Shape 29"/>
          <p:cNvSpPr/>
          <p:nvPr/>
        </p:nvSpPr>
        <p:spPr>
          <a:xfrm>
            <a:off x="6629400" y="5120640"/>
            <a:ext cx="5013655" cy="914400"/>
          </a:xfrm>
          <a:prstGeom prst="roundRect">
            <a:avLst>
              <a:gd name="adj" fmla="val 8000"/>
            </a:avLst>
          </a:prstGeom>
          <a:solidFill>
            <a:srgbClr val="0B0B0D"/>
          </a:solidFill>
          <a:ln/>
        </p:spPr>
      </p:sp>
      <p:sp>
        <p:nvSpPr>
          <p:cNvPr id="33" name="Text 30"/>
          <p:cNvSpPr txBox="1"/>
          <p:nvPr/>
        </p:nvSpPr>
        <p:spPr>
          <a:xfrm>
            <a:off x="6812280" y="5120640"/>
            <a:ext cx="4647895" cy="914400"/>
          </a:xfrm>
          <a:prstGeom prst="rect">
            <a:avLst/>
          </a:prstGeom>
          <a:noFill/>
          <a:ln/>
        </p:spPr>
        <p:txBody>
          <a:bodyPr wrap="square" lIns="0" tIns="0" rIns="0" bIns="0" rtlCol="0" anchor="ctr"/>
          <a:lstStyle/>
          <a:p>
            <a:pPr indent="0" marL="0">
              <a:buNone/>
            </a:pPr>
            <a:r>
              <a:rPr lang="en-US" sz="1200" b="1" dirty="0">
                <a:solidFill>
                  <a:srgbClr val="A78BFA"/>
                </a:solidFill>
                <a:latin typeface="Arial" pitchFamily="34" charset="0"/>
                <a:ea typeface="Arial" pitchFamily="34" charset="-122"/>
                <a:cs typeface="Arial" pitchFamily="34" charset="-120"/>
              </a:rPr>
              <a:t>No incluye: </a:t>
            </a:r>
            <a:pPr indent="0" marL="0">
              <a:buNone/>
            </a:pPr>
            <a:r>
              <a:rPr lang="en-US" sz="1200" dirty="0">
                <a:solidFill>
                  <a:srgbClr val="FFFFFF"/>
                </a:solidFill>
                <a:latin typeface="Arial" pitchFamily="34" charset="0"/>
                <a:ea typeface="Arial" pitchFamily="34" charset="-122"/>
                <a:cs typeface="Arial" pitchFamily="34" charset="-120"/>
              </a:rPr>
              <a:t>Venta en línea (carrito, pagos) · ERP e inventario · CRM o API de WhatsApp Business · Aplicación móvil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¿Qué es RUP y por qué lo utilizo?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8</a:t>
            </a:r>
            <a:endParaRPr lang="en-US" sz="900" dirty="0"/>
          </a:p>
        </p:txBody>
      </p:sp>
      <p:sp>
        <p:nvSpPr>
          <p:cNvPr id="6" name="Text 3"/>
          <p:cNvSpPr txBox="1"/>
          <p:nvPr/>
        </p:nvSpPr>
        <p:spPr>
          <a:xfrm>
            <a:off x="548640" y="1371600"/>
            <a:ext cx="10515600" cy="640080"/>
          </a:xfrm>
          <a:prstGeom prst="rect">
            <a:avLst/>
          </a:prstGeom>
          <a:noFill/>
          <a:ln/>
        </p:spPr>
        <p:txBody>
          <a:bodyPr wrap="square" lIns="0" tIns="0" rIns="0" bIns="0" rtlCol="0" anchor="t"/>
          <a:lstStyle/>
          <a:p>
            <a:pPr indent="0" marL="0">
              <a:buNone/>
            </a:pPr>
            <a:r>
              <a:rPr lang="en-US" sz="1500" dirty="0">
                <a:solidFill>
                  <a:srgbClr val="6B7280"/>
                </a:solidFill>
                <a:latin typeface="Arial" pitchFamily="34" charset="0"/>
                <a:ea typeface="Arial" pitchFamily="34" charset="-122"/>
                <a:cs typeface="Arial" pitchFamily="34" charset="-120"/>
              </a:rPr>
              <a:t>Rational Unified Process: metodología de desarrollo de software que organiza el trabajo en fases e iteraciones, con disciplinas, artefactos e hitos definidos (Kruchten, 2004).</a:t>
            </a:r>
            <a:endParaRPr lang="en-US" sz="1500" dirty="0"/>
          </a:p>
        </p:txBody>
      </p:sp>
      <p:sp>
        <p:nvSpPr>
          <p:cNvPr id="7" name="Shape 4"/>
          <p:cNvSpPr/>
          <p:nvPr/>
        </p:nvSpPr>
        <p:spPr>
          <a:xfrm>
            <a:off x="548640" y="2194560"/>
            <a:ext cx="3566160" cy="2743200"/>
          </a:xfrm>
          <a:prstGeom prst="roundRect">
            <a:avLst>
              <a:gd name="adj" fmla="val 2667"/>
            </a:avLst>
          </a:prstGeom>
          <a:solidFill>
            <a:srgbClr val="0B0B0D"/>
          </a:solidFill>
          <a:ln/>
        </p:spPr>
      </p:sp>
      <p:sp>
        <p:nvSpPr>
          <p:cNvPr id="8" name="Shape 5"/>
          <p:cNvSpPr/>
          <p:nvPr/>
        </p:nvSpPr>
        <p:spPr>
          <a:xfrm>
            <a:off x="822960" y="2377440"/>
            <a:ext cx="603504" cy="603504"/>
          </a:xfrm>
          <a:prstGeom prst="ellipse">
            <a:avLst/>
          </a:prstGeom>
          <a:solidFill>
            <a:srgbClr val="6D28D9"/>
          </a:solidFill>
          <a:ln/>
        </p:spPr>
      </p:sp>
      <p:pic>
        <p:nvPicPr>
          <p:cNvPr id="9" name="Image 0" descr="preencoded.png">    </p:cNvPr>
          <p:cNvPicPr>
            <a:picLocks noChangeAspect="1"/>
          </p:cNvPicPr>
          <p:nvPr/>
        </p:nvPicPr>
        <p:blipFill>
          <a:blip r:embed="rId1"/>
          <a:stretch>
            <a:fillRect/>
          </a:stretch>
        </p:blipFill>
        <p:spPr>
          <a:xfrm>
            <a:off x="967801" y="2522281"/>
            <a:ext cx="313822" cy="313822"/>
          </a:xfrm>
          <a:prstGeom prst="rect">
            <a:avLst/>
          </a:prstGeom>
        </p:spPr>
      </p:pic>
      <p:sp>
        <p:nvSpPr>
          <p:cNvPr id="10" name="Text 6"/>
          <p:cNvSpPr txBox="1"/>
          <p:nvPr/>
        </p:nvSpPr>
        <p:spPr>
          <a:xfrm>
            <a:off x="822960" y="3108960"/>
            <a:ext cx="3108960" cy="41148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Iterativo e incremental</a:t>
            </a:r>
            <a:endParaRPr lang="en-US" sz="1700" dirty="0"/>
          </a:p>
        </p:txBody>
      </p:sp>
      <p:sp>
        <p:nvSpPr>
          <p:cNvPr id="11" name="Text 7"/>
          <p:cNvSpPr txBox="1"/>
          <p:nvPr/>
        </p:nvSpPr>
        <p:spPr>
          <a:xfrm>
            <a:off x="822960" y="3566160"/>
            <a:ext cx="3108960" cy="502920"/>
          </a:xfrm>
          <a:prstGeom prst="rect">
            <a:avLst/>
          </a:prstGeom>
          <a:noFill/>
          <a:ln/>
        </p:spPr>
        <p:txBody>
          <a:bodyPr wrap="square" lIns="0" tIns="0" rIns="0" bIns="0" rtlCol="0" anchor="t"/>
          <a:lstStyle/>
          <a:p>
            <a:pPr indent="0" marL="0">
              <a:buNone/>
            </a:pPr>
            <a:r>
              <a:rPr lang="en-US" sz="1250" dirty="0">
                <a:solidFill>
                  <a:srgbClr val="9CA3AF"/>
                </a:solidFill>
                <a:latin typeface="Arial" pitchFamily="34" charset="0"/>
                <a:ea typeface="Arial" pitchFamily="34" charset="-122"/>
                <a:cs typeface="Arial" pitchFamily="34" charset="-120"/>
              </a:rPr>
              <a:t>El sistema crece por partes que se prueban.</a:t>
            </a:r>
            <a:endParaRPr lang="en-US" sz="1250" dirty="0"/>
          </a:p>
        </p:txBody>
      </p:sp>
      <p:sp>
        <p:nvSpPr>
          <p:cNvPr id="12" name="Text 8"/>
          <p:cNvSpPr txBox="1"/>
          <p:nvPr/>
        </p:nvSpPr>
        <p:spPr>
          <a:xfrm>
            <a:off x="822960" y="4160520"/>
            <a:ext cx="3108960" cy="640080"/>
          </a:xfrm>
          <a:prstGeom prst="rect">
            <a:avLst/>
          </a:prstGeom>
          <a:noFill/>
          <a:ln/>
        </p:spPr>
        <p:txBody>
          <a:bodyPr wrap="square" lIns="0" tIns="0" rIns="0" bIns="0" rtlCol="0" anchor="t"/>
          <a:lstStyle/>
          <a:p>
            <a:pPr indent="0" marL="0">
              <a:buNone/>
            </a:pPr>
            <a:r>
              <a:rPr lang="en-US" sz="1300" b="1" dirty="0">
                <a:solidFill>
                  <a:srgbClr val="A78BFA"/>
                </a:solidFill>
                <a:latin typeface="Arial" pitchFamily="34" charset="0"/>
                <a:ea typeface="Arial" pitchFamily="34" charset="-122"/>
                <a:cs typeface="Arial" pitchFamily="34" charset="-120"/>
              </a:rPr>
              <a:t>Home → catálogo → ficha → recorrido de cotización.</a:t>
            </a:r>
            <a:endParaRPr lang="en-US" sz="1300" dirty="0"/>
          </a:p>
        </p:txBody>
      </p:sp>
      <p:sp>
        <p:nvSpPr>
          <p:cNvPr id="13" name="Shape 9"/>
          <p:cNvSpPr/>
          <p:nvPr/>
        </p:nvSpPr>
        <p:spPr>
          <a:xfrm>
            <a:off x="4297680" y="2194560"/>
            <a:ext cx="3566160" cy="2743200"/>
          </a:xfrm>
          <a:prstGeom prst="roundRect">
            <a:avLst>
              <a:gd name="adj" fmla="val 2667"/>
            </a:avLst>
          </a:prstGeom>
          <a:solidFill>
            <a:srgbClr val="F5F5F7"/>
          </a:solidFill>
          <a:ln/>
        </p:spPr>
      </p:sp>
      <p:sp>
        <p:nvSpPr>
          <p:cNvPr id="14" name="Shape 10"/>
          <p:cNvSpPr/>
          <p:nvPr/>
        </p:nvSpPr>
        <p:spPr>
          <a:xfrm>
            <a:off x="4572000" y="2377440"/>
            <a:ext cx="603504" cy="603504"/>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716841" y="2522281"/>
            <a:ext cx="313822" cy="313822"/>
          </a:xfrm>
          <a:prstGeom prst="rect">
            <a:avLst/>
          </a:prstGeom>
        </p:spPr>
      </p:pic>
      <p:sp>
        <p:nvSpPr>
          <p:cNvPr id="16" name="Text 11"/>
          <p:cNvSpPr txBox="1"/>
          <p:nvPr/>
        </p:nvSpPr>
        <p:spPr>
          <a:xfrm>
            <a:off x="4572000" y="310896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Dirigido por casos de uso</a:t>
            </a:r>
            <a:endParaRPr lang="en-US" sz="1700" dirty="0"/>
          </a:p>
        </p:txBody>
      </p:sp>
      <p:sp>
        <p:nvSpPr>
          <p:cNvPr id="17" name="Text 12"/>
          <p:cNvSpPr txBox="1"/>
          <p:nvPr/>
        </p:nvSpPr>
        <p:spPr>
          <a:xfrm>
            <a:off x="4572000" y="3566160"/>
            <a:ext cx="310896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Los casos de uso guían diseño, código y pruebas.</a:t>
            </a:r>
            <a:endParaRPr lang="en-US" sz="1250" dirty="0"/>
          </a:p>
        </p:txBody>
      </p:sp>
      <p:sp>
        <p:nvSpPr>
          <p:cNvPr id="18" name="Text 13"/>
          <p:cNvSpPr txBox="1"/>
          <p:nvPr/>
        </p:nvSpPr>
        <p:spPr>
          <a:xfrm>
            <a:off x="4572000" y="4160520"/>
            <a:ext cx="3108960" cy="64008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«Cotizar por WhatsApp» definió la ficha y el mensaje.</a:t>
            </a:r>
            <a:endParaRPr lang="en-US" sz="1300" dirty="0"/>
          </a:p>
        </p:txBody>
      </p:sp>
      <p:sp>
        <p:nvSpPr>
          <p:cNvPr id="19" name="Shape 14"/>
          <p:cNvSpPr/>
          <p:nvPr/>
        </p:nvSpPr>
        <p:spPr>
          <a:xfrm>
            <a:off x="8046720" y="2194560"/>
            <a:ext cx="3566160" cy="2743200"/>
          </a:xfrm>
          <a:prstGeom prst="roundRect">
            <a:avLst>
              <a:gd name="adj" fmla="val 2667"/>
            </a:avLst>
          </a:prstGeom>
          <a:solidFill>
            <a:srgbClr val="F5F5F7"/>
          </a:solidFill>
          <a:ln/>
        </p:spPr>
      </p:sp>
      <p:sp>
        <p:nvSpPr>
          <p:cNvPr id="20" name="Shape 15"/>
          <p:cNvSpPr/>
          <p:nvPr/>
        </p:nvSpPr>
        <p:spPr>
          <a:xfrm>
            <a:off x="8321040" y="2377440"/>
            <a:ext cx="603504" cy="603504"/>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8465881" y="2522281"/>
            <a:ext cx="313822" cy="313822"/>
          </a:xfrm>
          <a:prstGeom prst="rect">
            <a:avLst/>
          </a:prstGeom>
        </p:spPr>
      </p:pic>
      <p:sp>
        <p:nvSpPr>
          <p:cNvPr id="22" name="Text 16"/>
          <p:cNvSpPr txBox="1"/>
          <p:nvPr/>
        </p:nvSpPr>
        <p:spPr>
          <a:xfrm>
            <a:off x="8321040" y="3108960"/>
            <a:ext cx="3108960" cy="41148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Centrado en la arquitectura</a:t>
            </a:r>
            <a:endParaRPr lang="en-US" sz="1700" dirty="0"/>
          </a:p>
        </p:txBody>
      </p:sp>
      <p:sp>
        <p:nvSpPr>
          <p:cNvPr id="23" name="Text 17"/>
          <p:cNvSpPr txBox="1"/>
          <p:nvPr/>
        </p:nvSpPr>
        <p:spPr>
          <a:xfrm>
            <a:off x="8321040" y="3566160"/>
            <a:ext cx="3108960" cy="502920"/>
          </a:xfrm>
          <a:prstGeom prst="rect">
            <a:avLst/>
          </a:prstGeom>
          <a:noFill/>
          <a:ln/>
        </p:spPr>
        <p:txBody>
          <a:bodyPr wrap="square" lIns="0" tIns="0" rIns="0" bIns="0" rtlCol="0" anchor="t"/>
          <a:lstStyle/>
          <a:p>
            <a:pPr indent="0" marL="0">
              <a:buNone/>
            </a:pPr>
            <a:r>
              <a:rPr lang="en-US" sz="1250" dirty="0">
                <a:solidFill>
                  <a:srgbClr val="6B7280"/>
                </a:solidFill>
                <a:latin typeface="Arial" pitchFamily="34" charset="0"/>
                <a:ea typeface="Arial" pitchFamily="34" charset="-122"/>
                <a:cs typeface="Arial" pitchFamily="34" charset="-120"/>
              </a:rPr>
              <a:t>Se valida la estructura antes de construir.</a:t>
            </a:r>
            <a:endParaRPr lang="en-US" sz="1250" dirty="0"/>
          </a:p>
        </p:txBody>
      </p:sp>
      <p:sp>
        <p:nvSpPr>
          <p:cNvPr id="24" name="Text 18"/>
          <p:cNvSpPr txBox="1"/>
          <p:nvPr/>
        </p:nvSpPr>
        <p:spPr>
          <a:xfrm>
            <a:off x="8321040" y="4160520"/>
            <a:ext cx="3108960" cy="64008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Tema hijo sobre WooCommerce, sin tocar su núcleo.</a:t>
            </a:r>
            <a:endParaRPr lang="en-US" sz="1300" dirty="0"/>
          </a:p>
        </p:txBody>
      </p:sp>
      <p:sp>
        <p:nvSpPr>
          <p:cNvPr id="25" name="Shape 19"/>
          <p:cNvSpPr/>
          <p:nvPr/>
        </p:nvSpPr>
        <p:spPr>
          <a:xfrm>
            <a:off x="548640" y="5166360"/>
            <a:ext cx="11094415" cy="822960"/>
          </a:xfrm>
          <a:prstGeom prst="roundRect">
            <a:avLst>
              <a:gd name="adj" fmla="val 8889"/>
            </a:avLst>
          </a:prstGeom>
          <a:solidFill>
            <a:srgbClr val="EDE4FB"/>
          </a:solidFill>
          <a:ln/>
        </p:spPr>
      </p:sp>
      <p:sp>
        <p:nvSpPr>
          <p:cNvPr id="26" name="Text 20"/>
          <p:cNvSpPr txBox="1"/>
          <p:nvPr/>
        </p:nvSpPr>
        <p:spPr>
          <a:xfrm>
            <a:off x="822960" y="5166360"/>
            <a:ext cx="10545775" cy="822960"/>
          </a:xfrm>
          <a:prstGeom prst="rect">
            <a:avLst/>
          </a:prstGeom>
          <a:noFill/>
          <a:ln/>
        </p:spPr>
        <p:txBody>
          <a:bodyPr wrap="square" lIns="0" tIns="0" rIns="0" bIns="0" rtlCol="0" anchor="ctr"/>
          <a:lstStyle/>
          <a:p>
            <a:pPr indent="0" marL="0">
              <a:buNone/>
            </a:pPr>
            <a:r>
              <a:rPr lang="en-US" sz="1400" b="1" dirty="0">
                <a:solidFill>
                  <a:srgbClr val="6D28D9"/>
                </a:solidFill>
                <a:latin typeface="Arial" pitchFamily="34" charset="0"/>
                <a:ea typeface="Arial" pitchFamily="34" charset="-122"/>
                <a:cs typeface="Arial" pitchFamily="34" charset="-120"/>
              </a:rPr>
              <a:t>Por qué RUP: </a:t>
            </a:r>
            <a:pPr indent="0" marL="0">
              <a:buNone/>
            </a:pPr>
            <a:r>
              <a:rPr lang="en-US" sz="1400" dirty="0">
                <a:solidFill>
                  <a:srgbClr val="0B0B0D"/>
                </a:solidFill>
                <a:latin typeface="Arial" pitchFamily="34" charset="0"/>
                <a:ea typeface="Arial" pitchFamily="34" charset="-122"/>
                <a:cs typeface="Arial" pitchFamily="34" charset="-120"/>
              </a:rPr>
              <a:t>exige analizar y modelar antes de construir, ataca los riesgos temprano y cada fase cierra con un hito verificable.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Estructura de RUP: fases, iteraciones y disciplinas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9</a:t>
            </a:r>
            <a:endParaRPr lang="en-US" sz="900" dirty="0"/>
          </a:p>
        </p:txBody>
      </p:sp>
      <p:sp>
        <p:nvSpPr>
          <p:cNvPr id="6" name="Shape 3"/>
          <p:cNvSpPr/>
          <p:nvPr/>
        </p:nvSpPr>
        <p:spPr>
          <a:xfrm>
            <a:off x="3319272" y="1417320"/>
            <a:ext cx="2032940" cy="411480"/>
          </a:xfrm>
          <a:prstGeom prst="rect">
            <a:avLst/>
          </a:prstGeom>
          <a:solidFill>
            <a:srgbClr val="9CA3AF"/>
          </a:solidFill>
          <a:ln/>
        </p:spPr>
      </p:sp>
      <p:sp>
        <p:nvSpPr>
          <p:cNvPr id="7" name="Text 4"/>
          <p:cNvSpPr txBox="1"/>
          <p:nvPr/>
        </p:nvSpPr>
        <p:spPr>
          <a:xfrm>
            <a:off x="3319272"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Inicio</a:t>
            </a:r>
            <a:endParaRPr lang="en-US" sz="1300" dirty="0"/>
          </a:p>
        </p:txBody>
      </p:sp>
      <p:sp>
        <p:nvSpPr>
          <p:cNvPr id="8" name="Shape 5"/>
          <p:cNvSpPr/>
          <p:nvPr/>
        </p:nvSpPr>
        <p:spPr>
          <a:xfrm>
            <a:off x="3337560" y="1892808"/>
            <a:ext cx="1996364" cy="292608"/>
          </a:xfrm>
          <a:prstGeom prst="roundRect">
            <a:avLst>
              <a:gd name="adj" fmla="val 25000"/>
            </a:avLst>
          </a:prstGeom>
          <a:solidFill>
            <a:srgbClr val="F5F5F7"/>
          </a:solidFill>
          <a:ln/>
        </p:spPr>
      </p:sp>
      <p:sp>
        <p:nvSpPr>
          <p:cNvPr id="9" name="Text 6"/>
          <p:cNvSpPr txBox="1"/>
          <p:nvPr/>
        </p:nvSpPr>
        <p:spPr>
          <a:xfrm>
            <a:off x="3319272"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I1</a:t>
            </a:r>
            <a:endParaRPr lang="en-US" sz="1000" dirty="0"/>
          </a:p>
        </p:txBody>
      </p:sp>
      <p:sp>
        <p:nvSpPr>
          <p:cNvPr id="10" name="Shape 7"/>
          <p:cNvSpPr/>
          <p:nvPr/>
        </p:nvSpPr>
        <p:spPr>
          <a:xfrm>
            <a:off x="5407076" y="1417320"/>
            <a:ext cx="2032940" cy="411480"/>
          </a:xfrm>
          <a:prstGeom prst="rect">
            <a:avLst/>
          </a:prstGeom>
          <a:solidFill>
            <a:srgbClr val="A78BFA"/>
          </a:solidFill>
          <a:ln/>
        </p:spPr>
      </p:sp>
      <p:sp>
        <p:nvSpPr>
          <p:cNvPr id="11" name="Text 8"/>
          <p:cNvSpPr txBox="1"/>
          <p:nvPr/>
        </p:nvSpPr>
        <p:spPr>
          <a:xfrm>
            <a:off x="5407076"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Elaboración</a:t>
            </a:r>
            <a:endParaRPr lang="en-US" sz="1300" dirty="0"/>
          </a:p>
        </p:txBody>
      </p:sp>
      <p:sp>
        <p:nvSpPr>
          <p:cNvPr id="12" name="Shape 9"/>
          <p:cNvSpPr/>
          <p:nvPr/>
        </p:nvSpPr>
        <p:spPr>
          <a:xfrm>
            <a:off x="5425364" y="1892808"/>
            <a:ext cx="979894" cy="292608"/>
          </a:xfrm>
          <a:prstGeom prst="roundRect">
            <a:avLst>
              <a:gd name="adj" fmla="val 25000"/>
            </a:avLst>
          </a:prstGeom>
          <a:solidFill>
            <a:srgbClr val="F5F5F7"/>
          </a:solidFill>
          <a:ln/>
        </p:spPr>
      </p:sp>
      <p:sp>
        <p:nvSpPr>
          <p:cNvPr id="13" name="Text 10"/>
          <p:cNvSpPr txBox="1"/>
          <p:nvPr/>
        </p:nvSpPr>
        <p:spPr>
          <a:xfrm>
            <a:off x="540707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E1</a:t>
            </a:r>
            <a:endParaRPr lang="en-US" sz="1000" dirty="0"/>
          </a:p>
        </p:txBody>
      </p:sp>
      <p:sp>
        <p:nvSpPr>
          <p:cNvPr id="14" name="Shape 11"/>
          <p:cNvSpPr/>
          <p:nvPr/>
        </p:nvSpPr>
        <p:spPr>
          <a:xfrm>
            <a:off x="6441834" y="1892808"/>
            <a:ext cx="979894" cy="292608"/>
          </a:xfrm>
          <a:prstGeom prst="roundRect">
            <a:avLst>
              <a:gd name="adj" fmla="val 25000"/>
            </a:avLst>
          </a:prstGeom>
          <a:solidFill>
            <a:srgbClr val="F5F5F7"/>
          </a:solidFill>
          <a:ln/>
        </p:spPr>
      </p:sp>
      <p:sp>
        <p:nvSpPr>
          <p:cNvPr id="15" name="Text 12"/>
          <p:cNvSpPr txBox="1"/>
          <p:nvPr/>
        </p:nvSpPr>
        <p:spPr>
          <a:xfrm>
            <a:off x="6423546" y="1892808"/>
            <a:ext cx="101647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E2</a:t>
            </a:r>
            <a:endParaRPr lang="en-US" sz="1000" dirty="0"/>
          </a:p>
        </p:txBody>
      </p:sp>
      <p:sp>
        <p:nvSpPr>
          <p:cNvPr id="16" name="Shape 13"/>
          <p:cNvSpPr/>
          <p:nvPr/>
        </p:nvSpPr>
        <p:spPr>
          <a:xfrm>
            <a:off x="7494880" y="1417320"/>
            <a:ext cx="2032940" cy="411480"/>
          </a:xfrm>
          <a:prstGeom prst="rect">
            <a:avLst/>
          </a:prstGeom>
          <a:solidFill>
            <a:srgbClr val="6D28D9"/>
          </a:solidFill>
          <a:ln/>
        </p:spPr>
      </p:sp>
      <p:sp>
        <p:nvSpPr>
          <p:cNvPr id="17" name="Text 14"/>
          <p:cNvSpPr txBox="1"/>
          <p:nvPr/>
        </p:nvSpPr>
        <p:spPr>
          <a:xfrm>
            <a:off x="7494880"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Construcción</a:t>
            </a:r>
            <a:endParaRPr lang="en-US" sz="1300" dirty="0"/>
          </a:p>
        </p:txBody>
      </p:sp>
      <p:sp>
        <p:nvSpPr>
          <p:cNvPr id="18" name="Shape 15"/>
          <p:cNvSpPr/>
          <p:nvPr/>
        </p:nvSpPr>
        <p:spPr>
          <a:xfrm>
            <a:off x="7513168" y="1892808"/>
            <a:ext cx="641071" cy="292608"/>
          </a:xfrm>
          <a:prstGeom prst="roundRect">
            <a:avLst>
              <a:gd name="adj" fmla="val 25000"/>
            </a:avLst>
          </a:prstGeom>
          <a:solidFill>
            <a:srgbClr val="F5F5F7"/>
          </a:solidFill>
          <a:ln/>
        </p:spPr>
      </p:sp>
      <p:sp>
        <p:nvSpPr>
          <p:cNvPr id="19" name="Text 16"/>
          <p:cNvSpPr txBox="1"/>
          <p:nvPr/>
        </p:nvSpPr>
        <p:spPr>
          <a:xfrm>
            <a:off x="7494880"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C1</a:t>
            </a:r>
            <a:endParaRPr lang="en-US" sz="1000" dirty="0"/>
          </a:p>
        </p:txBody>
      </p:sp>
      <p:sp>
        <p:nvSpPr>
          <p:cNvPr id="20" name="Shape 17"/>
          <p:cNvSpPr/>
          <p:nvPr/>
        </p:nvSpPr>
        <p:spPr>
          <a:xfrm>
            <a:off x="8190814" y="1892808"/>
            <a:ext cx="641071" cy="292608"/>
          </a:xfrm>
          <a:prstGeom prst="roundRect">
            <a:avLst>
              <a:gd name="adj" fmla="val 25000"/>
            </a:avLst>
          </a:prstGeom>
          <a:solidFill>
            <a:srgbClr val="F5F5F7"/>
          </a:solidFill>
          <a:ln/>
        </p:spPr>
      </p:sp>
      <p:sp>
        <p:nvSpPr>
          <p:cNvPr id="21" name="Text 18"/>
          <p:cNvSpPr txBox="1"/>
          <p:nvPr/>
        </p:nvSpPr>
        <p:spPr>
          <a:xfrm>
            <a:off x="8172526"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C2</a:t>
            </a:r>
            <a:endParaRPr lang="en-US" sz="1000" dirty="0"/>
          </a:p>
        </p:txBody>
      </p:sp>
      <p:sp>
        <p:nvSpPr>
          <p:cNvPr id="22" name="Shape 19"/>
          <p:cNvSpPr/>
          <p:nvPr/>
        </p:nvSpPr>
        <p:spPr>
          <a:xfrm>
            <a:off x="8868461" y="1892808"/>
            <a:ext cx="641071" cy="292608"/>
          </a:xfrm>
          <a:prstGeom prst="roundRect">
            <a:avLst>
              <a:gd name="adj" fmla="val 25000"/>
            </a:avLst>
          </a:prstGeom>
          <a:solidFill>
            <a:srgbClr val="F5F5F7"/>
          </a:solidFill>
          <a:ln/>
        </p:spPr>
      </p:sp>
      <p:sp>
        <p:nvSpPr>
          <p:cNvPr id="23" name="Text 20"/>
          <p:cNvSpPr txBox="1"/>
          <p:nvPr/>
        </p:nvSpPr>
        <p:spPr>
          <a:xfrm>
            <a:off x="8850173" y="1892808"/>
            <a:ext cx="677647"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C3</a:t>
            </a:r>
            <a:endParaRPr lang="en-US" sz="1000" dirty="0"/>
          </a:p>
        </p:txBody>
      </p:sp>
      <p:sp>
        <p:nvSpPr>
          <p:cNvPr id="24" name="Shape 21"/>
          <p:cNvSpPr/>
          <p:nvPr/>
        </p:nvSpPr>
        <p:spPr>
          <a:xfrm>
            <a:off x="9582683" y="1417320"/>
            <a:ext cx="2032940" cy="411480"/>
          </a:xfrm>
          <a:prstGeom prst="rect">
            <a:avLst/>
          </a:prstGeom>
          <a:solidFill>
            <a:srgbClr val="0B0B0D"/>
          </a:solidFill>
          <a:ln/>
        </p:spPr>
      </p:sp>
      <p:sp>
        <p:nvSpPr>
          <p:cNvPr id="25" name="Text 22"/>
          <p:cNvSpPr txBox="1"/>
          <p:nvPr/>
        </p:nvSpPr>
        <p:spPr>
          <a:xfrm>
            <a:off x="9582683" y="1417320"/>
            <a:ext cx="20329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Transición</a:t>
            </a:r>
            <a:endParaRPr lang="en-US" sz="1300" dirty="0"/>
          </a:p>
        </p:txBody>
      </p:sp>
      <p:sp>
        <p:nvSpPr>
          <p:cNvPr id="26" name="Shape 23"/>
          <p:cNvSpPr/>
          <p:nvPr/>
        </p:nvSpPr>
        <p:spPr>
          <a:xfrm>
            <a:off x="9600971" y="1892808"/>
            <a:ext cx="1996364" cy="292608"/>
          </a:xfrm>
          <a:prstGeom prst="roundRect">
            <a:avLst>
              <a:gd name="adj" fmla="val 25000"/>
            </a:avLst>
          </a:prstGeom>
          <a:solidFill>
            <a:srgbClr val="F5F5F7"/>
          </a:solidFill>
          <a:ln/>
        </p:spPr>
      </p:sp>
      <p:sp>
        <p:nvSpPr>
          <p:cNvPr id="27" name="Text 24"/>
          <p:cNvSpPr txBox="1"/>
          <p:nvPr/>
        </p:nvSpPr>
        <p:spPr>
          <a:xfrm>
            <a:off x="9582683" y="1892808"/>
            <a:ext cx="2032940" cy="292608"/>
          </a:xfrm>
          <a:prstGeom prst="rect">
            <a:avLst/>
          </a:prstGeom>
          <a:noFill/>
          <a:ln/>
        </p:spPr>
        <p:txBody>
          <a:bodyPr wrap="square" lIns="0" tIns="0" rIns="0" bIns="0" rtlCol="0" anchor="ctr"/>
          <a:lstStyle/>
          <a:p>
            <a:pPr algn="ctr" indent="0" marL="0">
              <a:buNone/>
            </a:pPr>
            <a:r>
              <a:rPr lang="en-US" sz="1000" b="1" dirty="0">
                <a:solidFill>
                  <a:srgbClr val="0B0B0D"/>
                </a:solidFill>
                <a:latin typeface="Arial" pitchFamily="34" charset="0"/>
                <a:ea typeface="Arial" pitchFamily="34" charset="-122"/>
                <a:cs typeface="Arial" pitchFamily="34" charset="-120"/>
              </a:rPr>
              <a:t>T1</a:t>
            </a:r>
            <a:endParaRPr lang="en-US" sz="1000" dirty="0"/>
          </a:p>
        </p:txBody>
      </p:sp>
      <p:sp>
        <p:nvSpPr>
          <p:cNvPr id="28" name="Text 25"/>
          <p:cNvSpPr txBox="1"/>
          <p:nvPr/>
        </p:nvSpPr>
        <p:spPr>
          <a:xfrm>
            <a:off x="548640" y="233172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Modelado del negocio</a:t>
            </a:r>
            <a:endParaRPr lang="en-US" sz="1100" dirty="0"/>
          </a:p>
        </p:txBody>
      </p:sp>
      <p:sp>
        <p:nvSpPr>
          <p:cNvPr id="29" name="Shape 26"/>
          <p:cNvSpPr/>
          <p:nvPr/>
        </p:nvSpPr>
        <p:spPr>
          <a:xfrm>
            <a:off x="548640" y="2715768"/>
            <a:ext cx="11094415" cy="0"/>
          </a:xfrm>
          <a:prstGeom prst="line">
            <a:avLst/>
          </a:prstGeom>
          <a:noFill/>
          <a:ln w="6350">
            <a:solidFill>
              <a:srgbClr val="E3E4E8"/>
            </a:solidFill>
            <a:prstDash val="solid"/>
          </a:ln>
        </p:spPr>
      </p:sp>
      <p:sp>
        <p:nvSpPr>
          <p:cNvPr id="30" name="Shape 27"/>
          <p:cNvSpPr/>
          <p:nvPr/>
        </p:nvSpPr>
        <p:spPr>
          <a:xfrm>
            <a:off x="3429000" y="2423160"/>
            <a:ext cx="1813484" cy="201168"/>
          </a:xfrm>
          <a:prstGeom prst="roundRect">
            <a:avLst>
              <a:gd name="adj" fmla="val 22727"/>
            </a:avLst>
          </a:prstGeom>
          <a:solidFill>
            <a:srgbClr val="6D28D9"/>
          </a:solidFill>
          <a:ln/>
        </p:spPr>
      </p:sp>
      <p:sp>
        <p:nvSpPr>
          <p:cNvPr id="31" name="Shape 28"/>
          <p:cNvSpPr/>
          <p:nvPr/>
        </p:nvSpPr>
        <p:spPr>
          <a:xfrm>
            <a:off x="5970175" y="2423160"/>
            <a:ext cx="906742" cy="201168"/>
          </a:xfrm>
          <a:prstGeom prst="roundRect">
            <a:avLst>
              <a:gd name="adj" fmla="val 22727"/>
            </a:avLst>
          </a:prstGeom>
          <a:solidFill>
            <a:srgbClr val="6D28D9"/>
          </a:solidFill>
          <a:ln/>
        </p:spPr>
      </p:sp>
      <p:sp>
        <p:nvSpPr>
          <p:cNvPr id="32" name="Shape 29"/>
          <p:cNvSpPr/>
          <p:nvPr/>
        </p:nvSpPr>
        <p:spPr>
          <a:xfrm>
            <a:off x="8284664" y="2423160"/>
            <a:ext cx="453371" cy="201168"/>
          </a:xfrm>
          <a:prstGeom prst="roundRect">
            <a:avLst>
              <a:gd name="adj" fmla="val 22727"/>
            </a:avLst>
          </a:prstGeom>
          <a:solidFill>
            <a:srgbClr val="6D28D9"/>
          </a:solidFill>
          <a:ln/>
        </p:spPr>
      </p:sp>
      <p:sp>
        <p:nvSpPr>
          <p:cNvPr id="33" name="Text 30"/>
          <p:cNvSpPr txBox="1"/>
          <p:nvPr/>
        </p:nvSpPr>
        <p:spPr>
          <a:xfrm>
            <a:off x="548640" y="2715768"/>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Requisitos</a:t>
            </a:r>
            <a:endParaRPr lang="en-US" sz="1100" dirty="0"/>
          </a:p>
        </p:txBody>
      </p:sp>
      <p:sp>
        <p:nvSpPr>
          <p:cNvPr id="34" name="Shape 31"/>
          <p:cNvSpPr/>
          <p:nvPr/>
        </p:nvSpPr>
        <p:spPr>
          <a:xfrm>
            <a:off x="548640" y="3099816"/>
            <a:ext cx="11094415" cy="0"/>
          </a:xfrm>
          <a:prstGeom prst="line">
            <a:avLst/>
          </a:prstGeom>
          <a:noFill/>
          <a:ln w="6350">
            <a:solidFill>
              <a:srgbClr val="E3E4E8"/>
            </a:solidFill>
            <a:prstDash val="solid"/>
          </a:ln>
        </p:spPr>
      </p:sp>
      <p:sp>
        <p:nvSpPr>
          <p:cNvPr id="35" name="Shape 32"/>
          <p:cNvSpPr/>
          <p:nvPr/>
        </p:nvSpPr>
        <p:spPr>
          <a:xfrm>
            <a:off x="3655685" y="2807208"/>
            <a:ext cx="1360113" cy="201168"/>
          </a:xfrm>
          <a:prstGeom prst="roundRect">
            <a:avLst>
              <a:gd name="adj" fmla="val 22727"/>
            </a:avLst>
          </a:prstGeom>
          <a:solidFill>
            <a:srgbClr val="6D28D9"/>
          </a:solidFill>
          <a:ln/>
        </p:spPr>
      </p:sp>
      <p:sp>
        <p:nvSpPr>
          <p:cNvPr id="36" name="Shape 33"/>
          <p:cNvSpPr/>
          <p:nvPr/>
        </p:nvSpPr>
        <p:spPr>
          <a:xfrm>
            <a:off x="5516804" y="2807208"/>
            <a:ext cx="1813484" cy="201168"/>
          </a:xfrm>
          <a:prstGeom prst="roundRect">
            <a:avLst>
              <a:gd name="adj" fmla="val 22727"/>
            </a:avLst>
          </a:prstGeom>
          <a:solidFill>
            <a:srgbClr val="6D28D9"/>
          </a:solidFill>
          <a:ln/>
        </p:spPr>
      </p:sp>
      <p:sp>
        <p:nvSpPr>
          <p:cNvPr id="37" name="Shape 34"/>
          <p:cNvSpPr/>
          <p:nvPr/>
        </p:nvSpPr>
        <p:spPr>
          <a:xfrm>
            <a:off x="8284664" y="2807208"/>
            <a:ext cx="453371" cy="201168"/>
          </a:xfrm>
          <a:prstGeom prst="roundRect">
            <a:avLst>
              <a:gd name="adj" fmla="val 22727"/>
            </a:avLst>
          </a:prstGeom>
          <a:solidFill>
            <a:srgbClr val="6D28D9"/>
          </a:solidFill>
          <a:ln/>
        </p:spPr>
      </p:sp>
      <p:sp>
        <p:nvSpPr>
          <p:cNvPr id="38" name="Text 35"/>
          <p:cNvSpPr txBox="1"/>
          <p:nvPr/>
        </p:nvSpPr>
        <p:spPr>
          <a:xfrm>
            <a:off x="548640" y="3099816"/>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Análisis y diseño</a:t>
            </a:r>
            <a:endParaRPr lang="en-US" sz="1100" dirty="0"/>
          </a:p>
        </p:txBody>
      </p:sp>
      <p:sp>
        <p:nvSpPr>
          <p:cNvPr id="39" name="Shape 36"/>
          <p:cNvSpPr/>
          <p:nvPr/>
        </p:nvSpPr>
        <p:spPr>
          <a:xfrm>
            <a:off x="548640" y="3483864"/>
            <a:ext cx="11094415" cy="0"/>
          </a:xfrm>
          <a:prstGeom prst="line">
            <a:avLst/>
          </a:prstGeom>
          <a:noFill/>
          <a:ln w="6350">
            <a:solidFill>
              <a:srgbClr val="E3E4E8"/>
            </a:solidFill>
            <a:prstDash val="solid"/>
          </a:ln>
        </p:spPr>
      </p:sp>
      <p:sp>
        <p:nvSpPr>
          <p:cNvPr id="40" name="Shape 37"/>
          <p:cNvSpPr/>
          <p:nvPr/>
        </p:nvSpPr>
        <p:spPr>
          <a:xfrm>
            <a:off x="4109056" y="3191256"/>
            <a:ext cx="453371" cy="201168"/>
          </a:xfrm>
          <a:prstGeom prst="roundRect">
            <a:avLst>
              <a:gd name="adj" fmla="val 22727"/>
            </a:avLst>
          </a:prstGeom>
          <a:solidFill>
            <a:srgbClr val="6D28D9"/>
          </a:solidFill>
          <a:ln/>
        </p:spPr>
      </p:sp>
      <p:sp>
        <p:nvSpPr>
          <p:cNvPr id="41" name="Shape 38"/>
          <p:cNvSpPr/>
          <p:nvPr/>
        </p:nvSpPr>
        <p:spPr>
          <a:xfrm>
            <a:off x="5516804" y="3191256"/>
            <a:ext cx="1813484" cy="201168"/>
          </a:xfrm>
          <a:prstGeom prst="roundRect">
            <a:avLst>
              <a:gd name="adj" fmla="val 22727"/>
            </a:avLst>
          </a:prstGeom>
          <a:solidFill>
            <a:srgbClr val="6D28D9"/>
          </a:solidFill>
          <a:ln/>
        </p:spPr>
      </p:sp>
      <p:sp>
        <p:nvSpPr>
          <p:cNvPr id="42" name="Shape 39"/>
          <p:cNvSpPr/>
          <p:nvPr/>
        </p:nvSpPr>
        <p:spPr>
          <a:xfrm>
            <a:off x="8057979" y="3191256"/>
            <a:ext cx="906742" cy="201168"/>
          </a:xfrm>
          <a:prstGeom prst="roundRect">
            <a:avLst>
              <a:gd name="adj" fmla="val 22727"/>
            </a:avLst>
          </a:prstGeom>
          <a:solidFill>
            <a:srgbClr val="6D28D9"/>
          </a:solidFill>
          <a:ln/>
        </p:spPr>
      </p:sp>
      <p:sp>
        <p:nvSpPr>
          <p:cNvPr id="43" name="Text 40"/>
          <p:cNvSpPr txBox="1"/>
          <p:nvPr/>
        </p:nvSpPr>
        <p:spPr>
          <a:xfrm>
            <a:off x="548640" y="3483864"/>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Implementación</a:t>
            </a:r>
            <a:endParaRPr lang="en-US" sz="1100" dirty="0"/>
          </a:p>
        </p:txBody>
      </p:sp>
      <p:sp>
        <p:nvSpPr>
          <p:cNvPr id="44" name="Shape 41"/>
          <p:cNvSpPr/>
          <p:nvPr/>
        </p:nvSpPr>
        <p:spPr>
          <a:xfrm>
            <a:off x="548640" y="3867912"/>
            <a:ext cx="11094415" cy="0"/>
          </a:xfrm>
          <a:prstGeom prst="line">
            <a:avLst/>
          </a:prstGeom>
          <a:noFill/>
          <a:ln w="6350">
            <a:solidFill>
              <a:srgbClr val="E3E4E8"/>
            </a:solidFill>
            <a:prstDash val="solid"/>
          </a:ln>
        </p:spPr>
      </p:sp>
      <p:sp>
        <p:nvSpPr>
          <p:cNvPr id="45" name="Shape 42"/>
          <p:cNvSpPr/>
          <p:nvPr/>
        </p:nvSpPr>
        <p:spPr>
          <a:xfrm>
            <a:off x="5970175" y="3575304"/>
            <a:ext cx="906742" cy="201168"/>
          </a:xfrm>
          <a:prstGeom prst="roundRect">
            <a:avLst>
              <a:gd name="adj" fmla="val 22727"/>
            </a:avLst>
          </a:prstGeom>
          <a:solidFill>
            <a:srgbClr val="6D28D9"/>
          </a:solidFill>
          <a:ln/>
        </p:spPr>
      </p:sp>
      <p:sp>
        <p:nvSpPr>
          <p:cNvPr id="46" name="Shape 43"/>
          <p:cNvSpPr/>
          <p:nvPr/>
        </p:nvSpPr>
        <p:spPr>
          <a:xfrm>
            <a:off x="7604608" y="3575304"/>
            <a:ext cx="1813484" cy="201168"/>
          </a:xfrm>
          <a:prstGeom prst="roundRect">
            <a:avLst>
              <a:gd name="adj" fmla="val 22727"/>
            </a:avLst>
          </a:prstGeom>
          <a:solidFill>
            <a:srgbClr val="6D28D9"/>
          </a:solidFill>
          <a:ln/>
        </p:spPr>
      </p:sp>
      <p:sp>
        <p:nvSpPr>
          <p:cNvPr id="47" name="Shape 44"/>
          <p:cNvSpPr/>
          <p:nvPr/>
        </p:nvSpPr>
        <p:spPr>
          <a:xfrm>
            <a:off x="10372468" y="3575304"/>
            <a:ext cx="453371" cy="201168"/>
          </a:xfrm>
          <a:prstGeom prst="roundRect">
            <a:avLst>
              <a:gd name="adj" fmla="val 22727"/>
            </a:avLst>
          </a:prstGeom>
          <a:solidFill>
            <a:srgbClr val="6D28D9"/>
          </a:solidFill>
          <a:ln/>
        </p:spPr>
      </p:sp>
      <p:sp>
        <p:nvSpPr>
          <p:cNvPr id="48" name="Text 45"/>
          <p:cNvSpPr txBox="1"/>
          <p:nvPr/>
        </p:nvSpPr>
        <p:spPr>
          <a:xfrm>
            <a:off x="548640" y="3867912"/>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Pruebas</a:t>
            </a:r>
            <a:endParaRPr lang="en-US" sz="1100" dirty="0"/>
          </a:p>
        </p:txBody>
      </p:sp>
      <p:sp>
        <p:nvSpPr>
          <p:cNvPr id="49" name="Shape 46"/>
          <p:cNvSpPr/>
          <p:nvPr/>
        </p:nvSpPr>
        <p:spPr>
          <a:xfrm>
            <a:off x="548640" y="4251960"/>
            <a:ext cx="11094415" cy="0"/>
          </a:xfrm>
          <a:prstGeom prst="line">
            <a:avLst/>
          </a:prstGeom>
          <a:noFill/>
          <a:ln w="6350">
            <a:solidFill>
              <a:srgbClr val="E3E4E8"/>
            </a:solidFill>
            <a:prstDash val="solid"/>
          </a:ln>
        </p:spPr>
      </p:sp>
      <p:sp>
        <p:nvSpPr>
          <p:cNvPr id="50" name="Shape 47"/>
          <p:cNvSpPr/>
          <p:nvPr/>
        </p:nvSpPr>
        <p:spPr>
          <a:xfrm>
            <a:off x="6196860" y="3959352"/>
            <a:ext cx="453371" cy="201168"/>
          </a:xfrm>
          <a:prstGeom prst="roundRect">
            <a:avLst>
              <a:gd name="adj" fmla="val 22727"/>
            </a:avLst>
          </a:prstGeom>
          <a:solidFill>
            <a:srgbClr val="6D28D9"/>
          </a:solidFill>
          <a:ln/>
        </p:spPr>
      </p:sp>
      <p:sp>
        <p:nvSpPr>
          <p:cNvPr id="51" name="Shape 48"/>
          <p:cNvSpPr/>
          <p:nvPr/>
        </p:nvSpPr>
        <p:spPr>
          <a:xfrm>
            <a:off x="7604608" y="3959352"/>
            <a:ext cx="1813484" cy="201168"/>
          </a:xfrm>
          <a:prstGeom prst="roundRect">
            <a:avLst>
              <a:gd name="adj" fmla="val 22727"/>
            </a:avLst>
          </a:prstGeom>
          <a:solidFill>
            <a:srgbClr val="6D28D9"/>
          </a:solidFill>
          <a:ln/>
        </p:spPr>
      </p:sp>
      <p:sp>
        <p:nvSpPr>
          <p:cNvPr id="52" name="Shape 49"/>
          <p:cNvSpPr/>
          <p:nvPr/>
        </p:nvSpPr>
        <p:spPr>
          <a:xfrm>
            <a:off x="9919097" y="3959352"/>
            <a:ext cx="1360113" cy="201168"/>
          </a:xfrm>
          <a:prstGeom prst="roundRect">
            <a:avLst>
              <a:gd name="adj" fmla="val 22727"/>
            </a:avLst>
          </a:prstGeom>
          <a:solidFill>
            <a:srgbClr val="6D28D9"/>
          </a:solidFill>
          <a:ln/>
        </p:spPr>
      </p:sp>
      <p:sp>
        <p:nvSpPr>
          <p:cNvPr id="53" name="Text 50"/>
          <p:cNvSpPr txBox="1"/>
          <p:nvPr/>
        </p:nvSpPr>
        <p:spPr>
          <a:xfrm>
            <a:off x="548640" y="4251960"/>
            <a:ext cx="2651760" cy="384048"/>
          </a:xfrm>
          <a:prstGeom prst="rect">
            <a:avLst/>
          </a:prstGeom>
          <a:noFill/>
          <a:ln/>
        </p:spPr>
        <p:txBody>
          <a:bodyPr wrap="square" lIns="0" tIns="0" rIns="0" bIns="0" rtlCol="0" anchor="ctr"/>
          <a:lstStyle/>
          <a:p>
            <a:pPr indent="0" marL="0">
              <a:buNone/>
            </a:pPr>
            <a:r>
              <a:rPr lang="en-US" sz="1100" b="1" dirty="0">
                <a:solidFill>
                  <a:srgbClr val="0B0B0D"/>
                </a:solidFill>
                <a:latin typeface="Arial" pitchFamily="34" charset="0"/>
                <a:ea typeface="Arial" pitchFamily="34" charset="-122"/>
                <a:cs typeface="Arial" pitchFamily="34" charset="-120"/>
              </a:rPr>
              <a:t>Despliegue</a:t>
            </a:r>
            <a:endParaRPr lang="en-US" sz="1100" dirty="0"/>
          </a:p>
        </p:txBody>
      </p:sp>
      <p:sp>
        <p:nvSpPr>
          <p:cNvPr id="54" name="Shape 51"/>
          <p:cNvSpPr/>
          <p:nvPr/>
        </p:nvSpPr>
        <p:spPr>
          <a:xfrm>
            <a:off x="548640" y="4636008"/>
            <a:ext cx="11094415" cy="0"/>
          </a:xfrm>
          <a:prstGeom prst="line">
            <a:avLst/>
          </a:prstGeom>
          <a:noFill/>
          <a:ln w="6350">
            <a:solidFill>
              <a:srgbClr val="E3E4E8"/>
            </a:solidFill>
            <a:prstDash val="solid"/>
          </a:ln>
        </p:spPr>
      </p:sp>
      <p:sp>
        <p:nvSpPr>
          <p:cNvPr id="55" name="Shape 52"/>
          <p:cNvSpPr/>
          <p:nvPr/>
        </p:nvSpPr>
        <p:spPr>
          <a:xfrm>
            <a:off x="8284664" y="4343400"/>
            <a:ext cx="453371" cy="201168"/>
          </a:xfrm>
          <a:prstGeom prst="roundRect">
            <a:avLst>
              <a:gd name="adj" fmla="val 22727"/>
            </a:avLst>
          </a:prstGeom>
          <a:solidFill>
            <a:srgbClr val="6D28D9"/>
          </a:solidFill>
          <a:ln/>
        </p:spPr>
      </p:sp>
      <p:sp>
        <p:nvSpPr>
          <p:cNvPr id="56" name="Shape 53"/>
          <p:cNvSpPr/>
          <p:nvPr/>
        </p:nvSpPr>
        <p:spPr>
          <a:xfrm>
            <a:off x="9692411" y="4343400"/>
            <a:ext cx="1813484" cy="201168"/>
          </a:xfrm>
          <a:prstGeom prst="roundRect">
            <a:avLst>
              <a:gd name="adj" fmla="val 22727"/>
            </a:avLst>
          </a:prstGeom>
          <a:solidFill>
            <a:srgbClr val="6D28D9"/>
          </a:solidFill>
          <a:ln/>
        </p:spPr>
      </p:sp>
      <p:sp>
        <p:nvSpPr>
          <p:cNvPr id="57" name="Text 54"/>
          <p:cNvSpPr txBox="1"/>
          <p:nvPr/>
        </p:nvSpPr>
        <p:spPr>
          <a:xfrm>
            <a:off x="548640" y="4636008"/>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 configuración y cambios</a:t>
            </a:r>
            <a:endParaRPr lang="en-US" sz="1100" dirty="0"/>
          </a:p>
        </p:txBody>
      </p:sp>
      <p:sp>
        <p:nvSpPr>
          <p:cNvPr id="58" name="Shape 55"/>
          <p:cNvSpPr/>
          <p:nvPr/>
        </p:nvSpPr>
        <p:spPr>
          <a:xfrm>
            <a:off x="548640" y="5020056"/>
            <a:ext cx="11094415" cy="0"/>
          </a:xfrm>
          <a:prstGeom prst="line">
            <a:avLst/>
          </a:prstGeom>
          <a:noFill/>
          <a:ln w="6350">
            <a:solidFill>
              <a:srgbClr val="E3E4E8"/>
            </a:solidFill>
            <a:prstDash val="solid"/>
          </a:ln>
        </p:spPr>
      </p:sp>
      <p:sp>
        <p:nvSpPr>
          <p:cNvPr id="59" name="Shape 56"/>
          <p:cNvSpPr/>
          <p:nvPr/>
        </p:nvSpPr>
        <p:spPr>
          <a:xfrm>
            <a:off x="4109056" y="4727448"/>
            <a:ext cx="453371" cy="201168"/>
          </a:xfrm>
          <a:prstGeom prst="roundRect">
            <a:avLst>
              <a:gd name="adj" fmla="val 22727"/>
            </a:avLst>
          </a:prstGeom>
          <a:solidFill>
            <a:srgbClr val="9CA3AF"/>
          </a:solidFill>
          <a:ln/>
        </p:spPr>
      </p:sp>
      <p:sp>
        <p:nvSpPr>
          <p:cNvPr id="60" name="Shape 57"/>
          <p:cNvSpPr/>
          <p:nvPr/>
        </p:nvSpPr>
        <p:spPr>
          <a:xfrm>
            <a:off x="5970175" y="4727448"/>
            <a:ext cx="906742" cy="201168"/>
          </a:xfrm>
          <a:prstGeom prst="roundRect">
            <a:avLst>
              <a:gd name="adj" fmla="val 22727"/>
            </a:avLst>
          </a:prstGeom>
          <a:solidFill>
            <a:srgbClr val="9CA3AF"/>
          </a:solidFill>
          <a:ln/>
        </p:spPr>
      </p:sp>
      <p:sp>
        <p:nvSpPr>
          <p:cNvPr id="61" name="Shape 58"/>
          <p:cNvSpPr/>
          <p:nvPr/>
        </p:nvSpPr>
        <p:spPr>
          <a:xfrm>
            <a:off x="7831293" y="4727448"/>
            <a:ext cx="1360113" cy="201168"/>
          </a:xfrm>
          <a:prstGeom prst="roundRect">
            <a:avLst>
              <a:gd name="adj" fmla="val 22727"/>
            </a:avLst>
          </a:prstGeom>
          <a:solidFill>
            <a:srgbClr val="9CA3AF"/>
          </a:solidFill>
          <a:ln/>
        </p:spPr>
      </p:sp>
      <p:sp>
        <p:nvSpPr>
          <p:cNvPr id="62" name="Shape 59"/>
          <p:cNvSpPr/>
          <p:nvPr/>
        </p:nvSpPr>
        <p:spPr>
          <a:xfrm>
            <a:off x="9919097" y="4727448"/>
            <a:ext cx="1360113" cy="201168"/>
          </a:xfrm>
          <a:prstGeom prst="roundRect">
            <a:avLst>
              <a:gd name="adj" fmla="val 22727"/>
            </a:avLst>
          </a:prstGeom>
          <a:solidFill>
            <a:srgbClr val="9CA3AF"/>
          </a:solidFill>
          <a:ln/>
        </p:spPr>
      </p:sp>
      <p:sp>
        <p:nvSpPr>
          <p:cNvPr id="63" name="Text 60"/>
          <p:cNvSpPr txBox="1"/>
          <p:nvPr/>
        </p:nvSpPr>
        <p:spPr>
          <a:xfrm>
            <a:off x="548640" y="5020056"/>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Gestión del proyecto</a:t>
            </a:r>
            <a:endParaRPr lang="en-US" sz="1100" dirty="0"/>
          </a:p>
        </p:txBody>
      </p:sp>
      <p:sp>
        <p:nvSpPr>
          <p:cNvPr id="64" name="Shape 61"/>
          <p:cNvSpPr/>
          <p:nvPr/>
        </p:nvSpPr>
        <p:spPr>
          <a:xfrm>
            <a:off x="548640" y="5404104"/>
            <a:ext cx="11094415" cy="0"/>
          </a:xfrm>
          <a:prstGeom prst="line">
            <a:avLst/>
          </a:prstGeom>
          <a:noFill/>
          <a:ln w="6350">
            <a:solidFill>
              <a:srgbClr val="E3E4E8"/>
            </a:solidFill>
            <a:prstDash val="solid"/>
          </a:ln>
        </p:spPr>
      </p:sp>
      <p:sp>
        <p:nvSpPr>
          <p:cNvPr id="65" name="Shape 62"/>
          <p:cNvSpPr/>
          <p:nvPr/>
        </p:nvSpPr>
        <p:spPr>
          <a:xfrm>
            <a:off x="3655685" y="5111496"/>
            <a:ext cx="1360113" cy="201168"/>
          </a:xfrm>
          <a:prstGeom prst="roundRect">
            <a:avLst>
              <a:gd name="adj" fmla="val 22727"/>
            </a:avLst>
          </a:prstGeom>
          <a:solidFill>
            <a:srgbClr val="9CA3AF"/>
          </a:solidFill>
          <a:ln/>
        </p:spPr>
      </p:sp>
      <p:sp>
        <p:nvSpPr>
          <p:cNvPr id="66" name="Shape 63"/>
          <p:cNvSpPr/>
          <p:nvPr/>
        </p:nvSpPr>
        <p:spPr>
          <a:xfrm>
            <a:off x="5743489" y="5111496"/>
            <a:ext cx="1360113" cy="201168"/>
          </a:xfrm>
          <a:prstGeom prst="roundRect">
            <a:avLst>
              <a:gd name="adj" fmla="val 22727"/>
            </a:avLst>
          </a:prstGeom>
          <a:solidFill>
            <a:srgbClr val="9CA3AF"/>
          </a:solidFill>
          <a:ln/>
        </p:spPr>
      </p:sp>
      <p:sp>
        <p:nvSpPr>
          <p:cNvPr id="67" name="Shape 64"/>
          <p:cNvSpPr/>
          <p:nvPr/>
        </p:nvSpPr>
        <p:spPr>
          <a:xfrm>
            <a:off x="8057979" y="5111496"/>
            <a:ext cx="906742" cy="201168"/>
          </a:xfrm>
          <a:prstGeom prst="roundRect">
            <a:avLst>
              <a:gd name="adj" fmla="val 22727"/>
            </a:avLst>
          </a:prstGeom>
          <a:solidFill>
            <a:srgbClr val="9CA3AF"/>
          </a:solidFill>
          <a:ln/>
        </p:spPr>
      </p:sp>
      <p:sp>
        <p:nvSpPr>
          <p:cNvPr id="68" name="Shape 65"/>
          <p:cNvSpPr/>
          <p:nvPr/>
        </p:nvSpPr>
        <p:spPr>
          <a:xfrm>
            <a:off x="10145782" y="5111496"/>
            <a:ext cx="906742" cy="201168"/>
          </a:xfrm>
          <a:prstGeom prst="roundRect">
            <a:avLst>
              <a:gd name="adj" fmla="val 22727"/>
            </a:avLst>
          </a:prstGeom>
          <a:solidFill>
            <a:srgbClr val="9CA3AF"/>
          </a:solidFill>
          <a:ln/>
        </p:spPr>
      </p:sp>
      <p:sp>
        <p:nvSpPr>
          <p:cNvPr id="69" name="Text 66"/>
          <p:cNvSpPr txBox="1"/>
          <p:nvPr/>
        </p:nvSpPr>
        <p:spPr>
          <a:xfrm>
            <a:off x="548640" y="5404104"/>
            <a:ext cx="2651760" cy="384048"/>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Entorno</a:t>
            </a:r>
            <a:endParaRPr lang="en-US" sz="1100" dirty="0"/>
          </a:p>
        </p:txBody>
      </p:sp>
      <p:sp>
        <p:nvSpPr>
          <p:cNvPr id="70" name="Shape 67"/>
          <p:cNvSpPr/>
          <p:nvPr/>
        </p:nvSpPr>
        <p:spPr>
          <a:xfrm>
            <a:off x="548640" y="5788152"/>
            <a:ext cx="11094415" cy="0"/>
          </a:xfrm>
          <a:prstGeom prst="line">
            <a:avLst/>
          </a:prstGeom>
          <a:noFill/>
          <a:ln w="6350">
            <a:solidFill>
              <a:srgbClr val="E3E4E8"/>
            </a:solidFill>
            <a:prstDash val="solid"/>
          </a:ln>
        </p:spPr>
      </p:sp>
      <p:sp>
        <p:nvSpPr>
          <p:cNvPr id="71" name="Shape 68"/>
          <p:cNvSpPr/>
          <p:nvPr/>
        </p:nvSpPr>
        <p:spPr>
          <a:xfrm>
            <a:off x="3882371" y="5495544"/>
            <a:ext cx="906742" cy="201168"/>
          </a:xfrm>
          <a:prstGeom prst="roundRect">
            <a:avLst>
              <a:gd name="adj" fmla="val 22727"/>
            </a:avLst>
          </a:prstGeom>
          <a:solidFill>
            <a:srgbClr val="9CA3AF"/>
          </a:solidFill>
          <a:ln/>
        </p:spPr>
      </p:sp>
      <p:sp>
        <p:nvSpPr>
          <p:cNvPr id="72" name="Shape 69"/>
          <p:cNvSpPr/>
          <p:nvPr/>
        </p:nvSpPr>
        <p:spPr>
          <a:xfrm>
            <a:off x="5970175" y="5495544"/>
            <a:ext cx="906742" cy="201168"/>
          </a:xfrm>
          <a:prstGeom prst="roundRect">
            <a:avLst>
              <a:gd name="adj" fmla="val 22727"/>
            </a:avLst>
          </a:prstGeom>
          <a:solidFill>
            <a:srgbClr val="9CA3AF"/>
          </a:solidFill>
          <a:ln/>
        </p:spPr>
      </p:sp>
      <p:sp>
        <p:nvSpPr>
          <p:cNvPr id="73" name="Shape 70"/>
          <p:cNvSpPr/>
          <p:nvPr/>
        </p:nvSpPr>
        <p:spPr>
          <a:xfrm>
            <a:off x="8284664" y="5495544"/>
            <a:ext cx="453371" cy="201168"/>
          </a:xfrm>
          <a:prstGeom prst="roundRect">
            <a:avLst>
              <a:gd name="adj" fmla="val 22727"/>
            </a:avLst>
          </a:prstGeom>
          <a:solidFill>
            <a:srgbClr val="9CA3AF"/>
          </a:solidFill>
          <a:ln/>
        </p:spPr>
      </p:sp>
      <p:sp>
        <p:nvSpPr>
          <p:cNvPr id="74" name="Shape 71"/>
          <p:cNvSpPr/>
          <p:nvPr/>
        </p:nvSpPr>
        <p:spPr>
          <a:xfrm>
            <a:off x="10372468" y="5495544"/>
            <a:ext cx="453371" cy="201168"/>
          </a:xfrm>
          <a:prstGeom prst="roundRect">
            <a:avLst>
              <a:gd name="adj" fmla="val 22727"/>
            </a:avLst>
          </a:prstGeom>
          <a:solidFill>
            <a:srgbClr val="9CA3AF"/>
          </a:solidFill>
          <a:ln/>
        </p:spPr>
      </p:sp>
      <p:sp>
        <p:nvSpPr>
          <p:cNvPr id="75" name="Text 72"/>
          <p:cNvSpPr txBox="1"/>
          <p:nvPr/>
        </p:nvSpPr>
        <p:spPr>
          <a:xfrm>
            <a:off x="3291840"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LCO</a:t>
            </a:r>
            <a:endParaRPr lang="en-US" sz="1200" dirty="0"/>
          </a:p>
        </p:txBody>
      </p:sp>
      <p:sp>
        <p:nvSpPr>
          <p:cNvPr id="76" name="Text 73"/>
          <p:cNvSpPr txBox="1"/>
          <p:nvPr/>
        </p:nvSpPr>
        <p:spPr>
          <a:xfrm>
            <a:off x="5379644"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LCA</a:t>
            </a:r>
            <a:endParaRPr lang="en-US" sz="1200" dirty="0"/>
          </a:p>
        </p:txBody>
      </p:sp>
      <p:sp>
        <p:nvSpPr>
          <p:cNvPr id="77" name="Text 74"/>
          <p:cNvSpPr txBox="1"/>
          <p:nvPr/>
        </p:nvSpPr>
        <p:spPr>
          <a:xfrm>
            <a:off x="7467448"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IOC</a:t>
            </a:r>
            <a:endParaRPr lang="en-US" sz="1200" dirty="0"/>
          </a:p>
        </p:txBody>
      </p:sp>
      <p:sp>
        <p:nvSpPr>
          <p:cNvPr id="78" name="Text 75"/>
          <p:cNvSpPr txBox="1"/>
          <p:nvPr/>
        </p:nvSpPr>
        <p:spPr>
          <a:xfrm>
            <a:off x="9555251" y="5879592"/>
            <a:ext cx="2087804" cy="274320"/>
          </a:xfrm>
          <a:prstGeom prst="rect">
            <a:avLst/>
          </a:prstGeom>
          <a:noFill/>
          <a:ln/>
        </p:spPr>
        <p:txBody>
          <a:bodyPr wrap="square" lIns="0" tIns="0" rIns="0" bIns="0" rtlCol="0" anchor="t"/>
          <a:lstStyle/>
          <a:p>
            <a:pPr algn="ctr" indent="0" marL="0">
              <a:buNone/>
            </a:pPr>
            <a:r>
              <a:rPr lang="en-US" sz="1200" b="1" dirty="0">
                <a:solidFill>
                  <a:srgbClr val="6D28D9"/>
                </a:solidFill>
                <a:latin typeface="Arial" pitchFamily="34" charset="0"/>
                <a:ea typeface="Arial" pitchFamily="34" charset="-122"/>
                <a:cs typeface="Arial" pitchFamily="34" charset="-120"/>
              </a:rPr>
              <a:t>PR</a:t>
            </a:r>
            <a:endParaRPr lang="en-US" sz="1200" dirty="0"/>
          </a:p>
        </p:txBody>
      </p:sp>
      <p:sp>
        <p:nvSpPr>
          <p:cNvPr id="79" name="Text 76"/>
          <p:cNvSpPr txBox="1"/>
          <p:nvPr/>
        </p:nvSpPr>
        <p:spPr>
          <a:xfrm>
            <a:off x="548640" y="6199632"/>
            <a:ext cx="1109441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Hitos: LCO objetivos acordados · LCA arquitectura validada · IOC versión operativa · PR producto publicado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1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Inicio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10</a:t>
            </a:r>
            <a:endParaRPr lang="en-US" sz="900" dirty="0"/>
          </a:p>
        </p:txBody>
      </p:sp>
      <p:sp>
        <p:nvSpPr>
          <p:cNvPr id="6" name="Shape 3"/>
          <p:cNvSpPr/>
          <p:nvPr/>
        </p:nvSpPr>
        <p:spPr>
          <a:xfrm>
            <a:off x="10271455" y="749808"/>
            <a:ext cx="1025500" cy="256032"/>
          </a:xfrm>
          <a:prstGeom prst="roundRect">
            <a:avLst>
              <a:gd name="adj" fmla="val 50000"/>
            </a:avLst>
          </a:prstGeom>
          <a:solidFill>
            <a:srgbClr val="0B0B0D"/>
          </a:solidFill>
          <a:ln w="9525">
            <a:solidFill>
              <a:srgbClr val="0B0B0D"/>
            </a:solidFill>
            <a:prstDash val="solid"/>
          </a:ln>
        </p:spPr>
      </p:sp>
      <p:sp>
        <p:nvSpPr>
          <p:cNvPr id="7" name="Text 4"/>
          <p:cNvSpPr txBox="1"/>
          <p:nvPr/>
        </p:nvSpPr>
        <p:spPr>
          <a:xfrm>
            <a:off x="10271455" y="749808"/>
            <a:ext cx="10255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Realizado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Entender el negocio y acordar qué se va a construir.</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Análisis del sitio original con capturas y recorridos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Stakeholders, problema y necesidades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Alcance, exclusiones y viabilidad</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740664"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740664"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Visión</a:t>
            </a:r>
            <a:endParaRPr lang="en-US" sz="1050" dirty="0"/>
          </a:p>
        </p:txBody>
      </p:sp>
      <p:sp>
        <p:nvSpPr>
          <p:cNvPr id="15" name="Shape 12"/>
          <p:cNvSpPr/>
          <p:nvPr/>
        </p:nvSpPr>
        <p:spPr>
          <a:xfrm>
            <a:off x="1399032" y="5212080"/>
            <a:ext cx="237286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1399032" y="5212080"/>
            <a:ext cx="237286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Análisis del sitio original</a:t>
            </a:r>
            <a:endParaRPr lang="en-US" sz="1050" dirty="0"/>
          </a:p>
        </p:txBody>
      </p:sp>
      <p:sp>
        <p:nvSpPr>
          <p:cNvPr id="17" name="Shape 14"/>
          <p:cNvSpPr/>
          <p:nvPr/>
        </p:nvSpPr>
        <p:spPr>
          <a:xfrm>
            <a:off x="3881628" y="5212080"/>
            <a:ext cx="1673352"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3881628" y="5212080"/>
            <a:ext cx="167335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Modelo del negocio</a:t>
            </a:r>
            <a:endParaRPr lang="en-US" sz="1050" dirty="0"/>
          </a:p>
        </p:txBody>
      </p:sp>
      <p:sp>
        <p:nvSpPr>
          <p:cNvPr id="19" name="Shape 16"/>
          <p:cNvSpPr/>
          <p:nvPr/>
        </p:nvSpPr>
        <p:spPr>
          <a:xfrm>
            <a:off x="548640" y="5596128"/>
            <a:ext cx="1595628" cy="310896"/>
          </a:xfrm>
          <a:prstGeom prst="roundRect">
            <a:avLst>
              <a:gd name="adj" fmla="val 23529"/>
            </a:avLst>
          </a:prstGeom>
          <a:solidFill>
            <a:srgbClr val="F5F5F7"/>
          </a:solidFill>
          <a:ln w="12700">
            <a:solidFill>
              <a:srgbClr val="E3E4E8"/>
            </a:solidFill>
            <a:prstDash val="solid"/>
          </a:ln>
        </p:spPr>
      </p:sp>
      <p:sp>
        <p:nvSpPr>
          <p:cNvPr id="20" name="Text 17"/>
          <p:cNvSpPr txBox="1"/>
          <p:nvPr/>
        </p:nvSpPr>
        <p:spPr>
          <a:xfrm>
            <a:off x="548640" y="5596128"/>
            <a:ext cx="159562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Riesgos iniciales</a:t>
            </a:r>
            <a:endParaRPr lang="en-US" sz="1050" dirty="0"/>
          </a:p>
        </p:txBody>
      </p:sp>
      <p:sp>
        <p:nvSpPr>
          <p:cNvPr id="21" name="Shape 18"/>
          <p:cNvSpPr/>
          <p:nvPr/>
        </p:nvSpPr>
        <p:spPr>
          <a:xfrm>
            <a:off x="6583680" y="1417320"/>
            <a:ext cx="5059375" cy="1463040"/>
          </a:xfrm>
          <a:prstGeom prst="roundRect">
            <a:avLst>
              <a:gd name="adj" fmla="val 5000"/>
            </a:avLst>
          </a:prstGeom>
          <a:solidFill>
            <a:srgbClr val="EDE4FB"/>
          </a:solidFill>
          <a:ln/>
        </p:spPr>
      </p:sp>
      <p:sp>
        <p:nvSpPr>
          <p:cNvPr id="22" name="Text 19"/>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3" name="Text 20"/>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Se documentaron la tienda vacía, la ficha sin consulta y el canal mayorista oculto.</a:t>
            </a:r>
            <a:endParaRPr lang="en-US" sz="1350" dirty="0"/>
          </a:p>
        </p:txBody>
      </p:sp>
      <p:sp>
        <p:nvSpPr>
          <p:cNvPr id="24" name="Shape 21"/>
          <p:cNvSpPr/>
          <p:nvPr/>
        </p:nvSpPr>
        <p:spPr>
          <a:xfrm>
            <a:off x="6583680" y="3017520"/>
            <a:ext cx="5059375" cy="1234440"/>
          </a:xfrm>
          <a:prstGeom prst="roundRect">
            <a:avLst>
              <a:gd name="adj" fmla="val 5926"/>
            </a:avLst>
          </a:prstGeom>
          <a:solidFill>
            <a:srgbClr val="F5F5F7"/>
          </a:solidFill>
          <a:ln/>
        </p:spPr>
      </p:sp>
      <p:sp>
        <p:nvSpPr>
          <p:cNvPr id="25" name="Text 22"/>
          <p:cNvSpPr txBox="1"/>
          <p:nvPr/>
        </p:nvSpPr>
        <p:spPr>
          <a:xfrm>
            <a:off x="6812280" y="3127248"/>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STAKEHOLDERS</a:t>
            </a:r>
            <a:endParaRPr lang="en-US" sz="1000" dirty="0"/>
          </a:p>
        </p:txBody>
      </p:sp>
      <p:sp>
        <p:nvSpPr>
          <p:cNvPr id="26" name="Text 23"/>
          <p:cNvSpPr txBox="1"/>
          <p:nvPr/>
        </p:nvSpPr>
        <p:spPr>
          <a:xfrm>
            <a:off x="6812280" y="3401568"/>
            <a:ext cx="4602175" cy="77724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Gerencia · Área comercial · Gestor de contenidos · Distribuidores · Clientes</a:t>
            </a:r>
            <a:endParaRPr lang="en-US" sz="1200" dirty="0"/>
          </a:p>
        </p:txBody>
      </p:sp>
      <p:sp>
        <p:nvSpPr>
          <p:cNvPr id="27" name="Shape 24"/>
          <p:cNvSpPr/>
          <p:nvPr/>
        </p:nvSpPr>
        <p:spPr>
          <a:xfrm>
            <a:off x="6583680" y="4389120"/>
            <a:ext cx="5059375" cy="1097280"/>
          </a:xfrm>
          <a:prstGeom prst="roundRect">
            <a:avLst>
              <a:gd name="adj" fmla="val 6667"/>
            </a:avLst>
          </a:prstGeom>
          <a:solidFill>
            <a:srgbClr val="F5F5F7"/>
          </a:solidFill>
          <a:ln/>
        </p:spPr>
      </p:sp>
      <p:sp>
        <p:nvSpPr>
          <p:cNvPr id="28" name="Text 25"/>
          <p:cNvSpPr txBox="1"/>
          <p:nvPr/>
        </p:nvSpPr>
        <p:spPr>
          <a:xfrm>
            <a:off x="6812280" y="4480560"/>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VIABILIDAD</a:t>
            </a:r>
            <a:endParaRPr lang="en-US" sz="1000" dirty="0"/>
          </a:p>
        </p:txBody>
      </p:sp>
      <p:sp>
        <p:nvSpPr>
          <p:cNvPr id="29" name="Text 26"/>
          <p:cNvSpPr txBox="1"/>
          <p:nvPr/>
        </p:nvSpPr>
        <p:spPr>
          <a:xfrm>
            <a:off x="6812280" y="4736592"/>
            <a:ext cx="4602175" cy="7315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Técnica: </a:t>
            </a:r>
            <a:pPr indent="0" marL="0">
              <a:buNone/>
            </a:pPr>
            <a:r>
              <a:rPr lang="en-US" sz="1100" dirty="0">
                <a:solidFill>
                  <a:srgbClr val="0B0B0D"/>
                </a:solidFill>
                <a:latin typeface="Arial" pitchFamily="34" charset="0"/>
                <a:ea typeface="Arial" pitchFamily="34" charset="-122"/>
                <a:cs typeface="Arial" pitchFamily="34" charset="-120"/>
              </a:rPr>
              <a:t>WordPress y WooCommerce ya existen</a:t>
            </a:r>
            <a:endParaRPr lang="en-US" sz="1100" dirty="0"/>
          </a:p>
          <a:p>
            <a:pPr indent="0" marL="0">
              <a:buNone/>
            </a:pPr>
            <a:r>
              <a:rPr lang="en-US" sz="1100" b="1" dirty="0">
                <a:solidFill>
                  <a:srgbClr val="0B0B0D"/>
                </a:solidFill>
                <a:latin typeface="Arial" pitchFamily="34" charset="0"/>
                <a:ea typeface="Arial" pitchFamily="34" charset="-122"/>
                <a:cs typeface="Arial" pitchFamily="34" charset="-120"/>
              </a:rPr>
              <a:t>Operativa: </a:t>
            </a:r>
            <a:pPr indent="0" marL="0">
              <a:buNone/>
            </a:pPr>
            <a:r>
              <a:rPr lang="en-US" sz="1100" dirty="0">
                <a:solidFill>
                  <a:srgbClr val="0B0B0D"/>
                </a:solidFill>
                <a:latin typeface="Arial" pitchFamily="34" charset="0"/>
                <a:ea typeface="Arial" pitchFamily="34" charset="-122"/>
                <a:cs typeface="Arial" pitchFamily="34" charset="-120"/>
              </a:rPr>
              <a:t>WhatsApp ya es el canal de venta</a:t>
            </a:r>
            <a:endParaRPr lang="en-US" sz="1100" dirty="0"/>
          </a:p>
          <a:p>
            <a:pPr indent="0" marL="0">
              <a:buNone/>
            </a:pPr>
            <a:r>
              <a:rPr lang="en-US" sz="1100" b="1" dirty="0">
                <a:solidFill>
                  <a:srgbClr val="0B0B0D"/>
                </a:solidFill>
                <a:latin typeface="Arial" pitchFamily="34" charset="0"/>
                <a:ea typeface="Arial" pitchFamily="34" charset="-122"/>
                <a:cs typeface="Arial" pitchFamily="34" charset="-120"/>
              </a:rPr>
              <a:t>Económica: </a:t>
            </a:r>
            <a:pPr indent="0" marL="0">
              <a:buNone/>
            </a:pPr>
            <a:r>
              <a:rPr lang="en-US" sz="1100" dirty="0">
                <a:solidFill>
                  <a:srgbClr val="0B0B0D"/>
                </a:solidFill>
                <a:latin typeface="Arial" pitchFamily="34" charset="0"/>
                <a:ea typeface="Arial" pitchFamily="34" charset="-122"/>
                <a:cs typeface="Arial" pitchFamily="34" charset="-120"/>
              </a:rPr>
              <a:t>Se reutilizan la plataforma y el contenido</a:t>
            </a:r>
            <a:endParaRPr lang="en-US" sz="1100" dirty="0"/>
          </a:p>
        </p:txBody>
      </p:sp>
      <p:sp>
        <p:nvSpPr>
          <p:cNvPr id="30" name="Shape 27"/>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31" name="Text 28"/>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LCO  </a:t>
            </a:r>
            <a:pPr algn="ctr" indent="0" marL="0">
              <a:buNone/>
            </a:pPr>
            <a:r>
              <a:rPr lang="en-US" sz="1300" dirty="0">
                <a:solidFill>
                  <a:srgbClr val="0B0B0D"/>
                </a:solidFill>
                <a:latin typeface="Arial" pitchFamily="34" charset="0"/>
                <a:ea typeface="Arial" pitchFamily="34" charset="-122"/>
                <a:cs typeface="Arial" pitchFamily="34" charset="-120"/>
              </a:rPr>
              <a:t>Objetivos y alcance acordados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2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Elaboración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11</a:t>
            </a:r>
            <a:endParaRPr lang="en-US" sz="900" dirty="0"/>
          </a:p>
        </p:txBody>
      </p:sp>
      <p:sp>
        <p:nvSpPr>
          <p:cNvPr id="6" name="Shape 3"/>
          <p:cNvSpPr/>
          <p:nvPr/>
        </p:nvSpPr>
        <p:spPr>
          <a:xfrm>
            <a:off x="10271455" y="749808"/>
            <a:ext cx="1025500" cy="256032"/>
          </a:xfrm>
          <a:prstGeom prst="roundRect">
            <a:avLst>
              <a:gd name="adj" fmla="val 50000"/>
            </a:avLst>
          </a:prstGeom>
          <a:solidFill>
            <a:srgbClr val="0B0B0D"/>
          </a:solidFill>
          <a:ln w="9525">
            <a:solidFill>
              <a:srgbClr val="0B0B0D"/>
            </a:solidFill>
            <a:prstDash val="solid"/>
          </a:ln>
        </p:spPr>
      </p:sp>
      <p:sp>
        <p:nvSpPr>
          <p:cNvPr id="7" name="Text 4"/>
          <p:cNvSpPr txBox="1"/>
          <p:nvPr/>
        </p:nvSpPr>
        <p:spPr>
          <a:xfrm>
            <a:off x="10271455" y="749808"/>
            <a:ext cx="10255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Realizado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Definir los requisitos y validar la arquitectura antes de construir.</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Requisitos funcionales y no funcionales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Casos de uso y modelos UML</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Arquitectura: tema hijo sobre WooCommerce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Diseño de pantallas: home, catálogo, ficha y comparador</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2450592"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245059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Especificación de requisitos</a:t>
            </a:r>
            <a:endParaRPr lang="en-US" sz="1050" dirty="0"/>
          </a:p>
        </p:txBody>
      </p:sp>
      <p:sp>
        <p:nvSpPr>
          <p:cNvPr id="15" name="Shape 12"/>
          <p:cNvSpPr/>
          <p:nvPr/>
        </p:nvSpPr>
        <p:spPr>
          <a:xfrm>
            <a:off x="3108960" y="5212080"/>
            <a:ext cx="120700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3108960" y="5212080"/>
            <a:ext cx="120700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Casos de uso</a:t>
            </a:r>
            <a:endParaRPr lang="en-US" sz="1050" dirty="0"/>
          </a:p>
        </p:txBody>
      </p:sp>
      <p:sp>
        <p:nvSpPr>
          <p:cNvPr id="17" name="Shape 14"/>
          <p:cNvSpPr/>
          <p:nvPr/>
        </p:nvSpPr>
        <p:spPr>
          <a:xfrm>
            <a:off x="4425696" y="5212080"/>
            <a:ext cx="1284732"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4425696" y="5212080"/>
            <a:ext cx="128473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Diagramas UML</a:t>
            </a:r>
            <a:endParaRPr lang="en-US" sz="1050" dirty="0"/>
          </a:p>
        </p:txBody>
      </p:sp>
      <p:sp>
        <p:nvSpPr>
          <p:cNvPr id="19" name="Shape 16"/>
          <p:cNvSpPr/>
          <p:nvPr/>
        </p:nvSpPr>
        <p:spPr>
          <a:xfrm>
            <a:off x="548640" y="5596128"/>
            <a:ext cx="2217420" cy="310896"/>
          </a:xfrm>
          <a:prstGeom prst="roundRect">
            <a:avLst>
              <a:gd name="adj" fmla="val 23529"/>
            </a:avLst>
          </a:prstGeom>
          <a:solidFill>
            <a:srgbClr val="F5F5F7"/>
          </a:solidFill>
          <a:ln w="12700">
            <a:solidFill>
              <a:srgbClr val="E3E4E8"/>
            </a:solidFill>
            <a:prstDash val="solid"/>
          </a:ln>
        </p:spPr>
      </p:sp>
      <p:sp>
        <p:nvSpPr>
          <p:cNvPr id="20" name="Text 17"/>
          <p:cNvSpPr txBox="1"/>
          <p:nvPr/>
        </p:nvSpPr>
        <p:spPr>
          <a:xfrm>
            <a:off x="548640" y="5596128"/>
            <a:ext cx="2217420"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Documento de arquitectura</a:t>
            </a:r>
            <a:endParaRPr lang="en-US" sz="1050" dirty="0"/>
          </a:p>
        </p:txBody>
      </p:sp>
      <p:sp>
        <p:nvSpPr>
          <p:cNvPr id="21" name="Shape 18"/>
          <p:cNvSpPr/>
          <p:nvPr/>
        </p:nvSpPr>
        <p:spPr>
          <a:xfrm>
            <a:off x="2875788" y="5596128"/>
            <a:ext cx="1751076" cy="310896"/>
          </a:xfrm>
          <a:prstGeom prst="roundRect">
            <a:avLst>
              <a:gd name="adj" fmla="val 23529"/>
            </a:avLst>
          </a:prstGeom>
          <a:solidFill>
            <a:srgbClr val="F5F5F7"/>
          </a:solidFill>
          <a:ln w="12700">
            <a:solidFill>
              <a:srgbClr val="E3E4E8"/>
            </a:solidFill>
            <a:prstDash val="solid"/>
          </a:ln>
        </p:spPr>
      </p:sp>
      <p:sp>
        <p:nvSpPr>
          <p:cNvPr id="22" name="Text 19"/>
          <p:cNvSpPr txBox="1"/>
          <p:nvPr/>
        </p:nvSpPr>
        <p:spPr>
          <a:xfrm>
            <a:off x="2875788" y="5596128"/>
            <a:ext cx="1751076"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Diseño de pantallas</a:t>
            </a:r>
            <a:endParaRPr lang="en-US" sz="1050" dirty="0"/>
          </a:p>
        </p:txBody>
      </p:sp>
      <p:sp>
        <p:nvSpPr>
          <p:cNvPr id="23" name="Shape 20"/>
          <p:cNvSpPr/>
          <p:nvPr/>
        </p:nvSpPr>
        <p:spPr>
          <a:xfrm>
            <a:off x="6583680" y="1417320"/>
            <a:ext cx="5059375" cy="1463040"/>
          </a:xfrm>
          <a:prstGeom prst="roundRect">
            <a:avLst>
              <a:gd name="adj" fmla="val 5000"/>
            </a:avLst>
          </a:prstGeom>
          <a:solidFill>
            <a:srgbClr val="EDE4FB"/>
          </a:solidFill>
          <a:ln/>
        </p:spPr>
      </p:sp>
      <p:sp>
        <p:nvSpPr>
          <p:cNvPr id="24" name="Text 21"/>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5" name="Text 22"/>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Se decidió rediseñar sobre la misma plataforma, con un tema hijo, en lugar de reemplazarla.</a:t>
            </a:r>
            <a:endParaRPr lang="en-US" sz="1350" dirty="0"/>
          </a:p>
        </p:txBody>
      </p:sp>
      <p:sp>
        <p:nvSpPr>
          <p:cNvPr id="26" name="Shape 23"/>
          <p:cNvSpPr/>
          <p:nvPr/>
        </p:nvSpPr>
        <p:spPr>
          <a:xfrm>
            <a:off x="6583680" y="3017520"/>
            <a:ext cx="5059375" cy="2468880"/>
          </a:xfrm>
          <a:prstGeom prst="roundRect">
            <a:avLst>
              <a:gd name="adj" fmla="val 2963"/>
            </a:avLst>
          </a:prstGeom>
          <a:solidFill>
            <a:srgbClr val="F5F5F7"/>
          </a:solidFill>
          <a:ln/>
        </p:spPr>
      </p:sp>
      <p:sp>
        <p:nvSpPr>
          <p:cNvPr id="27" name="Text 24"/>
          <p:cNvSpPr txBox="1"/>
          <p:nvPr/>
        </p:nvSpPr>
        <p:spPr>
          <a:xfrm>
            <a:off x="6812280" y="3127248"/>
            <a:ext cx="45720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DECISIÓN DE ARQUITECTURA</a:t>
            </a:r>
            <a:endParaRPr lang="en-US" sz="1000" dirty="0"/>
          </a:p>
        </p:txBody>
      </p:sp>
      <p:sp>
        <p:nvSpPr>
          <p:cNvPr id="28" name="Text 25"/>
          <p:cNvSpPr txBox="1"/>
          <p:nvPr/>
        </p:nvSpPr>
        <p:spPr>
          <a:xfrm>
            <a:off x="6812280" y="3429000"/>
            <a:ext cx="4602175" cy="20116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Conservar WordPress + WooCommerce</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Rediseño como tema hijo: las actualizaciones no borran los cambios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YITH Catalog Mode: sin carrito ni pago</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WhatsApp por enlace wa.me, sin API de pago</a:t>
            </a:r>
            <a:endParaRPr lang="en-US" sz="1250" dirty="0"/>
          </a:p>
        </p:txBody>
      </p:sp>
      <p:sp>
        <p:nvSpPr>
          <p:cNvPr id="29" name="Shape 26"/>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30" name="Text 27"/>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LCA  </a:t>
            </a:r>
            <a:pPr algn="ctr" indent="0" marL="0">
              <a:buNone/>
            </a:pPr>
            <a:r>
              <a:rPr lang="en-US" sz="1300" dirty="0">
                <a:solidFill>
                  <a:srgbClr val="0B0B0D"/>
                </a:solidFill>
                <a:latin typeface="Arial" pitchFamily="34" charset="0"/>
                <a:ea typeface="Arial" pitchFamily="34" charset="-122"/>
                <a:cs typeface="Arial" pitchFamily="34" charset="-120"/>
              </a:rPr>
              <a:t>Arquitectura validada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3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Construcción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12</a:t>
            </a:r>
            <a:endParaRPr lang="en-US" sz="900" dirty="0"/>
          </a:p>
        </p:txBody>
      </p:sp>
      <p:sp>
        <p:nvSpPr>
          <p:cNvPr id="6" name="Shape 3"/>
          <p:cNvSpPr/>
          <p:nvPr/>
        </p:nvSpPr>
        <p:spPr>
          <a:xfrm>
            <a:off x="10271455" y="749808"/>
            <a:ext cx="940003" cy="256032"/>
          </a:xfrm>
          <a:prstGeom prst="roundRect">
            <a:avLst>
              <a:gd name="adj" fmla="val 50000"/>
            </a:avLst>
          </a:prstGeom>
          <a:solidFill>
            <a:srgbClr val="EDE4FB"/>
          </a:solidFill>
          <a:ln w="9525">
            <a:solidFill>
              <a:srgbClr val="6D28D9"/>
            </a:solidFill>
            <a:prstDash val="solid"/>
          </a:ln>
        </p:spPr>
      </p:sp>
      <p:sp>
        <p:nvSpPr>
          <p:cNvPr id="7" name="Text 4"/>
          <p:cNvSpPr txBox="1"/>
          <p:nvPr/>
        </p:nvSpPr>
        <p:spPr>
          <a:xfrm>
            <a:off x="10271455" y="749808"/>
            <a:ext cx="940003" cy="256032"/>
          </a:xfrm>
          <a:prstGeom prst="rect">
            <a:avLst/>
          </a:prstGeom>
          <a:noFill/>
          <a:ln/>
        </p:spPr>
        <p:txBody>
          <a:bodyPr wrap="square" lIns="0" tIns="0" rIns="0" bIns="0" rtlCol="0" anchor="ctr"/>
          <a:lstStyle/>
          <a:p>
            <a:pPr algn="ctr" indent="0" marL="0">
              <a:buNone/>
            </a:pPr>
            <a:r>
              <a:rPr lang="en-US" sz="1100" b="1" dirty="0">
                <a:solidFill>
                  <a:srgbClr val="6D28D9"/>
                </a:solidFill>
                <a:latin typeface="Arial" pitchFamily="34" charset="0"/>
                <a:ea typeface="Arial" pitchFamily="34" charset="-122"/>
                <a:cs typeface="Arial" pitchFamily="34" charset="-120"/>
              </a:rPr>
              <a:t>En curso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Desarrollar e integrar el sistema por incrementos.</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C1 · Rediseño visual y home</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C2 · Catálogo, fichas, búsqueda y comparador</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C3 · Recorrido de cotización: WhatsApp, Dónde comprar, Mayoristas y Soporte</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1906524"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1906524"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Tema hijo rozer-child</a:t>
            </a:r>
            <a:endParaRPr lang="en-US" sz="1050" dirty="0"/>
          </a:p>
        </p:txBody>
      </p:sp>
      <p:sp>
        <p:nvSpPr>
          <p:cNvPr id="15" name="Shape 12"/>
          <p:cNvSpPr/>
          <p:nvPr/>
        </p:nvSpPr>
        <p:spPr>
          <a:xfrm>
            <a:off x="2564892" y="5212080"/>
            <a:ext cx="198424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2564892" y="5212080"/>
            <a:ext cx="198424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Incrementos integrados</a:t>
            </a:r>
            <a:endParaRPr lang="en-US" sz="1050" dirty="0"/>
          </a:p>
        </p:txBody>
      </p:sp>
      <p:sp>
        <p:nvSpPr>
          <p:cNvPr id="17" name="Shape 14"/>
          <p:cNvSpPr/>
          <p:nvPr/>
        </p:nvSpPr>
        <p:spPr>
          <a:xfrm>
            <a:off x="548640" y="5596128"/>
            <a:ext cx="1984248"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548640" y="5596128"/>
            <a:ext cx="198424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Verificación funcional</a:t>
            </a:r>
            <a:endParaRPr lang="en-US" sz="1050" dirty="0"/>
          </a:p>
        </p:txBody>
      </p:sp>
      <p:sp>
        <p:nvSpPr>
          <p:cNvPr id="19" name="Shape 16"/>
          <p:cNvSpPr/>
          <p:nvPr/>
        </p:nvSpPr>
        <p:spPr>
          <a:xfrm>
            <a:off x="6583680" y="1417320"/>
            <a:ext cx="5059375" cy="1463040"/>
          </a:xfrm>
          <a:prstGeom prst="roundRect">
            <a:avLst>
              <a:gd name="adj" fmla="val 5000"/>
            </a:avLst>
          </a:prstGeom>
          <a:solidFill>
            <a:srgbClr val="EDE4FB"/>
          </a:solidFill>
          <a:ln/>
        </p:spPr>
      </p:sp>
      <p:sp>
        <p:nvSpPr>
          <p:cNvPr id="20" name="Text 17"/>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1" name="Text 18"/>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La web renovada ya funciona en un entorno de prueba. Las ampliaciones (registro, directorio, reportes) están planificadas.</a:t>
            </a:r>
            <a:endParaRPr lang="en-US" sz="1350" dirty="0"/>
          </a:p>
        </p:txBody>
      </p:sp>
      <p:sp>
        <p:nvSpPr>
          <p:cNvPr id="22" name="Shape 19"/>
          <p:cNvSpPr/>
          <p:nvPr/>
        </p:nvSpPr>
        <p:spPr>
          <a:xfrm>
            <a:off x="6583680" y="3017520"/>
            <a:ext cx="5059375" cy="2468880"/>
          </a:xfrm>
          <a:prstGeom prst="roundRect">
            <a:avLst>
              <a:gd name="adj" fmla="val 2963"/>
            </a:avLst>
          </a:prstGeom>
          <a:solidFill>
            <a:srgbClr val="F5F5F7"/>
          </a:solidFill>
          <a:ln/>
        </p:spPr>
      </p:sp>
      <p:sp>
        <p:nvSpPr>
          <p:cNvPr id="23" name="Text 20"/>
          <p:cNvSpPr txBox="1"/>
          <p:nvPr/>
        </p:nvSpPr>
        <p:spPr>
          <a:xfrm>
            <a:off x="6812280" y="3127248"/>
            <a:ext cx="36576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PRUEBAS</a:t>
            </a:r>
            <a:endParaRPr lang="en-US" sz="1000" dirty="0"/>
          </a:p>
        </p:txBody>
      </p:sp>
      <p:sp>
        <p:nvSpPr>
          <p:cNvPr id="24" name="Text 21"/>
          <p:cNvSpPr txBox="1"/>
          <p:nvPr/>
        </p:nvSpPr>
        <p:spPr>
          <a:xfrm>
            <a:off x="6812280" y="3429000"/>
            <a:ext cx="4602175" cy="2011680"/>
          </a:xfrm>
          <a:prstGeom prst="rect">
            <a:avLst/>
          </a:prstGeom>
          <a:noFill/>
          <a:ln/>
        </p:spPr>
        <p:txBody>
          <a:bodyPr wrap="square" lIns="0" tIns="0" rIns="0" bIns="0" rtlCol="0" anchor="t"/>
          <a:lstStyle/>
          <a:p>
            <a:pPr indent="0" marL="0">
              <a:buNone/>
            </a:pPr>
            <a:r>
              <a:rPr lang="en-US" sz="1250" dirty="0">
                <a:solidFill>
                  <a:srgbClr val="0B0B0D"/>
                </a:solidFill>
                <a:latin typeface="Arial" pitchFamily="34" charset="0"/>
                <a:ea typeface="Arial" pitchFamily="34" charset="-122"/>
                <a:cs typeface="Arial" pitchFamily="34" charset="-120"/>
              </a:rPr>
              <a:t>Verificación funcional documentada con capturas: búsqueda, límite de 3 en el comparador, persistencia de la selección, menú y ficha en móvil. Pruebas unitarias y de aceptación formales: planificadas.</a:t>
            </a:r>
            <a:endParaRPr lang="en-US" sz="1250" dirty="0"/>
          </a:p>
        </p:txBody>
      </p:sp>
      <p:sp>
        <p:nvSpPr>
          <p:cNvPr id="25" name="Shape 22"/>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26" name="Text 23"/>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IOC  </a:t>
            </a:r>
            <a:pPr algn="ctr" indent="0" marL="0">
              <a:buNone/>
            </a:pPr>
            <a:r>
              <a:rPr lang="en-US" sz="1300" dirty="0">
                <a:solidFill>
                  <a:srgbClr val="0B0B0D"/>
                </a:solidFill>
                <a:latin typeface="Arial" pitchFamily="34" charset="0"/>
                <a:ea typeface="Arial" pitchFamily="34" charset="-122"/>
                <a:cs typeface="Arial" pitchFamily="34" charset="-120"/>
              </a:rPr>
              <a:t>Versión operativa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FASE 4 DE 4</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Fase de Transición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13</a:t>
            </a:r>
            <a:endParaRPr lang="en-US" sz="900" dirty="0"/>
          </a:p>
        </p:txBody>
      </p:sp>
      <p:sp>
        <p:nvSpPr>
          <p:cNvPr id="6" name="Shape 3"/>
          <p:cNvSpPr/>
          <p:nvPr/>
        </p:nvSpPr>
        <p:spPr>
          <a:xfrm>
            <a:off x="10271455" y="749808"/>
            <a:ext cx="1196492" cy="256032"/>
          </a:xfrm>
          <a:prstGeom prst="roundRect">
            <a:avLst>
              <a:gd name="adj" fmla="val 50000"/>
            </a:avLst>
          </a:prstGeom>
          <a:solidFill>
            <a:srgbClr val="FFFFFF"/>
          </a:solidFill>
          <a:ln w="9525">
            <a:solidFill>
              <a:srgbClr val="9CA3AF"/>
            </a:solidFill>
            <a:prstDash val="solid"/>
          </a:ln>
        </p:spPr>
      </p:sp>
      <p:sp>
        <p:nvSpPr>
          <p:cNvPr id="7" name="Text 4"/>
          <p:cNvSpPr txBox="1"/>
          <p:nvPr/>
        </p:nvSpPr>
        <p:spPr>
          <a:xfrm>
            <a:off x="10271455" y="749808"/>
            <a:ext cx="1196492" cy="256032"/>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Planificado</a:t>
            </a:r>
            <a:endParaRPr lang="en-US" sz="1100" dirty="0"/>
          </a:p>
        </p:txBody>
      </p:sp>
      <p:sp>
        <p:nvSpPr>
          <p:cNvPr id="8" name="Shape 5"/>
          <p:cNvSpPr/>
          <p:nvPr/>
        </p:nvSpPr>
        <p:spPr>
          <a:xfrm>
            <a:off x="548640" y="1417320"/>
            <a:ext cx="5669280" cy="914400"/>
          </a:xfrm>
          <a:prstGeom prst="roundRect">
            <a:avLst>
              <a:gd name="adj" fmla="val 8000"/>
            </a:avLst>
          </a:prstGeom>
          <a:solidFill>
            <a:srgbClr val="0B0B0D"/>
          </a:solidFill>
          <a:ln/>
        </p:spPr>
      </p:sp>
      <p:sp>
        <p:nvSpPr>
          <p:cNvPr id="9" name="Text 6"/>
          <p:cNvSpPr txBox="1"/>
          <p:nvPr/>
        </p:nvSpPr>
        <p:spPr>
          <a:xfrm>
            <a:off x="822960" y="1417320"/>
            <a:ext cx="5212080" cy="914400"/>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Objetivo  </a:t>
            </a:r>
            <a:pPr indent="0" marL="0">
              <a:buNone/>
            </a:pPr>
            <a:r>
              <a:rPr lang="en-US" sz="1500" dirty="0">
                <a:solidFill>
                  <a:srgbClr val="FFFFFF"/>
                </a:solidFill>
                <a:latin typeface="Arial" pitchFamily="34" charset="0"/>
                <a:ea typeface="Arial" pitchFamily="34" charset="-122"/>
                <a:cs typeface="Arial" pitchFamily="34" charset="-120"/>
              </a:rPr>
              <a:t>Entregar el sistema a Black Hawk y ponerlo en producción.</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ACTIVIDADES PRINCIPALES</a:t>
            </a:r>
            <a:endParaRPr lang="en-US" sz="1050" dirty="0"/>
          </a:p>
        </p:txBody>
      </p:sp>
      <p:sp>
        <p:nvSpPr>
          <p:cNvPr id="11" name="Text 8"/>
          <p:cNvSpPr txBox="1"/>
          <p:nvPr/>
        </p:nvSpPr>
        <p:spPr>
          <a:xfrm>
            <a:off x="548640" y="2834640"/>
            <a:ext cx="5577840" cy="21031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Validación con Black Hawk y pruebas de aceptación</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Publicación en el dominio oficial con respaldo previo</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Capacitación del gestor de contenidos</a:t>
            </a:r>
            <a:endParaRPr lang="en-US" sz="1350" dirty="0"/>
          </a:p>
          <a:p>
            <a:pPr marL="342900" indent="-342900">
              <a:spcAft>
                <a:spcPts val="800"/>
              </a:spcAft>
              <a:buSzPct val="100000"/>
              <a:buChar char="■"/>
            </a:pPr>
            <a:r>
              <a:rPr lang="en-US" sz="1350" dirty="0">
                <a:solidFill>
                  <a:srgbClr val="0B0B0D"/>
                </a:solidFill>
                <a:latin typeface="Arial" pitchFamily="34" charset="0"/>
                <a:ea typeface="Arial" pitchFamily="34" charset="-122"/>
                <a:cs typeface="Arial" pitchFamily="34" charset="-120"/>
              </a:rPr>
              <a:t>Mantenimiento y mejora continua</a:t>
            </a:r>
            <a:endParaRPr lang="en-US" sz="1350" dirty="0"/>
          </a:p>
        </p:txBody>
      </p:sp>
      <p:sp>
        <p:nvSpPr>
          <p:cNvPr id="12" name="Text 9"/>
          <p:cNvSpPr txBox="1"/>
          <p:nvPr/>
        </p:nvSpPr>
        <p:spPr>
          <a:xfrm>
            <a:off x="548640" y="4892040"/>
            <a:ext cx="45720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ARTEFACTOS</a:t>
            </a:r>
            <a:endParaRPr lang="en-US" sz="1050" dirty="0"/>
          </a:p>
        </p:txBody>
      </p:sp>
      <p:sp>
        <p:nvSpPr>
          <p:cNvPr id="13" name="Shape 10"/>
          <p:cNvSpPr/>
          <p:nvPr/>
        </p:nvSpPr>
        <p:spPr>
          <a:xfrm>
            <a:off x="548640" y="5212080"/>
            <a:ext cx="1673352" cy="310896"/>
          </a:xfrm>
          <a:prstGeom prst="roundRect">
            <a:avLst>
              <a:gd name="adj" fmla="val 23529"/>
            </a:avLst>
          </a:prstGeom>
          <a:solidFill>
            <a:srgbClr val="F5F5F7"/>
          </a:solidFill>
          <a:ln w="12700">
            <a:solidFill>
              <a:srgbClr val="E3E4E8"/>
            </a:solidFill>
            <a:prstDash val="solid"/>
          </a:ln>
        </p:spPr>
      </p:sp>
      <p:sp>
        <p:nvSpPr>
          <p:cNvPr id="14" name="Text 11"/>
          <p:cNvSpPr txBox="1"/>
          <p:nvPr/>
        </p:nvSpPr>
        <p:spPr>
          <a:xfrm>
            <a:off x="548640" y="5212080"/>
            <a:ext cx="1673352"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Acta de aceptación</a:t>
            </a:r>
            <a:endParaRPr lang="en-US" sz="1050" dirty="0"/>
          </a:p>
        </p:txBody>
      </p:sp>
      <p:sp>
        <p:nvSpPr>
          <p:cNvPr id="15" name="Shape 12"/>
          <p:cNvSpPr/>
          <p:nvPr/>
        </p:nvSpPr>
        <p:spPr>
          <a:xfrm>
            <a:off x="2331720" y="5212080"/>
            <a:ext cx="1595628" cy="310896"/>
          </a:xfrm>
          <a:prstGeom prst="roundRect">
            <a:avLst>
              <a:gd name="adj" fmla="val 23529"/>
            </a:avLst>
          </a:prstGeom>
          <a:solidFill>
            <a:srgbClr val="F5F5F7"/>
          </a:solidFill>
          <a:ln w="12700">
            <a:solidFill>
              <a:srgbClr val="E3E4E8"/>
            </a:solidFill>
            <a:prstDash val="solid"/>
          </a:ln>
        </p:spPr>
      </p:sp>
      <p:sp>
        <p:nvSpPr>
          <p:cNvPr id="16" name="Text 13"/>
          <p:cNvSpPr txBox="1"/>
          <p:nvPr/>
        </p:nvSpPr>
        <p:spPr>
          <a:xfrm>
            <a:off x="2331720" y="5212080"/>
            <a:ext cx="1595628"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Manual del gestor</a:t>
            </a:r>
            <a:endParaRPr lang="en-US" sz="1050" dirty="0"/>
          </a:p>
        </p:txBody>
      </p:sp>
      <p:sp>
        <p:nvSpPr>
          <p:cNvPr id="17" name="Shape 14"/>
          <p:cNvSpPr/>
          <p:nvPr/>
        </p:nvSpPr>
        <p:spPr>
          <a:xfrm>
            <a:off x="548640" y="5596128"/>
            <a:ext cx="2606040" cy="310896"/>
          </a:xfrm>
          <a:prstGeom prst="roundRect">
            <a:avLst>
              <a:gd name="adj" fmla="val 23529"/>
            </a:avLst>
          </a:prstGeom>
          <a:solidFill>
            <a:srgbClr val="F5F5F7"/>
          </a:solidFill>
          <a:ln w="12700">
            <a:solidFill>
              <a:srgbClr val="E3E4E8"/>
            </a:solidFill>
            <a:prstDash val="solid"/>
          </a:ln>
        </p:spPr>
      </p:sp>
      <p:sp>
        <p:nvSpPr>
          <p:cNvPr id="18" name="Text 15"/>
          <p:cNvSpPr txBox="1"/>
          <p:nvPr/>
        </p:nvSpPr>
        <p:spPr>
          <a:xfrm>
            <a:off x="548640" y="5596128"/>
            <a:ext cx="2606040" cy="310896"/>
          </a:xfrm>
          <a:prstGeom prst="rect">
            <a:avLst/>
          </a:prstGeom>
          <a:noFill/>
          <a:ln/>
        </p:spPr>
        <p:txBody>
          <a:bodyPr wrap="square" lIns="0" tIns="0" rIns="0" bIns="0" rtlCol="0" anchor="ctr"/>
          <a:lstStyle/>
          <a:p>
            <a:pPr algn="ctr" indent="0" marL="0">
              <a:buNone/>
            </a:pPr>
            <a:r>
              <a:rPr lang="en-US" sz="1050" dirty="0">
                <a:solidFill>
                  <a:srgbClr val="0B0B0D"/>
                </a:solidFill>
                <a:latin typeface="Arial" pitchFamily="34" charset="0"/>
                <a:ea typeface="Arial" pitchFamily="34" charset="-122"/>
                <a:cs typeface="Arial" pitchFamily="34" charset="-120"/>
              </a:rPr>
              <a:t>Plan de despliegue y reversión</a:t>
            </a:r>
            <a:endParaRPr lang="en-US" sz="1050" dirty="0"/>
          </a:p>
        </p:txBody>
      </p:sp>
      <p:sp>
        <p:nvSpPr>
          <p:cNvPr id="19" name="Shape 16"/>
          <p:cNvSpPr/>
          <p:nvPr/>
        </p:nvSpPr>
        <p:spPr>
          <a:xfrm>
            <a:off x="6583680" y="1417320"/>
            <a:ext cx="5059375" cy="1463040"/>
          </a:xfrm>
          <a:prstGeom prst="roundRect">
            <a:avLst>
              <a:gd name="adj" fmla="val 5000"/>
            </a:avLst>
          </a:prstGeom>
          <a:solidFill>
            <a:srgbClr val="EDE4FB"/>
          </a:solidFill>
          <a:ln/>
        </p:spPr>
      </p:sp>
      <p:sp>
        <p:nvSpPr>
          <p:cNvPr id="20" name="Text 17"/>
          <p:cNvSpPr txBox="1"/>
          <p:nvPr/>
        </p:nvSpPr>
        <p:spPr>
          <a:xfrm>
            <a:off x="6812280" y="1554480"/>
            <a:ext cx="36576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EN BLACK HAWK</a:t>
            </a:r>
            <a:endParaRPr lang="en-US" sz="1050" dirty="0"/>
          </a:p>
        </p:txBody>
      </p:sp>
      <p:sp>
        <p:nvSpPr>
          <p:cNvPr id="21" name="Text 18"/>
          <p:cNvSpPr txBox="1"/>
          <p:nvPr/>
        </p:nvSpPr>
        <p:spPr>
          <a:xfrm>
            <a:off x="6812280" y="1828800"/>
            <a:ext cx="4602175" cy="100584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Pasar del entorno de prueba a blackhawkcaraudio.com y medir con datos reales.</a:t>
            </a:r>
            <a:endParaRPr lang="en-US" sz="1350" dirty="0"/>
          </a:p>
        </p:txBody>
      </p:sp>
      <p:sp>
        <p:nvSpPr>
          <p:cNvPr id="22" name="Shape 19"/>
          <p:cNvSpPr/>
          <p:nvPr/>
        </p:nvSpPr>
        <p:spPr>
          <a:xfrm>
            <a:off x="6583680" y="3017520"/>
            <a:ext cx="5059375" cy="2468880"/>
          </a:xfrm>
          <a:prstGeom prst="roundRect">
            <a:avLst>
              <a:gd name="adj" fmla="val 2963"/>
            </a:avLst>
          </a:prstGeom>
          <a:solidFill>
            <a:srgbClr val="F5F5F7"/>
          </a:solidFill>
          <a:ln/>
        </p:spPr>
      </p:sp>
      <p:sp>
        <p:nvSpPr>
          <p:cNvPr id="23" name="Text 20"/>
          <p:cNvSpPr txBox="1"/>
          <p:nvPr/>
        </p:nvSpPr>
        <p:spPr>
          <a:xfrm>
            <a:off x="6812280" y="3127248"/>
            <a:ext cx="4572000" cy="274320"/>
          </a:xfrm>
          <a:prstGeom prst="rect">
            <a:avLst/>
          </a:prstGeom>
          <a:noFill/>
          <a:ln/>
        </p:spPr>
        <p:txBody>
          <a:bodyPr wrap="square" lIns="0" tIns="0" rIns="0" bIns="0" rtlCol="0" anchor="t"/>
          <a:lstStyle/>
          <a:p>
            <a:pPr indent="0" marL="0">
              <a:buNone/>
            </a:pPr>
            <a:r>
              <a:rPr lang="en-US" sz="1000" b="1" spc="150" kern="0" dirty="0">
                <a:solidFill>
                  <a:srgbClr val="6D28D9"/>
                </a:solidFill>
                <a:latin typeface="Arial" pitchFamily="34" charset="0"/>
                <a:ea typeface="Arial" pitchFamily="34" charset="-122"/>
                <a:cs typeface="Arial" pitchFamily="34" charset="-120"/>
              </a:rPr>
              <a:t>CRITERIOS PARA PUBLICAR</a:t>
            </a:r>
            <a:endParaRPr lang="en-US" sz="1000" dirty="0"/>
          </a:p>
        </p:txBody>
      </p:sp>
      <p:sp>
        <p:nvSpPr>
          <p:cNvPr id="24" name="Text 21"/>
          <p:cNvSpPr txBox="1"/>
          <p:nvPr/>
        </p:nvSpPr>
        <p:spPr>
          <a:xfrm>
            <a:off x="6812280" y="3429000"/>
            <a:ext cx="4602175" cy="20116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Aceptación de Black Hawk</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Sin errores críticos abiertos</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Funciona en celular y escritorio</a:t>
            </a:r>
            <a:endParaRPr lang="en-US" sz="1250" dirty="0"/>
          </a:p>
          <a:p>
            <a:pPr marL="342900" indent="-342900">
              <a:spcAft>
                <a:spcPts val="600"/>
              </a:spcAft>
              <a:buSzPct val="100000"/>
              <a:buChar char="✓"/>
            </a:pPr>
            <a:r>
              <a:rPr lang="en-US" sz="1250" dirty="0">
                <a:solidFill>
                  <a:srgbClr val="0B0B0D"/>
                </a:solidFill>
                <a:latin typeface="Arial" pitchFamily="34" charset="0"/>
                <a:ea typeface="Arial" pitchFamily="34" charset="-122"/>
                <a:cs typeface="Arial" pitchFamily="34" charset="-120"/>
              </a:rPr>
              <a:t>Respaldo previo y plan de reversión</a:t>
            </a:r>
            <a:endParaRPr lang="en-US" sz="1250" dirty="0"/>
          </a:p>
        </p:txBody>
      </p:sp>
      <p:sp>
        <p:nvSpPr>
          <p:cNvPr id="25" name="Shape 22"/>
          <p:cNvSpPr/>
          <p:nvPr/>
        </p:nvSpPr>
        <p:spPr>
          <a:xfrm>
            <a:off x="6583680" y="5623560"/>
            <a:ext cx="5059375" cy="457200"/>
          </a:xfrm>
          <a:prstGeom prst="roundRect">
            <a:avLst>
              <a:gd name="adj" fmla="val 16000"/>
            </a:avLst>
          </a:prstGeom>
          <a:solidFill>
            <a:srgbClr val="FFFFFF"/>
          </a:solidFill>
          <a:ln w="12700">
            <a:solidFill>
              <a:srgbClr val="0B0B0D"/>
            </a:solidFill>
            <a:prstDash val="solid"/>
          </a:ln>
        </p:spPr>
      </p:sp>
      <p:sp>
        <p:nvSpPr>
          <p:cNvPr id="26" name="Text 23"/>
          <p:cNvSpPr txBox="1"/>
          <p:nvPr/>
        </p:nvSpPr>
        <p:spPr>
          <a:xfrm>
            <a:off x="6583680" y="5623560"/>
            <a:ext cx="5059375" cy="457200"/>
          </a:xfrm>
          <a:prstGeom prst="rect">
            <a:avLst/>
          </a:prstGeom>
          <a:noFill/>
          <a:ln/>
        </p:spPr>
        <p:txBody>
          <a:bodyPr wrap="square" lIns="0" tIns="0" rIns="0" bIns="0" rtlCol="0" anchor="ctr"/>
          <a:lstStyle/>
          <a:p>
            <a:pPr algn="ctr" indent="0" marL="0">
              <a:buNone/>
            </a:pPr>
            <a:r>
              <a:rPr lang="en-US" sz="1300" b="1" dirty="0">
                <a:solidFill>
                  <a:srgbClr val="6D28D9"/>
                </a:solidFill>
                <a:latin typeface="Arial" pitchFamily="34" charset="0"/>
                <a:ea typeface="Arial" pitchFamily="34" charset="-122"/>
                <a:cs typeface="Arial" pitchFamily="34" charset="-120"/>
              </a:rPr>
              <a:t>Hito PR  </a:t>
            </a:r>
            <a:pPr algn="ctr" indent="0" marL="0">
              <a:buNone/>
            </a:pPr>
            <a:r>
              <a:rPr lang="en-US" sz="1300" dirty="0">
                <a:solidFill>
                  <a:srgbClr val="0B0B0D"/>
                </a:solidFill>
                <a:latin typeface="Arial" pitchFamily="34" charset="0"/>
                <a:ea typeface="Arial" pitchFamily="34" charset="-122"/>
                <a:cs typeface="Arial" pitchFamily="34" charset="-120"/>
              </a:rPr>
              <a:t>Publicación del producto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Disciplinas × iteraciones: qué se entregó y qué falta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1297534"/>
                <a:gridCol w="1297534"/>
                <a:gridCol w="1297534"/>
                <a:gridCol w="1297534"/>
                <a:gridCol w="1297534"/>
                <a:gridCol w="1297534"/>
                <a:gridCol w="1297534"/>
              </a:tblGrid>
              <a:tr h="47548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Disciplina</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I1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E2</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C2</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C3</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T1</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0B0B0D"/>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Modelado del negocio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Análisis del sitio original</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Modelo del negocio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Requisitos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Necesidades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Requisitos y casos de uso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Validación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Análisis y diseño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Modelo de dominio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Arquitectura y prototipos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pantallas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pantallas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Diseño de ampliaciones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Implementación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Prototipo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Rediseño y home</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Catálogo, ficha y comparador</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Cotizar, WhatsApp y páginas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Ajustes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Pruebas</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3F4F6"/>
                    </a:solidFill>
                  </a:tcPr>
                </a:tc>
                <a:tc>
                  <a:txBody>
                    <a:bodyPr/>
                    <a:lstStyle/>
                    <a:p>
                      <a:pPr algn="ctr" indent="0" marL="0">
                        <a:buNone/>
                      </a:pPr>
                      <a:r>
                        <a:rPr lang="en-US" sz="1000" dirty="0">
                          <a:solidFill>
                            <a:srgbClr val="0B0B0D"/>
                          </a:solidFill>
                          <a:latin typeface="Arial" pitchFamily="34" charset="0"/>
                          <a:ea typeface="Arial" pitchFamily="34" charset="-122"/>
                          <a:cs typeface="Arial" pitchFamily="34" charset="-120"/>
                        </a:rPr>
                        <a:t>Verificación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EDE4FB"/>
                    </a:solidFill>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Aceptación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000000"/>
                          </a:solidFill>
                          <a:latin typeface="Arial" pitchFamily="34" charset="0"/>
                          <a:ea typeface="Arial" pitchFamily="34" charset="-122"/>
                          <a:cs typeface="Arial" pitchFamily="34" charset="-120"/>
                        </a:rPr>
                        <a:t>Despliegue</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dirty="0">
                          <a:solidFill>
                            <a:srgbClr val="6B7280"/>
                          </a:solidFill>
                          <a:latin typeface="Arial" pitchFamily="34" charset="0"/>
                          <a:ea typeface="Arial" pitchFamily="34" charset="-122"/>
                          <a:cs typeface="Arial" pitchFamily="34" charset="-120"/>
                        </a:rPr>
                        <a:t>Publicación y capacitación</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6D28D9"/>
                          </a:solidFill>
                          <a:latin typeface="Arial" pitchFamily="34" charset="0"/>
                          <a:ea typeface="Arial" pitchFamily="34" charset="-122"/>
                          <a:cs typeface="Arial" pitchFamily="34" charset="-120"/>
                        </a:rPr>
                        <a:t>Estado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Realizado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D28D9"/>
                          </a:solidFill>
                          <a:latin typeface="Arial" pitchFamily="34" charset="0"/>
                          <a:ea typeface="Arial" pitchFamily="34" charset="-122"/>
                          <a:cs typeface="Arial" pitchFamily="34" charset="-120"/>
                        </a:rPr>
                        <a:t>En curso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c>
                  <a:txBody>
                    <a:bodyPr/>
                    <a:lstStyle/>
                    <a:p>
                      <a:pPr algn="ctr" indent="0" marL="0">
                        <a:buNone/>
                      </a:pPr>
                      <a:r>
                        <a:rPr lang="en-US" sz="1000" b="1" dirty="0">
                          <a:solidFill>
                            <a:srgbClr val="6B7280"/>
                          </a:solidFill>
                          <a:latin typeface="Arial" pitchFamily="34" charset="0"/>
                          <a:ea typeface="Arial" pitchFamily="34" charset="-122"/>
                          <a:cs typeface="Arial" pitchFamily="34" charset="-120"/>
                        </a:rPr>
                        <a:t>Planificado</a:t>
                      </a:r>
                      <a:endParaRPr lang="en-US" sz="1000" dirty="0">
                        <a:latin typeface="Arial" charset="0"/>
                        <a:ea typeface="Arial" charset="0"/>
                        <a:cs typeface="Arial" charset="0"/>
                      </a:endParaRPr>
                    </a:p>
                  </a:txBody>
                  <a:tcPr marL="91440" marR="91440" marT="45720" marB="4572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02 · METODOLOGÍA RUP</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Gestión de riesgos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15</a:t>
            </a:r>
            <a:endParaRPr lang="en-US" sz="900" dirty="0"/>
          </a:p>
        </p:txBody>
      </p:sp>
      <p:sp>
        <p:nvSpPr>
          <p:cNvPr id="6" name="Text 3"/>
          <p:cNvSpPr txBox="1"/>
          <p:nvPr/>
        </p:nvSpPr>
        <p:spPr>
          <a:xfrm>
            <a:off x="548640" y="1463040"/>
            <a:ext cx="384048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PROBABILIDAD × IMPACTO</a:t>
            </a:r>
            <a:endParaRPr lang="en-US" sz="950" dirty="0"/>
          </a:p>
        </p:txBody>
      </p:sp>
      <p:sp>
        <p:nvSpPr>
          <p:cNvPr id="7" name="Text 4"/>
          <p:cNvSpPr txBox="1"/>
          <p:nvPr/>
        </p:nvSpPr>
        <p:spPr>
          <a:xfrm>
            <a:off x="548640" y="1783080"/>
            <a:ext cx="685800" cy="1024128"/>
          </a:xfrm>
          <a:prstGeom prst="rect">
            <a:avLst/>
          </a:prstGeom>
          <a:noFill/>
          <a:ln/>
        </p:spPr>
        <p:txBody>
          <a:bodyPr wrap="square" lIns="0" tIns="0" rIns="0" bIns="0" rtlCol="0" anchor="ctr"/>
          <a:lstStyle/>
          <a:p>
            <a:pPr algn="r" indent="0" marL="0">
              <a:buNone/>
            </a:pPr>
            <a:r>
              <a:rPr lang="en-US" sz="1050" dirty="0">
                <a:solidFill>
                  <a:srgbClr val="6B7280"/>
                </a:solidFill>
                <a:latin typeface="Arial" pitchFamily="34" charset="0"/>
                <a:ea typeface="Arial" pitchFamily="34" charset="-122"/>
                <a:cs typeface="Arial" pitchFamily="34" charset="-120"/>
              </a:rPr>
              <a:t>Alta</a:t>
            </a:r>
            <a:endParaRPr lang="en-US" sz="1050" dirty="0"/>
          </a:p>
        </p:txBody>
      </p:sp>
      <p:sp>
        <p:nvSpPr>
          <p:cNvPr id="8" name="Shape 5"/>
          <p:cNvSpPr/>
          <p:nvPr/>
        </p:nvSpPr>
        <p:spPr>
          <a:xfrm>
            <a:off x="1325880" y="1783080"/>
            <a:ext cx="1024128" cy="1024128"/>
          </a:xfrm>
          <a:prstGeom prst="rect">
            <a:avLst/>
          </a:prstGeom>
          <a:solidFill>
            <a:srgbClr val="F3EEFC"/>
          </a:solidFill>
          <a:ln w="25400">
            <a:solidFill>
              <a:srgbClr val="FFFFFF"/>
            </a:solidFill>
            <a:prstDash val="solid"/>
          </a:ln>
        </p:spPr>
      </p:sp>
      <p:sp>
        <p:nvSpPr>
          <p:cNvPr id="9" name="Shape 6"/>
          <p:cNvSpPr/>
          <p:nvPr/>
        </p:nvSpPr>
        <p:spPr>
          <a:xfrm>
            <a:off x="2350008" y="1783080"/>
            <a:ext cx="1024128" cy="1024128"/>
          </a:xfrm>
          <a:prstGeom prst="rect">
            <a:avLst/>
          </a:prstGeom>
          <a:solidFill>
            <a:srgbClr val="DDD0F7"/>
          </a:solidFill>
          <a:ln w="25400">
            <a:solidFill>
              <a:srgbClr val="FFFFFF"/>
            </a:solidFill>
            <a:prstDash val="solid"/>
          </a:ln>
        </p:spPr>
      </p:sp>
      <p:sp>
        <p:nvSpPr>
          <p:cNvPr id="10" name="Shape 7"/>
          <p:cNvSpPr/>
          <p:nvPr/>
        </p:nvSpPr>
        <p:spPr>
          <a:xfrm>
            <a:off x="3374136" y="1783080"/>
            <a:ext cx="1024128" cy="1024128"/>
          </a:xfrm>
          <a:prstGeom prst="rect">
            <a:avLst/>
          </a:prstGeom>
          <a:solidFill>
            <a:srgbClr val="C4B0F2"/>
          </a:solidFill>
          <a:ln w="25400">
            <a:solidFill>
              <a:srgbClr val="FFFFFF"/>
            </a:solidFill>
            <a:prstDash val="solid"/>
          </a:ln>
        </p:spPr>
      </p:sp>
      <p:sp>
        <p:nvSpPr>
          <p:cNvPr id="11" name="Text 8"/>
          <p:cNvSpPr txBox="1"/>
          <p:nvPr/>
        </p:nvSpPr>
        <p:spPr>
          <a:xfrm>
            <a:off x="548640" y="2807208"/>
            <a:ext cx="685800" cy="1024128"/>
          </a:xfrm>
          <a:prstGeom prst="rect">
            <a:avLst/>
          </a:prstGeom>
          <a:noFill/>
          <a:ln/>
        </p:spPr>
        <p:txBody>
          <a:bodyPr wrap="square" lIns="0" tIns="0" rIns="0" bIns="0" rtlCol="0" anchor="ctr"/>
          <a:lstStyle/>
          <a:p>
            <a:pPr algn="r" indent="0" marL="0">
              <a:buNone/>
            </a:pPr>
            <a:r>
              <a:rPr lang="en-US" sz="1050" dirty="0">
                <a:solidFill>
                  <a:srgbClr val="6B7280"/>
                </a:solidFill>
                <a:latin typeface="Arial" pitchFamily="34" charset="0"/>
                <a:ea typeface="Arial" pitchFamily="34" charset="-122"/>
                <a:cs typeface="Arial" pitchFamily="34" charset="-120"/>
              </a:rPr>
              <a:t>Media</a:t>
            </a:r>
            <a:endParaRPr lang="en-US" sz="1050" dirty="0"/>
          </a:p>
        </p:txBody>
      </p:sp>
      <p:sp>
        <p:nvSpPr>
          <p:cNvPr id="12" name="Shape 9"/>
          <p:cNvSpPr/>
          <p:nvPr/>
        </p:nvSpPr>
        <p:spPr>
          <a:xfrm>
            <a:off x="1325880" y="2807208"/>
            <a:ext cx="1024128" cy="1024128"/>
          </a:xfrm>
          <a:prstGeom prst="rect">
            <a:avLst/>
          </a:prstGeom>
          <a:solidFill>
            <a:srgbClr val="F9F7FE"/>
          </a:solidFill>
          <a:ln w="25400">
            <a:solidFill>
              <a:srgbClr val="FFFFFF"/>
            </a:solidFill>
            <a:prstDash val="solid"/>
          </a:ln>
        </p:spPr>
      </p:sp>
      <p:sp>
        <p:nvSpPr>
          <p:cNvPr id="13" name="Shape 10"/>
          <p:cNvSpPr/>
          <p:nvPr/>
        </p:nvSpPr>
        <p:spPr>
          <a:xfrm>
            <a:off x="2350008" y="2807208"/>
            <a:ext cx="1024128" cy="1024128"/>
          </a:xfrm>
          <a:prstGeom prst="rect">
            <a:avLst/>
          </a:prstGeom>
          <a:solidFill>
            <a:srgbClr val="EDE4FB"/>
          </a:solidFill>
          <a:ln w="25400">
            <a:solidFill>
              <a:srgbClr val="FFFFFF"/>
            </a:solidFill>
            <a:prstDash val="solid"/>
          </a:ln>
        </p:spPr>
      </p:sp>
      <p:sp>
        <p:nvSpPr>
          <p:cNvPr id="14" name="Shape 11"/>
          <p:cNvSpPr/>
          <p:nvPr/>
        </p:nvSpPr>
        <p:spPr>
          <a:xfrm>
            <a:off x="3374136" y="2807208"/>
            <a:ext cx="1024128" cy="1024128"/>
          </a:xfrm>
          <a:prstGeom prst="rect">
            <a:avLst/>
          </a:prstGeom>
          <a:solidFill>
            <a:srgbClr val="DDD0F7"/>
          </a:solidFill>
          <a:ln w="25400">
            <a:solidFill>
              <a:srgbClr val="FFFFFF"/>
            </a:solidFill>
            <a:prstDash val="solid"/>
          </a:ln>
        </p:spPr>
      </p:sp>
      <p:sp>
        <p:nvSpPr>
          <p:cNvPr id="15" name="Text 12"/>
          <p:cNvSpPr txBox="1"/>
          <p:nvPr/>
        </p:nvSpPr>
        <p:spPr>
          <a:xfrm>
            <a:off x="548640" y="3831336"/>
            <a:ext cx="685800" cy="1024128"/>
          </a:xfrm>
          <a:prstGeom prst="rect">
            <a:avLst/>
          </a:prstGeom>
          <a:noFill/>
          <a:ln/>
        </p:spPr>
        <p:txBody>
          <a:bodyPr wrap="square" lIns="0" tIns="0" rIns="0" bIns="0" rtlCol="0" anchor="ctr"/>
          <a:lstStyle/>
          <a:p>
            <a:pPr algn="r" indent="0" marL="0">
              <a:buNone/>
            </a:pPr>
            <a:r>
              <a:rPr lang="en-US" sz="1050" dirty="0">
                <a:solidFill>
                  <a:srgbClr val="6B7280"/>
                </a:solidFill>
                <a:latin typeface="Arial" pitchFamily="34" charset="0"/>
                <a:ea typeface="Arial" pitchFamily="34" charset="-122"/>
                <a:cs typeface="Arial" pitchFamily="34" charset="-120"/>
              </a:rPr>
              <a:t>Baja</a:t>
            </a:r>
            <a:endParaRPr lang="en-US" sz="1050" dirty="0"/>
          </a:p>
        </p:txBody>
      </p:sp>
      <p:sp>
        <p:nvSpPr>
          <p:cNvPr id="16" name="Shape 13"/>
          <p:cNvSpPr/>
          <p:nvPr/>
        </p:nvSpPr>
        <p:spPr>
          <a:xfrm>
            <a:off x="1325880" y="3831336"/>
            <a:ext cx="1024128" cy="1024128"/>
          </a:xfrm>
          <a:prstGeom prst="rect">
            <a:avLst/>
          </a:prstGeom>
          <a:solidFill>
            <a:srgbClr val="FFFFFF"/>
          </a:solidFill>
          <a:ln w="25400">
            <a:solidFill>
              <a:srgbClr val="FFFFFF"/>
            </a:solidFill>
            <a:prstDash val="solid"/>
          </a:ln>
        </p:spPr>
      </p:sp>
      <p:sp>
        <p:nvSpPr>
          <p:cNvPr id="17" name="Shape 14"/>
          <p:cNvSpPr/>
          <p:nvPr/>
        </p:nvSpPr>
        <p:spPr>
          <a:xfrm>
            <a:off x="2350008" y="3831336"/>
            <a:ext cx="1024128" cy="1024128"/>
          </a:xfrm>
          <a:prstGeom prst="rect">
            <a:avLst/>
          </a:prstGeom>
          <a:solidFill>
            <a:srgbClr val="F9F7FE"/>
          </a:solidFill>
          <a:ln w="25400">
            <a:solidFill>
              <a:srgbClr val="FFFFFF"/>
            </a:solidFill>
            <a:prstDash val="solid"/>
          </a:ln>
        </p:spPr>
      </p:sp>
      <p:sp>
        <p:nvSpPr>
          <p:cNvPr id="18" name="Shape 15"/>
          <p:cNvSpPr/>
          <p:nvPr/>
        </p:nvSpPr>
        <p:spPr>
          <a:xfrm>
            <a:off x="3374136" y="3831336"/>
            <a:ext cx="1024128" cy="1024128"/>
          </a:xfrm>
          <a:prstGeom prst="rect">
            <a:avLst/>
          </a:prstGeom>
          <a:solidFill>
            <a:srgbClr val="EDE4FB"/>
          </a:solidFill>
          <a:ln w="25400">
            <a:solidFill>
              <a:srgbClr val="FFFFFF"/>
            </a:solidFill>
            <a:prstDash val="solid"/>
          </a:ln>
        </p:spPr>
      </p:sp>
      <p:sp>
        <p:nvSpPr>
          <p:cNvPr id="19" name="Text 16"/>
          <p:cNvSpPr txBox="1"/>
          <p:nvPr/>
        </p:nvSpPr>
        <p:spPr>
          <a:xfrm>
            <a:off x="1325880" y="4910328"/>
            <a:ext cx="1024128" cy="228600"/>
          </a:xfrm>
          <a:prstGeom prst="rect">
            <a:avLst/>
          </a:prstGeom>
          <a:noFill/>
          <a:ln/>
        </p:spPr>
        <p:txBody>
          <a:bodyPr wrap="square" lIns="0" tIns="0" rIns="0" bIns="0" rtlCol="0" anchor="t"/>
          <a:lstStyle/>
          <a:p>
            <a:pPr algn="ctr" indent="0" marL="0">
              <a:buNone/>
            </a:pPr>
            <a:r>
              <a:rPr lang="en-US" sz="1050" dirty="0">
                <a:solidFill>
                  <a:srgbClr val="6B7280"/>
                </a:solidFill>
                <a:latin typeface="Arial" pitchFamily="34" charset="0"/>
                <a:ea typeface="Arial" pitchFamily="34" charset="-122"/>
                <a:cs typeface="Arial" pitchFamily="34" charset="-120"/>
              </a:rPr>
              <a:t>Bajo</a:t>
            </a:r>
            <a:endParaRPr lang="en-US" sz="1050" dirty="0"/>
          </a:p>
        </p:txBody>
      </p:sp>
      <p:sp>
        <p:nvSpPr>
          <p:cNvPr id="20" name="Text 17"/>
          <p:cNvSpPr txBox="1"/>
          <p:nvPr/>
        </p:nvSpPr>
        <p:spPr>
          <a:xfrm>
            <a:off x="2350008" y="4910328"/>
            <a:ext cx="1024128" cy="228600"/>
          </a:xfrm>
          <a:prstGeom prst="rect">
            <a:avLst/>
          </a:prstGeom>
          <a:noFill/>
          <a:ln/>
        </p:spPr>
        <p:txBody>
          <a:bodyPr wrap="square" lIns="0" tIns="0" rIns="0" bIns="0" rtlCol="0" anchor="t"/>
          <a:lstStyle/>
          <a:p>
            <a:pPr algn="ctr" indent="0" marL="0">
              <a:buNone/>
            </a:pPr>
            <a:r>
              <a:rPr lang="en-US" sz="1050" dirty="0">
                <a:solidFill>
                  <a:srgbClr val="6B7280"/>
                </a:solidFill>
                <a:latin typeface="Arial" pitchFamily="34" charset="0"/>
                <a:ea typeface="Arial" pitchFamily="34" charset="-122"/>
                <a:cs typeface="Arial" pitchFamily="34" charset="-120"/>
              </a:rPr>
              <a:t>Medio</a:t>
            </a:r>
            <a:endParaRPr lang="en-US" sz="1050" dirty="0"/>
          </a:p>
        </p:txBody>
      </p:sp>
      <p:sp>
        <p:nvSpPr>
          <p:cNvPr id="21" name="Text 18"/>
          <p:cNvSpPr txBox="1"/>
          <p:nvPr/>
        </p:nvSpPr>
        <p:spPr>
          <a:xfrm>
            <a:off x="3374136" y="4910328"/>
            <a:ext cx="1024128" cy="228600"/>
          </a:xfrm>
          <a:prstGeom prst="rect">
            <a:avLst/>
          </a:prstGeom>
          <a:noFill/>
          <a:ln/>
        </p:spPr>
        <p:txBody>
          <a:bodyPr wrap="square" lIns="0" tIns="0" rIns="0" bIns="0" rtlCol="0" anchor="t"/>
          <a:lstStyle/>
          <a:p>
            <a:pPr algn="ctr" indent="0" marL="0">
              <a:buNone/>
            </a:pPr>
            <a:r>
              <a:rPr lang="en-US" sz="1050" dirty="0">
                <a:solidFill>
                  <a:srgbClr val="6B7280"/>
                </a:solidFill>
                <a:latin typeface="Arial" pitchFamily="34" charset="0"/>
                <a:ea typeface="Arial" pitchFamily="34" charset="-122"/>
                <a:cs typeface="Arial" pitchFamily="34" charset="-120"/>
              </a:rPr>
              <a:t>Alto</a:t>
            </a:r>
            <a:endParaRPr lang="en-US" sz="1050" dirty="0"/>
          </a:p>
        </p:txBody>
      </p:sp>
      <p:sp>
        <p:nvSpPr>
          <p:cNvPr id="22" name="Text 19"/>
          <p:cNvSpPr txBox="1"/>
          <p:nvPr/>
        </p:nvSpPr>
        <p:spPr>
          <a:xfrm>
            <a:off x="1325880" y="5166360"/>
            <a:ext cx="3072384" cy="228600"/>
          </a:xfrm>
          <a:prstGeom prst="rect">
            <a:avLst/>
          </a:prstGeom>
          <a:noFill/>
          <a:ln/>
        </p:spPr>
        <p:txBody>
          <a:bodyPr wrap="square" lIns="0" tIns="0" rIns="0" bIns="0" rtlCol="0" anchor="t"/>
          <a:lstStyle/>
          <a:p>
            <a:pPr algn="ctr" indent="0" marL="0">
              <a:buNone/>
            </a:pPr>
            <a:r>
              <a:rPr lang="en-US" sz="1000" b="1" dirty="0">
                <a:solidFill>
                  <a:srgbClr val="0B0B0D"/>
                </a:solidFill>
                <a:latin typeface="Arial" pitchFamily="34" charset="0"/>
                <a:ea typeface="Arial" pitchFamily="34" charset="-122"/>
                <a:cs typeface="Arial" pitchFamily="34" charset="-120"/>
              </a:rPr>
              <a:t>Impacto →</a:t>
            </a:r>
            <a:endParaRPr lang="en-US" sz="1000" dirty="0"/>
          </a:p>
        </p:txBody>
      </p:sp>
      <p:sp>
        <p:nvSpPr>
          <p:cNvPr id="23" name="Text 20"/>
          <p:cNvSpPr txBox="1"/>
          <p:nvPr/>
        </p:nvSpPr>
        <p:spPr>
          <a:xfrm>
            <a:off x="548640" y="5541264"/>
            <a:ext cx="4023360" cy="228600"/>
          </a:xfrm>
          <a:prstGeom prst="rect">
            <a:avLst/>
          </a:prstGeom>
          <a:noFill/>
          <a:ln/>
        </p:spPr>
        <p:txBody>
          <a:bodyPr wrap="square" lIns="0" tIns="0" rIns="0" bIns="0" rtlCol="0" anchor="t"/>
          <a:lstStyle/>
          <a:p>
            <a:pPr indent="0" marL="0">
              <a:buNone/>
            </a:pPr>
            <a:r>
              <a:rPr lang="en-US" sz="950" i="1" dirty="0">
                <a:solidFill>
                  <a:srgbClr val="6B7280"/>
                </a:solidFill>
                <a:latin typeface="Arial" pitchFamily="34" charset="0"/>
                <a:ea typeface="Arial" pitchFamily="34" charset="-122"/>
                <a:cs typeface="Arial" pitchFamily="34" charset="-120"/>
              </a:rPr>
              <a:t>Valoración cualitativa del equipo del proyecto.</a:t>
            </a:r>
            <a:endParaRPr lang="en-US" sz="950" dirty="0"/>
          </a:p>
        </p:txBody>
      </p:sp>
      <p:sp>
        <p:nvSpPr>
          <p:cNvPr id="24" name="Shape 21"/>
          <p:cNvSpPr/>
          <p:nvPr/>
        </p:nvSpPr>
        <p:spPr>
          <a:xfrm>
            <a:off x="3511296" y="2944368"/>
            <a:ext cx="347472" cy="347472"/>
          </a:xfrm>
          <a:prstGeom prst="ellipse">
            <a:avLst/>
          </a:prstGeom>
          <a:solidFill>
            <a:srgbClr val="6D28D9"/>
          </a:solidFill>
          <a:ln w="19050">
            <a:solidFill>
              <a:srgbClr val="FFFFFF"/>
            </a:solidFill>
            <a:prstDash val="solid"/>
          </a:ln>
        </p:spPr>
      </p:sp>
      <p:sp>
        <p:nvSpPr>
          <p:cNvPr id="25" name="Text 22"/>
          <p:cNvSpPr txBox="1"/>
          <p:nvPr/>
        </p:nvSpPr>
        <p:spPr>
          <a:xfrm>
            <a:off x="3511296" y="2944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6" name="Shape 23"/>
          <p:cNvSpPr/>
          <p:nvPr/>
        </p:nvSpPr>
        <p:spPr>
          <a:xfrm>
            <a:off x="3913632" y="2944368"/>
            <a:ext cx="347472" cy="347472"/>
          </a:xfrm>
          <a:prstGeom prst="ellipse">
            <a:avLst/>
          </a:prstGeom>
          <a:solidFill>
            <a:srgbClr val="6D28D9"/>
          </a:solidFill>
          <a:ln w="19050">
            <a:solidFill>
              <a:srgbClr val="FFFFFF"/>
            </a:solidFill>
            <a:prstDash val="solid"/>
          </a:ln>
        </p:spPr>
      </p:sp>
      <p:sp>
        <p:nvSpPr>
          <p:cNvPr id="27" name="Text 24"/>
          <p:cNvSpPr txBox="1"/>
          <p:nvPr/>
        </p:nvSpPr>
        <p:spPr>
          <a:xfrm>
            <a:off x="3913632" y="2944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8" name="Shape 25"/>
          <p:cNvSpPr/>
          <p:nvPr/>
        </p:nvSpPr>
        <p:spPr>
          <a:xfrm>
            <a:off x="3511296" y="3346704"/>
            <a:ext cx="347472" cy="347472"/>
          </a:xfrm>
          <a:prstGeom prst="ellipse">
            <a:avLst/>
          </a:prstGeom>
          <a:solidFill>
            <a:srgbClr val="6D28D9"/>
          </a:solidFill>
          <a:ln w="19050">
            <a:solidFill>
              <a:srgbClr val="FFFFFF"/>
            </a:solidFill>
            <a:prstDash val="solid"/>
          </a:ln>
        </p:spPr>
      </p:sp>
      <p:sp>
        <p:nvSpPr>
          <p:cNvPr id="29" name="Text 26"/>
          <p:cNvSpPr txBox="1"/>
          <p:nvPr/>
        </p:nvSpPr>
        <p:spPr>
          <a:xfrm>
            <a:off x="3511296" y="33467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0" name="Shape 27"/>
          <p:cNvSpPr/>
          <p:nvPr/>
        </p:nvSpPr>
        <p:spPr>
          <a:xfrm>
            <a:off x="3913632" y="3346704"/>
            <a:ext cx="347472" cy="347472"/>
          </a:xfrm>
          <a:prstGeom prst="ellipse">
            <a:avLst/>
          </a:prstGeom>
          <a:solidFill>
            <a:srgbClr val="6D28D9"/>
          </a:solidFill>
          <a:ln w="19050">
            <a:solidFill>
              <a:srgbClr val="FFFFFF"/>
            </a:solidFill>
            <a:prstDash val="solid"/>
          </a:ln>
        </p:spPr>
      </p:sp>
      <p:sp>
        <p:nvSpPr>
          <p:cNvPr id="31" name="Text 28"/>
          <p:cNvSpPr txBox="1"/>
          <p:nvPr/>
        </p:nvSpPr>
        <p:spPr>
          <a:xfrm>
            <a:off x="3913632" y="33467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2" name="Shape 29"/>
          <p:cNvSpPr/>
          <p:nvPr/>
        </p:nvSpPr>
        <p:spPr>
          <a:xfrm>
            <a:off x="2688336" y="3145536"/>
            <a:ext cx="347472" cy="347472"/>
          </a:xfrm>
          <a:prstGeom prst="ellipse">
            <a:avLst/>
          </a:prstGeom>
          <a:solidFill>
            <a:srgbClr val="6D28D9"/>
          </a:solidFill>
          <a:ln w="19050">
            <a:solidFill>
              <a:srgbClr val="FFFFFF"/>
            </a:solidFill>
            <a:prstDash val="solid"/>
          </a:ln>
        </p:spPr>
      </p:sp>
      <p:sp>
        <p:nvSpPr>
          <p:cNvPr id="33" name="Text 30"/>
          <p:cNvSpPr txBox="1"/>
          <p:nvPr/>
        </p:nvSpPr>
        <p:spPr>
          <a:xfrm>
            <a:off x="2688336" y="31455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4" name="Shape 31"/>
          <p:cNvSpPr/>
          <p:nvPr/>
        </p:nvSpPr>
        <p:spPr>
          <a:xfrm>
            <a:off x="3712464" y="4169664"/>
            <a:ext cx="347472" cy="347472"/>
          </a:xfrm>
          <a:prstGeom prst="ellipse">
            <a:avLst/>
          </a:prstGeom>
          <a:solidFill>
            <a:srgbClr val="6D28D9"/>
          </a:solidFill>
          <a:ln w="19050">
            <a:solidFill>
              <a:srgbClr val="FFFFFF"/>
            </a:solidFill>
            <a:prstDash val="solid"/>
          </a:ln>
        </p:spPr>
      </p:sp>
      <p:sp>
        <p:nvSpPr>
          <p:cNvPr id="35" name="Text 32"/>
          <p:cNvSpPr txBox="1"/>
          <p:nvPr/>
        </p:nvSpPr>
        <p:spPr>
          <a:xfrm>
            <a:off x="3712464" y="41696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5349240" y="1463040"/>
            <a:ext cx="2286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RIESGO</a:t>
            </a:r>
            <a:endParaRPr lang="en-US" sz="950" dirty="0"/>
          </a:p>
        </p:txBody>
      </p:sp>
      <p:sp>
        <p:nvSpPr>
          <p:cNvPr id="37" name="Text 34"/>
          <p:cNvSpPr txBox="1"/>
          <p:nvPr/>
        </p:nvSpPr>
        <p:spPr>
          <a:xfrm>
            <a:off x="8046720" y="1463040"/>
            <a:ext cx="2286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RESPUESTA</a:t>
            </a:r>
            <a:endParaRPr lang="en-US" sz="950" dirty="0"/>
          </a:p>
        </p:txBody>
      </p:sp>
      <p:sp>
        <p:nvSpPr>
          <p:cNvPr id="38" name="Text 35"/>
          <p:cNvSpPr txBox="1"/>
          <p:nvPr/>
        </p:nvSpPr>
        <p:spPr>
          <a:xfrm>
            <a:off x="10500055" y="1463040"/>
            <a:ext cx="1143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ESTADO</a:t>
            </a:r>
            <a:endParaRPr lang="en-US" sz="950" dirty="0"/>
          </a:p>
        </p:txBody>
      </p:sp>
      <p:sp>
        <p:nvSpPr>
          <p:cNvPr id="39" name="Shape 36"/>
          <p:cNvSpPr/>
          <p:nvPr/>
        </p:nvSpPr>
        <p:spPr>
          <a:xfrm>
            <a:off x="4892040" y="1746504"/>
            <a:ext cx="6751015" cy="0"/>
          </a:xfrm>
          <a:prstGeom prst="line">
            <a:avLst/>
          </a:prstGeom>
          <a:noFill/>
          <a:ln w="9525">
            <a:solidFill>
              <a:srgbClr val="E3E4E8"/>
            </a:solidFill>
            <a:prstDash val="solid"/>
          </a:ln>
        </p:spPr>
      </p:sp>
      <p:sp>
        <p:nvSpPr>
          <p:cNvPr id="40" name="Shape 37"/>
          <p:cNvSpPr/>
          <p:nvPr/>
        </p:nvSpPr>
        <p:spPr>
          <a:xfrm>
            <a:off x="4901184" y="1938528"/>
            <a:ext cx="347472" cy="347472"/>
          </a:xfrm>
          <a:prstGeom prst="ellipse">
            <a:avLst/>
          </a:prstGeom>
          <a:solidFill>
            <a:srgbClr val="6D28D9"/>
          </a:solidFill>
          <a:ln w="19050">
            <a:solidFill>
              <a:srgbClr val="FFFFFF"/>
            </a:solidFill>
            <a:prstDash val="solid"/>
          </a:ln>
        </p:spPr>
      </p:sp>
      <p:sp>
        <p:nvSpPr>
          <p:cNvPr id="41" name="Text 38"/>
          <p:cNvSpPr txBox="1"/>
          <p:nvPr/>
        </p:nvSpPr>
        <p:spPr>
          <a:xfrm>
            <a:off x="4901184" y="19385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2" name="Text 39"/>
          <p:cNvSpPr txBox="1"/>
          <p:nvPr/>
        </p:nvSpPr>
        <p:spPr>
          <a:xfrm>
            <a:off x="5349240" y="1783080"/>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Una actualización de plugins o del tema base rompe el rediseño</a:t>
            </a:r>
            <a:endParaRPr lang="en-US" sz="1200" dirty="0"/>
          </a:p>
        </p:txBody>
      </p:sp>
      <p:sp>
        <p:nvSpPr>
          <p:cNvPr id="43" name="Text 40"/>
          <p:cNvSpPr txBox="1"/>
          <p:nvPr/>
        </p:nvSpPr>
        <p:spPr>
          <a:xfrm>
            <a:off x="8046720" y="1783080"/>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Rediseño aislado en un tema hijo; actualizaciones probadas primero en el entorno de prueba</a:t>
            </a:r>
            <a:endParaRPr lang="en-US" sz="1050" dirty="0"/>
          </a:p>
        </p:txBody>
      </p:sp>
      <p:sp>
        <p:nvSpPr>
          <p:cNvPr id="44" name="Shape 41"/>
          <p:cNvSpPr/>
          <p:nvPr/>
        </p:nvSpPr>
        <p:spPr>
          <a:xfrm>
            <a:off x="10500055" y="1984248"/>
            <a:ext cx="815645" cy="256032"/>
          </a:xfrm>
          <a:prstGeom prst="roundRect">
            <a:avLst>
              <a:gd name="adj" fmla="val 50000"/>
            </a:avLst>
          </a:prstGeom>
          <a:solidFill>
            <a:srgbClr val="0B0B0D"/>
          </a:solidFill>
          <a:ln w="9525">
            <a:solidFill>
              <a:srgbClr val="0B0B0D"/>
            </a:solidFill>
            <a:prstDash val="solid"/>
          </a:ln>
        </p:spPr>
      </p:sp>
      <p:sp>
        <p:nvSpPr>
          <p:cNvPr id="45" name="Text 42"/>
          <p:cNvSpPr txBox="1"/>
          <p:nvPr/>
        </p:nvSpPr>
        <p:spPr>
          <a:xfrm>
            <a:off x="10500055" y="1984248"/>
            <a:ext cx="815645"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Mitigado</a:t>
            </a:r>
            <a:endParaRPr lang="en-US" sz="900" dirty="0"/>
          </a:p>
        </p:txBody>
      </p:sp>
      <p:sp>
        <p:nvSpPr>
          <p:cNvPr id="46" name="Shape 43"/>
          <p:cNvSpPr/>
          <p:nvPr/>
        </p:nvSpPr>
        <p:spPr>
          <a:xfrm>
            <a:off x="4892040" y="2459736"/>
            <a:ext cx="6751015" cy="0"/>
          </a:xfrm>
          <a:prstGeom prst="line">
            <a:avLst/>
          </a:prstGeom>
          <a:noFill/>
          <a:ln w="9525">
            <a:solidFill>
              <a:srgbClr val="E3E4E8"/>
            </a:solidFill>
            <a:prstDash val="solid"/>
          </a:ln>
        </p:spPr>
      </p:sp>
      <p:sp>
        <p:nvSpPr>
          <p:cNvPr id="47" name="Shape 44"/>
          <p:cNvSpPr/>
          <p:nvPr/>
        </p:nvSpPr>
        <p:spPr>
          <a:xfrm>
            <a:off x="4901184" y="2651760"/>
            <a:ext cx="347472" cy="347472"/>
          </a:xfrm>
          <a:prstGeom prst="ellipse">
            <a:avLst/>
          </a:prstGeom>
          <a:solidFill>
            <a:srgbClr val="6D28D9"/>
          </a:solidFill>
          <a:ln w="19050">
            <a:solidFill>
              <a:srgbClr val="FFFFFF"/>
            </a:solidFill>
            <a:prstDash val="solid"/>
          </a:ln>
        </p:spPr>
      </p:sp>
      <p:sp>
        <p:nvSpPr>
          <p:cNvPr id="48" name="Text 45"/>
          <p:cNvSpPr txBox="1"/>
          <p:nvPr/>
        </p:nvSpPr>
        <p:spPr>
          <a:xfrm>
            <a:off x="4901184" y="26517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49" name="Text 46"/>
          <p:cNvSpPr txBox="1"/>
          <p:nvPr/>
        </p:nvSpPr>
        <p:spPr>
          <a:xfrm>
            <a:off x="5349240" y="2496312"/>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El alcance crece hacia una tienda en línea o un ERP</a:t>
            </a:r>
            <a:endParaRPr lang="en-US" sz="1200" dirty="0"/>
          </a:p>
        </p:txBody>
      </p:sp>
      <p:sp>
        <p:nvSpPr>
          <p:cNvPr id="50" name="Text 47"/>
          <p:cNvSpPr txBox="1"/>
          <p:nvPr/>
        </p:nvSpPr>
        <p:spPr>
          <a:xfrm>
            <a:off x="8046720" y="2496312"/>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Alcance y exclusiones acordados en Inicio (hito LCO)</a:t>
            </a:r>
            <a:endParaRPr lang="en-US" sz="1050" dirty="0"/>
          </a:p>
        </p:txBody>
      </p:sp>
      <p:sp>
        <p:nvSpPr>
          <p:cNvPr id="51" name="Shape 48"/>
          <p:cNvSpPr/>
          <p:nvPr/>
        </p:nvSpPr>
        <p:spPr>
          <a:xfrm>
            <a:off x="10500055" y="2697480"/>
            <a:ext cx="955548" cy="256032"/>
          </a:xfrm>
          <a:prstGeom prst="roundRect">
            <a:avLst>
              <a:gd name="adj" fmla="val 50000"/>
            </a:avLst>
          </a:prstGeom>
          <a:solidFill>
            <a:srgbClr val="0B0B0D"/>
          </a:solidFill>
          <a:ln w="9525">
            <a:solidFill>
              <a:srgbClr val="0B0B0D"/>
            </a:solidFill>
            <a:prstDash val="solid"/>
          </a:ln>
        </p:spPr>
      </p:sp>
      <p:sp>
        <p:nvSpPr>
          <p:cNvPr id="52" name="Text 49"/>
          <p:cNvSpPr txBox="1"/>
          <p:nvPr/>
        </p:nvSpPr>
        <p:spPr>
          <a:xfrm>
            <a:off x="10500055" y="2697480"/>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Controlado</a:t>
            </a:r>
            <a:endParaRPr lang="en-US" sz="900" dirty="0"/>
          </a:p>
        </p:txBody>
      </p:sp>
      <p:sp>
        <p:nvSpPr>
          <p:cNvPr id="53" name="Shape 50"/>
          <p:cNvSpPr/>
          <p:nvPr/>
        </p:nvSpPr>
        <p:spPr>
          <a:xfrm>
            <a:off x="4892040" y="3172968"/>
            <a:ext cx="6751015" cy="0"/>
          </a:xfrm>
          <a:prstGeom prst="line">
            <a:avLst/>
          </a:prstGeom>
          <a:noFill/>
          <a:ln w="9525">
            <a:solidFill>
              <a:srgbClr val="E3E4E8"/>
            </a:solidFill>
            <a:prstDash val="solid"/>
          </a:ln>
        </p:spPr>
      </p:sp>
      <p:sp>
        <p:nvSpPr>
          <p:cNvPr id="54" name="Shape 51"/>
          <p:cNvSpPr/>
          <p:nvPr/>
        </p:nvSpPr>
        <p:spPr>
          <a:xfrm>
            <a:off x="4901184" y="3364992"/>
            <a:ext cx="347472" cy="347472"/>
          </a:xfrm>
          <a:prstGeom prst="ellipse">
            <a:avLst/>
          </a:prstGeom>
          <a:solidFill>
            <a:srgbClr val="6D28D9"/>
          </a:solidFill>
          <a:ln w="19050">
            <a:solidFill>
              <a:srgbClr val="FFFFFF"/>
            </a:solidFill>
            <a:prstDash val="solid"/>
          </a:ln>
        </p:spPr>
      </p:sp>
      <p:sp>
        <p:nvSpPr>
          <p:cNvPr id="55" name="Text 52"/>
          <p:cNvSpPr txBox="1"/>
          <p:nvPr/>
        </p:nvSpPr>
        <p:spPr>
          <a:xfrm>
            <a:off x="4901184" y="33649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56" name="Text 53"/>
          <p:cNvSpPr txBox="1"/>
          <p:nvPr/>
        </p:nvSpPr>
        <p:spPr>
          <a:xfrm>
            <a:off x="5349240" y="3209544"/>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Páginas lentas por imágenes pesadas</a:t>
            </a:r>
            <a:endParaRPr lang="en-US" sz="1200" dirty="0"/>
          </a:p>
        </p:txBody>
      </p:sp>
      <p:sp>
        <p:nvSpPr>
          <p:cNvPr id="57" name="Text 54"/>
          <p:cNvSpPr txBox="1"/>
          <p:nvPr/>
        </p:nvSpPr>
        <p:spPr>
          <a:xfrm>
            <a:off x="8046720" y="3209544"/>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Imágenes optimizadas y medición con Lighthouse: ficha de 5,28 a 0,38 MB</a:t>
            </a:r>
            <a:endParaRPr lang="en-US" sz="1050" dirty="0"/>
          </a:p>
        </p:txBody>
      </p:sp>
      <p:sp>
        <p:nvSpPr>
          <p:cNvPr id="58" name="Shape 55"/>
          <p:cNvSpPr/>
          <p:nvPr/>
        </p:nvSpPr>
        <p:spPr>
          <a:xfrm>
            <a:off x="10500055" y="3410712"/>
            <a:ext cx="815645" cy="256032"/>
          </a:xfrm>
          <a:prstGeom prst="roundRect">
            <a:avLst>
              <a:gd name="adj" fmla="val 50000"/>
            </a:avLst>
          </a:prstGeom>
          <a:solidFill>
            <a:srgbClr val="0B0B0D"/>
          </a:solidFill>
          <a:ln w="9525">
            <a:solidFill>
              <a:srgbClr val="0B0B0D"/>
            </a:solidFill>
            <a:prstDash val="solid"/>
          </a:ln>
        </p:spPr>
      </p:sp>
      <p:sp>
        <p:nvSpPr>
          <p:cNvPr id="59" name="Text 56"/>
          <p:cNvSpPr txBox="1"/>
          <p:nvPr/>
        </p:nvSpPr>
        <p:spPr>
          <a:xfrm>
            <a:off x="10500055" y="3410712"/>
            <a:ext cx="815645"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Mitigado</a:t>
            </a:r>
            <a:endParaRPr lang="en-US" sz="900" dirty="0"/>
          </a:p>
        </p:txBody>
      </p:sp>
      <p:sp>
        <p:nvSpPr>
          <p:cNvPr id="60" name="Shape 57"/>
          <p:cNvSpPr/>
          <p:nvPr/>
        </p:nvSpPr>
        <p:spPr>
          <a:xfrm>
            <a:off x="4892040" y="3886200"/>
            <a:ext cx="6751015" cy="0"/>
          </a:xfrm>
          <a:prstGeom prst="line">
            <a:avLst/>
          </a:prstGeom>
          <a:noFill/>
          <a:ln w="9525">
            <a:solidFill>
              <a:srgbClr val="E3E4E8"/>
            </a:solidFill>
            <a:prstDash val="solid"/>
          </a:ln>
        </p:spPr>
      </p:sp>
      <p:sp>
        <p:nvSpPr>
          <p:cNvPr id="61" name="Shape 58"/>
          <p:cNvSpPr/>
          <p:nvPr/>
        </p:nvSpPr>
        <p:spPr>
          <a:xfrm>
            <a:off x="4901184" y="4078224"/>
            <a:ext cx="347472" cy="347472"/>
          </a:xfrm>
          <a:prstGeom prst="ellipse">
            <a:avLst/>
          </a:prstGeom>
          <a:solidFill>
            <a:srgbClr val="6D28D9"/>
          </a:solidFill>
          <a:ln w="19050">
            <a:solidFill>
              <a:srgbClr val="FFFFFF"/>
            </a:solidFill>
            <a:prstDash val="solid"/>
          </a:ln>
        </p:spPr>
      </p:sp>
      <p:sp>
        <p:nvSpPr>
          <p:cNvPr id="62" name="Text 59"/>
          <p:cNvSpPr txBox="1"/>
          <p:nvPr/>
        </p:nvSpPr>
        <p:spPr>
          <a:xfrm>
            <a:off x="4901184" y="4078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63" name="Text 60"/>
          <p:cNvSpPr txBox="1"/>
          <p:nvPr/>
        </p:nvSpPr>
        <p:spPr>
          <a:xfrm>
            <a:off x="5349240" y="3922776"/>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Especificaciones técnicas con errores</a:t>
            </a:r>
            <a:endParaRPr lang="en-US" sz="1200" dirty="0"/>
          </a:p>
        </p:txBody>
      </p:sp>
      <p:sp>
        <p:nvSpPr>
          <p:cNvPr id="64" name="Text 61"/>
          <p:cNvSpPr txBox="1"/>
          <p:nvPr/>
        </p:nvSpPr>
        <p:spPr>
          <a:xfrm>
            <a:off x="8046720" y="3922776"/>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Revisión de las fichas con Black Hawk antes de publicar</a:t>
            </a:r>
            <a:endParaRPr lang="en-US" sz="1050" dirty="0"/>
          </a:p>
        </p:txBody>
      </p:sp>
      <p:sp>
        <p:nvSpPr>
          <p:cNvPr id="65" name="Shape 62"/>
          <p:cNvSpPr/>
          <p:nvPr/>
        </p:nvSpPr>
        <p:spPr>
          <a:xfrm>
            <a:off x="10500055" y="4123944"/>
            <a:ext cx="745693" cy="256032"/>
          </a:xfrm>
          <a:prstGeom prst="roundRect">
            <a:avLst>
              <a:gd name="adj" fmla="val 50000"/>
            </a:avLst>
          </a:prstGeom>
          <a:solidFill>
            <a:srgbClr val="EDE4FB"/>
          </a:solidFill>
          <a:ln w="9525">
            <a:solidFill>
              <a:srgbClr val="6D28D9"/>
            </a:solidFill>
            <a:prstDash val="solid"/>
          </a:ln>
        </p:spPr>
      </p:sp>
      <p:sp>
        <p:nvSpPr>
          <p:cNvPr id="66" name="Text 63"/>
          <p:cNvSpPr txBox="1"/>
          <p:nvPr/>
        </p:nvSpPr>
        <p:spPr>
          <a:xfrm>
            <a:off x="10500055" y="4123944"/>
            <a:ext cx="745693" cy="256032"/>
          </a:xfrm>
          <a:prstGeom prst="rect">
            <a:avLst/>
          </a:prstGeom>
          <a:noFill/>
          <a:ln/>
        </p:spPr>
        <p:txBody>
          <a:bodyPr wrap="square" lIns="0" tIns="0" rIns="0" bIns="0" rtlCol="0" anchor="ctr"/>
          <a:lstStyle/>
          <a:p>
            <a:pPr algn="ctr" indent="0" marL="0">
              <a:buNone/>
            </a:pPr>
            <a:r>
              <a:rPr lang="en-US" sz="900" b="1" dirty="0">
                <a:solidFill>
                  <a:srgbClr val="6D28D9"/>
                </a:solidFill>
                <a:latin typeface="Arial" pitchFamily="34" charset="0"/>
                <a:ea typeface="Arial" pitchFamily="34" charset="-122"/>
                <a:cs typeface="Arial" pitchFamily="34" charset="-120"/>
              </a:rPr>
              <a:t>Abierto</a:t>
            </a:r>
            <a:endParaRPr lang="en-US" sz="900" dirty="0"/>
          </a:p>
        </p:txBody>
      </p:sp>
      <p:sp>
        <p:nvSpPr>
          <p:cNvPr id="67" name="Shape 64"/>
          <p:cNvSpPr/>
          <p:nvPr/>
        </p:nvSpPr>
        <p:spPr>
          <a:xfrm>
            <a:off x="4892040" y="4599432"/>
            <a:ext cx="6751015" cy="0"/>
          </a:xfrm>
          <a:prstGeom prst="line">
            <a:avLst/>
          </a:prstGeom>
          <a:noFill/>
          <a:ln w="9525">
            <a:solidFill>
              <a:srgbClr val="E3E4E8"/>
            </a:solidFill>
            <a:prstDash val="solid"/>
          </a:ln>
        </p:spPr>
      </p:sp>
      <p:sp>
        <p:nvSpPr>
          <p:cNvPr id="68" name="Shape 65"/>
          <p:cNvSpPr/>
          <p:nvPr/>
        </p:nvSpPr>
        <p:spPr>
          <a:xfrm>
            <a:off x="4901184" y="4791456"/>
            <a:ext cx="347472" cy="347472"/>
          </a:xfrm>
          <a:prstGeom prst="ellipse">
            <a:avLst/>
          </a:prstGeom>
          <a:solidFill>
            <a:srgbClr val="6D28D9"/>
          </a:solidFill>
          <a:ln w="19050">
            <a:solidFill>
              <a:srgbClr val="FFFFFF"/>
            </a:solidFill>
            <a:prstDash val="solid"/>
          </a:ln>
        </p:spPr>
      </p:sp>
      <p:sp>
        <p:nvSpPr>
          <p:cNvPr id="69" name="Text 66"/>
          <p:cNvSpPr txBox="1"/>
          <p:nvPr/>
        </p:nvSpPr>
        <p:spPr>
          <a:xfrm>
            <a:off x="4901184" y="47914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70" name="Text 67"/>
          <p:cNvSpPr txBox="1"/>
          <p:nvPr/>
        </p:nvSpPr>
        <p:spPr>
          <a:xfrm>
            <a:off x="5349240" y="4636008"/>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Falla al publicar en el dominio oficial</a:t>
            </a:r>
            <a:endParaRPr lang="en-US" sz="1200" dirty="0"/>
          </a:p>
        </p:txBody>
      </p:sp>
      <p:sp>
        <p:nvSpPr>
          <p:cNvPr id="71" name="Text 68"/>
          <p:cNvSpPr txBox="1"/>
          <p:nvPr/>
        </p:nvSpPr>
        <p:spPr>
          <a:xfrm>
            <a:off x="8046720" y="4636008"/>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Respaldo previo, publicación desde el entorno de prueba y plan de reversión</a:t>
            </a:r>
            <a:endParaRPr lang="en-US" sz="1050" dirty="0"/>
          </a:p>
        </p:txBody>
      </p:sp>
      <p:sp>
        <p:nvSpPr>
          <p:cNvPr id="72" name="Shape 69"/>
          <p:cNvSpPr/>
          <p:nvPr/>
        </p:nvSpPr>
        <p:spPr>
          <a:xfrm>
            <a:off x="10500055" y="4837176"/>
            <a:ext cx="1025500" cy="256032"/>
          </a:xfrm>
          <a:prstGeom prst="roundRect">
            <a:avLst>
              <a:gd name="adj" fmla="val 50000"/>
            </a:avLst>
          </a:prstGeom>
          <a:solidFill>
            <a:srgbClr val="FFFFFF"/>
          </a:solidFill>
          <a:ln w="9525">
            <a:solidFill>
              <a:srgbClr val="9CA3AF"/>
            </a:solidFill>
            <a:prstDash val="solid"/>
          </a:ln>
        </p:spPr>
      </p:sp>
      <p:sp>
        <p:nvSpPr>
          <p:cNvPr id="73" name="Text 70"/>
          <p:cNvSpPr txBox="1"/>
          <p:nvPr/>
        </p:nvSpPr>
        <p:spPr>
          <a:xfrm>
            <a:off x="10500055" y="4837176"/>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sp>
        <p:nvSpPr>
          <p:cNvPr id="74" name="Shape 71"/>
          <p:cNvSpPr/>
          <p:nvPr/>
        </p:nvSpPr>
        <p:spPr>
          <a:xfrm>
            <a:off x="4892040" y="5312664"/>
            <a:ext cx="6751015" cy="0"/>
          </a:xfrm>
          <a:prstGeom prst="line">
            <a:avLst/>
          </a:prstGeom>
          <a:noFill/>
          <a:ln w="9525">
            <a:solidFill>
              <a:srgbClr val="E3E4E8"/>
            </a:solidFill>
            <a:prstDash val="solid"/>
          </a:ln>
        </p:spPr>
      </p:sp>
      <p:sp>
        <p:nvSpPr>
          <p:cNvPr id="75" name="Shape 72"/>
          <p:cNvSpPr/>
          <p:nvPr/>
        </p:nvSpPr>
        <p:spPr>
          <a:xfrm>
            <a:off x="4901184" y="5504688"/>
            <a:ext cx="347472" cy="347472"/>
          </a:xfrm>
          <a:prstGeom prst="ellipse">
            <a:avLst/>
          </a:prstGeom>
          <a:solidFill>
            <a:srgbClr val="6D28D9"/>
          </a:solidFill>
          <a:ln w="19050">
            <a:solidFill>
              <a:srgbClr val="FFFFFF"/>
            </a:solidFill>
            <a:prstDash val="solid"/>
          </a:ln>
        </p:spPr>
      </p:sp>
      <p:sp>
        <p:nvSpPr>
          <p:cNvPr id="76" name="Text 73"/>
          <p:cNvSpPr txBox="1"/>
          <p:nvPr/>
        </p:nvSpPr>
        <p:spPr>
          <a:xfrm>
            <a:off x="4901184" y="55046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77" name="Text 74"/>
          <p:cNvSpPr txBox="1"/>
          <p:nvPr/>
        </p:nvSpPr>
        <p:spPr>
          <a:xfrm>
            <a:off x="5349240" y="5349240"/>
            <a:ext cx="2560320" cy="658368"/>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Vulnerabilidades de seguridad en WordPress</a:t>
            </a:r>
            <a:endParaRPr lang="en-US" sz="1200" dirty="0"/>
          </a:p>
        </p:txBody>
      </p:sp>
      <p:sp>
        <p:nvSpPr>
          <p:cNvPr id="78" name="Text 75"/>
          <p:cNvSpPr txBox="1"/>
          <p:nvPr/>
        </p:nvSpPr>
        <p:spPr>
          <a:xfrm>
            <a:off x="8046720" y="5349240"/>
            <a:ext cx="2286000" cy="658368"/>
          </a:xfrm>
          <a:prstGeom prst="rect">
            <a:avLst/>
          </a:prstGeom>
          <a:noFill/>
          <a:ln/>
        </p:spPr>
        <p:txBody>
          <a:bodyPr wrap="square" lIns="0" tIns="0" rIns="0" bIns="0" rtlCol="0" anchor="ctr"/>
          <a:lstStyle/>
          <a:p>
            <a:pPr indent="0" marL="0">
              <a:buNone/>
            </a:pPr>
            <a:r>
              <a:rPr lang="en-US" sz="1050" dirty="0">
                <a:solidFill>
                  <a:srgbClr val="6B7280"/>
                </a:solidFill>
                <a:latin typeface="Arial" pitchFamily="34" charset="0"/>
                <a:ea typeface="Arial" pitchFamily="34" charset="-122"/>
                <a:cs typeface="Arial" pitchFamily="34" charset="-120"/>
              </a:rPr>
              <a:t>Actualizaciones controladas, privilegio mínimo y respaldos</a:t>
            </a:r>
            <a:endParaRPr lang="en-US" sz="1050" dirty="0"/>
          </a:p>
        </p:txBody>
      </p:sp>
      <p:sp>
        <p:nvSpPr>
          <p:cNvPr id="79" name="Shape 76"/>
          <p:cNvSpPr/>
          <p:nvPr/>
        </p:nvSpPr>
        <p:spPr>
          <a:xfrm>
            <a:off x="10500055" y="5550408"/>
            <a:ext cx="1025500" cy="256032"/>
          </a:xfrm>
          <a:prstGeom prst="roundRect">
            <a:avLst>
              <a:gd name="adj" fmla="val 50000"/>
            </a:avLst>
          </a:prstGeom>
          <a:solidFill>
            <a:srgbClr val="FFFFFF"/>
          </a:solidFill>
          <a:ln w="9525">
            <a:solidFill>
              <a:srgbClr val="9CA3AF"/>
            </a:solidFill>
            <a:prstDash val="solid"/>
          </a:ln>
        </p:spPr>
      </p:sp>
      <p:sp>
        <p:nvSpPr>
          <p:cNvPr id="80" name="Text 77"/>
          <p:cNvSpPr txBox="1"/>
          <p:nvPr/>
        </p:nvSpPr>
        <p:spPr>
          <a:xfrm>
            <a:off x="10500055" y="5550408"/>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Requisitos principales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16</a:t>
            </a:r>
            <a:endParaRPr lang="en-US" sz="900" dirty="0"/>
          </a:p>
        </p:txBody>
      </p:sp>
      <p:sp>
        <p:nvSpPr>
          <p:cNvPr id="6" name="Shape 3"/>
          <p:cNvSpPr/>
          <p:nvPr/>
        </p:nvSpPr>
        <p:spPr>
          <a:xfrm>
            <a:off x="548640" y="1371600"/>
            <a:ext cx="6583680" cy="4663440"/>
          </a:xfrm>
          <a:prstGeom prst="roundRect">
            <a:avLst>
              <a:gd name="adj" fmla="val 1569"/>
            </a:avLst>
          </a:prstGeom>
          <a:solidFill>
            <a:srgbClr val="F5F5F7"/>
          </a:solidFill>
          <a:ln/>
        </p:spPr>
      </p:sp>
      <p:sp>
        <p:nvSpPr>
          <p:cNvPr id="7" name="Text 4"/>
          <p:cNvSpPr txBox="1"/>
          <p:nvPr/>
        </p:nvSpPr>
        <p:spPr>
          <a:xfrm>
            <a:off x="822960" y="1536192"/>
            <a:ext cx="5486400" cy="274320"/>
          </a:xfrm>
          <a:prstGeom prst="rect">
            <a:avLst/>
          </a:prstGeom>
          <a:noFill/>
          <a:ln/>
        </p:spPr>
        <p:txBody>
          <a:bodyPr wrap="square" lIns="0" tIns="0" rIns="0" bIns="0" rtlCol="0" anchor="t"/>
          <a:lstStyle/>
          <a:p>
            <a:pPr indent="0" marL="0">
              <a:buNone/>
            </a:pPr>
            <a:r>
              <a:rPr lang="en-US" sz="1050" b="1" spc="150" kern="0" dirty="0">
                <a:solidFill>
                  <a:srgbClr val="6D28D9"/>
                </a:solidFill>
                <a:latin typeface="Arial" pitchFamily="34" charset="0"/>
                <a:ea typeface="Arial" pitchFamily="34" charset="-122"/>
                <a:cs typeface="Arial" pitchFamily="34" charset="-120"/>
              </a:rPr>
              <a:t>FUNCIONALES · qué hace el sistema</a:t>
            </a:r>
            <a:endParaRPr lang="en-US" sz="1050" dirty="0"/>
          </a:p>
        </p:txBody>
      </p:sp>
      <p:sp>
        <p:nvSpPr>
          <p:cNvPr id="8" name="Shape 5"/>
          <p:cNvSpPr/>
          <p:nvPr/>
        </p:nvSpPr>
        <p:spPr>
          <a:xfrm>
            <a:off x="822960" y="1947672"/>
            <a:ext cx="1048817" cy="256032"/>
          </a:xfrm>
          <a:prstGeom prst="roundRect">
            <a:avLst>
              <a:gd name="adj" fmla="val 50000"/>
            </a:avLst>
          </a:prstGeom>
          <a:solidFill>
            <a:srgbClr val="FFFFFF"/>
          </a:solidFill>
          <a:ln w="9525">
            <a:solidFill>
              <a:srgbClr val="0B0B0D"/>
            </a:solidFill>
            <a:prstDash val="solid"/>
          </a:ln>
        </p:spPr>
      </p:sp>
      <p:sp>
        <p:nvSpPr>
          <p:cNvPr id="9" name="Text 6"/>
          <p:cNvSpPr txBox="1"/>
          <p:nvPr/>
        </p:nvSpPr>
        <p:spPr>
          <a:xfrm>
            <a:off x="822960" y="1947672"/>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0" name="Text 7"/>
          <p:cNvSpPr txBox="1"/>
          <p:nvPr/>
        </p:nvSpPr>
        <p:spPr>
          <a:xfrm>
            <a:off x="2148840" y="1901952"/>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Explorar el catálogo por categorías, con contador y filtros</a:t>
            </a:r>
            <a:endParaRPr lang="en-US" sz="1200" dirty="0"/>
          </a:p>
        </p:txBody>
      </p:sp>
      <p:sp>
        <p:nvSpPr>
          <p:cNvPr id="11" name="Text 8"/>
          <p:cNvSpPr txBox="1"/>
          <p:nvPr/>
        </p:nvSpPr>
        <p:spPr>
          <a:xfrm>
            <a:off x="5897880" y="1901952"/>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RF-001, RF-003</a:t>
            </a:r>
            <a:endParaRPr lang="en-US" sz="900" dirty="0"/>
          </a:p>
        </p:txBody>
      </p:sp>
      <p:sp>
        <p:nvSpPr>
          <p:cNvPr id="12" name="Shape 9"/>
          <p:cNvSpPr/>
          <p:nvPr/>
        </p:nvSpPr>
        <p:spPr>
          <a:xfrm>
            <a:off x="822960" y="2523744"/>
            <a:ext cx="1048817" cy="256032"/>
          </a:xfrm>
          <a:prstGeom prst="roundRect">
            <a:avLst>
              <a:gd name="adj" fmla="val 50000"/>
            </a:avLst>
          </a:prstGeom>
          <a:solidFill>
            <a:srgbClr val="FFFFFF"/>
          </a:solidFill>
          <a:ln w="9525">
            <a:solidFill>
              <a:srgbClr val="0B0B0D"/>
            </a:solidFill>
            <a:prstDash val="solid"/>
          </a:ln>
        </p:spPr>
      </p:sp>
      <p:sp>
        <p:nvSpPr>
          <p:cNvPr id="13" name="Text 10"/>
          <p:cNvSpPr txBox="1"/>
          <p:nvPr/>
        </p:nvSpPr>
        <p:spPr>
          <a:xfrm>
            <a:off x="822960" y="2523744"/>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4" name="Text 11"/>
          <p:cNvSpPr txBox="1"/>
          <p:nvPr/>
        </p:nvSpPr>
        <p:spPr>
          <a:xfrm>
            <a:off x="2148840" y="2478024"/>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Buscar productos con sugerencias</a:t>
            </a:r>
            <a:endParaRPr lang="en-US" sz="1200" dirty="0"/>
          </a:p>
        </p:txBody>
      </p:sp>
      <p:sp>
        <p:nvSpPr>
          <p:cNvPr id="15" name="Text 12"/>
          <p:cNvSpPr txBox="1"/>
          <p:nvPr/>
        </p:nvSpPr>
        <p:spPr>
          <a:xfrm>
            <a:off x="5897880" y="2478024"/>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RF-002</a:t>
            </a:r>
            <a:endParaRPr lang="en-US" sz="900" dirty="0"/>
          </a:p>
        </p:txBody>
      </p:sp>
      <p:sp>
        <p:nvSpPr>
          <p:cNvPr id="16" name="Shape 13"/>
          <p:cNvSpPr/>
          <p:nvPr/>
        </p:nvSpPr>
        <p:spPr>
          <a:xfrm>
            <a:off x="822960" y="3099816"/>
            <a:ext cx="1048817" cy="256032"/>
          </a:xfrm>
          <a:prstGeom prst="roundRect">
            <a:avLst>
              <a:gd name="adj" fmla="val 50000"/>
            </a:avLst>
          </a:prstGeom>
          <a:solidFill>
            <a:srgbClr val="FFFFFF"/>
          </a:solidFill>
          <a:ln w="9525">
            <a:solidFill>
              <a:srgbClr val="0B0B0D"/>
            </a:solidFill>
            <a:prstDash val="solid"/>
          </a:ln>
        </p:spPr>
      </p:sp>
      <p:sp>
        <p:nvSpPr>
          <p:cNvPr id="17" name="Text 14"/>
          <p:cNvSpPr txBox="1"/>
          <p:nvPr/>
        </p:nvSpPr>
        <p:spPr>
          <a:xfrm>
            <a:off x="822960" y="3099816"/>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8" name="Text 15"/>
          <p:cNvSpPr txBox="1"/>
          <p:nvPr/>
        </p:nvSpPr>
        <p:spPr>
          <a:xfrm>
            <a:off x="2148840" y="3054096"/>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Ver la ficha con especificaciones en lista</a:t>
            </a:r>
            <a:endParaRPr lang="en-US" sz="1200" dirty="0"/>
          </a:p>
        </p:txBody>
      </p:sp>
      <p:sp>
        <p:nvSpPr>
          <p:cNvPr id="19" name="Text 16"/>
          <p:cNvSpPr txBox="1"/>
          <p:nvPr/>
        </p:nvSpPr>
        <p:spPr>
          <a:xfrm>
            <a:off x="5897880" y="3054096"/>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RF-004</a:t>
            </a:r>
            <a:endParaRPr lang="en-US" sz="900" dirty="0"/>
          </a:p>
        </p:txBody>
      </p:sp>
      <p:sp>
        <p:nvSpPr>
          <p:cNvPr id="20" name="Shape 17"/>
          <p:cNvSpPr/>
          <p:nvPr/>
        </p:nvSpPr>
        <p:spPr>
          <a:xfrm>
            <a:off x="822960" y="3675888"/>
            <a:ext cx="1048817" cy="256032"/>
          </a:xfrm>
          <a:prstGeom prst="roundRect">
            <a:avLst>
              <a:gd name="adj" fmla="val 50000"/>
            </a:avLst>
          </a:prstGeom>
          <a:solidFill>
            <a:srgbClr val="FFFFFF"/>
          </a:solidFill>
          <a:ln w="9525">
            <a:solidFill>
              <a:srgbClr val="0B0B0D"/>
            </a:solidFill>
            <a:prstDash val="solid"/>
          </a:ln>
        </p:spPr>
      </p:sp>
      <p:sp>
        <p:nvSpPr>
          <p:cNvPr id="21" name="Text 18"/>
          <p:cNvSpPr txBox="1"/>
          <p:nvPr/>
        </p:nvSpPr>
        <p:spPr>
          <a:xfrm>
            <a:off x="822960" y="3675888"/>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2" name="Text 19"/>
          <p:cNvSpPr txBox="1"/>
          <p:nvPr/>
        </p:nvSpPr>
        <p:spPr>
          <a:xfrm>
            <a:off x="2148840" y="3630168"/>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Comparar hasta 3 modelos</a:t>
            </a:r>
            <a:endParaRPr lang="en-US" sz="1200" dirty="0"/>
          </a:p>
        </p:txBody>
      </p:sp>
      <p:sp>
        <p:nvSpPr>
          <p:cNvPr id="23" name="Text 20"/>
          <p:cNvSpPr txBox="1"/>
          <p:nvPr/>
        </p:nvSpPr>
        <p:spPr>
          <a:xfrm>
            <a:off x="5897880" y="3630168"/>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RF-007, RF-008</a:t>
            </a:r>
            <a:endParaRPr lang="en-US" sz="900" dirty="0"/>
          </a:p>
        </p:txBody>
      </p:sp>
      <p:sp>
        <p:nvSpPr>
          <p:cNvPr id="24" name="Shape 21"/>
          <p:cNvSpPr/>
          <p:nvPr/>
        </p:nvSpPr>
        <p:spPr>
          <a:xfrm>
            <a:off x="822960" y="4251960"/>
            <a:ext cx="1048817" cy="256032"/>
          </a:xfrm>
          <a:prstGeom prst="roundRect">
            <a:avLst>
              <a:gd name="adj" fmla="val 50000"/>
            </a:avLst>
          </a:prstGeom>
          <a:solidFill>
            <a:srgbClr val="FFFFFF"/>
          </a:solidFill>
          <a:ln w="9525">
            <a:solidFill>
              <a:srgbClr val="0B0B0D"/>
            </a:solidFill>
            <a:prstDash val="solid"/>
          </a:ln>
        </p:spPr>
      </p:sp>
      <p:sp>
        <p:nvSpPr>
          <p:cNvPr id="25" name="Text 22"/>
          <p:cNvSpPr txBox="1"/>
          <p:nvPr/>
        </p:nvSpPr>
        <p:spPr>
          <a:xfrm>
            <a:off x="822960" y="425196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6" name="Text 23"/>
          <p:cNvSpPr txBox="1"/>
          <p:nvPr/>
        </p:nvSpPr>
        <p:spPr>
          <a:xfrm>
            <a:off x="2148840" y="4206240"/>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Cotizar por WhatsApp con el modelo en el mensaje</a:t>
            </a:r>
            <a:endParaRPr lang="en-US" sz="1200" dirty="0"/>
          </a:p>
        </p:txBody>
      </p:sp>
      <p:sp>
        <p:nvSpPr>
          <p:cNvPr id="27" name="Text 24"/>
          <p:cNvSpPr txBox="1"/>
          <p:nvPr/>
        </p:nvSpPr>
        <p:spPr>
          <a:xfrm>
            <a:off x="5897880" y="4206240"/>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RF-012</a:t>
            </a:r>
            <a:endParaRPr lang="en-US" sz="900" dirty="0"/>
          </a:p>
        </p:txBody>
      </p:sp>
      <p:sp>
        <p:nvSpPr>
          <p:cNvPr id="28" name="Shape 25"/>
          <p:cNvSpPr/>
          <p:nvPr/>
        </p:nvSpPr>
        <p:spPr>
          <a:xfrm>
            <a:off x="822960" y="4828032"/>
            <a:ext cx="1048817" cy="256032"/>
          </a:xfrm>
          <a:prstGeom prst="roundRect">
            <a:avLst>
              <a:gd name="adj" fmla="val 50000"/>
            </a:avLst>
          </a:prstGeom>
          <a:solidFill>
            <a:srgbClr val="FFFFFF"/>
          </a:solidFill>
          <a:ln w="9525">
            <a:solidFill>
              <a:srgbClr val="0B0B0D"/>
            </a:solidFill>
            <a:prstDash val="solid"/>
          </a:ln>
        </p:spPr>
      </p:sp>
      <p:sp>
        <p:nvSpPr>
          <p:cNvPr id="29" name="Text 26"/>
          <p:cNvSpPr txBox="1"/>
          <p:nvPr/>
        </p:nvSpPr>
        <p:spPr>
          <a:xfrm>
            <a:off x="822960" y="4828032"/>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30" name="Text 27"/>
          <p:cNvSpPr txBox="1"/>
          <p:nvPr/>
        </p:nvSpPr>
        <p:spPr>
          <a:xfrm>
            <a:off x="2148840" y="4782312"/>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Consultar dónde comprar y solicitar ser distribuidor</a:t>
            </a:r>
            <a:endParaRPr lang="en-US" sz="1200" dirty="0"/>
          </a:p>
        </p:txBody>
      </p:sp>
      <p:sp>
        <p:nvSpPr>
          <p:cNvPr id="31" name="Text 28"/>
          <p:cNvSpPr txBox="1"/>
          <p:nvPr/>
        </p:nvSpPr>
        <p:spPr>
          <a:xfrm>
            <a:off x="5897880" y="4782312"/>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RF-015</a:t>
            </a:r>
            <a:endParaRPr lang="en-US" sz="900" dirty="0"/>
          </a:p>
        </p:txBody>
      </p:sp>
      <p:sp>
        <p:nvSpPr>
          <p:cNvPr id="32" name="Shape 29"/>
          <p:cNvSpPr/>
          <p:nvPr/>
        </p:nvSpPr>
        <p:spPr>
          <a:xfrm>
            <a:off x="822960" y="5404104"/>
            <a:ext cx="850621" cy="256032"/>
          </a:xfrm>
          <a:prstGeom prst="roundRect">
            <a:avLst>
              <a:gd name="adj" fmla="val 50000"/>
            </a:avLst>
          </a:prstGeom>
          <a:solidFill>
            <a:srgbClr val="6D28D9"/>
          </a:solidFill>
          <a:ln w="9525">
            <a:solidFill>
              <a:srgbClr val="6D28D9"/>
            </a:solidFill>
            <a:prstDash val="solid"/>
          </a:ln>
        </p:spPr>
      </p:sp>
      <p:sp>
        <p:nvSpPr>
          <p:cNvPr id="33" name="Text 30"/>
          <p:cNvSpPr txBox="1"/>
          <p:nvPr/>
        </p:nvSpPr>
        <p:spPr>
          <a:xfrm>
            <a:off x="822960" y="5404104"/>
            <a:ext cx="85062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Propuesto</a:t>
            </a:r>
            <a:endParaRPr lang="en-US" sz="850" dirty="0"/>
          </a:p>
        </p:txBody>
      </p:sp>
      <p:sp>
        <p:nvSpPr>
          <p:cNvPr id="34" name="Text 31"/>
          <p:cNvSpPr txBox="1"/>
          <p:nvPr/>
        </p:nvSpPr>
        <p:spPr>
          <a:xfrm>
            <a:off x="2148840" y="5358384"/>
            <a:ext cx="3657600" cy="50292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Registrar el inicio de consulta, directorio y reportes</a:t>
            </a:r>
            <a:endParaRPr lang="en-US" sz="1200" dirty="0"/>
          </a:p>
        </p:txBody>
      </p:sp>
      <p:sp>
        <p:nvSpPr>
          <p:cNvPr id="35" name="Text 32"/>
          <p:cNvSpPr txBox="1"/>
          <p:nvPr/>
        </p:nvSpPr>
        <p:spPr>
          <a:xfrm>
            <a:off x="5897880" y="5358384"/>
            <a:ext cx="1143000" cy="5029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RF-014, RF-011, RF-025</a:t>
            </a:r>
            <a:endParaRPr lang="en-US" sz="900" dirty="0"/>
          </a:p>
        </p:txBody>
      </p:sp>
      <p:sp>
        <p:nvSpPr>
          <p:cNvPr id="36" name="Shape 33"/>
          <p:cNvSpPr/>
          <p:nvPr/>
        </p:nvSpPr>
        <p:spPr>
          <a:xfrm>
            <a:off x="7360920" y="1371600"/>
            <a:ext cx="4282135" cy="4663440"/>
          </a:xfrm>
          <a:prstGeom prst="roundRect">
            <a:avLst>
              <a:gd name="adj" fmla="val 1708"/>
            </a:avLst>
          </a:prstGeom>
          <a:solidFill>
            <a:srgbClr val="0B0B0D"/>
          </a:solidFill>
          <a:ln/>
        </p:spPr>
      </p:sp>
      <p:sp>
        <p:nvSpPr>
          <p:cNvPr id="37" name="Text 34"/>
          <p:cNvSpPr txBox="1"/>
          <p:nvPr/>
        </p:nvSpPr>
        <p:spPr>
          <a:xfrm>
            <a:off x="7589520" y="1536192"/>
            <a:ext cx="4114800" cy="274320"/>
          </a:xfrm>
          <a:prstGeom prst="rect">
            <a:avLst/>
          </a:prstGeom>
          <a:noFill/>
          <a:ln/>
        </p:spPr>
        <p:txBody>
          <a:bodyPr wrap="square" lIns="0" tIns="0" rIns="0" bIns="0" rtlCol="0" anchor="t"/>
          <a:lstStyle/>
          <a:p>
            <a:pPr indent="0" marL="0">
              <a:buNone/>
            </a:pPr>
            <a:r>
              <a:rPr lang="en-US" sz="1050" b="1" spc="150" kern="0" dirty="0">
                <a:solidFill>
                  <a:srgbClr val="A78BFA"/>
                </a:solidFill>
                <a:latin typeface="Arial" pitchFamily="34" charset="0"/>
                <a:ea typeface="Arial" pitchFamily="34" charset="-122"/>
                <a:cs typeface="Arial" pitchFamily="34" charset="-120"/>
              </a:rPr>
              <a:t>NO FUNCIONALES · con qué calidad</a:t>
            </a:r>
            <a:endParaRPr lang="en-US" sz="1050" dirty="0"/>
          </a:p>
        </p:txBody>
      </p:sp>
      <p:sp>
        <p:nvSpPr>
          <p:cNvPr id="38" name="Text 35"/>
          <p:cNvSpPr txBox="1"/>
          <p:nvPr/>
        </p:nvSpPr>
        <p:spPr>
          <a:xfrm>
            <a:off x="7589520" y="1901952"/>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Adaptabilidad</a:t>
            </a:r>
            <a:endParaRPr lang="en-US" sz="1350" dirty="0"/>
          </a:p>
        </p:txBody>
      </p:sp>
      <p:sp>
        <p:nvSpPr>
          <p:cNvPr id="39" name="Text 36"/>
          <p:cNvSpPr txBox="1"/>
          <p:nvPr/>
        </p:nvSpPr>
        <p:spPr>
          <a:xfrm>
            <a:off x="10332720" y="1901952"/>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RNF-002</a:t>
            </a:r>
            <a:endParaRPr lang="en-US" sz="900" dirty="0"/>
          </a:p>
        </p:txBody>
      </p:sp>
      <p:sp>
        <p:nvSpPr>
          <p:cNvPr id="40" name="Text 37"/>
          <p:cNvSpPr txBox="1"/>
          <p:nvPr/>
        </p:nvSpPr>
        <p:spPr>
          <a:xfrm>
            <a:off x="7589520" y="2194560"/>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Usable entre 360 y 1440 px de ancho</a:t>
            </a:r>
            <a:endParaRPr lang="en-US" sz="1150" dirty="0"/>
          </a:p>
        </p:txBody>
      </p:sp>
      <p:sp>
        <p:nvSpPr>
          <p:cNvPr id="41" name="Text 38"/>
          <p:cNvSpPr txBox="1"/>
          <p:nvPr/>
        </p:nvSpPr>
        <p:spPr>
          <a:xfrm>
            <a:off x="7589520" y="2706624"/>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Usabilidad</a:t>
            </a:r>
            <a:endParaRPr lang="en-US" sz="1350" dirty="0"/>
          </a:p>
        </p:txBody>
      </p:sp>
      <p:sp>
        <p:nvSpPr>
          <p:cNvPr id="42" name="Text 39"/>
          <p:cNvSpPr txBox="1"/>
          <p:nvPr/>
        </p:nvSpPr>
        <p:spPr>
          <a:xfrm>
            <a:off x="10332720" y="2706624"/>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RNF-001</a:t>
            </a:r>
            <a:endParaRPr lang="en-US" sz="900" dirty="0"/>
          </a:p>
        </p:txBody>
      </p:sp>
      <p:sp>
        <p:nvSpPr>
          <p:cNvPr id="43" name="Text 40"/>
          <p:cNvSpPr txBox="1"/>
          <p:nvPr/>
        </p:nvSpPr>
        <p:spPr>
          <a:xfrm>
            <a:off x="7589520" y="2999232"/>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«Cotizar» visible desde cualquier ficha</a:t>
            </a:r>
            <a:endParaRPr lang="en-US" sz="1150" dirty="0"/>
          </a:p>
        </p:txBody>
      </p:sp>
      <p:sp>
        <p:nvSpPr>
          <p:cNvPr id="44" name="Text 41"/>
          <p:cNvSpPr txBox="1"/>
          <p:nvPr/>
        </p:nvSpPr>
        <p:spPr>
          <a:xfrm>
            <a:off x="7589520" y="3511296"/>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Eficiencia</a:t>
            </a:r>
            <a:endParaRPr lang="en-US" sz="1350" dirty="0"/>
          </a:p>
        </p:txBody>
      </p:sp>
      <p:sp>
        <p:nvSpPr>
          <p:cNvPr id="45" name="Text 42"/>
          <p:cNvSpPr txBox="1"/>
          <p:nvPr/>
        </p:nvSpPr>
        <p:spPr>
          <a:xfrm>
            <a:off x="10332720" y="3511296"/>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RNF-003</a:t>
            </a:r>
            <a:endParaRPr lang="en-US" sz="900" dirty="0"/>
          </a:p>
        </p:txBody>
      </p:sp>
      <p:sp>
        <p:nvSpPr>
          <p:cNvPr id="46" name="Text 43"/>
          <p:cNvSpPr txBox="1"/>
          <p:nvPr/>
        </p:nvSpPr>
        <p:spPr>
          <a:xfrm>
            <a:off x="7589520" y="3803904"/>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Páginas livianas (ficha: 5,28 MB → 0,38 MB)</a:t>
            </a:r>
            <a:endParaRPr lang="en-US" sz="1150" dirty="0"/>
          </a:p>
        </p:txBody>
      </p:sp>
      <p:sp>
        <p:nvSpPr>
          <p:cNvPr id="47" name="Text 44"/>
          <p:cNvSpPr txBox="1"/>
          <p:nvPr/>
        </p:nvSpPr>
        <p:spPr>
          <a:xfrm>
            <a:off x="7589520" y="4315968"/>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Idioma</a:t>
            </a:r>
            <a:endParaRPr lang="en-US" sz="1350" dirty="0"/>
          </a:p>
        </p:txBody>
      </p:sp>
      <p:sp>
        <p:nvSpPr>
          <p:cNvPr id="48" name="Text 45"/>
          <p:cNvSpPr txBox="1"/>
          <p:nvPr/>
        </p:nvSpPr>
        <p:spPr>
          <a:xfrm>
            <a:off x="10332720" y="4315968"/>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RNF-012</a:t>
            </a:r>
            <a:endParaRPr lang="en-US" sz="900" dirty="0"/>
          </a:p>
        </p:txBody>
      </p:sp>
      <p:sp>
        <p:nvSpPr>
          <p:cNvPr id="49" name="Text 46"/>
          <p:cNvSpPr txBox="1"/>
          <p:nvPr/>
        </p:nvSpPr>
        <p:spPr>
          <a:xfrm>
            <a:off x="7589520" y="4608576"/>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Interfaz pública íntegramente en español</a:t>
            </a:r>
            <a:endParaRPr lang="en-US" sz="1150" dirty="0"/>
          </a:p>
        </p:txBody>
      </p:sp>
      <p:sp>
        <p:nvSpPr>
          <p:cNvPr id="50" name="Text 47"/>
          <p:cNvSpPr txBox="1"/>
          <p:nvPr/>
        </p:nvSpPr>
        <p:spPr>
          <a:xfrm>
            <a:off x="7589520" y="5120640"/>
            <a:ext cx="2743200" cy="274320"/>
          </a:xfrm>
          <a:prstGeom prst="rect">
            <a:avLst/>
          </a:prstGeom>
          <a:noFill/>
          <a:ln/>
        </p:spPr>
        <p:txBody>
          <a:bodyPr wrap="square" lIns="0" tIns="0" rIns="0" bIns="0" rtlCol="0" anchor="t"/>
          <a:lstStyle/>
          <a:p>
            <a:pPr indent="0" marL="0">
              <a:buNone/>
            </a:pPr>
            <a:r>
              <a:rPr lang="en-US" sz="1350" b="1" dirty="0">
                <a:solidFill>
                  <a:srgbClr val="FFFFFF"/>
                </a:solidFill>
                <a:latin typeface="Arial" pitchFamily="34" charset="0"/>
                <a:ea typeface="Arial" pitchFamily="34" charset="-122"/>
                <a:cs typeface="Arial" pitchFamily="34" charset="-120"/>
              </a:rPr>
              <a:t>Protección de datos</a:t>
            </a:r>
            <a:endParaRPr lang="en-US" sz="1350" dirty="0"/>
          </a:p>
        </p:txBody>
      </p:sp>
      <p:sp>
        <p:nvSpPr>
          <p:cNvPr id="51" name="Text 48"/>
          <p:cNvSpPr txBox="1"/>
          <p:nvPr/>
        </p:nvSpPr>
        <p:spPr>
          <a:xfrm>
            <a:off x="10332720" y="5120640"/>
            <a:ext cx="1097280" cy="27432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RNF-005</a:t>
            </a:r>
            <a:endParaRPr lang="en-US" sz="900" dirty="0"/>
          </a:p>
        </p:txBody>
      </p:sp>
      <p:sp>
        <p:nvSpPr>
          <p:cNvPr id="52" name="Text 49"/>
          <p:cNvSpPr txBox="1"/>
          <p:nvPr/>
        </p:nvSpPr>
        <p:spPr>
          <a:xfrm>
            <a:off x="7589520" y="5413248"/>
            <a:ext cx="3931920" cy="457200"/>
          </a:xfrm>
          <a:prstGeom prst="rect">
            <a:avLst/>
          </a:prstGeom>
          <a:noFill/>
          <a:ln/>
        </p:spPr>
        <p:txBody>
          <a:bodyPr wrap="square" lIns="0" tIns="0" rIns="0" bIns="0" rtlCol="0" anchor="t"/>
          <a:lstStyle/>
          <a:p>
            <a:pPr indent="0" marL="0">
              <a:buNone/>
            </a:pPr>
            <a:r>
              <a:rPr lang="en-US" sz="1150" dirty="0">
                <a:solidFill>
                  <a:srgbClr val="9CA3AF"/>
                </a:solidFill>
                <a:latin typeface="Arial" pitchFamily="34" charset="0"/>
                <a:ea typeface="Arial" pitchFamily="34" charset="-122"/>
                <a:cs typeface="Arial" pitchFamily="34" charset="-120"/>
              </a:rPr>
              <a:t>Formularios con consentimiento y política de privacidad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casos de uso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17</a:t>
            </a:r>
            <a:endParaRPr lang="en-US" sz="900" dirty="0"/>
          </a:p>
        </p:txBody>
      </p:sp>
      <p:pic>
        <p:nvPicPr>
          <p:cNvPr id="6" name="Image 0" descr="../DIAGRAMAS_UML/png/V4_01_casos_de_uso.png">    </p:cNvPr>
          <p:cNvPicPr>
            <a:picLocks noChangeAspect="1"/>
          </p:cNvPicPr>
          <p:nvPr/>
        </p:nvPicPr>
        <p:blipFill>
          <a:blip r:embed="rId1"/>
          <a:stretch>
            <a:fillRect/>
          </a:stretch>
        </p:blipFill>
        <p:spPr>
          <a:xfrm>
            <a:off x="1170763" y="1280160"/>
            <a:ext cx="7396834" cy="5166360"/>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Quién usa el sistema y qué puede hacer con él.</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Actores a los lados; óvalos = casos de uso; morado = propuesto.</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Visitante, cliente, distribuidor, gestor y WhatsApp como sistema externo.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actividades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18</a:t>
            </a:r>
            <a:endParaRPr lang="en-US" sz="900" dirty="0"/>
          </a:p>
        </p:txBody>
      </p:sp>
      <p:pic>
        <p:nvPicPr>
          <p:cNvPr id="6" name="Image 0" descr="../DIAGRAMAS_UML/png/V4_02_actividades.png">    </p:cNvPr>
          <p:cNvPicPr>
            <a:picLocks noChangeAspect="1"/>
          </p:cNvPicPr>
          <p:nvPr/>
        </p:nvPicPr>
        <p:blipFill>
          <a:blip r:embed="rId1"/>
          <a:stretch>
            <a:fillRect/>
          </a:stretch>
        </p:blipFill>
        <p:spPr>
          <a:xfrm>
            <a:off x="1165778" y="1280160"/>
            <a:ext cx="5532285" cy="5166360"/>
          </a:xfrm>
          <a:prstGeom prst="rect">
            <a:avLst/>
          </a:prstGeom>
        </p:spPr>
      </p:pic>
      <p:sp>
        <p:nvSpPr>
          <p:cNvPr id="7" name="Shape 3"/>
          <p:cNvSpPr/>
          <p:nvPr/>
        </p:nvSpPr>
        <p:spPr>
          <a:xfrm>
            <a:off x="7543800" y="1371600"/>
            <a:ext cx="4099255" cy="4983480"/>
          </a:xfrm>
          <a:prstGeom prst="roundRect">
            <a:avLst>
              <a:gd name="adj" fmla="val 1785"/>
            </a:avLst>
          </a:prstGeom>
          <a:solidFill>
            <a:srgbClr val="F5F5F7"/>
          </a:solidFill>
          <a:ln/>
        </p:spPr>
      </p:sp>
      <p:sp>
        <p:nvSpPr>
          <p:cNvPr id="8" name="Text 4"/>
          <p:cNvSpPr txBox="1"/>
          <p:nvPr/>
        </p:nvSpPr>
        <p:spPr>
          <a:xfrm>
            <a:off x="7772400" y="1600200"/>
            <a:ext cx="36420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772400" y="1856232"/>
            <a:ext cx="3642055" cy="332842"/>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El proceso comercial completo, con decisiones.</a:t>
            </a:r>
            <a:endParaRPr lang="en-US" sz="1200" dirty="0"/>
          </a:p>
        </p:txBody>
      </p:sp>
      <p:sp>
        <p:nvSpPr>
          <p:cNvPr id="10" name="Text 6"/>
          <p:cNvSpPr txBox="1"/>
          <p:nvPr/>
        </p:nvSpPr>
        <p:spPr>
          <a:xfrm>
            <a:off x="7772400" y="2371954"/>
            <a:ext cx="36420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7772400" y="2627986"/>
            <a:ext cx="364205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Del punto negro al final; cada calle es un participante.</a:t>
            </a:r>
            <a:endParaRPr lang="en-US" sz="1200" dirty="0"/>
          </a:p>
        </p:txBody>
      </p:sp>
      <p:sp>
        <p:nvSpPr>
          <p:cNvPr id="12" name="Text 8"/>
          <p:cNvSpPr txBox="1"/>
          <p:nvPr/>
        </p:nvSpPr>
        <p:spPr>
          <a:xfrm>
            <a:off x="7772400" y="3344875"/>
            <a:ext cx="364205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7772400" y="3600907"/>
            <a:ext cx="364205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 web guía hasta «Cotizar»; la venta se concreta con el área comercial.</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secuencia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19</a:t>
            </a:r>
            <a:endParaRPr lang="en-US" sz="900" dirty="0"/>
          </a:p>
        </p:txBody>
      </p:sp>
      <p:pic>
        <p:nvPicPr>
          <p:cNvPr id="6" name="Image 0" descr="../DIAGRAMAS_UML/png/V4_03_secuencia.png">    </p:cNvPr>
          <p:cNvPicPr>
            <a:picLocks noChangeAspect="1"/>
          </p:cNvPicPr>
          <p:nvPr/>
        </p:nvPicPr>
        <p:blipFill>
          <a:blip r:embed="rId1"/>
          <a:stretch>
            <a:fillRect/>
          </a:stretch>
        </p:blipFill>
        <p:spPr>
          <a:xfrm>
            <a:off x="548640" y="1540760"/>
            <a:ext cx="8641080" cy="4645160"/>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El orden de los mensajes entre los objetos.</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 arriba abajo; flecha continua = llamada; discontinua = respuesta.</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Ficha → WooCommerce → mensaje → WhatsApp.</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clases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20</a:t>
            </a:r>
            <a:endParaRPr lang="en-US" sz="900" dirty="0"/>
          </a:p>
        </p:txBody>
      </p:sp>
      <p:pic>
        <p:nvPicPr>
          <p:cNvPr id="6" name="Image 0" descr="../DIAGRAMAS_UML/png/V4_04_clases.png">    </p:cNvPr>
          <p:cNvPicPr>
            <a:picLocks noChangeAspect="1"/>
          </p:cNvPicPr>
          <p:nvPr/>
        </p:nvPicPr>
        <p:blipFill>
          <a:blip r:embed="rId1"/>
          <a:stretch>
            <a:fillRect/>
          </a:stretch>
        </p:blipFill>
        <p:spPr>
          <a:xfrm>
            <a:off x="548640" y="1750617"/>
            <a:ext cx="8412480" cy="4225447"/>
          </a:xfrm>
          <a:prstGeom prst="rect">
            <a:avLst/>
          </a:prstGeom>
        </p:spPr>
      </p:pic>
      <p:sp>
        <p:nvSpPr>
          <p:cNvPr id="7" name="Shape 3"/>
          <p:cNvSpPr/>
          <p:nvPr/>
        </p:nvSpPr>
        <p:spPr>
          <a:xfrm>
            <a:off x="9189720" y="1371600"/>
            <a:ext cx="2453335" cy="4983480"/>
          </a:xfrm>
          <a:prstGeom prst="roundRect">
            <a:avLst>
              <a:gd name="adj" fmla="val 2982"/>
            </a:avLst>
          </a:prstGeom>
          <a:solidFill>
            <a:srgbClr val="F5F5F7"/>
          </a:solidFill>
          <a:ln/>
        </p:spPr>
      </p:sp>
      <p:sp>
        <p:nvSpPr>
          <p:cNvPr id="8" name="Text 4"/>
          <p:cNvSpPr txBox="1"/>
          <p:nvPr/>
        </p:nvSpPr>
        <p:spPr>
          <a:xfrm>
            <a:off x="9418320" y="1600200"/>
            <a:ext cx="19961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418320" y="1856232"/>
            <a:ext cx="19961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entidades y cómo se relacionan.</a:t>
            </a:r>
            <a:endParaRPr lang="en-US" sz="1200" dirty="0"/>
          </a:p>
        </p:txBody>
      </p:sp>
      <p:sp>
        <p:nvSpPr>
          <p:cNvPr id="10" name="Text 6"/>
          <p:cNvSpPr txBox="1"/>
          <p:nvPr/>
        </p:nvSpPr>
        <p:spPr>
          <a:xfrm>
            <a:off x="9418320" y="2573122"/>
            <a:ext cx="19961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418320" y="2829154"/>
            <a:ext cx="19961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Rombo negro = composición; números = multiplicidad.</a:t>
            </a:r>
            <a:endParaRPr lang="en-US" sz="1200" dirty="0"/>
          </a:p>
        </p:txBody>
      </p:sp>
      <p:sp>
        <p:nvSpPr>
          <p:cNvPr id="12" name="Text 8"/>
          <p:cNvSpPr txBox="1"/>
          <p:nvPr/>
        </p:nvSpPr>
        <p:spPr>
          <a:xfrm>
            <a:off x="9418320" y="3546043"/>
            <a:ext cx="19961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418320" y="3802075"/>
            <a:ext cx="19961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categoría y especificación ya existen en WooCommerce.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Modelo físico de datos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21</a:t>
            </a:r>
            <a:endParaRPr lang="en-US" sz="900" dirty="0"/>
          </a:p>
        </p:txBody>
      </p:sp>
      <p:pic>
        <p:nvPicPr>
          <p:cNvPr id="6" name="Image 0" descr="../DIAGRAMAS_UML/png/V4_06_modelo_fisico.png">    </p:cNvPr>
          <p:cNvPicPr>
            <a:picLocks noChangeAspect="1"/>
          </p:cNvPicPr>
          <p:nvPr/>
        </p:nvPicPr>
        <p:blipFill>
          <a:blip r:embed="rId1"/>
          <a:stretch>
            <a:fillRect/>
          </a:stretch>
        </p:blipFill>
        <p:spPr>
          <a:xfrm>
            <a:off x="726987" y="1280160"/>
            <a:ext cx="6592746" cy="5166360"/>
          </a:xfrm>
          <a:prstGeom prst="rect">
            <a:avLst/>
          </a:prstGeom>
        </p:spPr>
      </p:pic>
      <p:sp>
        <p:nvSpPr>
          <p:cNvPr id="7" name="Shape 3"/>
          <p:cNvSpPr/>
          <p:nvPr/>
        </p:nvSpPr>
        <p:spPr>
          <a:xfrm>
            <a:off x="7726680" y="1371600"/>
            <a:ext cx="3916375" cy="4983480"/>
          </a:xfrm>
          <a:prstGeom prst="roundRect">
            <a:avLst>
              <a:gd name="adj" fmla="val 1868"/>
            </a:avLst>
          </a:prstGeom>
          <a:solidFill>
            <a:srgbClr val="F5F5F7"/>
          </a:solidFill>
          <a:ln/>
        </p:spPr>
      </p:sp>
      <p:sp>
        <p:nvSpPr>
          <p:cNvPr id="8" name="Text 4"/>
          <p:cNvSpPr txBox="1"/>
          <p:nvPr/>
        </p:nvSpPr>
        <p:spPr>
          <a:xfrm>
            <a:off x="7955280" y="1600200"/>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7955280" y="1856232"/>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tablas reales en MySQL, con claves primarias (PK) y foráneas (FK).</a:t>
            </a:r>
            <a:endParaRPr lang="en-US" sz="1200" dirty="0"/>
          </a:p>
        </p:txBody>
      </p:sp>
      <p:sp>
        <p:nvSpPr>
          <p:cNvPr id="10" name="Text 6"/>
          <p:cNvSpPr txBox="1"/>
          <p:nvPr/>
        </p:nvSpPr>
        <p:spPr>
          <a:xfrm>
            <a:off x="7955280" y="2573122"/>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DE CLASE A TABLA</a:t>
            </a:r>
            <a:endParaRPr lang="en-US" sz="950" dirty="0"/>
          </a:p>
        </p:txBody>
      </p:sp>
      <p:sp>
        <p:nvSpPr>
          <p:cNvPr id="11" name="Text 7"/>
          <p:cNvSpPr txBox="1"/>
          <p:nvPr/>
        </p:nvSpPr>
        <p:spPr>
          <a:xfrm>
            <a:off x="7955280" y="2829154"/>
            <a:ext cx="345917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Producto → wp_posts + wp_postmeta. Categoría → wp_terms + wp_term_taxonomy. Producto–Categoría → wp_term_relationships.</a:t>
            </a:r>
            <a:endParaRPr lang="en-US" sz="1200" dirty="0"/>
          </a:p>
        </p:txBody>
      </p:sp>
      <p:sp>
        <p:nvSpPr>
          <p:cNvPr id="12" name="Text 8"/>
          <p:cNvSpPr txBox="1"/>
          <p:nvPr/>
        </p:nvSpPr>
        <p:spPr>
          <a:xfrm>
            <a:off x="7955280" y="3747211"/>
            <a:ext cx="345917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PROPUESTO</a:t>
            </a:r>
            <a:endParaRPr lang="en-US" sz="950" dirty="0"/>
          </a:p>
        </p:txBody>
      </p:sp>
      <p:sp>
        <p:nvSpPr>
          <p:cNvPr id="13" name="Text 9"/>
          <p:cNvSpPr txBox="1"/>
          <p:nvPr/>
        </p:nvSpPr>
        <p:spPr>
          <a:xfrm>
            <a:off x="7955280" y="4003243"/>
            <a:ext cx="345917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wp_bh_consulta registraría el inicio de cada consulta.</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Arquitectura y componentes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22</a:t>
            </a:r>
            <a:endParaRPr lang="en-US" sz="900" dirty="0"/>
          </a:p>
        </p:txBody>
      </p:sp>
      <p:pic>
        <p:nvPicPr>
          <p:cNvPr id="6" name="Image 0" descr="../DIAGRAMAS_UML/png/V4_05_componentes.png">    </p:cNvPr>
          <p:cNvPicPr>
            <a:picLocks noChangeAspect="1"/>
          </p:cNvPicPr>
          <p:nvPr/>
        </p:nvPicPr>
        <p:blipFill>
          <a:blip r:embed="rId1"/>
          <a:stretch>
            <a:fillRect/>
          </a:stretch>
        </p:blipFill>
        <p:spPr>
          <a:xfrm>
            <a:off x="548640" y="1563726"/>
            <a:ext cx="8641080" cy="4599228"/>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Las piezas de software y cómo dependen entre sí.</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Flecha discontinua = depende de; morado = propuesto.</a:t>
            </a:r>
            <a:endParaRPr lang="en-US" sz="1200" dirty="0"/>
          </a:p>
        </p:txBody>
      </p:sp>
      <p:sp>
        <p:nvSpPr>
          <p:cNvPr id="12" name="Text 8"/>
          <p:cNvSpPr txBox="1"/>
          <p:nvPr/>
        </p:nvSpPr>
        <p:spPr>
          <a:xfrm>
            <a:off x="9646920" y="3546043"/>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3802075"/>
            <a:ext cx="1767535" cy="936346"/>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Tema hijo (rediseño) + WooCommerce + YITH + WordPress + MySQL; WhatsApp es externo.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03 · MODELADO Y DISEÑO</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Diagrama de despliegue</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23</a:t>
            </a:r>
            <a:endParaRPr lang="en-US" sz="900" dirty="0"/>
          </a:p>
        </p:txBody>
      </p:sp>
      <p:pic>
        <p:nvPicPr>
          <p:cNvPr id="6" name="Image 0" descr="../DIAGRAMAS_UML/png/V4_07_despliegue.png">    </p:cNvPr>
          <p:cNvPicPr>
            <a:picLocks noChangeAspect="1"/>
          </p:cNvPicPr>
          <p:nvPr/>
        </p:nvPicPr>
        <p:blipFill>
          <a:blip r:embed="rId1"/>
          <a:stretch>
            <a:fillRect/>
          </a:stretch>
        </p:blipFill>
        <p:spPr>
          <a:xfrm>
            <a:off x="548640" y="1933855"/>
            <a:ext cx="8641080" cy="3858969"/>
          </a:xfrm>
          <a:prstGeom prst="rect">
            <a:avLst/>
          </a:prstGeom>
        </p:spPr>
      </p:pic>
      <p:sp>
        <p:nvSpPr>
          <p:cNvPr id="7" name="Shape 3"/>
          <p:cNvSpPr/>
          <p:nvPr/>
        </p:nvSpPr>
        <p:spPr>
          <a:xfrm>
            <a:off x="9418320" y="1371600"/>
            <a:ext cx="2224735" cy="4983480"/>
          </a:xfrm>
          <a:prstGeom prst="roundRect">
            <a:avLst>
              <a:gd name="adj" fmla="val 3288"/>
            </a:avLst>
          </a:prstGeom>
          <a:solidFill>
            <a:srgbClr val="F5F5F7"/>
          </a:solidFill>
          <a:ln/>
        </p:spPr>
      </p:sp>
      <p:sp>
        <p:nvSpPr>
          <p:cNvPr id="8" name="Text 4"/>
          <p:cNvSpPr txBox="1"/>
          <p:nvPr/>
        </p:nvSpPr>
        <p:spPr>
          <a:xfrm>
            <a:off x="9646920" y="1600200"/>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QUÉ MUESTRA</a:t>
            </a:r>
            <a:endParaRPr lang="en-US" sz="950" dirty="0"/>
          </a:p>
        </p:txBody>
      </p:sp>
      <p:sp>
        <p:nvSpPr>
          <p:cNvPr id="9" name="Text 5"/>
          <p:cNvSpPr txBox="1"/>
          <p:nvPr/>
        </p:nvSpPr>
        <p:spPr>
          <a:xfrm>
            <a:off x="9646920" y="1856232"/>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Nodos físicos y conexiones.</a:t>
            </a:r>
            <a:endParaRPr lang="en-US" sz="1200" dirty="0"/>
          </a:p>
        </p:txBody>
      </p:sp>
      <p:sp>
        <p:nvSpPr>
          <p:cNvPr id="10" name="Text 6"/>
          <p:cNvSpPr txBox="1"/>
          <p:nvPr/>
        </p:nvSpPr>
        <p:spPr>
          <a:xfrm>
            <a:off x="9646920" y="2573122"/>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CÓMO LEERLO</a:t>
            </a:r>
            <a:endParaRPr lang="en-US" sz="950" dirty="0"/>
          </a:p>
        </p:txBody>
      </p:sp>
      <p:sp>
        <p:nvSpPr>
          <p:cNvPr id="11" name="Text 7"/>
          <p:cNvSpPr txBox="1"/>
          <p:nvPr/>
        </p:nvSpPr>
        <p:spPr>
          <a:xfrm>
            <a:off x="9646920" y="2829154"/>
            <a:ext cx="1767535" cy="735178"/>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Cajas 3D = nodos; hojas = artefactos; morado = propuesto.</a:t>
            </a:r>
            <a:endParaRPr lang="en-US" sz="1200" dirty="0"/>
          </a:p>
        </p:txBody>
      </p:sp>
      <p:sp>
        <p:nvSpPr>
          <p:cNvPr id="12" name="Text 8"/>
          <p:cNvSpPr txBox="1"/>
          <p:nvPr/>
        </p:nvSpPr>
        <p:spPr>
          <a:xfrm>
            <a:off x="9646920" y="3747211"/>
            <a:ext cx="1767535"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EN BLACK HAWK</a:t>
            </a:r>
            <a:endParaRPr lang="en-US" sz="950" dirty="0"/>
          </a:p>
        </p:txBody>
      </p:sp>
      <p:sp>
        <p:nvSpPr>
          <p:cNvPr id="13" name="Text 9"/>
          <p:cNvSpPr txBox="1"/>
          <p:nvPr/>
        </p:nvSpPr>
        <p:spPr>
          <a:xfrm>
            <a:off x="9646920" y="4003243"/>
            <a:ext cx="1767535" cy="534010"/>
          </a:xfrm>
          <a:prstGeom prst="rect">
            <a:avLst/>
          </a:prstGeom>
          <a:noFill/>
          <a:ln/>
        </p:spPr>
        <p:txBody>
          <a:bodyPr wrap="square" lIns="0" tIns="0" rIns="0" bIns="0" rtlCol="0" anchor="t"/>
          <a:lstStyle/>
          <a:p>
            <a:pPr indent="0" marL="0">
              <a:buNone/>
            </a:pPr>
            <a:r>
              <a:rPr lang="en-US" sz="1200" dirty="0">
                <a:solidFill>
                  <a:srgbClr val="0B0B0D"/>
                </a:solidFill>
                <a:latin typeface="Arial" pitchFamily="34" charset="0"/>
                <a:ea typeface="Arial" pitchFamily="34" charset="-122"/>
                <a:cs typeface="Arial" pitchFamily="34" charset="-120"/>
              </a:rPr>
              <a:t>Del entorno de prueba a producción en la Transición.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Qué sistema entrego a Black Hawk</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24</a:t>
            </a:r>
            <a:endParaRPr lang="en-US" sz="900" dirty="0"/>
          </a:p>
        </p:txBody>
      </p:sp>
      <p:sp>
        <p:nvSpPr>
          <p:cNvPr id="6" name="Shape 3"/>
          <p:cNvSpPr/>
          <p:nvPr/>
        </p:nvSpPr>
        <p:spPr>
          <a:xfrm>
            <a:off x="548640" y="1417320"/>
            <a:ext cx="3566160" cy="1600200"/>
          </a:xfrm>
          <a:prstGeom prst="roundRect">
            <a:avLst>
              <a:gd name="adj" fmla="val 4571"/>
            </a:avLst>
          </a:prstGeom>
          <a:solidFill>
            <a:srgbClr val="F5F5F7"/>
          </a:solidFill>
          <a:ln/>
        </p:spPr>
      </p:sp>
      <p:sp>
        <p:nvSpPr>
          <p:cNvPr id="7" name="Text 4"/>
          <p:cNvSpPr txBox="1"/>
          <p:nvPr/>
        </p:nvSpPr>
        <p:spPr>
          <a:xfrm>
            <a:off x="777240" y="1554480"/>
            <a:ext cx="310896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A · Sitio original</a:t>
            </a:r>
            <a:endParaRPr lang="en-US" sz="1700" dirty="0"/>
          </a:p>
        </p:txBody>
      </p:sp>
      <p:sp>
        <p:nvSpPr>
          <p:cNvPr id="8" name="Text 5"/>
          <p:cNvSpPr txBox="1"/>
          <p:nvPr/>
        </p:nvSpPr>
        <p:spPr>
          <a:xfrm>
            <a:off x="777240" y="1965960"/>
            <a:ext cx="3108960" cy="7315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La plataforma actual de Black Hawk: el punto de partida que se busca mejorar.</a:t>
            </a:r>
            <a:endParaRPr lang="en-US" sz="1200" dirty="0"/>
          </a:p>
        </p:txBody>
      </p:sp>
      <p:sp>
        <p:nvSpPr>
          <p:cNvPr id="9" name="Shape 6"/>
          <p:cNvSpPr/>
          <p:nvPr/>
        </p:nvSpPr>
        <p:spPr>
          <a:xfrm>
            <a:off x="777240" y="2651760"/>
            <a:ext cx="920572" cy="256032"/>
          </a:xfrm>
          <a:prstGeom prst="roundRect">
            <a:avLst>
              <a:gd name="adj" fmla="val 50000"/>
            </a:avLst>
          </a:prstGeom>
          <a:solidFill>
            <a:srgbClr val="FFFFFF"/>
          </a:solidFill>
          <a:ln w="9525">
            <a:solidFill>
              <a:srgbClr val="0B0B0D"/>
            </a:solidFill>
            <a:prstDash val="solid"/>
          </a:ln>
        </p:spPr>
      </p:sp>
      <p:sp>
        <p:nvSpPr>
          <p:cNvPr id="10" name="Text 7"/>
          <p:cNvSpPr txBox="1"/>
          <p:nvPr/>
        </p:nvSpPr>
        <p:spPr>
          <a:xfrm>
            <a:off x="777240" y="2651760"/>
            <a:ext cx="920572"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Existente</a:t>
            </a:r>
            <a:endParaRPr lang="en-US" sz="950" dirty="0"/>
          </a:p>
        </p:txBody>
      </p:sp>
      <p:sp>
        <p:nvSpPr>
          <p:cNvPr id="11" name="Shape 8"/>
          <p:cNvSpPr/>
          <p:nvPr/>
        </p:nvSpPr>
        <p:spPr>
          <a:xfrm>
            <a:off x="4133088" y="2212848"/>
            <a:ext cx="146304" cy="0"/>
          </a:xfrm>
          <a:prstGeom prst="line">
            <a:avLst/>
          </a:prstGeom>
          <a:noFill/>
          <a:ln w="15875">
            <a:solidFill>
              <a:srgbClr val="6D28D9"/>
            </a:solidFill>
            <a:prstDash val="solid"/>
            <a:tailEnd type="triangle"/>
          </a:ln>
        </p:spPr>
      </p:sp>
      <p:sp>
        <p:nvSpPr>
          <p:cNvPr id="12" name="Shape 9"/>
          <p:cNvSpPr/>
          <p:nvPr/>
        </p:nvSpPr>
        <p:spPr>
          <a:xfrm>
            <a:off x="4297680" y="1417320"/>
            <a:ext cx="3566160" cy="1600200"/>
          </a:xfrm>
          <a:prstGeom prst="roundRect">
            <a:avLst>
              <a:gd name="adj" fmla="val 4571"/>
            </a:avLst>
          </a:prstGeom>
          <a:solidFill>
            <a:srgbClr val="6D28D9"/>
          </a:solidFill>
          <a:ln/>
        </p:spPr>
      </p:sp>
      <p:sp>
        <p:nvSpPr>
          <p:cNvPr id="13" name="Text 10"/>
          <p:cNvSpPr txBox="1"/>
          <p:nvPr/>
        </p:nvSpPr>
        <p:spPr>
          <a:xfrm>
            <a:off x="4526280" y="1554480"/>
            <a:ext cx="310896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B · Web renovada</a:t>
            </a:r>
            <a:endParaRPr lang="en-US" sz="1700" dirty="0"/>
          </a:p>
        </p:txBody>
      </p:sp>
      <p:sp>
        <p:nvSpPr>
          <p:cNvPr id="14" name="Text 11"/>
          <p:cNvSpPr txBox="1"/>
          <p:nvPr/>
        </p:nvSpPr>
        <p:spPr>
          <a:xfrm>
            <a:off x="4526280" y="1965960"/>
            <a:ext cx="3108960" cy="731520"/>
          </a:xfrm>
          <a:prstGeom prst="rect">
            <a:avLst/>
          </a:prstGeom>
          <a:noFill/>
          <a:ln/>
        </p:spPr>
        <p:txBody>
          <a:bodyPr wrap="square" lIns="0" tIns="0" rIns="0" bIns="0" rtlCol="0" anchor="t"/>
          <a:lstStyle/>
          <a:p>
            <a:pPr indent="0" marL="0">
              <a:buNone/>
            </a:pPr>
            <a:r>
              <a:rPr lang="en-US" sz="1200" dirty="0">
                <a:solidFill>
                  <a:srgbClr val="EDE4FB"/>
                </a:solidFill>
                <a:latin typeface="Arial" pitchFamily="34" charset="0"/>
                <a:ea typeface="Arial" pitchFamily="34" charset="-122"/>
                <a:cs typeface="Arial" pitchFamily="34" charset="-120"/>
              </a:rPr>
              <a:t>El sistema que desarrollo: rediseño visual, catálogo, consulta y recorrido comercial.</a:t>
            </a:r>
            <a:endParaRPr lang="en-US" sz="1200" dirty="0"/>
          </a:p>
        </p:txBody>
      </p:sp>
      <p:sp>
        <p:nvSpPr>
          <p:cNvPr id="15" name="Shape 12"/>
          <p:cNvSpPr/>
          <p:nvPr/>
        </p:nvSpPr>
        <p:spPr>
          <a:xfrm>
            <a:off x="4526280" y="2651760"/>
            <a:ext cx="1142086" cy="256032"/>
          </a:xfrm>
          <a:prstGeom prst="roundRect">
            <a:avLst>
              <a:gd name="adj" fmla="val 50000"/>
            </a:avLst>
          </a:prstGeom>
          <a:solidFill>
            <a:srgbClr val="FFFFFF"/>
          </a:solidFill>
          <a:ln w="9525">
            <a:solidFill>
              <a:srgbClr val="0B0B0D"/>
            </a:solidFill>
            <a:prstDash val="solid"/>
          </a:ln>
        </p:spPr>
      </p:sp>
      <p:sp>
        <p:nvSpPr>
          <p:cNvPr id="16" name="Text 13"/>
          <p:cNvSpPr txBox="1"/>
          <p:nvPr/>
        </p:nvSpPr>
        <p:spPr>
          <a:xfrm>
            <a:off x="4526280" y="2651760"/>
            <a:ext cx="1142086" cy="256032"/>
          </a:xfrm>
          <a:prstGeom prst="rect">
            <a:avLst/>
          </a:prstGeom>
          <a:noFill/>
          <a:ln/>
        </p:spPr>
        <p:txBody>
          <a:bodyPr wrap="square" lIns="0" tIns="0" rIns="0" bIns="0" rtlCol="0" anchor="ctr"/>
          <a:lstStyle/>
          <a:p>
            <a:pPr algn="ctr" indent="0" marL="0">
              <a:buNone/>
            </a:pPr>
            <a:r>
              <a:rPr lang="en-US" sz="950" b="1" dirty="0">
                <a:solidFill>
                  <a:srgbClr val="0B0B0D"/>
                </a:solidFill>
                <a:latin typeface="Arial" pitchFamily="34" charset="0"/>
                <a:ea typeface="Arial" pitchFamily="34" charset="-122"/>
                <a:cs typeface="Arial" pitchFamily="34" charset="-120"/>
              </a:rPr>
              <a:t>Desarrollado</a:t>
            </a:r>
            <a:endParaRPr lang="en-US" sz="950" dirty="0"/>
          </a:p>
        </p:txBody>
      </p:sp>
      <p:sp>
        <p:nvSpPr>
          <p:cNvPr id="17" name="Shape 14"/>
          <p:cNvSpPr/>
          <p:nvPr/>
        </p:nvSpPr>
        <p:spPr>
          <a:xfrm>
            <a:off x="7882128" y="2212848"/>
            <a:ext cx="146304" cy="0"/>
          </a:xfrm>
          <a:prstGeom prst="line">
            <a:avLst/>
          </a:prstGeom>
          <a:noFill/>
          <a:ln w="15875">
            <a:solidFill>
              <a:srgbClr val="6D28D9"/>
            </a:solidFill>
            <a:prstDash val="solid"/>
            <a:tailEnd type="triangle"/>
          </a:ln>
        </p:spPr>
      </p:sp>
      <p:sp>
        <p:nvSpPr>
          <p:cNvPr id="18" name="Shape 15"/>
          <p:cNvSpPr/>
          <p:nvPr/>
        </p:nvSpPr>
        <p:spPr>
          <a:xfrm>
            <a:off x="8046720" y="1417320"/>
            <a:ext cx="3566160" cy="1600200"/>
          </a:xfrm>
          <a:prstGeom prst="roundRect">
            <a:avLst>
              <a:gd name="adj" fmla="val 4571"/>
            </a:avLst>
          </a:prstGeom>
          <a:solidFill>
            <a:srgbClr val="EDE4FB"/>
          </a:solidFill>
          <a:ln/>
        </p:spPr>
      </p:sp>
      <p:sp>
        <p:nvSpPr>
          <p:cNvPr id="19" name="Text 16"/>
          <p:cNvSpPr txBox="1"/>
          <p:nvPr/>
        </p:nvSpPr>
        <p:spPr>
          <a:xfrm>
            <a:off x="8275320" y="1554480"/>
            <a:ext cx="3108960" cy="365760"/>
          </a:xfrm>
          <a:prstGeom prst="rect">
            <a:avLst/>
          </a:prstGeom>
          <a:noFill/>
          <a:ln/>
        </p:spPr>
        <p:txBody>
          <a:bodyPr wrap="square" lIns="0" tIns="0" rIns="0" bIns="0" rtlCol="0" anchor="t"/>
          <a:lstStyle/>
          <a:p>
            <a:pPr indent="0" marL="0">
              <a:buNone/>
            </a:pPr>
            <a:r>
              <a:rPr lang="en-US" sz="1700" b="1" dirty="0">
                <a:solidFill>
                  <a:srgbClr val="0B0B0D"/>
                </a:solidFill>
                <a:latin typeface="Arial" pitchFamily="34" charset="0"/>
                <a:ea typeface="Arial" pitchFamily="34" charset="-122"/>
                <a:cs typeface="Arial" pitchFamily="34" charset="-120"/>
              </a:rPr>
              <a:t>C · Ampliaciones</a:t>
            </a:r>
            <a:endParaRPr lang="en-US" sz="1700" dirty="0"/>
          </a:p>
        </p:txBody>
      </p:sp>
      <p:sp>
        <p:nvSpPr>
          <p:cNvPr id="20" name="Text 17"/>
          <p:cNvSpPr txBox="1"/>
          <p:nvPr/>
        </p:nvSpPr>
        <p:spPr>
          <a:xfrm>
            <a:off x="8275320" y="1965960"/>
            <a:ext cx="3108960" cy="73152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Funciones que complementan el sistema y que se proponen como parte del proyecto académico.</a:t>
            </a:r>
            <a:endParaRPr lang="en-US" sz="1200" dirty="0"/>
          </a:p>
        </p:txBody>
      </p:sp>
      <p:sp>
        <p:nvSpPr>
          <p:cNvPr id="21" name="Shape 18"/>
          <p:cNvSpPr/>
          <p:nvPr/>
        </p:nvSpPr>
        <p:spPr>
          <a:xfrm>
            <a:off x="8275320" y="2651760"/>
            <a:ext cx="920572" cy="256032"/>
          </a:xfrm>
          <a:prstGeom prst="roundRect">
            <a:avLst>
              <a:gd name="adj" fmla="val 50000"/>
            </a:avLst>
          </a:prstGeom>
          <a:solidFill>
            <a:srgbClr val="6D28D9"/>
          </a:solidFill>
          <a:ln w="9525">
            <a:solidFill>
              <a:srgbClr val="6D28D9"/>
            </a:solidFill>
            <a:prstDash val="solid"/>
          </a:ln>
        </p:spPr>
      </p:sp>
      <p:sp>
        <p:nvSpPr>
          <p:cNvPr id="22" name="Text 19"/>
          <p:cNvSpPr txBox="1"/>
          <p:nvPr/>
        </p:nvSpPr>
        <p:spPr>
          <a:xfrm>
            <a:off x="8275320" y="2651760"/>
            <a:ext cx="92057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Propuesto</a:t>
            </a:r>
            <a:endParaRPr lang="en-US" sz="950" dirty="0"/>
          </a:p>
        </p:txBody>
      </p:sp>
      <p:pic>
        <p:nvPicPr>
          <p:cNvPr id="23" name="Image 0" descr="img/v3-N-home.png">    </p:cNvPr>
          <p:cNvPicPr>
            <a:picLocks noChangeAspect="1"/>
          </p:cNvPicPr>
          <p:nvPr/>
        </p:nvPicPr>
        <p:blipFill>
          <a:blip r:embed="rId1"/>
          <a:stretch>
            <a:fillRect/>
          </a:stretch>
        </p:blipFill>
        <p:spPr>
          <a:xfrm>
            <a:off x="1115568" y="3246120"/>
            <a:ext cx="4535424" cy="2834640"/>
          </a:xfrm>
          <a:prstGeom prst="rect">
            <a:avLst/>
          </a:prstGeom>
        </p:spPr>
      </p:pic>
      <p:sp>
        <p:nvSpPr>
          <p:cNvPr id="24" name="Shape 20"/>
          <p:cNvSpPr/>
          <p:nvPr/>
        </p:nvSpPr>
        <p:spPr>
          <a:xfrm>
            <a:off x="1115568" y="3246120"/>
            <a:ext cx="4535424" cy="2834640"/>
          </a:xfrm>
          <a:prstGeom prst="rect">
            <a:avLst/>
          </a:prstGeom>
          <a:ln w="12700">
            <a:solidFill>
              <a:srgbClr val="E3E4E8"/>
            </a:solidFill>
            <a:prstDash val="solid"/>
          </a:ln>
        </p:spPr>
      </p:sp>
      <p:sp>
        <p:nvSpPr>
          <p:cNvPr id="25" name="Shape 21"/>
          <p:cNvSpPr/>
          <p:nvPr/>
        </p:nvSpPr>
        <p:spPr>
          <a:xfrm>
            <a:off x="640080" y="3337560"/>
            <a:ext cx="772897" cy="256032"/>
          </a:xfrm>
          <a:prstGeom prst="roundRect">
            <a:avLst>
              <a:gd name="adj" fmla="val 50000"/>
            </a:avLst>
          </a:prstGeom>
          <a:solidFill>
            <a:srgbClr val="6D28D9"/>
          </a:solidFill>
          <a:ln w="9525">
            <a:solidFill>
              <a:srgbClr val="6D28D9"/>
            </a:solidFill>
            <a:prstDash val="solid"/>
          </a:ln>
        </p:spPr>
      </p:sp>
      <p:sp>
        <p:nvSpPr>
          <p:cNvPr id="26" name="Text 22"/>
          <p:cNvSpPr txBox="1"/>
          <p:nvPr/>
        </p:nvSpPr>
        <p:spPr>
          <a:xfrm>
            <a:off x="640080" y="3337560"/>
            <a:ext cx="772897"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DESPUÉS</a:t>
            </a:r>
            <a:endParaRPr lang="en-US" sz="950" dirty="0"/>
          </a:p>
        </p:txBody>
      </p:sp>
      <p:sp>
        <p:nvSpPr>
          <p:cNvPr id="27" name="Shape 23"/>
          <p:cNvSpPr/>
          <p:nvPr/>
        </p:nvSpPr>
        <p:spPr>
          <a:xfrm>
            <a:off x="6492240" y="3246120"/>
            <a:ext cx="5150815" cy="2834640"/>
          </a:xfrm>
          <a:prstGeom prst="roundRect">
            <a:avLst>
              <a:gd name="adj" fmla="val 2581"/>
            </a:avLst>
          </a:prstGeom>
          <a:solidFill>
            <a:srgbClr val="0B0B0D"/>
          </a:solidFill>
          <a:ln/>
        </p:spPr>
      </p:sp>
      <p:sp>
        <p:nvSpPr>
          <p:cNvPr id="28" name="Text 24"/>
          <p:cNvSpPr txBox="1"/>
          <p:nvPr/>
        </p:nvSpPr>
        <p:spPr>
          <a:xfrm>
            <a:off x="6720840" y="3429000"/>
            <a:ext cx="45720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La web renovada</a:t>
            </a:r>
            <a:endParaRPr lang="en-US" sz="1800" dirty="0"/>
          </a:p>
        </p:txBody>
      </p:sp>
      <p:sp>
        <p:nvSpPr>
          <p:cNvPr id="29" name="Text 25"/>
          <p:cNvSpPr txBox="1"/>
          <p:nvPr/>
        </p:nvSpPr>
        <p:spPr>
          <a:xfrm>
            <a:off x="6720840" y="3886200"/>
            <a:ext cx="4663440" cy="210312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Rediseña la marca y la navegación</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Ordena el catálogo y las fichas</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Lleva cada producto a una consulta</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Tema hijo sobre WordPress + WooCommerce</a:t>
            </a:r>
            <a:endParaRPr lang="en-US" sz="1350" dirty="0"/>
          </a:p>
          <a:p>
            <a:pPr marL="342900" indent="-342900">
              <a:spcAft>
                <a:spcPts val="700"/>
              </a:spcAft>
              <a:buSzPct val="100000"/>
              <a:buChar char="■"/>
            </a:pPr>
            <a:r>
              <a:rPr lang="en-US" sz="1350" dirty="0">
                <a:solidFill>
                  <a:srgbClr val="FFFFFF"/>
                </a:solidFill>
                <a:latin typeface="Arial" pitchFamily="34" charset="0"/>
                <a:ea typeface="Arial" pitchFamily="34" charset="-122"/>
                <a:cs typeface="Arial" pitchFamily="34" charset="-120"/>
              </a:rPr>
              <a:t>Funcionando en un entorno de prueba</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home y catálogo</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25</a:t>
            </a:r>
            <a:endParaRPr lang="en-US" sz="900" dirty="0"/>
          </a:p>
        </p:txBody>
      </p:sp>
      <p:sp>
        <p:nvSpPr>
          <p:cNvPr id="6" name="Text 3"/>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Home y marca</a:t>
            </a:r>
            <a:endParaRPr lang="en-US" sz="1300" dirty="0"/>
          </a:p>
        </p:txBody>
      </p:sp>
      <p:pic>
        <p:nvPicPr>
          <p:cNvPr id="7" name="Image 0" descr="img/v3-A-home.png">    </p:cNvPr>
          <p:cNvPicPr>
            <a:picLocks noChangeAspect="1"/>
          </p:cNvPicPr>
          <p:nvPr/>
        </p:nvPicPr>
        <p:blipFill>
          <a:blip r:embed="rId1"/>
          <a:stretch>
            <a:fillRect/>
          </a:stretch>
        </p:blipFill>
        <p:spPr>
          <a:xfrm>
            <a:off x="548640" y="1783080"/>
            <a:ext cx="2926080" cy="1828800"/>
          </a:xfrm>
          <a:prstGeom prst="rect">
            <a:avLst/>
          </a:prstGeom>
        </p:spPr>
      </p:pic>
      <p:sp>
        <p:nvSpPr>
          <p:cNvPr id="8" name="Shape 4"/>
          <p:cNvSpPr/>
          <p:nvPr/>
        </p:nvSpPr>
        <p:spPr>
          <a:xfrm>
            <a:off x="548640" y="1783080"/>
            <a:ext cx="2926080" cy="1828800"/>
          </a:xfrm>
          <a:prstGeom prst="rect">
            <a:avLst/>
          </a:prstGeom>
          <a:ln w="12700">
            <a:solidFill>
              <a:srgbClr val="E3E4E8"/>
            </a:solidFill>
            <a:prstDash val="solid"/>
          </a:ln>
        </p:spPr>
      </p:sp>
      <p:sp>
        <p:nvSpPr>
          <p:cNvPr id="9" name="Shape 5"/>
          <p:cNvSpPr/>
          <p:nvPr/>
        </p:nvSpPr>
        <p:spPr>
          <a:xfrm>
            <a:off x="603504" y="1837944"/>
            <a:ext cx="586359" cy="256032"/>
          </a:xfrm>
          <a:prstGeom prst="roundRect">
            <a:avLst>
              <a:gd name="adj" fmla="val 50000"/>
            </a:avLst>
          </a:prstGeom>
          <a:solidFill>
            <a:srgbClr val="FFFFFF"/>
          </a:solidFill>
          <a:ln w="9525">
            <a:solidFill>
              <a:srgbClr val="0B0B0D"/>
            </a:solidFill>
            <a:prstDash val="solid"/>
          </a:ln>
        </p:spPr>
      </p:sp>
      <p:sp>
        <p:nvSpPr>
          <p:cNvPr id="10" name="Text 6"/>
          <p:cNvSpPr txBox="1"/>
          <p:nvPr/>
        </p:nvSpPr>
        <p:spPr>
          <a:xfrm>
            <a:off x="60350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Image 1" descr="img/v3-N-home.png">    </p:cNvPr>
          <p:cNvPicPr>
            <a:picLocks noChangeAspect="1"/>
          </p:cNvPicPr>
          <p:nvPr/>
        </p:nvPicPr>
        <p:blipFill>
          <a:blip r:embed="rId2"/>
          <a:stretch>
            <a:fillRect/>
          </a:stretch>
        </p:blipFill>
        <p:spPr>
          <a:xfrm>
            <a:off x="3657600" y="1783080"/>
            <a:ext cx="2926080" cy="1828800"/>
          </a:xfrm>
          <a:prstGeom prst="rect">
            <a:avLst/>
          </a:prstGeom>
        </p:spPr>
      </p:pic>
      <p:sp>
        <p:nvSpPr>
          <p:cNvPr id="12" name="Shape 7"/>
          <p:cNvSpPr/>
          <p:nvPr/>
        </p:nvSpPr>
        <p:spPr>
          <a:xfrm>
            <a:off x="3657600" y="1783080"/>
            <a:ext cx="2926080" cy="1828800"/>
          </a:xfrm>
          <a:prstGeom prst="rect">
            <a:avLst/>
          </a:prstGeom>
          <a:ln w="12700">
            <a:solidFill>
              <a:srgbClr val="E3E4E8"/>
            </a:solidFill>
            <a:prstDash val="solid"/>
          </a:ln>
        </p:spPr>
      </p:sp>
      <p:sp>
        <p:nvSpPr>
          <p:cNvPr id="13" name="Shape 8"/>
          <p:cNvSpPr/>
          <p:nvPr/>
        </p:nvSpPr>
        <p:spPr>
          <a:xfrm>
            <a:off x="3712464" y="1837944"/>
            <a:ext cx="718490" cy="256032"/>
          </a:xfrm>
          <a:prstGeom prst="roundRect">
            <a:avLst>
              <a:gd name="adj" fmla="val 50000"/>
            </a:avLst>
          </a:prstGeom>
          <a:solidFill>
            <a:srgbClr val="6D28D9"/>
          </a:solidFill>
          <a:ln w="9525">
            <a:solidFill>
              <a:srgbClr val="6D28D9"/>
            </a:solidFill>
            <a:prstDash val="solid"/>
          </a:ln>
        </p:spPr>
      </p:sp>
      <p:sp>
        <p:nvSpPr>
          <p:cNvPr id="14" name="Text 9"/>
          <p:cNvSpPr txBox="1"/>
          <p:nvPr/>
        </p:nvSpPr>
        <p:spPr>
          <a:xfrm>
            <a:off x="371246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15" name="Text 10"/>
          <p:cNvSpPr txBox="1"/>
          <p:nvPr/>
        </p:nvSpPr>
        <p:spPr>
          <a:xfrm>
            <a:off x="6903720" y="169164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16" name="Text 11"/>
          <p:cNvSpPr txBox="1"/>
          <p:nvPr/>
        </p:nvSpPr>
        <p:spPr>
          <a:xfrm>
            <a:off x="8275320" y="169164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Banner y categorías; el menú no ofrece contacto ni consulta.</a:t>
            </a:r>
            <a:endParaRPr lang="en-US" sz="1100" dirty="0"/>
          </a:p>
        </p:txBody>
      </p:sp>
      <p:sp>
        <p:nvSpPr>
          <p:cNvPr id="17" name="Text 12"/>
          <p:cNvSpPr txBox="1"/>
          <p:nvPr/>
        </p:nvSpPr>
        <p:spPr>
          <a:xfrm>
            <a:off x="6903720" y="2203704"/>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18" name="Text 13"/>
          <p:cNvSpPr txBox="1"/>
          <p:nvPr/>
        </p:nvSpPr>
        <p:spPr>
          <a:xfrm>
            <a:off x="8275320" y="2203704"/>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Presentar la marca y dar un camino claro desde la primera pantalla.</a:t>
            </a:r>
            <a:endParaRPr lang="en-US" sz="1100" dirty="0"/>
          </a:p>
        </p:txBody>
      </p:sp>
      <p:sp>
        <p:nvSpPr>
          <p:cNvPr id="19" name="Text 14"/>
          <p:cNvSpPr txBox="1"/>
          <p:nvPr/>
        </p:nvSpPr>
        <p:spPr>
          <a:xfrm>
            <a:off x="6903720" y="2715768"/>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20" name="Text 15"/>
          <p:cNvSpPr txBox="1"/>
          <p:nvPr/>
        </p:nvSpPr>
        <p:spPr>
          <a:xfrm>
            <a:off x="8275320" y="271576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Nueva identidad y jerarquía, con «Buscar» y «Cotizar» fijos en el encabezado.</a:t>
            </a:r>
            <a:endParaRPr lang="en-US" sz="1100" dirty="0"/>
          </a:p>
        </p:txBody>
      </p:sp>
      <p:sp>
        <p:nvSpPr>
          <p:cNvPr id="21" name="Text 16"/>
          <p:cNvSpPr txBox="1"/>
          <p:nvPr/>
        </p:nvSpPr>
        <p:spPr>
          <a:xfrm>
            <a:off x="6903720" y="322783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22" name="Text 17"/>
          <p:cNvSpPr txBox="1"/>
          <p:nvPr/>
        </p:nvSpPr>
        <p:spPr>
          <a:xfrm>
            <a:off x="8275320" y="322783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Tres caminos visibles: explorar, buscar o consultar.</a:t>
            </a:r>
            <a:endParaRPr lang="en-US" sz="1100" dirty="0"/>
          </a:p>
        </p:txBody>
      </p:sp>
      <p:sp>
        <p:nvSpPr>
          <p:cNvPr id="23" name="Text 18"/>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Catálogo</a:t>
            </a:r>
            <a:endParaRPr lang="en-US" sz="1300" dirty="0"/>
          </a:p>
        </p:txBody>
      </p:sp>
      <p:pic>
        <p:nvPicPr>
          <p:cNvPr id="24" name="Image 2" descr="img/v3-A-shop.png">    </p:cNvPr>
          <p:cNvPicPr>
            <a:picLocks noChangeAspect="1"/>
          </p:cNvPicPr>
          <p:nvPr/>
        </p:nvPicPr>
        <p:blipFill>
          <a:blip r:embed="rId3"/>
          <a:stretch>
            <a:fillRect/>
          </a:stretch>
        </p:blipFill>
        <p:spPr>
          <a:xfrm>
            <a:off x="548640" y="4270248"/>
            <a:ext cx="2926080" cy="1828800"/>
          </a:xfrm>
          <a:prstGeom prst="rect">
            <a:avLst/>
          </a:prstGeom>
        </p:spPr>
      </p:pic>
      <p:sp>
        <p:nvSpPr>
          <p:cNvPr id="25" name="Shape 19"/>
          <p:cNvSpPr/>
          <p:nvPr/>
        </p:nvSpPr>
        <p:spPr>
          <a:xfrm>
            <a:off x="548640" y="4270248"/>
            <a:ext cx="2926080" cy="1828800"/>
          </a:xfrm>
          <a:prstGeom prst="rect">
            <a:avLst/>
          </a:prstGeom>
          <a:ln w="12700">
            <a:solidFill>
              <a:srgbClr val="E3E4E8"/>
            </a:solidFill>
            <a:prstDash val="solid"/>
          </a:ln>
        </p:spPr>
      </p:sp>
      <p:sp>
        <p:nvSpPr>
          <p:cNvPr id="26" name="Shape 20"/>
          <p:cNvSpPr/>
          <p:nvPr/>
        </p:nvSpPr>
        <p:spPr>
          <a:xfrm>
            <a:off x="603504" y="4325112"/>
            <a:ext cx="586359" cy="256032"/>
          </a:xfrm>
          <a:prstGeom prst="roundRect">
            <a:avLst>
              <a:gd name="adj" fmla="val 50000"/>
            </a:avLst>
          </a:prstGeom>
          <a:solidFill>
            <a:srgbClr val="FFFFFF"/>
          </a:solidFill>
          <a:ln w="9525">
            <a:solidFill>
              <a:srgbClr val="0B0B0D"/>
            </a:solidFill>
            <a:prstDash val="solid"/>
          </a:ln>
        </p:spPr>
      </p:sp>
      <p:sp>
        <p:nvSpPr>
          <p:cNvPr id="27" name="Text 21"/>
          <p:cNvSpPr txBox="1"/>
          <p:nvPr/>
        </p:nvSpPr>
        <p:spPr>
          <a:xfrm>
            <a:off x="603504" y="432511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Image 3" descr="img/v3-N-shop.png">    </p:cNvPr>
          <p:cNvPicPr>
            <a:picLocks noChangeAspect="1"/>
          </p:cNvPicPr>
          <p:nvPr/>
        </p:nvPicPr>
        <p:blipFill>
          <a:blip r:embed="rId4"/>
          <a:stretch>
            <a:fillRect/>
          </a:stretch>
        </p:blipFill>
        <p:spPr>
          <a:xfrm>
            <a:off x="3657600" y="4270248"/>
            <a:ext cx="2926080" cy="1828800"/>
          </a:xfrm>
          <a:prstGeom prst="rect">
            <a:avLst/>
          </a:prstGeom>
        </p:spPr>
      </p:pic>
      <p:sp>
        <p:nvSpPr>
          <p:cNvPr id="29" name="Shape 22"/>
          <p:cNvSpPr/>
          <p:nvPr/>
        </p:nvSpPr>
        <p:spPr>
          <a:xfrm>
            <a:off x="3657600" y="4270248"/>
            <a:ext cx="2926080" cy="1828800"/>
          </a:xfrm>
          <a:prstGeom prst="rect">
            <a:avLst/>
          </a:prstGeom>
          <a:ln w="12700">
            <a:solidFill>
              <a:srgbClr val="E3E4E8"/>
            </a:solidFill>
            <a:prstDash val="solid"/>
          </a:ln>
        </p:spPr>
      </p:sp>
      <p:sp>
        <p:nvSpPr>
          <p:cNvPr id="30" name="Shape 23"/>
          <p:cNvSpPr/>
          <p:nvPr/>
        </p:nvSpPr>
        <p:spPr>
          <a:xfrm>
            <a:off x="3712464" y="4325112"/>
            <a:ext cx="718490" cy="256032"/>
          </a:xfrm>
          <a:prstGeom prst="roundRect">
            <a:avLst>
              <a:gd name="adj" fmla="val 50000"/>
            </a:avLst>
          </a:prstGeom>
          <a:solidFill>
            <a:srgbClr val="6D28D9"/>
          </a:solidFill>
          <a:ln w="9525">
            <a:solidFill>
              <a:srgbClr val="6D28D9"/>
            </a:solidFill>
            <a:prstDash val="solid"/>
          </a:ln>
        </p:spPr>
      </p:sp>
      <p:sp>
        <p:nvSpPr>
          <p:cNvPr id="31" name="Text 24"/>
          <p:cNvSpPr txBox="1"/>
          <p:nvPr/>
        </p:nvSpPr>
        <p:spPr>
          <a:xfrm>
            <a:off x="3712464" y="432511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32" name="Text 25"/>
          <p:cNvSpPr txBox="1"/>
          <p:nvPr/>
        </p:nvSpPr>
        <p:spPr>
          <a:xfrm>
            <a:off x="6903720" y="4178808"/>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33" name="Text 26"/>
          <p:cNvSpPr txBox="1"/>
          <p:nvPr/>
        </p:nvSpPr>
        <p:spPr>
          <a:xfrm>
            <a:off x="8275320" y="417880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«Productos» abre una tienda vacía; en las categorías, tarjetas con solo el modelo.</a:t>
            </a:r>
            <a:endParaRPr lang="en-US" sz="1100" dirty="0"/>
          </a:p>
        </p:txBody>
      </p:sp>
      <p:sp>
        <p:nvSpPr>
          <p:cNvPr id="34" name="Text 27"/>
          <p:cNvSpPr txBox="1"/>
          <p:nvPr/>
        </p:nvSpPr>
        <p:spPr>
          <a:xfrm>
            <a:off x="6903720" y="469087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35" name="Text 28"/>
          <p:cNvSpPr txBox="1"/>
          <p:nvPr/>
        </p:nvSpPr>
        <p:spPr>
          <a:xfrm>
            <a:off x="8275320" y="469087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Un catálogo que se pueda recorrer y comparar.</a:t>
            </a:r>
            <a:endParaRPr lang="en-US" sz="1100" dirty="0"/>
          </a:p>
        </p:txBody>
      </p:sp>
      <p:sp>
        <p:nvSpPr>
          <p:cNvPr id="36" name="Text 29"/>
          <p:cNvSpPr txBox="1"/>
          <p:nvPr/>
        </p:nvSpPr>
        <p:spPr>
          <a:xfrm>
            <a:off x="6903720" y="5202936"/>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37" name="Text 30"/>
          <p:cNvSpPr txBox="1"/>
          <p:nvPr/>
        </p:nvSpPr>
        <p:spPr>
          <a:xfrm>
            <a:off x="8275320" y="5202936"/>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118 productos, pestañas con contador, filtros y tarjetas con tipo y potencia.</a:t>
            </a:r>
            <a:endParaRPr lang="en-US" sz="1100" dirty="0"/>
          </a:p>
        </p:txBody>
      </p:sp>
      <p:sp>
        <p:nvSpPr>
          <p:cNvPr id="38" name="Text 31"/>
          <p:cNvSpPr txBox="1"/>
          <p:nvPr/>
        </p:nvSpPr>
        <p:spPr>
          <a:xfrm>
            <a:off x="6903720" y="571500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39" name="Text 32"/>
          <p:cNvSpPr txBox="1"/>
          <p:nvPr/>
        </p:nvSpPr>
        <p:spPr>
          <a:xfrm>
            <a:off x="8275320" y="571500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Encontrar el modelo con menos pasos.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ANTES Y DESPUÉS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Antes y después: ficha y celular</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26</a:t>
            </a:r>
            <a:endParaRPr lang="en-US" sz="900" dirty="0"/>
          </a:p>
        </p:txBody>
      </p:sp>
      <p:sp>
        <p:nvSpPr>
          <p:cNvPr id="6" name="Text 3"/>
          <p:cNvSpPr txBox="1"/>
          <p:nvPr/>
        </p:nvSpPr>
        <p:spPr>
          <a:xfrm>
            <a:off x="548640" y="1371600"/>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Ficha de producto</a:t>
            </a:r>
            <a:endParaRPr lang="en-US" sz="1300" dirty="0"/>
          </a:p>
        </p:txBody>
      </p:sp>
      <p:pic>
        <p:nvPicPr>
          <p:cNvPr id="7" name="Image 0" descr="img/v3-A-ficha.png">    </p:cNvPr>
          <p:cNvPicPr>
            <a:picLocks noChangeAspect="1"/>
          </p:cNvPicPr>
          <p:nvPr/>
        </p:nvPicPr>
        <p:blipFill>
          <a:blip r:embed="rId1"/>
          <a:stretch>
            <a:fillRect/>
          </a:stretch>
        </p:blipFill>
        <p:spPr>
          <a:xfrm>
            <a:off x="548640" y="1783080"/>
            <a:ext cx="2926080" cy="1828800"/>
          </a:xfrm>
          <a:prstGeom prst="rect">
            <a:avLst/>
          </a:prstGeom>
        </p:spPr>
      </p:pic>
      <p:sp>
        <p:nvSpPr>
          <p:cNvPr id="8" name="Shape 4"/>
          <p:cNvSpPr/>
          <p:nvPr/>
        </p:nvSpPr>
        <p:spPr>
          <a:xfrm>
            <a:off x="548640" y="1783080"/>
            <a:ext cx="2926080" cy="1828800"/>
          </a:xfrm>
          <a:prstGeom prst="rect">
            <a:avLst/>
          </a:prstGeom>
          <a:ln w="12700">
            <a:solidFill>
              <a:srgbClr val="E3E4E8"/>
            </a:solidFill>
            <a:prstDash val="solid"/>
          </a:ln>
        </p:spPr>
      </p:sp>
      <p:sp>
        <p:nvSpPr>
          <p:cNvPr id="9" name="Shape 5"/>
          <p:cNvSpPr/>
          <p:nvPr/>
        </p:nvSpPr>
        <p:spPr>
          <a:xfrm>
            <a:off x="603504" y="1837944"/>
            <a:ext cx="586359" cy="256032"/>
          </a:xfrm>
          <a:prstGeom prst="roundRect">
            <a:avLst>
              <a:gd name="adj" fmla="val 50000"/>
            </a:avLst>
          </a:prstGeom>
          <a:solidFill>
            <a:srgbClr val="FFFFFF"/>
          </a:solidFill>
          <a:ln w="9525">
            <a:solidFill>
              <a:srgbClr val="0B0B0D"/>
            </a:solidFill>
            <a:prstDash val="solid"/>
          </a:ln>
        </p:spPr>
      </p:sp>
      <p:sp>
        <p:nvSpPr>
          <p:cNvPr id="10" name="Text 6"/>
          <p:cNvSpPr txBox="1"/>
          <p:nvPr/>
        </p:nvSpPr>
        <p:spPr>
          <a:xfrm>
            <a:off x="603504" y="1837944"/>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11" name="Image 1" descr="img/v3-N-ficha.png">    </p:cNvPr>
          <p:cNvPicPr>
            <a:picLocks noChangeAspect="1"/>
          </p:cNvPicPr>
          <p:nvPr/>
        </p:nvPicPr>
        <p:blipFill>
          <a:blip r:embed="rId2"/>
          <a:stretch>
            <a:fillRect/>
          </a:stretch>
        </p:blipFill>
        <p:spPr>
          <a:xfrm>
            <a:off x="3657600" y="1783080"/>
            <a:ext cx="2926080" cy="1828800"/>
          </a:xfrm>
          <a:prstGeom prst="rect">
            <a:avLst/>
          </a:prstGeom>
        </p:spPr>
      </p:pic>
      <p:sp>
        <p:nvSpPr>
          <p:cNvPr id="12" name="Shape 7"/>
          <p:cNvSpPr/>
          <p:nvPr/>
        </p:nvSpPr>
        <p:spPr>
          <a:xfrm>
            <a:off x="3657600" y="1783080"/>
            <a:ext cx="2926080" cy="1828800"/>
          </a:xfrm>
          <a:prstGeom prst="rect">
            <a:avLst/>
          </a:prstGeom>
          <a:ln w="12700">
            <a:solidFill>
              <a:srgbClr val="E3E4E8"/>
            </a:solidFill>
            <a:prstDash val="solid"/>
          </a:ln>
        </p:spPr>
      </p:sp>
      <p:sp>
        <p:nvSpPr>
          <p:cNvPr id="13" name="Shape 8"/>
          <p:cNvSpPr/>
          <p:nvPr/>
        </p:nvSpPr>
        <p:spPr>
          <a:xfrm>
            <a:off x="3712464" y="1837944"/>
            <a:ext cx="718490" cy="256032"/>
          </a:xfrm>
          <a:prstGeom prst="roundRect">
            <a:avLst>
              <a:gd name="adj" fmla="val 50000"/>
            </a:avLst>
          </a:prstGeom>
          <a:solidFill>
            <a:srgbClr val="6D28D9"/>
          </a:solidFill>
          <a:ln w="9525">
            <a:solidFill>
              <a:srgbClr val="6D28D9"/>
            </a:solidFill>
            <a:prstDash val="solid"/>
          </a:ln>
        </p:spPr>
      </p:sp>
      <p:sp>
        <p:nvSpPr>
          <p:cNvPr id="14" name="Text 9"/>
          <p:cNvSpPr txBox="1"/>
          <p:nvPr/>
        </p:nvSpPr>
        <p:spPr>
          <a:xfrm>
            <a:off x="3712464" y="1837944"/>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15" name="Text 10"/>
          <p:cNvSpPr txBox="1"/>
          <p:nvPr/>
        </p:nvSpPr>
        <p:spPr>
          <a:xfrm>
            <a:off x="6903720" y="169164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16" name="Text 11"/>
          <p:cNvSpPr txBox="1"/>
          <p:nvPr/>
        </p:nvSpPr>
        <p:spPr>
          <a:xfrm>
            <a:off x="8275320" y="1691640"/>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Especificaciones visibles, pero sin botón de consulta ni contacto.</a:t>
            </a:r>
            <a:endParaRPr lang="en-US" sz="1100" dirty="0"/>
          </a:p>
        </p:txBody>
      </p:sp>
      <p:sp>
        <p:nvSpPr>
          <p:cNvPr id="17" name="Text 12"/>
          <p:cNvSpPr txBox="1"/>
          <p:nvPr/>
        </p:nvSpPr>
        <p:spPr>
          <a:xfrm>
            <a:off x="6903720" y="2203704"/>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18" name="Text 13"/>
          <p:cNvSpPr txBox="1"/>
          <p:nvPr/>
        </p:nvSpPr>
        <p:spPr>
          <a:xfrm>
            <a:off x="8275320" y="2203704"/>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Pasar del interés en un producto al contacto comercial.</a:t>
            </a:r>
            <a:endParaRPr lang="en-US" sz="1100" dirty="0"/>
          </a:p>
        </p:txBody>
      </p:sp>
      <p:sp>
        <p:nvSpPr>
          <p:cNvPr id="19" name="Text 14"/>
          <p:cNvSpPr txBox="1"/>
          <p:nvPr/>
        </p:nvSpPr>
        <p:spPr>
          <a:xfrm>
            <a:off x="6903720" y="2715768"/>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20" name="Text 15"/>
          <p:cNvSpPr txBox="1"/>
          <p:nvPr/>
        </p:nvSpPr>
        <p:spPr>
          <a:xfrm>
            <a:off x="8275320" y="2715768"/>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Potencia destacada, «Cotizar» junto al modelo, «Comparar» y especificaciones en lista.</a:t>
            </a:r>
            <a:endParaRPr lang="en-US" sz="1100" dirty="0"/>
          </a:p>
        </p:txBody>
      </p:sp>
      <p:sp>
        <p:nvSpPr>
          <p:cNvPr id="21" name="Text 16"/>
          <p:cNvSpPr txBox="1"/>
          <p:nvPr/>
        </p:nvSpPr>
        <p:spPr>
          <a:xfrm>
            <a:off x="6903720" y="322783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22" name="Text 17"/>
          <p:cNvSpPr txBox="1"/>
          <p:nvPr/>
        </p:nvSpPr>
        <p:spPr>
          <a:xfrm>
            <a:off x="8275320" y="3227832"/>
            <a:ext cx="33677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Consultas con el modelo correcto y sin fricción.</a:t>
            </a:r>
            <a:endParaRPr lang="en-US" sz="1100" dirty="0"/>
          </a:p>
        </p:txBody>
      </p:sp>
      <p:sp>
        <p:nvSpPr>
          <p:cNvPr id="23" name="Text 18"/>
          <p:cNvSpPr txBox="1"/>
          <p:nvPr/>
        </p:nvSpPr>
        <p:spPr>
          <a:xfrm>
            <a:off x="548640" y="3858768"/>
            <a:ext cx="2743200" cy="274320"/>
          </a:xfrm>
          <a:prstGeom prst="rect">
            <a:avLst/>
          </a:prstGeom>
          <a:noFill/>
          <a:ln/>
        </p:spPr>
        <p:txBody>
          <a:bodyPr wrap="square" lIns="0" tIns="0" rIns="0" bIns="0" rtlCol="0" anchor="t"/>
          <a:lstStyle/>
          <a:p>
            <a:pPr indent="0" marL="0">
              <a:buNone/>
            </a:pPr>
            <a:r>
              <a:rPr lang="en-US" sz="1300" b="1" dirty="0">
                <a:solidFill>
                  <a:srgbClr val="6D28D9"/>
                </a:solidFill>
                <a:latin typeface="Arial" pitchFamily="34" charset="0"/>
                <a:ea typeface="Arial" pitchFamily="34" charset="-122"/>
                <a:cs typeface="Arial" pitchFamily="34" charset="-120"/>
              </a:rPr>
              <a:t>Recorrido en el celular</a:t>
            </a:r>
            <a:endParaRPr lang="en-US" sz="1300" dirty="0"/>
          </a:p>
        </p:txBody>
      </p:sp>
      <p:pic>
        <p:nvPicPr>
          <p:cNvPr id="24" name="Image 2" descr="img/v3-A-ficha-m.png">    </p:cNvPr>
          <p:cNvPicPr>
            <a:picLocks noChangeAspect="1"/>
          </p:cNvPicPr>
          <p:nvPr/>
        </p:nvPicPr>
        <p:blipFill>
          <a:blip r:embed="rId3"/>
          <a:stretch>
            <a:fillRect/>
          </a:stretch>
        </p:blipFill>
        <p:spPr>
          <a:xfrm>
            <a:off x="609636" y="4178808"/>
            <a:ext cx="929568" cy="2011680"/>
          </a:xfrm>
          <a:prstGeom prst="rect">
            <a:avLst/>
          </a:prstGeom>
        </p:spPr>
      </p:pic>
      <p:sp>
        <p:nvSpPr>
          <p:cNvPr id="25" name="Shape 19"/>
          <p:cNvSpPr/>
          <p:nvPr/>
        </p:nvSpPr>
        <p:spPr>
          <a:xfrm>
            <a:off x="609636" y="4178808"/>
            <a:ext cx="929568" cy="2011680"/>
          </a:xfrm>
          <a:prstGeom prst="rect">
            <a:avLst/>
          </a:prstGeom>
          <a:ln w="12700">
            <a:solidFill>
              <a:srgbClr val="E3E4E8"/>
            </a:solidFill>
            <a:prstDash val="solid"/>
          </a:ln>
        </p:spPr>
      </p:sp>
      <p:sp>
        <p:nvSpPr>
          <p:cNvPr id="26" name="Shape 20"/>
          <p:cNvSpPr/>
          <p:nvPr/>
        </p:nvSpPr>
        <p:spPr>
          <a:xfrm>
            <a:off x="664500" y="4233672"/>
            <a:ext cx="586359" cy="256032"/>
          </a:xfrm>
          <a:prstGeom prst="roundRect">
            <a:avLst>
              <a:gd name="adj" fmla="val 50000"/>
            </a:avLst>
          </a:prstGeom>
          <a:solidFill>
            <a:srgbClr val="FFFFFF"/>
          </a:solidFill>
          <a:ln w="9525">
            <a:solidFill>
              <a:srgbClr val="0B0B0D"/>
            </a:solidFill>
            <a:prstDash val="solid"/>
          </a:ln>
        </p:spPr>
      </p:sp>
      <p:sp>
        <p:nvSpPr>
          <p:cNvPr id="27" name="Text 21"/>
          <p:cNvSpPr txBox="1"/>
          <p:nvPr/>
        </p:nvSpPr>
        <p:spPr>
          <a:xfrm>
            <a:off x="664500" y="4233672"/>
            <a:ext cx="586359"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ANTES</a:t>
            </a:r>
            <a:endParaRPr lang="en-US" sz="850" dirty="0"/>
          </a:p>
        </p:txBody>
      </p:sp>
      <p:pic>
        <p:nvPicPr>
          <p:cNvPr id="28" name="Image 3" descr="img/v3-N-ficha-m.png">    </p:cNvPr>
          <p:cNvPicPr>
            <a:picLocks noChangeAspect="1"/>
          </p:cNvPicPr>
          <p:nvPr/>
        </p:nvPicPr>
        <p:blipFill>
          <a:blip r:embed="rId4"/>
          <a:stretch>
            <a:fillRect/>
          </a:stretch>
        </p:blipFill>
        <p:spPr>
          <a:xfrm>
            <a:off x="1935516" y="4178808"/>
            <a:ext cx="929568" cy="2011680"/>
          </a:xfrm>
          <a:prstGeom prst="rect">
            <a:avLst/>
          </a:prstGeom>
        </p:spPr>
      </p:pic>
      <p:sp>
        <p:nvSpPr>
          <p:cNvPr id="29" name="Shape 22"/>
          <p:cNvSpPr/>
          <p:nvPr/>
        </p:nvSpPr>
        <p:spPr>
          <a:xfrm>
            <a:off x="1935516" y="4178808"/>
            <a:ext cx="929568" cy="2011680"/>
          </a:xfrm>
          <a:prstGeom prst="rect">
            <a:avLst/>
          </a:prstGeom>
          <a:ln w="12700">
            <a:solidFill>
              <a:srgbClr val="E3E4E8"/>
            </a:solidFill>
            <a:prstDash val="solid"/>
          </a:ln>
        </p:spPr>
      </p:sp>
      <p:sp>
        <p:nvSpPr>
          <p:cNvPr id="30" name="Shape 23"/>
          <p:cNvSpPr/>
          <p:nvPr/>
        </p:nvSpPr>
        <p:spPr>
          <a:xfrm>
            <a:off x="1990380" y="4233672"/>
            <a:ext cx="718490" cy="256032"/>
          </a:xfrm>
          <a:prstGeom prst="roundRect">
            <a:avLst>
              <a:gd name="adj" fmla="val 50000"/>
            </a:avLst>
          </a:prstGeom>
          <a:solidFill>
            <a:srgbClr val="6D28D9"/>
          </a:solidFill>
          <a:ln w="9525">
            <a:solidFill>
              <a:srgbClr val="6D28D9"/>
            </a:solidFill>
            <a:prstDash val="solid"/>
          </a:ln>
        </p:spPr>
      </p:sp>
      <p:sp>
        <p:nvSpPr>
          <p:cNvPr id="31" name="Text 24"/>
          <p:cNvSpPr txBox="1"/>
          <p:nvPr/>
        </p:nvSpPr>
        <p:spPr>
          <a:xfrm>
            <a:off x="1990380" y="4233672"/>
            <a:ext cx="71849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DESPUÉS</a:t>
            </a:r>
            <a:endParaRPr lang="en-US" sz="850" dirty="0"/>
          </a:p>
        </p:txBody>
      </p:sp>
      <p:sp>
        <p:nvSpPr>
          <p:cNvPr id="32" name="Text 25"/>
          <p:cNvSpPr txBox="1"/>
          <p:nvPr/>
        </p:nvSpPr>
        <p:spPr>
          <a:xfrm>
            <a:off x="3246120" y="4178808"/>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Antes</a:t>
            </a:r>
            <a:endParaRPr lang="en-US" sz="1050" dirty="0"/>
          </a:p>
        </p:txBody>
      </p:sp>
      <p:sp>
        <p:nvSpPr>
          <p:cNvPr id="33" name="Text 26"/>
          <p:cNvSpPr txBox="1"/>
          <p:nvPr/>
        </p:nvSpPr>
        <p:spPr>
          <a:xfrm>
            <a:off x="4617720" y="4178808"/>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Ficha móvil sin acción comercial; WhatsApp solo en «Ventas al mayor».</a:t>
            </a:r>
            <a:endParaRPr lang="en-US" sz="1100" dirty="0"/>
          </a:p>
        </p:txBody>
      </p:sp>
      <p:sp>
        <p:nvSpPr>
          <p:cNvPr id="34" name="Text 27"/>
          <p:cNvSpPr txBox="1"/>
          <p:nvPr/>
        </p:nvSpPr>
        <p:spPr>
          <a:xfrm>
            <a:off x="3246120" y="4690872"/>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Necesidad</a:t>
            </a:r>
            <a:endParaRPr lang="en-US" sz="1050" dirty="0"/>
          </a:p>
        </p:txBody>
      </p:sp>
      <p:sp>
        <p:nvSpPr>
          <p:cNvPr id="35" name="Text 28"/>
          <p:cNvSpPr txBox="1"/>
          <p:nvPr/>
        </p:nvSpPr>
        <p:spPr>
          <a:xfrm>
            <a:off x="4617720" y="4690872"/>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Consultar desde cualquier punto del recorrido.</a:t>
            </a:r>
            <a:endParaRPr lang="en-US" sz="1100" dirty="0"/>
          </a:p>
        </p:txBody>
      </p:sp>
      <p:sp>
        <p:nvSpPr>
          <p:cNvPr id="36" name="Text 29"/>
          <p:cNvSpPr txBox="1"/>
          <p:nvPr/>
        </p:nvSpPr>
        <p:spPr>
          <a:xfrm>
            <a:off x="3246120" y="5202936"/>
            <a:ext cx="1325880" cy="457200"/>
          </a:xfrm>
          <a:prstGeom prst="rect">
            <a:avLst/>
          </a:prstGeom>
          <a:noFill/>
          <a:ln/>
        </p:spPr>
        <p:txBody>
          <a:bodyPr wrap="square" lIns="0" tIns="0" rIns="0" bIns="0" rtlCol="0" anchor="t"/>
          <a:lstStyle/>
          <a:p>
            <a:pPr indent="0" marL="0">
              <a:buNone/>
            </a:pPr>
            <a:r>
              <a:rPr lang="en-US" sz="1050" b="1" dirty="0">
                <a:solidFill>
                  <a:srgbClr val="6D28D9"/>
                </a:solidFill>
                <a:latin typeface="Arial" pitchFamily="34" charset="0"/>
                <a:ea typeface="Arial" pitchFamily="34" charset="-122"/>
                <a:cs typeface="Arial" pitchFamily="34" charset="-120"/>
              </a:rPr>
              <a:t>Modificación</a:t>
            </a:r>
            <a:endParaRPr lang="en-US" sz="1050" dirty="0"/>
          </a:p>
        </p:txBody>
      </p:sp>
      <p:sp>
        <p:nvSpPr>
          <p:cNvPr id="37" name="Text 30"/>
          <p:cNvSpPr txBox="1"/>
          <p:nvPr/>
        </p:nvSpPr>
        <p:spPr>
          <a:xfrm>
            <a:off x="4617720" y="5202936"/>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WhatsApp en el encabezado, barra «Cotizar» fija y páginas Dónde comprar y Mayoristas.</a:t>
            </a:r>
            <a:endParaRPr lang="en-US" sz="1100" dirty="0"/>
          </a:p>
        </p:txBody>
      </p:sp>
      <p:sp>
        <p:nvSpPr>
          <p:cNvPr id="38" name="Text 31"/>
          <p:cNvSpPr txBox="1"/>
          <p:nvPr/>
        </p:nvSpPr>
        <p:spPr>
          <a:xfrm>
            <a:off x="3246120" y="5715000"/>
            <a:ext cx="1325880" cy="4572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Beneficio esperado</a:t>
            </a:r>
            <a:endParaRPr lang="en-US" sz="1050" dirty="0"/>
          </a:p>
        </p:txBody>
      </p:sp>
      <p:sp>
        <p:nvSpPr>
          <p:cNvPr id="39" name="Text 32"/>
          <p:cNvSpPr txBox="1"/>
          <p:nvPr/>
        </p:nvSpPr>
        <p:spPr>
          <a:xfrm>
            <a:off x="4617720" y="5715000"/>
            <a:ext cx="7025335" cy="493776"/>
          </a:xfrm>
          <a:prstGeom prst="rect">
            <a:avLst/>
          </a:prstGeom>
          <a:noFill/>
          <a:ln/>
        </p:spPr>
        <p:txBody>
          <a:bodyPr wrap="square" lIns="0" tIns="0" rIns="0" bIns="0" rtlCol="0" anchor="t"/>
          <a:lstStyle/>
          <a:p>
            <a:pPr indent="0" marL="0">
              <a:buNone/>
            </a:pPr>
            <a:r>
              <a:rPr lang="en-US" sz="1100" dirty="0">
                <a:solidFill>
                  <a:srgbClr val="0B0B0D"/>
                </a:solidFill>
                <a:latin typeface="Arial" pitchFamily="34" charset="0"/>
                <a:ea typeface="Arial" pitchFamily="34" charset="-122"/>
                <a:cs typeface="Arial" pitchFamily="34" charset="-120"/>
              </a:rPr>
              <a:t>La consulta está siempre a un toque.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Flujo comercial: del catálogo a la atención</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27</a:t>
            </a:r>
            <a:endParaRPr lang="en-US" sz="900" dirty="0"/>
          </a:p>
        </p:txBody>
      </p:sp>
      <p:sp>
        <p:nvSpPr>
          <p:cNvPr id="6" name="Shape 3"/>
          <p:cNvSpPr/>
          <p:nvPr/>
        </p:nvSpPr>
        <p:spPr>
          <a:xfrm>
            <a:off x="548640" y="1645920"/>
            <a:ext cx="1417320" cy="1417320"/>
          </a:xfrm>
          <a:prstGeom prst="roundRect">
            <a:avLst>
              <a:gd name="adj" fmla="val 5161"/>
            </a:avLst>
          </a:prstGeom>
          <a:solidFill>
            <a:srgbClr val="0B0B0D"/>
          </a:solidFill>
          <a:ln/>
        </p:spPr>
      </p:sp>
      <p:pic>
        <p:nvPicPr>
          <p:cNvPr id="7" name="Image 0" descr="preencoded.png">    </p:cNvPr>
          <p:cNvPicPr>
            <a:picLocks noChangeAspect="1"/>
          </p:cNvPicPr>
          <p:nvPr/>
        </p:nvPicPr>
        <p:blipFill>
          <a:blip r:embed="rId1"/>
          <a:stretch>
            <a:fillRect/>
          </a:stretch>
        </p:blipFill>
        <p:spPr>
          <a:xfrm>
            <a:off x="1056132" y="1783080"/>
            <a:ext cx="402336" cy="402336"/>
          </a:xfrm>
          <a:prstGeom prst="rect">
            <a:avLst/>
          </a:prstGeom>
        </p:spPr>
      </p:pic>
      <p:sp>
        <p:nvSpPr>
          <p:cNvPr id="8" name="Text 4"/>
          <p:cNvSpPr txBox="1"/>
          <p:nvPr/>
        </p:nvSpPr>
        <p:spPr>
          <a:xfrm>
            <a:off x="603504"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Cliente</a:t>
            </a:r>
            <a:endParaRPr lang="en-US" sz="1250" dirty="0"/>
          </a:p>
        </p:txBody>
      </p:sp>
      <p:sp>
        <p:nvSpPr>
          <p:cNvPr id="9" name="Shape 5"/>
          <p:cNvSpPr/>
          <p:nvPr/>
        </p:nvSpPr>
        <p:spPr>
          <a:xfrm>
            <a:off x="1984248" y="2350008"/>
            <a:ext cx="158953" cy="0"/>
          </a:xfrm>
          <a:prstGeom prst="line">
            <a:avLst/>
          </a:prstGeom>
          <a:noFill/>
          <a:ln w="15875">
            <a:solidFill>
              <a:srgbClr val="6D28D9"/>
            </a:solidFill>
            <a:prstDash val="solid"/>
            <a:tailEnd type="triangle"/>
          </a:ln>
        </p:spPr>
      </p:sp>
      <p:sp>
        <p:nvSpPr>
          <p:cNvPr id="10" name="Shape 6"/>
          <p:cNvSpPr/>
          <p:nvPr/>
        </p:nvSpPr>
        <p:spPr>
          <a:xfrm>
            <a:off x="2161489" y="1645920"/>
            <a:ext cx="1417320" cy="1417320"/>
          </a:xfrm>
          <a:prstGeom prst="roundRect">
            <a:avLst>
              <a:gd name="adj" fmla="val 5161"/>
            </a:avLst>
          </a:prstGeom>
          <a:solidFill>
            <a:srgbClr val="0B0B0D"/>
          </a:solidFill>
          <a:ln/>
        </p:spPr>
      </p:sp>
      <p:pic>
        <p:nvPicPr>
          <p:cNvPr id="11" name="Image 1" descr="preencoded.png">    </p:cNvPr>
          <p:cNvPicPr>
            <a:picLocks noChangeAspect="1"/>
          </p:cNvPicPr>
          <p:nvPr/>
        </p:nvPicPr>
        <p:blipFill>
          <a:blip r:embed="rId2"/>
          <a:stretch>
            <a:fillRect/>
          </a:stretch>
        </p:blipFill>
        <p:spPr>
          <a:xfrm>
            <a:off x="2668981" y="1783080"/>
            <a:ext cx="402336" cy="402336"/>
          </a:xfrm>
          <a:prstGeom prst="rect">
            <a:avLst/>
          </a:prstGeom>
        </p:spPr>
      </p:pic>
      <p:sp>
        <p:nvSpPr>
          <p:cNvPr id="12" name="Text 7"/>
          <p:cNvSpPr txBox="1"/>
          <p:nvPr/>
        </p:nvSpPr>
        <p:spPr>
          <a:xfrm>
            <a:off x="2216353"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Catálogo</a:t>
            </a:r>
            <a:endParaRPr lang="en-US" sz="1250" dirty="0"/>
          </a:p>
        </p:txBody>
      </p:sp>
      <p:sp>
        <p:nvSpPr>
          <p:cNvPr id="13" name="Shape 8"/>
          <p:cNvSpPr/>
          <p:nvPr/>
        </p:nvSpPr>
        <p:spPr>
          <a:xfrm>
            <a:off x="3597097" y="2350008"/>
            <a:ext cx="158953" cy="0"/>
          </a:xfrm>
          <a:prstGeom prst="line">
            <a:avLst/>
          </a:prstGeom>
          <a:noFill/>
          <a:ln w="15875">
            <a:solidFill>
              <a:srgbClr val="6D28D9"/>
            </a:solidFill>
            <a:prstDash val="solid"/>
            <a:tailEnd type="triangle"/>
          </a:ln>
        </p:spPr>
      </p:sp>
      <p:sp>
        <p:nvSpPr>
          <p:cNvPr id="14" name="Shape 9"/>
          <p:cNvSpPr/>
          <p:nvPr/>
        </p:nvSpPr>
        <p:spPr>
          <a:xfrm>
            <a:off x="3774338" y="1645920"/>
            <a:ext cx="1417320" cy="1417320"/>
          </a:xfrm>
          <a:prstGeom prst="roundRect">
            <a:avLst>
              <a:gd name="adj" fmla="val 5161"/>
            </a:avLst>
          </a:prstGeom>
          <a:solidFill>
            <a:srgbClr val="0B0B0D"/>
          </a:solidFill>
          <a:ln/>
        </p:spPr>
      </p:sp>
      <p:pic>
        <p:nvPicPr>
          <p:cNvPr id="15" name="Image 2" descr="preencoded.png">    </p:cNvPr>
          <p:cNvPicPr>
            <a:picLocks noChangeAspect="1"/>
          </p:cNvPicPr>
          <p:nvPr/>
        </p:nvPicPr>
        <p:blipFill>
          <a:blip r:embed="rId3"/>
          <a:stretch>
            <a:fillRect/>
          </a:stretch>
        </p:blipFill>
        <p:spPr>
          <a:xfrm>
            <a:off x="4281830" y="1783080"/>
            <a:ext cx="402336" cy="402336"/>
          </a:xfrm>
          <a:prstGeom prst="rect">
            <a:avLst/>
          </a:prstGeom>
        </p:spPr>
      </p:pic>
      <p:sp>
        <p:nvSpPr>
          <p:cNvPr id="16" name="Text 10"/>
          <p:cNvSpPr txBox="1"/>
          <p:nvPr/>
        </p:nvSpPr>
        <p:spPr>
          <a:xfrm>
            <a:off x="382920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Producto</a:t>
            </a:r>
            <a:endParaRPr lang="en-US" sz="1250" dirty="0"/>
          </a:p>
        </p:txBody>
      </p:sp>
      <p:sp>
        <p:nvSpPr>
          <p:cNvPr id="17" name="Shape 11"/>
          <p:cNvSpPr/>
          <p:nvPr/>
        </p:nvSpPr>
        <p:spPr>
          <a:xfrm>
            <a:off x="5209946" y="2350008"/>
            <a:ext cx="158953" cy="0"/>
          </a:xfrm>
          <a:prstGeom prst="line">
            <a:avLst/>
          </a:prstGeom>
          <a:noFill/>
          <a:ln w="15875">
            <a:solidFill>
              <a:srgbClr val="6D28D9"/>
            </a:solidFill>
            <a:prstDash val="solid"/>
            <a:tailEnd type="triangle"/>
          </a:ln>
        </p:spPr>
      </p:sp>
      <p:sp>
        <p:nvSpPr>
          <p:cNvPr id="18" name="Shape 12"/>
          <p:cNvSpPr/>
          <p:nvPr/>
        </p:nvSpPr>
        <p:spPr>
          <a:xfrm>
            <a:off x="5387188" y="1645920"/>
            <a:ext cx="1417320" cy="1417320"/>
          </a:xfrm>
          <a:prstGeom prst="roundRect">
            <a:avLst>
              <a:gd name="adj" fmla="val 5161"/>
            </a:avLst>
          </a:prstGeom>
          <a:solidFill>
            <a:srgbClr val="0B0B0D"/>
          </a:solidFill>
          <a:ln/>
        </p:spPr>
      </p:sp>
      <p:pic>
        <p:nvPicPr>
          <p:cNvPr id="19" name="Image 3" descr="preencoded.png">    </p:cNvPr>
          <p:cNvPicPr>
            <a:picLocks noChangeAspect="1"/>
          </p:cNvPicPr>
          <p:nvPr/>
        </p:nvPicPr>
        <p:blipFill>
          <a:blip r:embed="rId4"/>
          <a:stretch>
            <a:fillRect/>
          </a:stretch>
        </p:blipFill>
        <p:spPr>
          <a:xfrm>
            <a:off x="5894680" y="1783080"/>
            <a:ext cx="402336" cy="402336"/>
          </a:xfrm>
          <a:prstGeom prst="rect">
            <a:avLst/>
          </a:prstGeom>
        </p:spPr>
      </p:pic>
      <p:sp>
        <p:nvSpPr>
          <p:cNvPr id="20" name="Text 13"/>
          <p:cNvSpPr txBox="1"/>
          <p:nvPr/>
        </p:nvSpPr>
        <p:spPr>
          <a:xfrm>
            <a:off x="5442052"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Comparación</a:t>
            </a:r>
            <a:endParaRPr lang="en-US" sz="1250" dirty="0"/>
          </a:p>
        </p:txBody>
      </p:sp>
      <p:sp>
        <p:nvSpPr>
          <p:cNvPr id="21" name="Shape 14"/>
          <p:cNvSpPr/>
          <p:nvPr/>
        </p:nvSpPr>
        <p:spPr>
          <a:xfrm>
            <a:off x="6822796" y="2350008"/>
            <a:ext cx="158953" cy="0"/>
          </a:xfrm>
          <a:prstGeom prst="line">
            <a:avLst/>
          </a:prstGeom>
          <a:noFill/>
          <a:ln w="15875">
            <a:solidFill>
              <a:srgbClr val="6D28D9"/>
            </a:solidFill>
            <a:prstDash val="solid"/>
            <a:tailEnd type="triangle"/>
          </a:ln>
        </p:spPr>
      </p:sp>
      <p:sp>
        <p:nvSpPr>
          <p:cNvPr id="22" name="Shape 15"/>
          <p:cNvSpPr/>
          <p:nvPr/>
        </p:nvSpPr>
        <p:spPr>
          <a:xfrm>
            <a:off x="7000037" y="1645920"/>
            <a:ext cx="1417320" cy="1417320"/>
          </a:xfrm>
          <a:prstGeom prst="roundRect">
            <a:avLst>
              <a:gd name="adj" fmla="val 5161"/>
            </a:avLst>
          </a:prstGeom>
          <a:solidFill>
            <a:srgbClr val="0B0B0D"/>
          </a:solidFill>
          <a:ln/>
        </p:spPr>
      </p:sp>
      <p:pic>
        <p:nvPicPr>
          <p:cNvPr id="23" name="Image 4" descr="preencoded.png">    </p:cNvPr>
          <p:cNvPicPr>
            <a:picLocks noChangeAspect="1"/>
          </p:cNvPicPr>
          <p:nvPr/>
        </p:nvPicPr>
        <p:blipFill>
          <a:blip r:embed="rId5"/>
          <a:stretch>
            <a:fillRect/>
          </a:stretch>
        </p:blipFill>
        <p:spPr>
          <a:xfrm>
            <a:off x="7507529" y="1783080"/>
            <a:ext cx="402336" cy="402336"/>
          </a:xfrm>
          <a:prstGeom prst="rect">
            <a:avLst/>
          </a:prstGeom>
        </p:spPr>
      </p:pic>
      <p:sp>
        <p:nvSpPr>
          <p:cNvPr id="24" name="Text 16"/>
          <p:cNvSpPr txBox="1"/>
          <p:nvPr/>
        </p:nvSpPr>
        <p:spPr>
          <a:xfrm>
            <a:off x="7054901"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«Cotizar»</a:t>
            </a:r>
            <a:endParaRPr lang="en-US" sz="1250" dirty="0"/>
          </a:p>
        </p:txBody>
      </p:sp>
      <p:sp>
        <p:nvSpPr>
          <p:cNvPr id="25" name="Shape 17"/>
          <p:cNvSpPr/>
          <p:nvPr/>
        </p:nvSpPr>
        <p:spPr>
          <a:xfrm>
            <a:off x="8435645" y="2350008"/>
            <a:ext cx="158953" cy="0"/>
          </a:xfrm>
          <a:prstGeom prst="line">
            <a:avLst/>
          </a:prstGeom>
          <a:noFill/>
          <a:ln w="15875">
            <a:solidFill>
              <a:srgbClr val="6D28D9"/>
            </a:solidFill>
            <a:prstDash val="solid"/>
            <a:tailEnd type="triangle"/>
          </a:ln>
        </p:spPr>
      </p:sp>
      <p:sp>
        <p:nvSpPr>
          <p:cNvPr id="26" name="Shape 18"/>
          <p:cNvSpPr/>
          <p:nvPr/>
        </p:nvSpPr>
        <p:spPr>
          <a:xfrm>
            <a:off x="8612886" y="1645920"/>
            <a:ext cx="1417320" cy="1417320"/>
          </a:xfrm>
          <a:prstGeom prst="roundRect">
            <a:avLst>
              <a:gd name="adj" fmla="val 5161"/>
            </a:avLst>
          </a:prstGeom>
          <a:solidFill>
            <a:srgbClr val="0B0B0D"/>
          </a:solidFill>
          <a:ln/>
        </p:spPr>
      </p:sp>
      <p:pic>
        <p:nvPicPr>
          <p:cNvPr id="27" name="Image 5" descr="preencoded.png">    </p:cNvPr>
          <p:cNvPicPr>
            <a:picLocks noChangeAspect="1"/>
          </p:cNvPicPr>
          <p:nvPr/>
        </p:nvPicPr>
        <p:blipFill>
          <a:blip r:embed="rId6"/>
          <a:stretch>
            <a:fillRect/>
          </a:stretch>
        </p:blipFill>
        <p:spPr>
          <a:xfrm>
            <a:off x="9120378" y="1783080"/>
            <a:ext cx="402336" cy="402336"/>
          </a:xfrm>
          <a:prstGeom prst="rect">
            <a:avLst/>
          </a:prstGeom>
        </p:spPr>
      </p:pic>
      <p:sp>
        <p:nvSpPr>
          <p:cNvPr id="28" name="Text 19"/>
          <p:cNvSpPr txBox="1"/>
          <p:nvPr/>
        </p:nvSpPr>
        <p:spPr>
          <a:xfrm>
            <a:off x="8667750" y="2286000"/>
            <a:ext cx="1307592" cy="6858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Dónde comprar / WhatsApp</a:t>
            </a:r>
            <a:endParaRPr lang="en-US" sz="1250" dirty="0"/>
          </a:p>
        </p:txBody>
      </p:sp>
      <p:sp>
        <p:nvSpPr>
          <p:cNvPr id="29" name="Shape 20"/>
          <p:cNvSpPr/>
          <p:nvPr/>
        </p:nvSpPr>
        <p:spPr>
          <a:xfrm>
            <a:off x="10048494" y="2350008"/>
            <a:ext cx="158953" cy="0"/>
          </a:xfrm>
          <a:prstGeom prst="line">
            <a:avLst/>
          </a:prstGeom>
          <a:noFill/>
          <a:ln w="15875">
            <a:solidFill>
              <a:srgbClr val="6D28D9"/>
            </a:solidFill>
            <a:prstDash val="solid"/>
            <a:tailEnd type="triangle"/>
          </a:ln>
        </p:spPr>
      </p:sp>
      <p:sp>
        <p:nvSpPr>
          <p:cNvPr id="30" name="Shape 21"/>
          <p:cNvSpPr/>
          <p:nvPr/>
        </p:nvSpPr>
        <p:spPr>
          <a:xfrm>
            <a:off x="10225735" y="1645920"/>
            <a:ext cx="1417320" cy="1417320"/>
          </a:xfrm>
          <a:prstGeom prst="roundRect">
            <a:avLst>
              <a:gd name="adj" fmla="val 5161"/>
            </a:avLst>
          </a:prstGeom>
          <a:solidFill>
            <a:srgbClr val="F5F5F7"/>
          </a:solidFill>
          <a:ln w="12700">
            <a:solidFill>
              <a:srgbClr val="E3E4E8"/>
            </a:solidFill>
            <a:prstDash val="solid"/>
          </a:ln>
        </p:spPr>
      </p:sp>
      <p:pic>
        <p:nvPicPr>
          <p:cNvPr id="31" name="Image 6" descr="preencoded.png">    </p:cNvPr>
          <p:cNvPicPr>
            <a:picLocks noChangeAspect="1"/>
          </p:cNvPicPr>
          <p:nvPr/>
        </p:nvPicPr>
        <p:blipFill>
          <a:blip r:embed="rId7"/>
          <a:stretch>
            <a:fillRect/>
          </a:stretch>
        </p:blipFill>
        <p:spPr>
          <a:xfrm>
            <a:off x="10733227" y="1783080"/>
            <a:ext cx="402336" cy="402336"/>
          </a:xfrm>
          <a:prstGeom prst="rect">
            <a:avLst/>
          </a:prstGeom>
        </p:spPr>
      </p:pic>
      <p:sp>
        <p:nvSpPr>
          <p:cNvPr id="32" name="Text 22"/>
          <p:cNvSpPr txBox="1"/>
          <p:nvPr/>
        </p:nvSpPr>
        <p:spPr>
          <a:xfrm>
            <a:off x="10280599" y="2286000"/>
            <a:ext cx="1307592" cy="685800"/>
          </a:xfrm>
          <a:prstGeom prst="rect">
            <a:avLst/>
          </a:prstGeom>
          <a:noFill/>
          <a:ln/>
        </p:spPr>
        <p:txBody>
          <a:bodyPr wrap="square" lIns="0" tIns="0" rIns="0" bIns="0" rtlCol="0" anchor="t"/>
          <a:lstStyle/>
          <a:p>
            <a:pPr algn="ctr" indent="0" marL="0">
              <a:buNone/>
            </a:pPr>
            <a:r>
              <a:rPr lang="en-US" sz="1250" b="1" dirty="0">
                <a:solidFill>
                  <a:srgbClr val="0B0B0D"/>
                </a:solidFill>
                <a:latin typeface="Arial" pitchFamily="34" charset="0"/>
                <a:ea typeface="Arial" pitchFamily="34" charset="-122"/>
                <a:cs typeface="Arial" pitchFamily="34" charset="-120"/>
              </a:rPr>
              <a:t>Atención comercial</a:t>
            </a:r>
            <a:endParaRPr lang="en-US" sz="1250" dirty="0"/>
          </a:p>
        </p:txBody>
      </p:sp>
      <p:sp>
        <p:nvSpPr>
          <p:cNvPr id="33" name="Text 23"/>
          <p:cNvSpPr txBox="1"/>
          <p:nvPr/>
        </p:nvSpPr>
        <p:spPr>
          <a:xfrm>
            <a:off x="548640" y="3154680"/>
            <a:ext cx="4572000" cy="274320"/>
          </a:xfrm>
          <a:prstGeom prst="rect">
            <a:avLst/>
          </a:prstGeom>
          <a:noFill/>
          <a:ln/>
        </p:spPr>
        <p:txBody>
          <a:bodyPr wrap="square" lIns="0" tIns="0" rIns="0" bIns="0" rtlCol="0" anchor="t"/>
          <a:lstStyle/>
          <a:p>
            <a:pPr indent="0" marL="0">
              <a:buNone/>
            </a:pPr>
            <a:r>
              <a:rPr lang="en-US" sz="1100" b="1" dirty="0">
                <a:solidFill>
                  <a:srgbClr val="0B0B0D"/>
                </a:solidFill>
                <a:latin typeface="Arial" pitchFamily="34" charset="0"/>
                <a:ea typeface="Arial" pitchFamily="34" charset="-122"/>
                <a:cs typeface="Arial" pitchFamily="34" charset="-120"/>
              </a:rPr>
              <a:t>Desarrollado en la web renovada</a:t>
            </a:r>
            <a:endParaRPr lang="en-US" sz="1100" dirty="0"/>
          </a:p>
        </p:txBody>
      </p:sp>
      <p:sp>
        <p:nvSpPr>
          <p:cNvPr id="34" name="Text 24"/>
          <p:cNvSpPr txBox="1"/>
          <p:nvPr/>
        </p:nvSpPr>
        <p:spPr>
          <a:xfrm>
            <a:off x="10225735" y="3154680"/>
            <a:ext cx="1417320" cy="274320"/>
          </a:xfrm>
          <a:prstGeom prst="rect">
            <a:avLst/>
          </a:prstGeom>
          <a:noFill/>
          <a:ln/>
        </p:spPr>
        <p:txBody>
          <a:bodyPr wrap="square" lIns="0" tIns="0" rIns="0" bIns="0" rtlCol="0" anchor="t"/>
          <a:lstStyle/>
          <a:p>
            <a:pPr algn="ctr" indent="0" marL="0">
              <a:buNone/>
            </a:pPr>
            <a:r>
              <a:rPr lang="en-US" sz="1000" i="1" dirty="0">
                <a:solidFill>
                  <a:srgbClr val="6B7280"/>
                </a:solidFill>
                <a:latin typeface="Arial" pitchFamily="34" charset="0"/>
                <a:ea typeface="Arial" pitchFamily="34" charset="-122"/>
                <a:cs typeface="Arial" pitchFamily="34" charset="-120"/>
              </a:rPr>
              <a:t>(fuera de la web)</a:t>
            </a:r>
            <a:endParaRPr lang="en-US" sz="1000" dirty="0"/>
          </a:p>
        </p:txBody>
      </p:sp>
      <p:sp>
        <p:nvSpPr>
          <p:cNvPr id="35" name="Shape 25"/>
          <p:cNvSpPr/>
          <p:nvPr/>
        </p:nvSpPr>
        <p:spPr>
          <a:xfrm>
            <a:off x="7708697" y="3474720"/>
            <a:ext cx="0" cy="411480"/>
          </a:xfrm>
          <a:prstGeom prst="line">
            <a:avLst/>
          </a:prstGeom>
          <a:noFill/>
          <a:ln w="15875">
            <a:solidFill>
              <a:srgbClr val="6D28D9"/>
            </a:solidFill>
            <a:prstDash val="dash"/>
            <a:tailEnd type="triangle"/>
          </a:ln>
        </p:spPr>
      </p:sp>
      <p:sp>
        <p:nvSpPr>
          <p:cNvPr id="36" name="Shape 26"/>
          <p:cNvSpPr/>
          <p:nvPr/>
        </p:nvSpPr>
        <p:spPr>
          <a:xfrm>
            <a:off x="7000037" y="3931920"/>
            <a:ext cx="1417320" cy="1143000"/>
          </a:xfrm>
          <a:prstGeom prst="roundRect">
            <a:avLst>
              <a:gd name="adj" fmla="val 6400"/>
            </a:avLst>
          </a:prstGeom>
          <a:solidFill>
            <a:srgbClr val="EDE4FB"/>
          </a:solidFill>
          <a:ln w="12700">
            <a:solidFill>
              <a:srgbClr val="6D28D9"/>
            </a:solidFill>
            <a:prstDash val="dash"/>
          </a:ln>
        </p:spPr>
      </p:sp>
      <p:sp>
        <p:nvSpPr>
          <p:cNvPr id="37" name="Text 27"/>
          <p:cNvSpPr txBox="1"/>
          <p:nvPr/>
        </p:nvSpPr>
        <p:spPr>
          <a:xfrm>
            <a:off x="7073189"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Registrar el inicio de la consulta</a:t>
            </a:r>
            <a:endParaRPr lang="en-US" sz="1100" dirty="0"/>
          </a:p>
        </p:txBody>
      </p:sp>
      <p:sp>
        <p:nvSpPr>
          <p:cNvPr id="38" name="Shape 28"/>
          <p:cNvSpPr/>
          <p:nvPr/>
        </p:nvSpPr>
        <p:spPr>
          <a:xfrm>
            <a:off x="9321546" y="3474720"/>
            <a:ext cx="0" cy="411480"/>
          </a:xfrm>
          <a:prstGeom prst="line">
            <a:avLst/>
          </a:prstGeom>
          <a:noFill/>
          <a:ln w="15875">
            <a:solidFill>
              <a:srgbClr val="6D28D9"/>
            </a:solidFill>
            <a:prstDash val="dash"/>
            <a:tailEnd type="triangle"/>
          </a:ln>
        </p:spPr>
      </p:sp>
      <p:sp>
        <p:nvSpPr>
          <p:cNvPr id="39" name="Shape 29"/>
          <p:cNvSpPr/>
          <p:nvPr/>
        </p:nvSpPr>
        <p:spPr>
          <a:xfrm>
            <a:off x="8612886" y="3931920"/>
            <a:ext cx="1417320" cy="1143000"/>
          </a:xfrm>
          <a:prstGeom prst="roundRect">
            <a:avLst>
              <a:gd name="adj" fmla="val 6400"/>
            </a:avLst>
          </a:prstGeom>
          <a:solidFill>
            <a:srgbClr val="EDE4FB"/>
          </a:solidFill>
          <a:ln w="12700">
            <a:solidFill>
              <a:srgbClr val="6D28D9"/>
            </a:solidFill>
            <a:prstDash val="dash"/>
          </a:ln>
        </p:spPr>
      </p:sp>
      <p:sp>
        <p:nvSpPr>
          <p:cNvPr id="40" name="Text 30"/>
          <p:cNvSpPr txBox="1"/>
          <p:nvPr/>
        </p:nvSpPr>
        <p:spPr>
          <a:xfrm>
            <a:off x="8686038"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Directorio estructurado de distribuidores</a:t>
            </a:r>
            <a:endParaRPr lang="en-US" sz="1100" dirty="0"/>
          </a:p>
        </p:txBody>
      </p:sp>
      <p:sp>
        <p:nvSpPr>
          <p:cNvPr id="41" name="Shape 31"/>
          <p:cNvSpPr/>
          <p:nvPr/>
        </p:nvSpPr>
        <p:spPr>
          <a:xfrm>
            <a:off x="10934395" y="3474720"/>
            <a:ext cx="0" cy="411480"/>
          </a:xfrm>
          <a:prstGeom prst="line">
            <a:avLst/>
          </a:prstGeom>
          <a:noFill/>
          <a:ln w="15875">
            <a:solidFill>
              <a:srgbClr val="6D28D9"/>
            </a:solidFill>
            <a:prstDash val="dash"/>
            <a:tailEnd type="triangle"/>
          </a:ln>
        </p:spPr>
      </p:sp>
      <p:sp>
        <p:nvSpPr>
          <p:cNvPr id="42" name="Shape 32"/>
          <p:cNvSpPr/>
          <p:nvPr/>
        </p:nvSpPr>
        <p:spPr>
          <a:xfrm>
            <a:off x="10225735" y="3931920"/>
            <a:ext cx="1417320" cy="1143000"/>
          </a:xfrm>
          <a:prstGeom prst="roundRect">
            <a:avLst>
              <a:gd name="adj" fmla="val 6400"/>
            </a:avLst>
          </a:prstGeom>
          <a:solidFill>
            <a:srgbClr val="EDE4FB"/>
          </a:solidFill>
          <a:ln w="12700">
            <a:solidFill>
              <a:srgbClr val="6D28D9"/>
            </a:solidFill>
            <a:prstDash val="dash"/>
          </a:ln>
        </p:spPr>
      </p:sp>
      <p:sp>
        <p:nvSpPr>
          <p:cNvPr id="43" name="Text 33"/>
          <p:cNvSpPr txBox="1"/>
          <p:nvPr/>
        </p:nvSpPr>
        <p:spPr>
          <a:xfrm>
            <a:off x="10298887" y="3931920"/>
            <a:ext cx="1271016" cy="1143000"/>
          </a:xfrm>
          <a:prstGeom prst="rect">
            <a:avLst/>
          </a:prstGeom>
          <a:noFill/>
          <a:ln/>
        </p:spPr>
        <p:txBody>
          <a:bodyPr wrap="square" lIns="0" tIns="0" rIns="0" bIns="0" rtlCol="0" anchor="ctr"/>
          <a:lstStyle/>
          <a:p>
            <a:pPr algn="ctr" indent="0" marL="0">
              <a:buNone/>
            </a:pPr>
            <a:r>
              <a:rPr lang="en-US" sz="1100" b="1" dirty="0">
                <a:solidFill>
                  <a:srgbClr val="0B0B0D"/>
                </a:solidFill>
                <a:latin typeface="Arial" pitchFamily="34" charset="0"/>
                <a:ea typeface="Arial" pitchFamily="34" charset="-122"/>
                <a:cs typeface="Arial" pitchFamily="34" charset="-120"/>
              </a:rPr>
              <a:t>Seguimiento y reportes (requiere un mecanismo adicional)</a:t>
            </a:r>
            <a:endParaRPr lang="en-US" sz="1100" dirty="0"/>
          </a:p>
        </p:txBody>
      </p:sp>
      <p:sp>
        <p:nvSpPr>
          <p:cNvPr id="44" name="Text 34"/>
          <p:cNvSpPr txBox="1"/>
          <p:nvPr/>
        </p:nvSpPr>
        <p:spPr>
          <a:xfrm>
            <a:off x="7000037" y="5166360"/>
            <a:ext cx="457200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Ampliaciones propuestas</a:t>
            </a:r>
            <a:endParaRPr lang="en-US" sz="1100" dirty="0"/>
          </a:p>
        </p:txBody>
      </p:sp>
      <p:sp>
        <p:nvSpPr>
          <p:cNvPr id="45" name="Shape 35"/>
          <p:cNvSpPr/>
          <p:nvPr/>
        </p:nvSpPr>
        <p:spPr>
          <a:xfrm>
            <a:off x="548640" y="3931920"/>
            <a:ext cx="6131357" cy="2057400"/>
          </a:xfrm>
          <a:prstGeom prst="roundRect">
            <a:avLst>
              <a:gd name="adj" fmla="val 3556"/>
            </a:avLst>
          </a:prstGeom>
          <a:solidFill>
            <a:srgbClr val="F5F5F7"/>
          </a:solidFill>
          <a:ln/>
        </p:spPr>
      </p:sp>
      <p:sp>
        <p:nvSpPr>
          <p:cNvPr id="46" name="Text 36"/>
          <p:cNvSpPr txBox="1"/>
          <p:nvPr/>
        </p:nvSpPr>
        <p:spPr>
          <a:xfrm>
            <a:off x="777240" y="4069080"/>
            <a:ext cx="5486400" cy="274320"/>
          </a:xfrm>
          <a:prstGeom prst="rect">
            <a:avLst/>
          </a:prstGeom>
          <a:noFill/>
          <a:ln/>
        </p:spPr>
        <p:txBody>
          <a:bodyPr wrap="square" lIns="0" tIns="0" rIns="0" bIns="0" rtlCol="0" anchor="t"/>
          <a:lstStyle/>
          <a:p>
            <a:pPr indent="0" marL="0">
              <a:buNone/>
            </a:pPr>
            <a:r>
              <a:rPr lang="en-US" sz="1100" b="1" dirty="0">
                <a:solidFill>
                  <a:srgbClr val="6D28D9"/>
                </a:solidFill>
                <a:latin typeface="Arial" pitchFamily="34" charset="0"/>
                <a:ea typeface="Arial" pitchFamily="34" charset="-122"/>
                <a:cs typeface="Arial" pitchFamily="34" charset="-120"/>
              </a:rPr>
              <a:t>Mensaje que genera la web renovada</a:t>
            </a:r>
            <a:endParaRPr lang="en-US" sz="1100" dirty="0"/>
          </a:p>
        </p:txBody>
      </p:sp>
      <p:sp>
        <p:nvSpPr>
          <p:cNvPr id="47" name="Text 37"/>
          <p:cNvSpPr txBox="1"/>
          <p:nvPr/>
        </p:nvSpPr>
        <p:spPr>
          <a:xfrm>
            <a:off x="777240" y="4434840"/>
            <a:ext cx="5760720" cy="548640"/>
          </a:xfrm>
          <a:prstGeom prst="rect">
            <a:avLst/>
          </a:prstGeom>
          <a:noFill/>
          <a:ln/>
        </p:spPr>
        <p:txBody>
          <a:bodyPr wrap="square" lIns="0" tIns="0" rIns="0" bIns="0" rtlCol="0" anchor="t"/>
          <a:lstStyle/>
          <a:p>
            <a:pPr indent="0" marL="0">
              <a:buNone/>
            </a:pPr>
            <a:r>
              <a:rPr lang="en-US" sz="1500" b="1" dirty="0">
                <a:solidFill>
                  <a:srgbClr val="0B0B0D"/>
                </a:solidFill>
                <a:latin typeface="Arial" pitchFamily="34" charset="0"/>
                <a:ea typeface="Arial" pitchFamily="34" charset="-122"/>
                <a:cs typeface="Arial" pitchFamily="34" charset="-120"/>
              </a:rPr>
              <a:t>«Hola Black Hawk, vengo de la web y quiero cotizar el modelo BH-SW12XXG.»</a:t>
            </a:r>
            <a:endParaRPr lang="en-US" sz="1500" dirty="0"/>
          </a:p>
        </p:txBody>
      </p:sp>
      <p:sp>
        <p:nvSpPr>
          <p:cNvPr id="48" name="Text 38"/>
          <p:cNvSpPr txBox="1"/>
          <p:nvPr/>
        </p:nvSpPr>
        <p:spPr>
          <a:xfrm>
            <a:off x="777240" y="5120640"/>
            <a:ext cx="5760720" cy="64008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El clic abre una conversación: no equivale a una venta ni a una cotización aceptada.</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Funcionalidades principales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28</a:t>
            </a:r>
            <a:endParaRPr lang="en-US" sz="900" dirty="0"/>
          </a:p>
        </p:txBody>
      </p:sp>
      <p:sp>
        <p:nvSpPr>
          <p:cNvPr id="6" name="Shape 3"/>
          <p:cNvSpPr/>
          <p:nvPr/>
        </p:nvSpPr>
        <p:spPr>
          <a:xfrm>
            <a:off x="548640" y="1463040"/>
            <a:ext cx="2087209" cy="4526280"/>
          </a:xfrm>
          <a:prstGeom prst="roundRect">
            <a:avLst>
              <a:gd name="adj" fmla="val 3505"/>
            </a:avLst>
          </a:prstGeom>
          <a:solidFill>
            <a:srgbClr val="F5F5F7"/>
          </a:solidFill>
          <a:ln/>
        </p:spPr>
      </p:sp>
      <p:sp>
        <p:nvSpPr>
          <p:cNvPr id="7" name="Shape 4"/>
          <p:cNvSpPr/>
          <p:nvPr/>
        </p:nvSpPr>
        <p:spPr>
          <a:xfrm>
            <a:off x="731520" y="1645920"/>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63194" y="1777594"/>
            <a:ext cx="285293" cy="285293"/>
          </a:xfrm>
          <a:prstGeom prst="rect">
            <a:avLst/>
          </a:prstGeom>
        </p:spPr>
      </p:pic>
      <p:sp>
        <p:nvSpPr>
          <p:cNvPr id="9" name="Text 5"/>
          <p:cNvSpPr txBox="1"/>
          <p:nvPr/>
        </p:nvSpPr>
        <p:spPr>
          <a:xfrm>
            <a:off x="731520"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A · Rediseño visual</a:t>
            </a:r>
            <a:endParaRPr lang="en-US" sz="1450" dirty="0"/>
          </a:p>
        </p:txBody>
      </p:sp>
      <p:sp>
        <p:nvSpPr>
          <p:cNvPr id="10" name="Shape 6"/>
          <p:cNvSpPr/>
          <p:nvPr/>
        </p:nvSpPr>
        <p:spPr>
          <a:xfrm>
            <a:off x="731520" y="2971800"/>
            <a:ext cx="1048817" cy="256032"/>
          </a:xfrm>
          <a:prstGeom prst="roundRect">
            <a:avLst>
              <a:gd name="adj" fmla="val 50000"/>
            </a:avLst>
          </a:prstGeom>
          <a:solidFill>
            <a:srgbClr val="FFFFFF"/>
          </a:solidFill>
          <a:ln w="9525">
            <a:solidFill>
              <a:srgbClr val="0B0B0D"/>
            </a:solidFill>
            <a:prstDash val="solid"/>
          </a:ln>
        </p:spPr>
      </p:sp>
      <p:sp>
        <p:nvSpPr>
          <p:cNvPr id="11" name="Text 7"/>
          <p:cNvSpPr txBox="1"/>
          <p:nvPr/>
        </p:nvSpPr>
        <p:spPr>
          <a:xfrm>
            <a:off x="731520"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2" name="Text 8"/>
          <p:cNvSpPr txBox="1"/>
          <p:nvPr/>
        </p:nvSpPr>
        <p:spPr>
          <a:xfrm>
            <a:off x="731520"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Identidad Black Hawk y jerarquía visual</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Productos destacados en la home</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Diseño adaptable al celular</a:t>
            </a:r>
            <a:endParaRPr lang="en-US" sz="1150" dirty="0"/>
          </a:p>
        </p:txBody>
      </p:sp>
      <p:sp>
        <p:nvSpPr>
          <p:cNvPr id="13" name="Shape 9"/>
          <p:cNvSpPr/>
          <p:nvPr/>
        </p:nvSpPr>
        <p:spPr>
          <a:xfrm>
            <a:off x="2800441" y="1463040"/>
            <a:ext cx="2087209" cy="4526280"/>
          </a:xfrm>
          <a:prstGeom prst="roundRect">
            <a:avLst>
              <a:gd name="adj" fmla="val 3505"/>
            </a:avLst>
          </a:prstGeom>
          <a:solidFill>
            <a:srgbClr val="F5F5F7"/>
          </a:solidFill>
          <a:ln/>
        </p:spPr>
      </p:sp>
      <p:sp>
        <p:nvSpPr>
          <p:cNvPr id="14" name="Shape 10"/>
          <p:cNvSpPr/>
          <p:nvPr/>
        </p:nvSpPr>
        <p:spPr>
          <a:xfrm>
            <a:off x="2983321" y="1645920"/>
            <a:ext cx="548640" cy="54864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3114995" y="1777594"/>
            <a:ext cx="285293" cy="285293"/>
          </a:xfrm>
          <a:prstGeom prst="rect">
            <a:avLst/>
          </a:prstGeom>
        </p:spPr>
      </p:pic>
      <p:sp>
        <p:nvSpPr>
          <p:cNvPr id="16" name="Text 11"/>
          <p:cNvSpPr txBox="1"/>
          <p:nvPr/>
        </p:nvSpPr>
        <p:spPr>
          <a:xfrm>
            <a:off x="2983321"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B · Catálogo y consulta</a:t>
            </a:r>
            <a:endParaRPr lang="en-US" sz="1450" dirty="0"/>
          </a:p>
        </p:txBody>
      </p:sp>
      <p:sp>
        <p:nvSpPr>
          <p:cNvPr id="17" name="Shape 12"/>
          <p:cNvSpPr/>
          <p:nvPr/>
        </p:nvSpPr>
        <p:spPr>
          <a:xfrm>
            <a:off x="2983321" y="2971800"/>
            <a:ext cx="1048817" cy="256032"/>
          </a:xfrm>
          <a:prstGeom prst="roundRect">
            <a:avLst>
              <a:gd name="adj" fmla="val 50000"/>
            </a:avLst>
          </a:prstGeom>
          <a:solidFill>
            <a:srgbClr val="FFFFFF"/>
          </a:solidFill>
          <a:ln w="9525">
            <a:solidFill>
              <a:srgbClr val="0B0B0D"/>
            </a:solidFill>
            <a:prstDash val="solid"/>
          </a:ln>
        </p:spPr>
      </p:sp>
      <p:sp>
        <p:nvSpPr>
          <p:cNvPr id="18" name="Text 13"/>
          <p:cNvSpPr txBox="1"/>
          <p:nvPr/>
        </p:nvSpPr>
        <p:spPr>
          <a:xfrm>
            <a:off x="2983321"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19" name="Text 14"/>
          <p:cNvSpPr txBox="1"/>
          <p:nvPr/>
        </p:nvSpPr>
        <p:spPr>
          <a:xfrm>
            <a:off x="2983321"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Categorías con contador y filtros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Fichas con especificaciones en lista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Búsqueda con tipo y potencia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Comparador de hasta 3 modelos</a:t>
            </a:r>
            <a:endParaRPr lang="en-US" sz="1150" dirty="0"/>
          </a:p>
        </p:txBody>
      </p:sp>
      <p:sp>
        <p:nvSpPr>
          <p:cNvPr id="20" name="Shape 15"/>
          <p:cNvSpPr/>
          <p:nvPr/>
        </p:nvSpPr>
        <p:spPr>
          <a:xfrm>
            <a:off x="5052243" y="1463040"/>
            <a:ext cx="2087209" cy="4526280"/>
          </a:xfrm>
          <a:prstGeom prst="roundRect">
            <a:avLst>
              <a:gd name="adj" fmla="val 3505"/>
            </a:avLst>
          </a:prstGeom>
          <a:solidFill>
            <a:srgbClr val="0B0B0D"/>
          </a:solidFill>
          <a:ln/>
        </p:spPr>
      </p:sp>
      <p:sp>
        <p:nvSpPr>
          <p:cNvPr id="21" name="Shape 16"/>
          <p:cNvSpPr/>
          <p:nvPr/>
        </p:nvSpPr>
        <p:spPr>
          <a:xfrm>
            <a:off x="5235123" y="1645920"/>
            <a:ext cx="548640" cy="54864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5366796" y="1777594"/>
            <a:ext cx="285293" cy="285293"/>
          </a:xfrm>
          <a:prstGeom prst="rect">
            <a:avLst/>
          </a:prstGeom>
        </p:spPr>
      </p:pic>
      <p:sp>
        <p:nvSpPr>
          <p:cNvPr id="23" name="Text 17"/>
          <p:cNvSpPr txBox="1"/>
          <p:nvPr/>
        </p:nvSpPr>
        <p:spPr>
          <a:xfrm>
            <a:off x="5235123" y="2331720"/>
            <a:ext cx="1767169" cy="594360"/>
          </a:xfrm>
          <a:prstGeom prst="rect">
            <a:avLst/>
          </a:prstGeom>
          <a:noFill/>
          <a:ln/>
        </p:spPr>
        <p:txBody>
          <a:bodyPr wrap="square" lIns="0" tIns="0" rIns="0" bIns="0" rtlCol="0" anchor="t"/>
          <a:lstStyle/>
          <a:p>
            <a:pPr indent="0" marL="0">
              <a:buNone/>
            </a:pPr>
            <a:r>
              <a:rPr lang="en-US" sz="1450" b="1" dirty="0">
                <a:solidFill>
                  <a:srgbClr val="FFFFFF"/>
                </a:solidFill>
                <a:latin typeface="Arial" pitchFamily="34" charset="0"/>
                <a:ea typeface="Arial" pitchFamily="34" charset="-122"/>
                <a:cs typeface="Arial" pitchFamily="34" charset="-120"/>
              </a:rPr>
              <a:t>C · Recorrido comercial</a:t>
            </a:r>
            <a:endParaRPr lang="en-US" sz="1450" dirty="0"/>
          </a:p>
        </p:txBody>
      </p:sp>
      <p:sp>
        <p:nvSpPr>
          <p:cNvPr id="24" name="Shape 18"/>
          <p:cNvSpPr/>
          <p:nvPr/>
        </p:nvSpPr>
        <p:spPr>
          <a:xfrm>
            <a:off x="5235123" y="2971800"/>
            <a:ext cx="1048817" cy="256032"/>
          </a:xfrm>
          <a:prstGeom prst="roundRect">
            <a:avLst>
              <a:gd name="adj" fmla="val 50000"/>
            </a:avLst>
          </a:prstGeom>
          <a:solidFill>
            <a:srgbClr val="FFFFFF"/>
          </a:solidFill>
          <a:ln w="9525">
            <a:solidFill>
              <a:srgbClr val="0B0B0D"/>
            </a:solidFill>
            <a:prstDash val="solid"/>
          </a:ln>
        </p:spPr>
      </p:sp>
      <p:sp>
        <p:nvSpPr>
          <p:cNvPr id="25" name="Text 19"/>
          <p:cNvSpPr txBox="1"/>
          <p:nvPr/>
        </p:nvSpPr>
        <p:spPr>
          <a:xfrm>
            <a:off x="5235123" y="2971800"/>
            <a:ext cx="1048817" cy="256032"/>
          </a:xfrm>
          <a:prstGeom prst="rect">
            <a:avLst/>
          </a:prstGeom>
          <a:noFill/>
          <a:ln/>
        </p:spPr>
        <p:txBody>
          <a:bodyPr wrap="square" lIns="0" tIns="0" rIns="0" bIns="0" rtlCol="0" anchor="ctr"/>
          <a:lstStyle/>
          <a:p>
            <a:pPr algn="ctr" indent="0" marL="0">
              <a:buNone/>
            </a:pPr>
            <a:r>
              <a:rPr lang="en-US" sz="850" b="1" dirty="0">
                <a:solidFill>
                  <a:srgbClr val="0B0B0D"/>
                </a:solidFill>
                <a:latin typeface="Arial" pitchFamily="34" charset="0"/>
                <a:ea typeface="Arial" pitchFamily="34" charset="-122"/>
                <a:cs typeface="Arial" pitchFamily="34" charset="-120"/>
              </a:rPr>
              <a:t>Desarrollado</a:t>
            </a:r>
            <a:endParaRPr lang="en-US" sz="850" dirty="0"/>
          </a:p>
        </p:txBody>
      </p:sp>
      <p:sp>
        <p:nvSpPr>
          <p:cNvPr id="26" name="Text 20"/>
          <p:cNvSpPr txBox="1"/>
          <p:nvPr/>
        </p:nvSpPr>
        <p:spPr>
          <a:xfrm>
            <a:off x="5235123"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«Cotizar» visible en encabezado y ficha</a:t>
            </a:r>
            <a:endParaRPr lang="en-US" sz="1150" dirty="0"/>
          </a:p>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WhatsApp con el modelo en el mensaje</a:t>
            </a:r>
            <a:endParaRPr lang="en-US" sz="1150" dirty="0"/>
          </a:p>
          <a:p>
            <a:pPr marL="342900" indent="-342900">
              <a:spcAft>
                <a:spcPts val="700"/>
              </a:spcAft>
              <a:buSzPct val="100000"/>
              <a:buChar char="■"/>
            </a:pPr>
            <a:r>
              <a:rPr lang="en-US" sz="1150" dirty="0">
                <a:solidFill>
                  <a:srgbClr val="FFFFFF"/>
                </a:solidFill>
                <a:latin typeface="Arial" pitchFamily="34" charset="0"/>
                <a:ea typeface="Arial" pitchFamily="34" charset="-122"/>
                <a:cs typeface="Arial" pitchFamily="34" charset="-120"/>
              </a:rPr>
              <a:t>Páginas Dónde comprar, Mayoristas y Soporte</a:t>
            </a:r>
            <a:endParaRPr lang="en-US" sz="1150" dirty="0"/>
          </a:p>
        </p:txBody>
      </p:sp>
      <p:sp>
        <p:nvSpPr>
          <p:cNvPr id="27" name="Shape 21"/>
          <p:cNvSpPr/>
          <p:nvPr/>
        </p:nvSpPr>
        <p:spPr>
          <a:xfrm>
            <a:off x="7304044" y="1463040"/>
            <a:ext cx="2087209" cy="4526280"/>
          </a:xfrm>
          <a:prstGeom prst="roundRect">
            <a:avLst>
              <a:gd name="adj" fmla="val 3505"/>
            </a:avLst>
          </a:prstGeom>
          <a:solidFill>
            <a:srgbClr val="F5F5F7"/>
          </a:solidFill>
          <a:ln/>
        </p:spPr>
      </p:sp>
      <p:sp>
        <p:nvSpPr>
          <p:cNvPr id="28" name="Shape 22"/>
          <p:cNvSpPr/>
          <p:nvPr/>
        </p:nvSpPr>
        <p:spPr>
          <a:xfrm>
            <a:off x="7486924" y="1645920"/>
            <a:ext cx="548640" cy="548640"/>
          </a:xfrm>
          <a:prstGeom prst="ellipse">
            <a:avLst/>
          </a:prstGeom>
          <a:solidFill>
            <a:srgbClr val="FFFFFF"/>
          </a:solidFill>
          <a:ln/>
        </p:spPr>
      </p:sp>
      <p:pic>
        <p:nvPicPr>
          <p:cNvPr id="29" name="Image 3" descr="preencoded.png">    </p:cNvPr>
          <p:cNvPicPr>
            <a:picLocks noChangeAspect="1"/>
          </p:cNvPicPr>
          <p:nvPr/>
        </p:nvPicPr>
        <p:blipFill>
          <a:blip r:embed="rId4"/>
          <a:stretch>
            <a:fillRect/>
          </a:stretch>
        </p:blipFill>
        <p:spPr>
          <a:xfrm>
            <a:off x="7618598" y="1777594"/>
            <a:ext cx="285293" cy="285293"/>
          </a:xfrm>
          <a:prstGeom prst="rect">
            <a:avLst/>
          </a:prstGeom>
        </p:spPr>
      </p:pic>
      <p:sp>
        <p:nvSpPr>
          <p:cNvPr id="30" name="Text 23"/>
          <p:cNvSpPr txBox="1"/>
          <p:nvPr/>
        </p:nvSpPr>
        <p:spPr>
          <a:xfrm>
            <a:off x="7486924"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D · Administración</a:t>
            </a:r>
            <a:endParaRPr lang="en-US" sz="1450" dirty="0"/>
          </a:p>
        </p:txBody>
      </p:sp>
      <p:sp>
        <p:nvSpPr>
          <p:cNvPr id="31" name="Shape 24"/>
          <p:cNvSpPr/>
          <p:nvPr/>
        </p:nvSpPr>
        <p:spPr>
          <a:xfrm>
            <a:off x="7486924" y="2971800"/>
            <a:ext cx="1180948" cy="256032"/>
          </a:xfrm>
          <a:prstGeom prst="roundRect">
            <a:avLst>
              <a:gd name="adj" fmla="val 50000"/>
            </a:avLst>
          </a:prstGeom>
          <a:solidFill>
            <a:srgbClr val="FFFFFF"/>
          </a:solidFill>
          <a:ln w="9525">
            <a:solidFill>
              <a:srgbClr val="6B7280"/>
            </a:solidFill>
            <a:prstDash val="solid"/>
          </a:ln>
        </p:spPr>
      </p:sp>
      <p:sp>
        <p:nvSpPr>
          <p:cNvPr id="32" name="Text 25"/>
          <p:cNvSpPr txBox="1"/>
          <p:nvPr/>
        </p:nvSpPr>
        <p:spPr>
          <a:xfrm>
            <a:off x="7486924" y="2971800"/>
            <a:ext cx="1180948"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Arial" pitchFamily="34" charset="0"/>
                <a:ea typeface="Arial" pitchFamily="34" charset="-122"/>
                <a:cs typeface="Arial" pitchFamily="34" charset="-120"/>
              </a:rPr>
              <a:t>Base WordPress</a:t>
            </a:r>
            <a:endParaRPr lang="en-US" sz="850" dirty="0"/>
          </a:p>
        </p:txBody>
      </p:sp>
      <p:sp>
        <p:nvSpPr>
          <p:cNvPr id="33" name="Text 26"/>
          <p:cNvSpPr txBox="1"/>
          <p:nvPr/>
        </p:nvSpPr>
        <p:spPr>
          <a:xfrm>
            <a:off x="7486924"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Productos y categorías en WooCommerce</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Contenidos y páginas en WordPress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Sin programar un panel nuevo</a:t>
            </a:r>
            <a:endParaRPr lang="en-US" sz="1150" dirty="0"/>
          </a:p>
        </p:txBody>
      </p:sp>
      <p:sp>
        <p:nvSpPr>
          <p:cNvPr id="34" name="Shape 27"/>
          <p:cNvSpPr/>
          <p:nvPr/>
        </p:nvSpPr>
        <p:spPr>
          <a:xfrm>
            <a:off x="9555846" y="1463040"/>
            <a:ext cx="2087209" cy="4526280"/>
          </a:xfrm>
          <a:prstGeom prst="roundRect">
            <a:avLst>
              <a:gd name="adj" fmla="val 3505"/>
            </a:avLst>
          </a:prstGeom>
          <a:solidFill>
            <a:srgbClr val="EDE4FB"/>
          </a:solidFill>
          <a:ln/>
        </p:spPr>
      </p:sp>
      <p:sp>
        <p:nvSpPr>
          <p:cNvPr id="35" name="Shape 28"/>
          <p:cNvSpPr/>
          <p:nvPr/>
        </p:nvSpPr>
        <p:spPr>
          <a:xfrm>
            <a:off x="9738726" y="1645920"/>
            <a:ext cx="548640" cy="548640"/>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9870399" y="1777594"/>
            <a:ext cx="285293" cy="285293"/>
          </a:xfrm>
          <a:prstGeom prst="rect">
            <a:avLst/>
          </a:prstGeom>
        </p:spPr>
      </p:pic>
      <p:sp>
        <p:nvSpPr>
          <p:cNvPr id="37" name="Text 29"/>
          <p:cNvSpPr txBox="1"/>
          <p:nvPr/>
        </p:nvSpPr>
        <p:spPr>
          <a:xfrm>
            <a:off x="9738726" y="2331720"/>
            <a:ext cx="1767169" cy="594360"/>
          </a:xfrm>
          <a:prstGeom prst="rect">
            <a:avLst/>
          </a:prstGeom>
          <a:noFill/>
          <a:ln/>
        </p:spPr>
        <p:txBody>
          <a:bodyPr wrap="square" lIns="0" tIns="0" rIns="0" bIns="0" rtlCol="0" anchor="t"/>
          <a:lstStyle/>
          <a:p>
            <a:pPr indent="0" marL="0">
              <a:buNone/>
            </a:pPr>
            <a:r>
              <a:rPr lang="en-US" sz="1450" b="1" dirty="0">
                <a:solidFill>
                  <a:srgbClr val="0B0B0D"/>
                </a:solidFill>
                <a:latin typeface="Arial" pitchFamily="34" charset="0"/>
                <a:ea typeface="Arial" pitchFamily="34" charset="-122"/>
                <a:cs typeface="Arial" pitchFamily="34" charset="-120"/>
              </a:rPr>
              <a:t>E · Mejoras complementarias</a:t>
            </a:r>
            <a:endParaRPr lang="en-US" sz="1450" dirty="0"/>
          </a:p>
        </p:txBody>
      </p:sp>
      <p:sp>
        <p:nvSpPr>
          <p:cNvPr id="38" name="Shape 30"/>
          <p:cNvSpPr/>
          <p:nvPr/>
        </p:nvSpPr>
        <p:spPr>
          <a:xfrm>
            <a:off x="9738726" y="2971800"/>
            <a:ext cx="850621" cy="256032"/>
          </a:xfrm>
          <a:prstGeom prst="roundRect">
            <a:avLst>
              <a:gd name="adj" fmla="val 50000"/>
            </a:avLst>
          </a:prstGeom>
          <a:solidFill>
            <a:srgbClr val="6D28D9"/>
          </a:solidFill>
          <a:ln w="9525">
            <a:solidFill>
              <a:srgbClr val="6D28D9"/>
            </a:solidFill>
            <a:prstDash val="solid"/>
          </a:ln>
        </p:spPr>
      </p:sp>
      <p:sp>
        <p:nvSpPr>
          <p:cNvPr id="39" name="Text 31"/>
          <p:cNvSpPr txBox="1"/>
          <p:nvPr/>
        </p:nvSpPr>
        <p:spPr>
          <a:xfrm>
            <a:off x="9738726" y="2971800"/>
            <a:ext cx="850621"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Propuesto</a:t>
            </a:r>
            <a:endParaRPr lang="en-US" sz="850" dirty="0"/>
          </a:p>
        </p:txBody>
      </p:sp>
      <p:sp>
        <p:nvSpPr>
          <p:cNvPr id="40" name="Text 32"/>
          <p:cNvSpPr txBox="1"/>
          <p:nvPr/>
        </p:nvSpPr>
        <p:spPr>
          <a:xfrm>
            <a:off x="9738726" y="3429000"/>
            <a:ext cx="1767169" cy="246888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Registro del inicio de cada consulta</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Directorio estructurado de distribuidores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Reportes y auditoría de cambios</a:t>
            </a:r>
            <a:endParaRPr lang="en-US" sz="1150" dirty="0"/>
          </a:p>
          <a:p>
            <a:pPr marL="342900" indent="-342900">
              <a:spcAft>
                <a:spcPts val="700"/>
              </a:spcAft>
              <a:buSzPct val="100000"/>
              <a:buChar char="■"/>
            </a:pPr>
            <a:r>
              <a:rPr lang="en-US" sz="1150" dirty="0">
                <a:solidFill>
                  <a:srgbClr val="0B0B0D"/>
                </a:solidFill>
                <a:latin typeface="Arial" pitchFamily="34" charset="0"/>
                <a:ea typeface="Arial" pitchFamily="34" charset="-122"/>
                <a:cs typeface="Arial" pitchFamily="34" charset="-120"/>
              </a:rPr>
              <a:t>Seguimiento comercial, si se añade un mecanismo</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04 · LA SOLUCIÓN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Verificación y pruebas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29</a:t>
            </a:r>
            <a:endParaRPr lang="en-US" sz="900" dirty="0"/>
          </a:p>
        </p:txBody>
      </p:sp>
      <p:sp>
        <p:nvSpPr>
          <p:cNvPr id="6" name="Text 3"/>
          <p:cNvSpPr txBox="1"/>
          <p:nvPr/>
        </p:nvSpPr>
        <p:spPr>
          <a:xfrm>
            <a:off x="548640" y="1463040"/>
            <a:ext cx="27432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PRUEBA</a:t>
            </a:r>
            <a:endParaRPr lang="en-US" sz="950" dirty="0"/>
          </a:p>
        </p:txBody>
      </p:sp>
      <p:sp>
        <p:nvSpPr>
          <p:cNvPr id="7" name="Text 4"/>
          <p:cNvSpPr txBox="1"/>
          <p:nvPr/>
        </p:nvSpPr>
        <p:spPr>
          <a:xfrm>
            <a:off x="3246120" y="1463040"/>
            <a:ext cx="27432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RESULTADO ESPERADO</a:t>
            </a:r>
            <a:endParaRPr lang="en-US" sz="950" dirty="0"/>
          </a:p>
        </p:txBody>
      </p:sp>
      <p:sp>
        <p:nvSpPr>
          <p:cNvPr id="8" name="Text 5"/>
          <p:cNvSpPr txBox="1"/>
          <p:nvPr/>
        </p:nvSpPr>
        <p:spPr>
          <a:xfrm>
            <a:off x="6355080" y="1463040"/>
            <a:ext cx="109728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ESTADO</a:t>
            </a:r>
            <a:endParaRPr lang="en-US" sz="950" dirty="0"/>
          </a:p>
        </p:txBody>
      </p:sp>
      <p:sp>
        <p:nvSpPr>
          <p:cNvPr id="9" name="Shape 6"/>
          <p:cNvSpPr/>
          <p:nvPr/>
        </p:nvSpPr>
        <p:spPr>
          <a:xfrm>
            <a:off x="548640" y="1764792"/>
            <a:ext cx="6903720" cy="0"/>
          </a:xfrm>
          <a:prstGeom prst="line">
            <a:avLst/>
          </a:prstGeom>
          <a:noFill/>
          <a:ln w="9525">
            <a:solidFill>
              <a:srgbClr val="E3E4E8"/>
            </a:solidFill>
            <a:prstDash val="solid"/>
          </a:ln>
        </p:spPr>
      </p:sp>
      <p:sp>
        <p:nvSpPr>
          <p:cNvPr id="10" name="Text 7"/>
          <p:cNvSpPr txBox="1"/>
          <p:nvPr/>
        </p:nvSpPr>
        <p:spPr>
          <a:xfrm>
            <a:off x="548640" y="1783080"/>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Buscar «BH-SW12XXG»</a:t>
            </a:r>
            <a:endParaRPr lang="en-US" sz="1200" dirty="0"/>
          </a:p>
        </p:txBody>
      </p:sp>
      <p:sp>
        <p:nvSpPr>
          <p:cNvPr id="11" name="Text 8"/>
          <p:cNvSpPr txBox="1"/>
          <p:nvPr/>
        </p:nvSpPr>
        <p:spPr>
          <a:xfrm>
            <a:off x="3246120" y="1783080"/>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Sugerencias en vivo con el modelo</a:t>
            </a:r>
            <a:endParaRPr lang="en-US" sz="1100" dirty="0"/>
          </a:p>
        </p:txBody>
      </p:sp>
      <p:sp>
        <p:nvSpPr>
          <p:cNvPr id="12" name="Shape 9"/>
          <p:cNvSpPr/>
          <p:nvPr/>
        </p:nvSpPr>
        <p:spPr>
          <a:xfrm>
            <a:off x="6355080" y="1883664"/>
            <a:ext cx="955548" cy="256032"/>
          </a:xfrm>
          <a:prstGeom prst="roundRect">
            <a:avLst>
              <a:gd name="adj" fmla="val 50000"/>
            </a:avLst>
          </a:prstGeom>
          <a:solidFill>
            <a:srgbClr val="0B0B0D"/>
          </a:solidFill>
          <a:ln w="9525">
            <a:solidFill>
              <a:srgbClr val="0B0B0D"/>
            </a:solidFill>
            <a:prstDash val="solid"/>
          </a:ln>
        </p:spPr>
      </p:sp>
      <p:sp>
        <p:nvSpPr>
          <p:cNvPr id="13" name="Text 10"/>
          <p:cNvSpPr txBox="1"/>
          <p:nvPr/>
        </p:nvSpPr>
        <p:spPr>
          <a:xfrm>
            <a:off x="6355080" y="1883664"/>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14" name="Shape 11"/>
          <p:cNvSpPr/>
          <p:nvPr/>
        </p:nvSpPr>
        <p:spPr>
          <a:xfrm>
            <a:off x="548640" y="2249424"/>
            <a:ext cx="6903720" cy="0"/>
          </a:xfrm>
          <a:prstGeom prst="line">
            <a:avLst/>
          </a:prstGeom>
          <a:noFill/>
          <a:ln w="9525">
            <a:solidFill>
              <a:srgbClr val="E3E4E8"/>
            </a:solidFill>
            <a:prstDash val="solid"/>
          </a:ln>
        </p:spPr>
      </p:sp>
      <p:sp>
        <p:nvSpPr>
          <p:cNvPr id="15" name="Text 12"/>
          <p:cNvSpPr txBox="1"/>
          <p:nvPr/>
        </p:nvSpPr>
        <p:spPr>
          <a:xfrm>
            <a:off x="548640" y="2267712"/>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Aplicar un filtro del catálogo</a:t>
            </a:r>
            <a:endParaRPr lang="en-US" sz="1200" dirty="0"/>
          </a:p>
        </p:txBody>
      </p:sp>
      <p:sp>
        <p:nvSpPr>
          <p:cNvPr id="16" name="Text 13"/>
          <p:cNvSpPr txBox="1"/>
          <p:nvPr/>
        </p:nvSpPr>
        <p:spPr>
          <a:xfrm>
            <a:off x="3246120" y="2267712"/>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El listado y el contador se actualizan</a:t>
            </a:r>
            <a:endParaRPr lang="en-US" sz="1100" dirty="0"/>
          </a:p>
        </p:txBody>
      </p:sp>
      <p:sp>
        <p:nvSpPr>
          <p:cNvPr id="17" name="Shape 14"/>
          <p:cNvSpPr/>
          <p:nvPr/>
        </p:nvSpPr>
        <p:spPr>
          <a:xfrm>
            <a:off x="6355080" y="2368296"/>
            <a:ext cx="955548" cy="256032"/>
          </a:xfrm>
          <a:prstGeom prst="roundRect">
            <a:avLst>
              <a:gd name="adj" fmla="val 50000"/>
            </a:avLst>
          </a:prstGeom>
          <a:solidFill>
            <a:srgbClr val="0B0B0D"/>
          </a:solidFill>
          <a:ln w="9525">
            <a:solidFill>
              <a:srgbClr val="0B0B0D"/>
            </a:solidFill>
            <a:prstDash val="solid"/>
          </a:ln>
        </p:spPr>
      </p:sp>
      <p:sp>
        <p:nvSpPr>
          <p:cNvPr id="18" name="Text 15"/>
          <p:cNvSpPr txBox="1"/>
          <p:nvPr/>
        </p:nvSpPr>
        <p:spPr>
          <a:xfrm>
            <a:off x="6355080" y="2368296"/>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19" name="Shape 16"/>
          <p:cNvSpPr/>
          <p:nvPr/>
        </p:nvSpPr>
        <p:spPr>
          <a:xfrm>
            <a:off x="548640" y="2734056"/>
            <a:ext cx="6903720" cy="0"/>
          </a:xfrm>
          <a:prstGeom prst="line">
            <a:avLst/>
          </a:prstGeom>
          <a:noFill/>
          <a:ln w="9525">
            <a:solidFill>
              <a:srgbClr val="E3E4E8"/>
            </a:solidFill>
            <a:prstDash val="solid"/>
          </a:ln>
        </p:spPr>
      </p:sp>
      <p:sp>
        <p:nvSpPr>
          <p:cNvPr id="20" name="Text 17"/>
          <p:cNvSpPr txBox="1"/>
          <p:nvPr/>
        </p:nvSpPr>
        <p:spPr>
          <a:xfrm>
            <a:off x="548640" y="2752344"/>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Agregar 3 modelos y comparar</a:t>
            </a:r>
            <a:endParaRPr lang="en-US" sz="1200" dirty="0"/>
          </a:p>
        </p:txBody>
      </p:sp>
      <p:sp>
        <p:nvSpPr>
          <p:cNvPr id="21" name="Text 18"/>
          <p:cNvSpPr txBox="1"/>
          <p:nvPr/>
        </p:nvSpPr>
        <p:spPr>
          <a:xfrm>
            <a:off x="3246120" y="2752344"/>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Tabla comparativa de especificaciones</a:t>
            </a:r>
            <a:endParaRPr lang="en-US" sz="1100" dirty="0"/>
          </a:p>
        </p:txBody>
      </p:sp>
      <p:sp>
        <p:nvSpPr>
          <p:cNvPr id="22" name="Shape 19"/>
          <p:cNvSpPr/>
          <p:nvPr/>
        </p:nvSpPr>
        <p:spPr>
          <a:xfrm>
            <a:off x="6355080" y="2852928"/>
            <a:ext cx="955548" cy="256032"/>
          </a:xfrm>
          <a:prstGeom prst="roundRect">
            <a:avLst>
              <a:gd name="adj" fmla="val 50000"/>
            </a:avLst>
          </a:prstGeom>
          <a:solidFill>
            <a:srgbClr val="0B0B0D"/>
          </a:solidFill>
          <a:ln w="9525">
            <a:solidFill>
              <a:srgbClr val="0B0B0D"/>
            </a:solidFill>
            <a:prstDash val="solid"/>
          </a:ln>
        </p:spPr>
      </p:sp>
      <p:sp>
        <p:nvSpPr>
          <p:cNvPr id="23" name="Text 20"/>
          <p:cNvSpPr txBox="1"/>
          <p:nvPr/>
        </p:nvSpPr>
        <p:spPr>
          <a:xfrm>
            <a:off x="6355080" y="2852928"/>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24" name="Shape 21"/>
          <p:cNvSpPr/>
          <p:nvPr/>
        </p:nvSpPr>
        <p:spPr>
          <a:xfrm>
            <a:off x="548640" y="3218688"/>
            <a:ext cx="6903720" cy="0"/>
          </a:xfrm>
          <a:prstGeom prst="line">
            <a:avLst/>
          </a:prstGeom>
          <a:noFill/>
          <a:ln w="9525">
            <a:solidFill>
              <a:srgbClr val="E3E4E8"/>
            </a:solidFill>
            <a:prstDash val="solid"/>
          </a:ln>
        </p:spPr>
      </p:sp>
      <p:sp>
        <p:nvSpPr>
          <p:cNvPr id="25" name="Text 22"/>
          <p:cNvSpPr txBox="1"/>
          <p:nvPr/>
        </p:nvSpPr>
        <p:spPr>
          <a:xfrm>
            <a:off x="548640" y="3236976"/>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Agregar un cuarto modelo</a:t>
            </a:r>
            <a:endParaRPr lang="en-US" sz="1200" dirty="0"/>
          </a:p>
        </p:txBody>
      </p:sp>
      <p:sp>
        <p:nvSpPr>
          <p:cNvPr id="26" name="Text 23"/>
          <p:cNvSpPr txBox="1"/>
          <p:nvPr/>
        </p:nvSpPr>
        <p:spPr>
          <a:xfrm>
            <a:off x="3246120" y="3236976"/>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Aviso «Puedes comparar hasta 3 productos»</a:t>
            </a:r>
            <a:endParaRPr lang="en-US" sz="1100" dirty="0"/>
          </a:p>
        </p:txBody>
      </p:sp>
      <p:sp>
        <p:nvSpPr>
          <p:cNvPr id="27" name="Shape 24"/>
          <p:cNvSpPr/>
          <p:nvPr/>
        </p:nvSpPr>
        <p:spPr>
          <a:xfrm>
            <a:off x="6355080" y="3337560"/>
            <a:ext cx="955548" cy="256032"/>
          </a:xfrm>
          <a:prstGeom prst="roundRect">
            <a:avLst>
              <a:gd name="adj" fmla="val 50000"/>
            </a:avLst>
          </a:prstGeom>
          <a:solidFill>
            <a:srgbClr val="0B0B0D"/>
          </a:solidFill>
          <a:ln w="9525">
            <a:solidFill>
              <a:srgbClr val="0B0B0D"/>
            </a:solidFill>
            <a:prstDash val="solid"/>
          </a:ln>
        </p:spPr>
      </p:sp>
      <p:sp>
        <p:nvSpPr>
          <p:cNvPr id="28" name="Text 25"/>
          <p:cNvSpPr txBox="1"/>
          <p:nvPr/>
        </p:nvSpPr>
        <p:spPr>
          <a:xfrm>
            <a:off x="6355080" y="3337560"/>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29" name="Shape 26"/>
          <p:cNvSpPr/>
          <p:nvPr/>
        </p:nvSpPr>
        <p:spPr>
          <a:xfrm>
            <a:off x="548640" y="3703320"/>
            <a:ext cx="6903720" cy="0"/>
          </a:xfrm>
          <a:prstGeom prst="line">
            <a:avLst/>
          </a:prstGeom>
          <a:noFill/>
          <a:ln w="9525">
            <a:solidFill>
              <a:srgbClr val="E3E4E8"/>
            </a:solidFill>
            <a:prstDash val="solid"/>
          </a:ln>
        </p:spPr>
      </p:sp>
      <p:sp>
        <p:nvSpPr>
          <p:cNvPr id="30" name="Text 27"/>
          <p:cNvSpPr txBox="1"/>
          <p:nvPr/>
        </p:nvSpPr>
        <p:spPr>
          <a:xfrm>
            <a:off x="548640" y="3721608"/>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Cambiar de página</a:t>
            </a:r>
            <a:endParaRPr lang="en-US" sz="1200" dirty="0"/>
          </a:p>
        </p:txBody>
      </p:sp>
      <p:sp>
        <p:nvSpPr>
          <p:cNvPr id="31" name="Text 28"/>
          <p:cNvSpPr txBox="1"/>
          <p:nvPr/>
        </p:nvSpPr>
        <p:spPr>
          <a:xfrm>
            <a:off x="3246120" y="3721608"/>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El comparador conserva la selección</a:t>
            </a:r>
            <a:endParaRPr lang="en-US" sz="1100" dirty="0"/>
          </a:p>
        </p:txBody>
      </p:sp>
      <p:sp>
        <p:nvSpPr>
          <p:cNvPr id="32" name="Shape 29"/>
          <p:cNvSpPr/>
          <p:nvPr/>
        </p:nvSpPr>
        <p:spPr>
          <a:xfrm>
            <a:off x="6355080" y="3822192"/>
            <a:ext cx="955548" cy="256032"/>
          </a:xfrm>
          <a:prstGeom prst="roundRect">
            <a:avLst>
              <a:gd name="adj" fmla="val 50000"/>
            </a:avLst>
          </a:prstGeom>
          <a:solidFill>
            <a:srgbClr val="0B0B0D"/>
          </a:solidFill>
          <a:ln w="9525">
            <a:solidFill>
              <a:srgbClr val="0B0B0D"/>
            </a:solidFill>
            <a:prstDash val="solid"/>
          </a:ln>
        </p:spPr>
      </p:sp>
      <p:sp>
        <p:nvSpPr>
          <p:cNvPr id="33" name="Text 30"/>
          <p:cNvSpPr txBox="1"/>
          <p:nvPr/>
        </p:nvSpPr>
        <p:spPr>
          <a:xfrm>
            <a:off x="6355080" y="3822192"/>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34" name="Shape 31"/>
          <p:cNvSpPr/>
          <p:nvPr/>
        </p:nvSpPr>
        <p:spPr>
          <a:xfrm>
            <a:off x="548640" y="4187952"/>
            <a:ext cx="6903720" cy="0"/>
          </a:xfrm>
          <a:prstGeom prst="line">
            <a:avLst/>
          </a:prstGeom>
          <a:noFill/>
          <a:ln w="9525">
            <a:solidFill>
              <a:srgbClr val="E3E4E8"/>
            </a:solidFill>
            <a:prstDash val="solid"/>
          </a:ln>
        </p:spPr>
      </p:sp>
      <p:sp>
        <p:nvSpPr>
          <p:cNvPr id="35" name="Text 32"/>
          <p:cNvSpPr txBox="1"/>
          <p:nvPr/>
        </p:nvSpPr>
        <p:spPr>
          <a:xfrm>
            <a:off x="548640" y="4206240"/>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Pulsar «Cotizar» en la ficha</a:t>
            </a:r>
            <a:endParaRPr lang="en-US" sz="1200" dirty="0"/>
          </a:p>
        </p:txBody>
      </p:sp>
      <p:sp>
        <p:nvSpPr>
          <p:cNvPr id="36" name="Text 33"/>
          <p:cNvSpPr txBox="1"/>
          <p:nvPr/>
        </p:nvSpPr>
        <p:spPr>
          <a:xfrm>
            <a:off x="3246120" y="4206240"/>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WhatsApp se abre con el modelo en el mensaje</a:t>
            </a:r>
            <a:endParaRPr lang="en-US" sz="1100" dirty="0"/>
          </a:p>
        </p:txBody>
      </p:sp>
      <p:sp>
        <p:nvSpPr>
          <p:cNvPr id="37" name="Shape 34"/>
          <p:cNvSpPr/>
          <p:nvPr/>
        </p:nvSpPr>
        <p:spPr>
          <a:xfrm>
            <a:off x="6355080" y="4306824"/>
            <a:ext cx="955548" cy="256032"/>
          </a:xfrm>
          <a:prstGeom prst="roundRect">
            <a:avLst>
              <a:gd name="adj" fmla="val 50000"/>
            </a:avLst>
          </a:prstGeom>
          <a:solidFill>
            <a:srgbClr val="0B0B0D"/>
          </a:solidFill>
          <a:ln w="9525">
            <a:solidFill>
              <a:srgbClr val="0B0B0D"/>
            </a:solidFill>
            <a:prstDash val="solid"/>
          </a:ln>
        </p:spPr>
      </p:sp>
      <p:sp>
        <p:nvSpPr>
          <p:cNvPr id="38" name="Text 35"/>
          <p:cNvSpPr txBox="1"/>
          <p:nvPr/>
        </p:nvSpPr>
        <p:spPr>
          <a:xfrm>
            <a:off x="6355080" y="4306824"/>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39" name="Shape 36"/>
          <p:cNvSpPr/>
          <p:nvPr/>
        </p:nvSpPr>
        <p:spPr>
          <a:xfrm>
            <a:off x="548640" y="4672584"/>
            <a:ext cx="6903720" cy="0"/>
          </a:xfrm>
          <a:prstGeom prst="line">
            <a:avLst/>
          </a:prstGeom>
          <a:noFill/>
          <a:ln w="9525">
            <a:solidFill>
              <a:srgbClr val="E3E4E8"/>
            </a:solidFill>
            <a:prstDash val="solid"/>
          </a:ln>
        </p:spPr>
      </p:sp>
      <p:sp>
        <p:nvSpPr>
          <p:cNvPr id="40" name="Text 37"/>
          <p:cNvSpPr txBox="1"/>
          <p:nvPr/>
        </p:nvSpPr>
        <p:spPr>
          <a:xfrm>
            <a:off x="548640" y="4690872"/>
            <a:ext cx="2606040" cy="457200"/>
          </a:xfrm>
          <a:prstGeom prst="rect">
            <a:avLst/>
          </a:prstGeom>
          <a:noFill/>
          <a:ln/>
        </p:spPr>
        <p:txBody>
          <a:bodyPr wrap="square" lIns="0" tIns="0" rIns="0" bIns="0" rtlCol="0" anchor="ctr"/>
          <a:lstStyle/>
          <a:p>
            <a:pPr indent="0" marL="0">
              <a:buNone/>
            </a:pPr>
            <a:r>
              <a:rPr lang="en-US" sz="1200" b="1" dirty="0">
                <a:solidFill>
                  <a:srgbClr val="0B0B0D"/>
                </a:solidFill>
                <a:latin typeface="Arial" pitchFamily="34" charset="0"/>
                <a:ea typeface="Arial" pitchFamily="34" charset="-122"/>
                <a:cs typeface="Arial" pitchFamily="34" charset="-120"/>
              </a:rPr>
              <a:t>Menú y búsqueda en el celular</a:t>
            </a:r>
            <a:endParaRPr lang="en-US" sz="1200" dirty="0"/>
          </a:p>
        </p:txBody>
      </p:sp>
      <p:sp>
        <p:nvSpPr>
          <p:cNvPr id="41" name="Text 38"/>
          <p:cNvSpPr txBox="1"/>
          <p:nvPr/>
        </p:nvSpPr>
        <p:spPr>
          <a:xfrm>
            <a:off x="3246120" y="4690872"/>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Funcionan a 390 px de ancho</a:t>
            </a:r>
            <a:endParaRPr lang="en-US" sz="1100" dirty="0"/>
          </a:p>
        </p:txBody>
      </p:sp>
      <p:sp>
        <p:nvSpPr>
          <p:cNvPr id="42" name="Shape 39"/>
          <p:cNvSpPr/>
          <p:nvPr/>
        </p:nvSpPr>
        <p:spPr>
          <a:xfrm>
            <a:off x="6355080" y="4791456"/>
            <a:ext cx="955548" cy="256032"/>
          </a:xfrm>
          <a:prstGeom prst="roundRect">
            <a:avLst>
              <a:gd name="adj" fmla="val 50000"/>
            </a:avLst>
          </a:prstGeom>
          <a:solidFill>
            <a:srgbClr val="0B0B0D"/>
          </a:solidFill>
          <a:ln w="9525">
            <a:solidFill>
              <a:srgbClr val="0B0B0D"/>
            </a:solidFill>
            <a:prstDash val="solid"/>
          </a:ln>
        </p:spPr>
      </p:sp>
      <p:sp>
        <p:nvSpPr>
          <p:cNvPr id="43" name="Text 40"/>
          <p:cNvSpPr txBox="1"/>
          <p:nvPr/>
        </p:nvSpPr>
        <p:spPr>
          <a:xfrm>
            <a:off x="6355080" y="4791456"/>
            <a:ext cx="955548"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Verificado</a:t>
            </a:r>
            <a:endParaRPr lang="en-US" sz="900" dirty="0"/>
          </a:p>
        </p:txBody>
      </p:sp>
      <p:sp>
        <p:nvSpPr>
          <p:cNvPr id="44" name="Shape 41"/>
          <p:cNvSpPr/>
          <p:nvPr/>
        </p:nvSpPr>
        <p:spPr>
          <a:xfrm>
            <a:off x="548640" y="5157216"/>
            <a:ext cx="6903720" cy="0"/>
          </a:xfrm>
          <a:prstGeom prst="line">
            <a:avLst/>
          </a:prstGeom>
          <a:noFill/>
          <a:ln w="9525">
            <a:solidFill>
              <a:srgbClr val="E3E4E8"/>
            </a:solidFill>
            <a:prstDash val="solid"/>
          </a:ln>
        </p:spPr>
      </p:sp>
      <p:sp>
        <p:nvSpPr>
          <p:cNvPr id="45" name="Text 42"/>
          <p:cNvSpPr txBox="1"/>
          <p:nvPr/>
        </p:nvSpPr>
        <p:spPr>
          <a:xfrm>
            <a:off x="548640" y="5175504"/>
            <a:ext cx="2606040" cy="45720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Aceptación con Black Hawk</a:t>
            </a:r>
            <a:endParaRPr lang="en-US" sz="1200" dirty="0"/>
          </a:p>
        </p:txBody>
      </p:sp>
      <p:sp>
        <p:nvSpPr>
          <p:cNvPr id="46" name="Text 43"/>
          <p:cNvSpPr txBox="1"/>
          <p:nvPr/>
        </p:nvSpPr>
        <p:spPr>
          <a:xfrm>
            <a:off x="3246120" y="5175504"/>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Acta de aceptación firmada</a:t>
            </a:r>
            <a:endParaRPr lang="en-US" sz="1100" dirty="0"/>
          </a:p>
        </p:txBody>
      </p:sp>
      <p:sp>
        <p:nvSpPr>
          <p:cNvPr id="47" name="Shape 44"/>
          <p:cNvSpPr/>
          <p:nvPr/>
        </p:nvSpPr>
        <p:spPr>
          <a:xfrm>
            <a:off x="6355080" y="5276088"/>
            <a:ext cx="1025500" cy="256032"/>
          </a:xfrm>
          <a:prstGeom prst="roundRect">
            <a:avLst>
              <a:gd name="adj" fmla="val 50000"/>
            </a:avLst>
          </a:prstGeom>
          <a:solidFill>
            <a:srgbClr val="FFFFFF"/>
          </a:solidFill>
          <a:ln w="9525">
            <a:solidFill>
              <a:srgbClr val="9CA3AF"/>
            </a:solidFill>
            <a:prstDash val="solid"/>
          </a:ln>
        </p:spPr>
      </p:sp>
      <p:sp>
        <p:nvSpPr>
          <p:cNvPr id="48" name="Text 45"/>
          <p:cNvSpPr txBox="1"/>
          <p:nvPr/>
        </p:nvSpPr>
        <p:spPr>
          <a:xfrm>
            <a:off x="6355080" y="5276088"/>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sp>
        <p:nvSpPr>
          <p:cNvPr id="49" name="Shape 46"/>
          <p:cNvSpPr/>
          <p:nvPr/>
        </p:nvSpPr>
        <p:spPr>
          <a:xfrm>
            <a:off x="548640" y="5641848"/>
            <a:ext cx="6903720" cy="0"/>
          </a:xfrm>
          <a:prstGeom prst="line">
            <a:avLst/>
          </a:prstGeom>
          <a:noFill/>
          <a:ln w="9525">
            <a:solidFill>
              <a:srgbClr val="E3E4E8"/>
            </a:solidFill>
            <a:prstDash val="solid"/>
          </a:ln>
        </p:spPr>
      </p:sp>
      <p:sp>
        <p:nvSpPr>
          <p:cNvPr id="50" name="Text 47"/>
          <p:cNvSpPr txBox="1"/>
          <p:nvPr/>
        </p:nvSpPr>
        <p:spPr>
          <a:xfrm>
            <a:off x="548640" y="5660136"/>
            <a:ext cx="2606040" cy="45720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Pruebas en el dominio oficial</a:t>
            </a:r>
            <a:endParaRPr lang="en-US" sz="1200" dirty="0"/>
          </a:p>
        </p:txBody>
      </p:sp>
      <p:sp>
        <p:nvSpPr>
          <p:cNvPr id="51" name="Text 48"/>
          <p:cNvSpPr txBox="1"/>
          <p:nvPr/>
        </p:nvSpPr>
        <p:spPr>
          <a:xfrm>
            <a:off x="3246120" y="5660136"/>
            <a:ext cx="2971800" cy="457200"/>
          </a:xfrm>
          <a:prstGeom prst="rect">
            <a:avLst/>
          </a:prstGeom>
          <a:noFill/>
          <a:ln/>
        </p:spPr>
        <p:txBody>
          <a:bodyPr wrap="square" lIns="0" tIns="0" rIns="0" bIns="0" rtlCol="0" anchor="ctr"/>
          <a:lstStyle/>
          <a:p>
            <a:pPr indent="0" marL="0">
              <a:buNone/>
            </a:pPr>
            <a:r>
              <a:rPr lang="en-US" sz="1100" dirty="0">
                <a:solidFill>
                  <a:srgbClr val="6B7280"/>
                </a:solidFill>
                <a:latin typeface="Arial" pitchFamily="34" charset="0"/>
                <a:ea typeface="Arial" pitchFamily="34" charset="-122"/>
                <a:cs typeface="Arial" pitchFamily="34" charset="-120"/>
              </a:rPr>
              <a:t>Sin errores después de publicar</a:t>
            </a:r>
            <a:endParaRPr lang="en-US" sz="1100" dirty="0"/>
          </a:p>
        </p:txBody>
      </p:sp>
      <p:sp>
        <p:nvSpPr>
          <p:cNvPr id="52" name="Shape 49"/>
          <p:cNvSpPr/>
          <p:nvPr/>
        </p:nvSpPr>
        <p:spPr>
          <a:xfrm>
            <a:off x="6355080" y="5760720"/>
            <a:ext cx="1025500" cy="256032"/>
          </a:xfrm>
          <a:prstGeom prst="roundRect">
            <a:avLst>
              <a:gd name="adj" fmla="val 50000"/>
            </a:avLst>
          </a:prstGeom>
          <a:solidFill>
            <a:srgbClr val="FFFFFF"/>
          </a:solidFill>
          <a:ln w="9525">
            <a:solidFill>
              <a:srgbClr val="9CA3AF"/>
            </a:solidFill>
            <a:prstDash val="solid"/>
          </a:ln>
        </p:spPr>
      </p:sp>
      <p:sp>
        <p:nvSpPr>
          <p:cNvPr id="53" name="Text 50"/>
          <p:cNvSpPr txBox="1"/>
          <p:nvPr/>
        </p:nvSpPr>
        <p:spPr>
          <a:xfrm>
            <a:off x="6355080" y="5760720"/>
            <a:ext cx="1025500" cy="256032"/>
          </a:xfrm>
          <a:prstGeom prst="rect">
            <a:avLst/>
          </a:prstGeom>
          <a:noFill/>
          <a:ln/>
        </p:spPr>
        <p:txBody>
          <a:bodyPr wrap="square" lIns="0" tIns="0" rIns="0" bIns="0" rtlCol="0" anchor="ctr"/>
          <a:lstStyle/>
          <a:p>
            <a:pPr algn="ctr" indent="0" marL="0">
              <a:buNone/>
            </a:pPr>
            <a:r>
              <a:rPr lang="en-US" sz="900" b="1" dirty="0">
                <a:solidFill>
                  <a:srgbClr val="6B7280"/>
                </a:solidFill>
                <a:latin typeface="Arial" pitchFamily="34" charset="0"/>
                <a:ea typeface="Arial" pitchFamily="34" charset="-122"/>
                <a:cs typeface="Arial" pitchFamily="34" charset="-120"/>
              </a:rPr>
              <a:t>Planificado</a:t>
            </a:r>
            <a:endParaRPr lang="en-US" sz="900" dirty="0"/>
          </a:p>
        </p:txBody>
      </p:sp>
      <p:pic>
        <p:nvPicPr>
          <p:cNvPr id="54" name="Image 0" descr="../../evidence/interactions/N-cmp-03-add4-limit-d.png">    </p:cNvPr>
          <p:cNvPicPr>
            <a:picLocks noChangeAspect="1"/>
          </p:cNvPicPr>
          <p:nvPr/>
        </p:nvPicPr>
        <p:blipFill>
          <a:blip r:embed="rId1"/>
          <a:stretch>
            <a:fillRect/>
          </a:stretch>
        </p:blipFill>
        <p:spPr>
          <a:xfrm>
            <a:off x="7863840" y="1539335"/>
            <a:ext cx="3779215" cy="2362010"/>
          </a:xfrm>
          <a:prstGeom prst="rect">
            <a:avLst/>
          </a:prstGeom>
        </p:spPr>
      </p:pic>
      <p:sp>
        <p:nvSpPr>
          <p:cNvPr id="55" name="Shape 51"/>
          <p:cNvSpPr/>
          <p:nvPr/>
        </p:nvSpPr>
        <p:spPr>
          <a:xfrm>
            <a:off x="7863840" y="1539335"/>
            <a:ext cx="3779215" cy="2362010"/>
          </a:xfrm>
          <a:prstGeom prst="rect">
            <a:avLst/>
          </a:prstGeom>
          <a:ln w="12700">
            <a:solidFill>
              <a:srgbClr val="E3E4E8"/>
            </a:solidFill>
            <a:prstDash val="solid"/>
          </a:ln>
        </p:spPr>
      </p:sp>
      <p:sp>
        <p:nvSpPr>
          <p:cNvPr id="56" name="Text 52"/>
          <p:cNvSpPr txBox="1"/>
          <p:nvPr/>
        </p:nvSpPr>
        <p:spPr>
          <a:xfrm>
            <a:off x="7863840" y="3974497"/>
            <a:ext cx="3779215" cy="274320"/>
          </a:xfrm>
          <a:prstGeom prst="rect">
            <a:avLst/>
          </a:prstGeom>
          <a:noFill/>
          <a:ln/>
        </p:spPr>
        <p:txBody>
          <a:bodyPr wrap="square" lIns="0" tIns="0" rIns="0" bIns="0" rtlCol="0" anchor="t"/>
          <a:lstStyle/>
          <a:p>
            <a:pPr indent="0" marL="0">
              <a:buNone/>
            </a:pPr>
            <a:r>
              <a:rPr lang="en-US" sz="1050" dirty="0">
                <a:solidFill>
                  <a:srgbClr val="6B7280"/>
                </a:solidFill>
                <a:latin typeface="Arial" pitchFamily="34" charset="0"/>
                <a:ea typeface="Arial" pitchFamily="34" charset="-122"/>
                <a:cs typeface="Arial" pitchFamily="34" charset="-120"/>
              </a:rPr>
              <a:t>Evidencia: el comparador rechaza un cuarto modelo.</a:t>
            </a:r>
            <a:endParaRPr lang="en-US" sz="1050" dirty="0"/>
          </a:p>
        </p:txBody>
      </p:sp>
      <p:sp>
        <p:nvSpPr>
          <p:cNvPr id="57" name="Shape 53"/>
          <p:cNvSpPr/>
          <p:nvPr/>
        </p:nvSpPr>
        <p:spPr>
          <a:xfrm>
            <a:off x="7863840" y="4343400"/>
            <a:ext cx="3779215" cy="1691640"/>
          </a:xfrm>
          <a:prstGeom prst="roundRect">
            <a:avLst>
              <a:gd name="adj" fmla="val 4324"/>
            </a:avLst>
          </a:prstGeom>
          <a:solidFill>
            <a:srgbClr val="0B0B0D"/>
          </a:solidFill>
          <a:ln/>
        </p:spPr>
      </p:sp>
      <p:sp>
        <p:nvSpPr>
          <p:cNvPr id="58" name="Text 54"/>
          <p:cNvSpPr txBox="1"/>
          <p:nvPr/>
        </p:nvSpPr>
        <p:spPr>
          <a:xfrm>
            <a:off x="8138160" y="4526280"/>
            <a:ext cx="731520" cy="621792"/>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7</a:t>
            </a:r>
            <a:endParaRPr lang="en-US" sz="4000" dirty="0"/>
          </a:p>
        </p:txBody>
      </p:sp>
      <p:sp>
        <p:nvSpPr>
          <p:cNvPr id="59" name="Text 55"/>
          <p:cNvSpPr txBox="1"/>
          <p:nvPr/>
        </p:nvSpPr>
        <p:spPr>
          <a:xfrm>
            <a:off x="8869680" y="4526280"/>
            <a:ext cx="2544775" cy="621792"/>
          </a:xfrm>
          <a:prstGeom prst="rect">
            <a:avLst/>
          </a:prstGeom>
          <a:noFill/>
          <a:ln/>
        </p:spPr>
        <p:txBody>
          <a:bodyPr wrap="square" lIns="0" tIns="0" rIns="0" bIns="0" rtlCol="0" anchor="ctr"/>
          <a:lstStyle/>
          <a:p>
            <a:pPr indent="0" marL="0">
              <a:buNone/>
            </a:pPr>
            <a:r>
              <a:rPr lang="en-US" sz="1250" dirty="0">
                <a:solidFill>
                  <a:srgbClr val="9CA3AF"/>
                </a:solidFill>
                <a:latin typeface="Arial" pitchFamily="34" charset="0"/>
                <a:ea typeface="Arial" pitchFamily="34" charset="-122"/>
                <a:cs typeface="Arial" pitchFamily="34" charset="-120"/>
              </a:rPr>
              <a:t>verificaciones ejecutadas y documentadas con capturas</a:t>
            </a:r>
            <a:endParaRPr lang="en-US" sz="1250" dirty="0"/>
          </a:p>
        </p:txBody>
      </p:sp>
      <p:sp>
        <p:nvSpPr>
          <p:cNvPr id="60" name="Text 56"/>
          <p:cNvSpPr txBox="1"/>
          <p:nvPr/>
        </p:nvSpPr>
        <p:spPr>
          <a:xfrm>
            <a:off x="8138160" y="5239512"/>
            <a:ext cx="731520" cy="621792"/>
          </a:xfrm>
          <a:prstGeom prst="rect">
            <a:avLst/>
          </a:prstGeom>
          <a:noFill/>
          <a:ln/>
        </p:spPr>
        <p:txBody>
          <a:bodyPr wrap="square" lIns="0" tIns="0" rIns="0" bIns="0" rtlCol="0" anchor="ctr"/>
          <a:lstStyle/>
          <a:p>
            <a:pPr indent="0" marL="0">
              <a:buNone/>
            </a:pPr>
            <a:r>
              <a:rPr lang="en-US" sz="4000" b="1" dirty="0">
                <a:solidFill>
                  <a:srgbClr val="A78BFA"/>
                </a:solidFill>
                <a:latin typeface="Arial" pitchFamily="34" charset="0"/>
                <a:ea typeface="Arial" pitchFamily="34" charset="-122"/>
                <a:cs typeface="Arial" pitchFamily="34" charset="-120"/>
              </a:rPr>
              <a:t>2</a:t>
            </a:r>
            <a:endParaRPr lang="en-US" sz="4000" dirty="0"/>
          </a:p>
        </p:txBody>
      </p:sp>
      <p:sp>
        <p:nvSpPr>
          <p:cNvPr id="61" name="Text 57"/>
          <p:cNvSpPr txBox="1"/>
          <p:nvPr/>
        </p:nvSpPr>
        <p:spPr>
          <a:xfrm>
            <a:off x="8869680" y="5239512"/>
            <a:ext cx="2544775" cy="621792"/>
          </a:xfrm>
          <a:prstGeom prst="rect">
            <a:avLst/>
          </a:prstGeom>
          <a:noFill/>
          <a:ln/>
        </p:spPr>
        <p:txBody>
          <a:bodyPr wrap="square" lIns="0" tIns="0" rIns="0" bIns="0" rtlCol="0" anchor="ctr"/>
          <a:lstStyle/>
          <a:p>
            <a:pPr indent="0" marL="0">
              <a:buNone/>
            </a:pPr>
            <a:r>
              <a:rPr lang="en-US" sz="1250" dirty="0">
                <a:solidFill>
                  <a:srgbClr val="9CA3AF"/>
                </a:solidFill>
                <a:latin typeface="Arial" pitchFamily="34" charset="0"/>
                <a:ea typeface="Arial" pitchFamily="34" charset="-122"/>
                <a:cs typeface="Arial" pitchFamily="34" charset="-120"/>
              </a:rPr>
              <a:t>pruebas planificadas para la Transición</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05 · RESULTADOS</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Resultado: la web renovada</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30</a:t>
            </a:r>
            <a:endParaRPr lang="en-US" sz="900" dirty="0"/>
          </a:p>
        </p:txBody>
      </p:sp>
      <p:pic>
        <p:nvPicPr>
          <p:cNvPr id="6" name="Image 0" descr="img/v3-N-shop.png">    </p:cNvPr>
          <p:cNvPicPr>
            <a:picLocks noChangeAspect="1"/>
          </p:cNvPicPr>
          <p:nvPr/>
        </p:nvPicPr>
        <p:blipFill>
          <a:blip r:embed="rId1"/>
          <a:stretch>
            <a:fillRect/>
          </a:stretch>
        </p:blipFill>
        <p:spPr>
          <a:xfrm>
            <a:off x="552298" y="1371600"/>
            <a:ext cx="3101645" cy="1938528"/>
          </a:xfrm>
          <a:prstGeom prst="rect">
            <a:avLst/>
          </a:prstGeom>
        </p:spPr>
      </p:pic>
      <p:sp>
        <p:nvSpPr>
          <p:cNvPr id="7" name="Shape 3"/>
          <p:cNvSpPr/>
          <p:nvPr/>
        </p:nvSpPr>
        <p:spPr>
          <a:xfrm>
            <a:off x="552298" y="1371600"/>
            <a:ext cx="3101645" cy="1938528"/>
          </a:xfrm>
          <a:prstGeom prst="rect">
            <a:avLst/>
          </a:prstGeom>
          <a:ln w="12700">
            <a:solidFill>
              <a:srgbClr val="E3E4E8"/>
            </a:solidFill>
            <a:prstDash val="solid"/>
          </a:ln>
        </p:spPr>
      </p:sp>
      <p:sp>
        <p:nvSpPr>
          <p:cNvPr id="8" name="Text 4"/>
          <p:cNvSpPr txBox="1"/>
          <p:nvPr/>
        </p:nvSpPr>
        <p:spPr>
          <a:xfrm>
            <a:off x="548640" y="333756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Catálogo</a:t>
            </a:r>
            <a:endParaRPr lang="en-US" sz="1050" dirty="0"/>
          </a:p>
        </p:txBody>
      </p:sp>
      <p:pic>
        <p:nvPicPr>
          <p:cNvPr id="9" name="Image 1" descr="img/v3-N-ficha.png">    </p:cNvPr>
          <p:cNvPicPr>
            <a:picLocks noChangeAspect="1"/>
          </p:cNvPicPr>
          <p:nvPr/>
        </p:nvPicPr>
        <p:blipFill>
          <a:blip r:embed="rId2"/>
          <a:stretch>
            <a:fillRect/>
          </a:stretch>
        </p:blipFill>
        <p:spPr>
          <a:xfrm>
            <a:off x="3798418" y="1371600"/>
            <a:ext cx="3101645" cy="1938528"/>
          </a:xfrm>
          <a:prstGeom prst="rect">
            <a:avLst/>
          </a:prstGeom>
        </p:spPr>
      </p:pic>
      <p:sp>
        <p:nvSpPr>
          <p:cNvPr id="10" name="Shape 5"/>
          <p:cNvSpPr/>
          <p:nvPr/>
        </p:nvSpPr>
        <p:spPr>
          <a:xfrm>
            <a:off x="3798418" y="1371600"/>
            <a:ext cx="3101645" cy="1938528"/>
          </a:xfrm>
          <a:prstGeom prst="rect">
            <a:avLst/>
          </a:prstGeom>
          <a:ln w="12700">
            <a:solidFill>
              <a:srgbClr val="E3E4E8"/>
            </a:solidFill>
            <a:prstDash val="solid"/>
          </a:ln>
        </p:spPr>
      </p:sp>
      <p:sp>
        <p:nvSpPr>
          <p:cNvPr id="11" name="Text 6"/>
          <p:cNvSpPr txBox="1"/>
          <p:nvPr/>
        </p:nvSpPr>
        <p:spPr>
          <a:xfrm>
            <a:off x="3794760" y="333756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Ficha con «Cotizar»</a:t>
            </a:r>
            <a:endParaRPr lang="en-US" sz="1050" dirty="0"/>
          </a:p>
        </p:txBody>
      </p:sp>
      <p:pic>
        <p:nvPicPr>
          <p:cNvPr id="12" name="Image 2" descr="../../evidence/interactions/N-cmp-04-open-d.png">    </p:cNvPr>
          <p:cNvPicPr>
            <a:picLocks noChangeAspect="1"/>
          </p:cNvPicPr>
          <p:nvPr/>
        </p:nvPicPr>
        <p:blipFill>
          <a:blip r:embed="rId3"/>
          <a:stretch>
            <a:fillRect/>
          </a:stretch>
        </p:blipFill>
        <p:spPr>
          <a:xfrm>
            <a:off x="552298" y="3703320"/>
            <a:ext cx="3101645" cy="1938528"/>
          </a:xfrm>
          <a:prstGeom prst="rect">
            <a:avLst/>
          </a:prstGeom>
        </p:spPr>
      </p:pic>
      <p:sp>
        <p:nvSpPr>
          <p:cNvPr id="13" name="Shape 7"/>
          <p:cNvSpPr/>
          <p:nvPr/>
        </p:nvSpPr>
        <p:spPr>
          <a:xfrm>
            <a:off x="552298" y="3703320"/>
            <a:ext cx="3101645" cy="1938528"/>
          </a:xfrm>
          <a:prstGeom prst="rect">
            <a:avLst/>
          </a:prstGeom>
          <a:ln w="12700">
            <a:solidFill>
              <a:srgbClr val="E3E4E8"/>
            </a:solidFill>
            <a:prstDash val="solid"/>
          </a:ln>
        </p:spPr>
      </p:sp>
      <p:sp>
        <p:nvSpPr>
          <p:cNvPr id="14" name="Text 8"/>
          <p:cNvSpPr txBox="1"/>
          <p:nvPr/>
        </p:nvSpPr>
        <p:spPr>
          <a:xfrm>
            <a:off x="548640" y="566928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Comparador (23-09-2026)</a:t>
            </a:r>
            <a:endParaRPr lang="en-US" sz="1050" dirty="0"/>
          </a:p>
        </p:txBody>
      </p:sp>
      <p:pic>
        <p:nvPicPr>
          <p:cNvPr id="15" name="Image 3" descr="img/v3-N-distribuidores.png">    </p:cNvPr>
          <p:cNvPicPr>
            <a:picLocks noChangeAspect="1"/>
          </p:cNvPicPr>
          <p:nvPr/>
        </p:nvPicPr>
        <p:blipFill>
          <a:blip r:embed="rId4"/>
          <a:stretch>
            <a:fillRect/>
          </a:stretch>
        </p:blipFill>
        <p:spPr>
          <a:xfrm>
            <a:off x="3798418" y="3703320"/>
            <a:ext cx="3101645" cy="1938528"/>
          </a:xfrm>
          <a:prstGeom prst="rect">
            <a:avLst/>
          </a:prstGeom>
        </p:spPr>
      </p:pic>
      <p:sp>
        <p:nvSpPr>
          <p:cNvPr id="16" name="Shape 9"/>
          <p:cNvSpPr/>
          <p:nvPr/>
        </p:nvSpPr>
        <p:spPr>
          <a:xfrm>
            <a:off x="3798418" y="3703320"/>
            <a:ext cx="3101645" cy="1938528"/>
          </a:xfrm>
          <a:prstGeom prst="rect">
            <a:avLst/>
          </a:prstGeom>
          <a:ln w="12700">
            <a:solidFill>
              <a:srgbClr val="E3E4E8"/>
            </a:solidFill>
            <a:prstDash val="solid"/>
          </a:ln>
        </p:spPr>
      </p:sp>
      <p:sp>
        <p:nvSpPr>
          <p:cNvPr id="17" name="Text 10"/>
          <p:cNvSpPr txBox="1"/>
          <p:nvPr/>
        </p:nvSpPr>
        <p:spPr>
          <a:xfrm>
            <a:off x="3794760" y="5669280"/>
            <a:ext cx="3108960" cy="228600"/>
          </a:xfrm>
          <a:prstGeom prst="rect">
            <a:avLst/>
          </a:prstGeom>
          <a:noFill/>
          <a:ln/>
        </p:spPr>
        <p:txBody>
          <a:bodyPr wrap="square" lIns="0" tIns="0" rIns="0" bIns="0" rtlCol="0" anchor="t"/>
          <a:lstStyle/>
          <a:p>
            <a:pPr indent="0" marL="0">
              <a:buNone/>
            </a:pPr>
            <a:r>
              <a:rPr lang="en-US" sz="1050" b="1" dirty="0">
                <a:solidFill>
                  <a:srgbClr val="0B0B0D"/>
                </a:solidFill>
                <a:latin typeface="Arial" pitchFamily="34" charset="0"/>
                <a:ea typeface="Arial" pitchFamily="34" charset="-122"/>
                <a:cs typeface="Arial" pitchFamily="34" charset="-120"/>
              </a:rPr>
              <a:t>Dónde comprar</a:t>
            </a:r>
            <a:endParaRPr lang="en-US" sz="1050" dirty="0"/>
          </a:p>
        </p:txBody>
      </p:sp>
      <p:sp>
        <p:nvSpPr>
          <p:cNvPr id="18" name="Shape 11"/>
          <p:cNvSpPr/>
          <p:nvPr/>
        </p:nvSpPr>
        <p:spPr>
          <a:xfrm>
            <a:off x="7315200" y="1371600"/>
            <a:ext cx="4327855" cy="914400"/>
          </a:xfrm>
          <a:prstGeom prst="roundRect">
            <a:avLst>
              <a:gd name="adj" fmla="val 8000"/>
            </a:avLst>
          </a:prstGeom>
          <a:solidFill>
            <a:srgbClr val="F5F5F7"/>
          </a:solidFill>
          <a:ln/>
        </p:spPr>
      </p:sp>
      <p:sp>
        <p:nvSpPr>
          <p:cNvPr id="19" name="Text 12"/>
          <p:cNvSpPr txBox="1"/>
          <p:nvPr/>
        </p:nvSpPr>
        <p:spPr>
          <a:xfrm>
            <a:off x="7498080" y="1463040"/>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Guiar del interés al contacto</a:t>
            </a:r>
            <a:endParaRPr lang="en-US" sz="1250" dirty="0"/>
          </a:p>
        </p:txBody>
      </p:sp>
      <p:sp>
        <p:nvSpPr>
          <p:cNvPr id="20" name="Text 13"/>
          <p:cNvSpPr txBox="1"/>
          <p:nvPr/>
        </p:nvSpPr>
        <p:spPr>
          <a:xfrm>
            <a:off x="7498080" y="1755648"/>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«Cotizar» en encabezado y ficha; WhatsApp con el modelo</a:t>
            </a:r>
            <a:endParaRPr lang="en-US" sz="1150" dirty="0"/>
          </a:p>
        </p:txBody>
      </p:sp>
      <p:sp>
        <p:nvSpPr>
          <p:cNvPr id="21" name="Shape 14"/>
          <p:cNvSpPr/>
          <p:nvPr/>
        </p:nvSpPr>
        <p:spPr>
          <a:xfrm>
            <a:off x="7315200" y="2395728"/>
            <a:ext cx="4327855" cy="914400"/>
          </a:xfrm>
          <a:prstGeom prst="roundRect">
            <a:avLst>
              <a:gd name="adj" fmla="val 8000"/>
            </a:avLst>
          </a:prstGeom>
          <a:solidFill>
            <a:srgbClr val="F5F5F7"/>
          </a:solidFill>
          <a:ln/>
        </p:spPr>
      </p:sp>
      <p:sp>
        <p:nvSpPr>
          <p:cNvPr id="22" name="Text 15"/>
          <p:cNvSpPr txBox="1"/>
          <p:nvPr/>
        </p:nvSpPr>
        <p:spPr>
          <a:xfrm>
            <a:off x="7498080" y="2487168"/>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Un catálogo claro y comparable</a:t>
            </a:r>
            <a:endParaRPr lang="en-US" sz="1250" dirty="0"/>
          </a:p>
        </p:txBody>
      </p:sp>
      <p:sp>
        <p:nvSpPr>
          <p:cNvPr id="23" name="Text 16"/>
          <p:cNvSpPr txBox="1"/>
          <p:nvPr/>
        </p:nvSpPr>
        <p:spPr>
          <a:xfrm>
            <a:off x="7498080" y="2779776"/>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118 productos, filtros, fichas en lista y comparador</a:t>
            </a:r>
            <a:endParaRPr lang="en-US" sz="1150" dirty="0"/>
          </a:p>
        </p:txBody>
      </p:sp>
      <p:sp>
        <p:nvSpPr>
          <p:cNvPr id="24" name="Shape 17"/>
          <p:cNvSpPr/>
          <p:nvPr/>
        </p:nvSpPr>
        <p:spPr>
          <a:xfrm>
            <a:off x="7315200" y="3419856"/>
            <a:ext cx="4327855" cy="914400"/>
          </a:xfrm>
          <a:prstGeom prst="roundRect">
            <a:avLst>
              <a:gd name="adj" fmla="val 8000"/>
            </a:avLst>
          </a:prstGeom>
          <a:solidFill>
            <a:srgbClr val="F5F5F7"/>
          </a:solidFill>
          <a:ln/>
        </p:spPr>
      </p:sp>
      <p:sp>
        <p:nvSpPr>
          <p:cNvPr id="25" name="Text 18"/>
          <p:cNvSpPr txBox="1"/>
          <p:nvPr/>
        </p:nvSpPr>
        <p:spPr>
          <a:xfrm>
            <a:off x="7498080" y="3511296"/>
            <a:ext cx="3962095" cy="274320"/>
          </a:xfrm>
          <a:prstGeom prst="rect">
            <a:avLst/>
          </a:prstGeom>
          <a:noFill/>
          <a:ln/>
        </p:spPr>
        <p:txBody>
          <a:bodyPr wrap="square" lIns="0" tIns="0" rIns="0" bIns="0" rtlCol="0" anchor="t"/>
          <a:lstStyle/>
          <a:p>
            <a:pPr indent="0" marL="0">
              <a:buNone/>
            </a:pPr>
            <a:r>
              <a:rPr lang="en-US" sz="1250" b="1" dirty="0">
                <a:solidFill>
                  <a:srgbClr val="6D28D9"/>
                </a:solidFill>
                <a:latin typeface="Arial" pitchFamily="34" charset="0"/>
                <a:ea typeface="Arial" pitchFamily="34" charset="-122"/>
                <a:cs typeface="Arial" pitchFamily="34" charset="-120"/>
              </a:rPr>
              <a:t>Una marca moderna, también en el celular</a:t>
            </a:r>
            <a:endParaRPr lang="en-US" sz="1250" dirty="0"/>
          </a:p>
        </p:txBody>
      </p:sp>
      <p:sp>
        <p:nvSpPr>
          <p:cNvPr id="26" name="Text 19"/>
          <p:cNvSpPr txBox="1"/>
          <p:nvPr/>
        </p:nvSpPr>
        <p:spPr>
          <a:xfrm>
            <a:off x="7498080" y="3803904"/>
            <a:ext cx="3962095" cy="502920"/>
          </a:xfrm>
          <a:prstGeom prst="rect">
            <a:avLst/>
          </a:prstGeom>
          <a:noFill/>
          <a:ln/>
        </p:spPr>
        <p:txBody>
          <a:bodyPr wrap="square" lIns="0" tIns="0" rIns="0" bIns="0" rtlCol="0" anchor="t"/>
          <a:lstStyle/>
          <a:p>
            <a:pPr indent="0" marL="0">
              <a:buNone/>
            </a:pPr>
            <a:r>
              <a:rPr lang="en-US" sz="1150" dirty="0">
                <a:solidFill>
                  <a:srgbClr val="0B0B0D"/>
                </a:solidFill>
                <a:latin typeface="Arial" pitchFamily="34" charset="0"/>
                <a:ea typeface="Arial" pitchFamily="34" charset="-122"/>
                <a:cs typeface="Arial" pitchFamily="34" charset="-120"/>
              </a:rPr>
              <a:t>Identidad renovada, diseño adaptable y páginas propias</a:t>
            </a:r>
            <a:endParaRPr lang="en-US" sz="1150" dirty="0"/>
          </a:p>
        </p:txBody>
      </p:sp>
      <p:sp>
        <p:nvSpPr>
          <p:cNvPr id="27" name="Shape 20"/>
          <p:cNvSpPr/>
          <p:nvPr/>
        </p:nvSpPr>
        <p:spPr>
          <a:xfrm>
            <a:off x="7315200" y="4480560"/>
            <a:ext cx="4327855" cy="1508760"/>
          </a:xfrm>
          <a:prstGeom prst="roundRect">
            <a:avLst>
              <a:gd name="adj" fmla="val 4848"/>
            </a:avLst>
          </a:prstGeom>
          <a:solidFill>
            <a:srgbClr val="0B0B0D"/>
          </a:solidFill>
          <a:ln/>
        </p:spPr>
      </p:sp>
      <p:sp>
        <p:nvSpPr>
          <p:cNvPr id="28" name="Text 21"/>
          <p:cNvSpPr txBox="1"/>
          <p:nvPr/>
        </p:nvSpPr>
        <p:spPr>
          <a:xfrm>
            <a:off x="7498080" y="4572000"/>
            <a:ext cx="3962095" cy="228600"/>
          </a:xfrm>
          <a:prstGeom prst="rect">
            <a:avLst/>
          </a:prstGeom>
          <a:noFill/>
          <a:ln/>
        </p:spPr>
        <p:txBody>
          <a:bodyPr wrap="square" lIns="0" tIns="0" rIns="0" bIns="0" rtlCol="0" anchor="t"/>
          <a:lstStyle/>
          <a:p>
            <a:pPr indent="0" marL="0">
              <a:buNone/>
            </a:pPr>
            <a:r>
              <a:rPr lang="en-US" sz="950" b="1" spc="100" kern="0" dirty="0">
                <a:solidFill>
                  <a:srgbClr val="A78BFA"/>
                </a:solidFill>
                <a:latin typeface="Arial" pitchFamily="34" charset="0"/>
                <a:ea typeface="Arial" pitchFamily="34" charset="-122"/>
                <a:cs typeface="Arial" pitchFamily="34" charset="-120"/>
              </a:rPr>
              <a:t>MEDIDO (LIGHTHOUSE, 23-09-2026)</a:t>
            </a:r>
            <a:endParaRPr lang="en-US" sz="950" dirty="0"/>
          </a:p>
        </p:txBody>
      </p:sp>
      <p:sp>
        <p:nvSpPr>
          <p:cNvPr id="29" name="Text 22"/>
          <p:cNvSpPr txBox="1"/>
          <p:nvPr/>
        </p:nvSpPr>
        <p:spPr>
          <a:xfrm>
            <a:off x="7498080" y="484632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Peso de la ficha BH-SW12XXG (escritorio)</a:t>
            </a:r>
            <a:endParaRPr lang="en-US" sz="1000" dirty="0"/>
          </a:p>
        </p:txBody>
      </p:sp>
      <p:sp>
        <p:nvSpPr>
          <p:cNvPr id="30" name="Text 23"/>
          <p:cNvSpPr txBox="1"/>
          <p:nvPr/>
        </p:nvSpPr>
        <p:spPr>
          <a:xfrm>
            <a:off x="10042855" y="484632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5,28 MB → 0,38 MB</a:t>
            </a:r>
            <a:endParaRPr lang="en-US" sz="1100" dirty="0"/>
          </a:p>
        </p:txBody>
      </p:sp>
      <p:sp>
        <p:nvSpPr>
          <p:cNvPr id="31" name="Text 24"/>
          <p:cNvSpPr txBox="1"/>
          <p:nvPr/>
        </p:nvSpPr>
        <p:spPr>
          <a:xfrm>
            <a:off x="7498080" y="521208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Peticiones de la ficha (escritorio)</a:t>
            </a:r>
            <a:endParaRPr lang="en-US" sz="1000" dirty="0"/>
          </a:p>
        </p:txBody>
      </p:sp>
      <p:sp>
        <p:nvSpPr>
          <p:cNvPr id="32" name="Text 25"/>
          <p:cNvSpPr txBox="1"/>
          <p:nvPr/>
        </p:nvSpPr>
        <p:spPr>
          <a:xfrm>
            <a:off x="10042855" y="521208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61 → 35</a:t>
            </a:r>
            <a:endParaRPr lang="en-US" sz="1100" dirty="0"/>
          </a:p>
        </p:txBody>
      </p:sp>
      <p:sp>
        <p:nvSpPr>
          <p:cNvPr id="33" name="Text 26"/>
          <p:cNvSpPr txBox="1"/>
          <p:nvPr/>
        </p:nvSpPr>
        <p:spPr>
          <a:xfrm>
            <a:off x="7498080" y="5577840"/>
            <a:ext cx="2590495" cy="347472"/>
          </a:xfrm>
          <a:prstGeom prst="rect">
            <a:avLst/>
          </a:prstGeom>
          <a:noFill/>
          <a:ln/>
        </p:spPr>
        <p:txBody>
          <a:bodyPr wrap="square" lIns="0" tIns="0" rIns="0" bIns="0" rtlCol="0" anchor="t"/>
          <a:lstStyle/>
          <a:p>
            <a:pPr indent="0" marL="0">
              <a:buNone/>
            </a:pPr>
            <a:r>
              <a:rPr lang="en-US" sz="1000" dirty="0">
                <a:solidFill>
                  <a:srgbClr val="9CA3AF"/>
                </a:solidFill>
                <a:latin typeface="Arial" pitchFamily="34" charset="0"/>
                <a:ea typeface="Arial" pitchFamily="34" charset="-122"/>
                <a:cs typeface="Arial" pitchFamily="34" charset="-120"/>
              </a:rPr>
              <a:t>Peso de la home (escritorio)</a:t>
            </a:r>
            <a:endParaRPr lang="en-US" sz="1000" dirty="0"/>
          </a:p>
        </p:txBody>
      </p:sp>
      <p:sp>
        <p:nvSpPr>
          <p:cNvPr id="34" name="Text 27"/>
          <p:cNvSpPr txBox="1"/>
          <p:nvPr/>
        </p:nvSpPr>
        <p:spPr>
          <a:xfrm>
            <a:off x="10042855" y="5577840"/>
            <a:ext cx="1463040" cy="347472"/>
          </a:xfrm>
          <a:prstGeom prst="rect">
            <a:avLst/>
          </a:prstGeom>
          <a:noFill/>
          <a:ln/>
        </p:spPr>
        <p:txBody>
          <a:bodyPr wrap="square" lIns="0" tIns="0" rIns="0" bIns="0" rtlCol="0" anchor="t"/>
          <a:lstStyle/>
          <a:p>
            <a:pPr algn="r" indent="0" marL="0">
              <a:buNone/>
            </a:pPr>
            <a:r>
              <a:rPr lang="en-US" sz="1100" b="1" dirty="0">
                <a:solidFill>
                  <a:srgbClr val="FFFFFF"/>
                </a:solidFill>
                <a:latin typeface="Arial" pitchFamily="34" charset="0"/>
                <a:ea typeface="Arial" pitchFamily="34" charset="-122"/>
                <a:cs typeface="Arial" pitchFamily="34" charset="-120"/>
              </a:rPr>
              <a:t>2,53 MB → 1,15 MB</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6D28D9"/>
                </a:solidFill>
                <a:latin typeface="Arial" pitchFamily="34" charset="0"/>
                <a:ea typeface="Arial" pitchFamily="34" charset="-122"/>
                <a:cs typeface="Arial" pitchFamily="34" charset="-120"/>
              </a:rPr>
              <a:t>05 · TRANSICIÓN</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0B0B0D"/>
                </a:solidFill>
                <a:latin typeface="Arial" pitchFamily="34" charset="0"/>
                <a:ea typeface="Arial" pitchFamily="34" charset="-122"/>
                <a:cs typeface="Arial" pitchFamily="34" charset="-120"/>
              </a:rPr>
              <a:t>Plan de transición y capacitación por rol</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9CA3AF"/>
                </a:solidFill>
                <a:latin typeface="Arial" pitchFamily="34" charset="0"/>
                <a:ea typeface="Arial" pitchFamily="34" charset="-122"/>
                <a:cs typeface="Arial" pitchFamily="34" charset="-120"/>
              </a:rPr>
              <a:t>Black Hawk · RUP   31</a:t>
            </a:r>
            <a:endParaRPr lang="en-US" sz="900" dirty="0"/>
          </a:p>
        </p:txBody>
      </p:sp>
      <p:sp>
        <p:nvSpPr>
          <p:cNvPr id="6" name="Shape 3"/>
          <p:cNvSpPr/>
          <p:nvPr/>
        </p:nvSpPr>
        <p:spPr>
          <a:xfrm>
            <a:off x="10500055" y="804672"/>
            <a:ext cx="1110996" cy="256032"/>
          </a:xfrm>
          <a:prstGeom prst="roundRect">
            <a:avLst>
              <a:gd name="adj" fmla="val 50000"/>
            </a:avLst>
          </a:prstGeom>
          <a:solidFill>
            <a:srgbClr val="FFFFFF"/>
          </a:solidFill>
          <a:ln w="9525">
            <a:solidFill>
              <a:srgbClr val="9CA3AF"/>
            </a:solidFill>
            <a:prstDash val="solid"/>
          </a:ln>
        </p:spPr>
      </p:sp>
      <p:sp>
        <p:nvSpPr>
          <p:cNvPr id="7" name="Text 4"/>
          <p:cNvSpPr txBox="1"/>
          <p:nvPr/>
        </p:nvSpPr>
        <p:spPr>
          <a:xfrm>
            <a:off x="10500055" y="804672"/>
            <a:ext cx="1110996" cy="256032"/>
          </a:xfrm>
          <a:prstGeom prst="rect">
            <a:avLst/>
          </a:prstGeom>
          <a:noFill/>
          <a:ln/>
        </p:spPr>
        <p:txBody>
          <a:bodyPr wrap="square" lIns="0" tIns="0" rIns="0" bIns="0" rtlCol="0" anchor="ctr"/>
          <a:lstStyle/>
          <a:p>
            <a:pPr algn="ctr" indent="0" marL="0">
              <a:buNone/>
            </a:pPr>
            <a:r>
              <a:rPr lang="en-US" sz="1000" b="1" dirty="0">
                <a:solidFill>
                  <a:srgbClr val="6B7280"/>
                </a:solidFill>
                <a:latin typeface="Arial" pitchFamily="34" charset="0"/>
                <a:ea typeface="Arial" pitchFamily="34" charset="-122"/>
                <a:cs typeface="Arial" pitchFamily="34" charset="-120"/>
              </a:rPr>
              <a:t>Planificado</a:t>
            </a:r>
            <a:endParaRPr lang="en-US" sz="1000" dirty="0"/>
          </a:p>
        </p:txBody>
      </p:sp>
      <p:sp>
        <p:nvSpPr>
          <p:cNvPr id="8" name="Text 5"/>
          <p:cNvSpPr txBox="1"/>
          <p:nvPr/>
        </p:nvSpPr>
        <p:spPr>
          <a:xfrm>
            <a:off x="548640" y="1463040"/>
            <a:ext cx="4572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PUESTA EN PRODUCCIÓN</a:t>
            </a:r>
            <a:endParaRPr lang="en-US" sz="950" dirty="0"/>
          </a:p>
        </p:txBody>
      </p:sp>
      <p:sp>
        <p:nvSpPr>
          <p:cNvPr id="9" name="Shape 6"/>
          <p:cNvSpPr/>
          <p:nvPr/>
        </p:nvSpPr>
        <p:spPr>
          <a:xfrm>
            <a:off x="548640" y="1810512"/>
            <a:ext cx="457200" cy="457200"/>
          </a:xfrm>
          <a:prstGeom prst="ellipse">
            <a:avLst/>
          </a:prstGeom>
          <a:solidFill>
            <a:srgbClr val="0B0B0D"/>
          </a:solidFill>
          <a:ln w="15875">
            <a:solidFill>
              <a:srgbClr val="0B0B0D"/>
            </a:solidFill>
            <a:prstDash val="solid"/>
          </a:ln>
        </p:spPr>
      </p:sp>
      <p:sp>
        <p:nvSpPr>
          <p:cNvPr id="10" name="Text 7"/>
          <p:cNvSpPr txBox="1"/>
          <p:nvPr/>
        </p:nvSpPr>
        <p:spPr>
          <a:xfrm>
            <a:off x="548640" y="1810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Shape 8"/>
          <p:cNvSpPr/>
          <p:nvPr/>
        </p:nvSpPr>
        <p:spPr>
          <a:xfrm>
            <a:off x="777240" y="2267712"/>
            <a:ext cx="0" cy="301752"/>
          </a:xfrm>
          <a:prstGeom prst="line">
            <a:avLst/>
          </a:prstGeom>
          <a:noFill/>
          <a:ln w="12700">
            <a:solidFill>
              <a:srgbClr val="9CA3AF"/>
            </a:solidFill>
            <a:prstDash val="solid"/>
          </a:ln>
        </p:spPr>
      </p:sp>
      <p:sp>
        <p:nvSpPr>
          <p:cNvPr id="12" name="Text 9"/>
          <p:cNvSpPr txBox="1"/>
          <p:nvPr/>
        </p:nvSpPr>
        <p:spPr>
          <a:xfrm>
            <a:off x="1188720" y="1792224"/>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Aceptación</a:t>
            </a:r>
            <a:endParaRPr lang="en-US" sz="1350" dirty="0"/>
          </a:p>
        </p:txBody>
      </p:sp>
      <p:sp>
        <p:nvSpPr>
          <p:cNvPr id="13" name="Text 10"/>
          <p:cNvSpPr txBox="1"/>
          <p:nvPr/>
        </p:nvSpPr>
        <p:spPr>
          <a:xfrm>
            <a:off x="1188720" y="2057400"/>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Black Hawk revisa la web en el entorno de prueba y la aprueba.</a:t>
            </a:r>
            <a:endParaRPr lang="en-US" sz="1100" dirty="0"/>
          </a:p>
        </p:txBody>
      </p:sp>
      <p:sp>
        <p:nvSpPr>
          <p:cNvPr id="14" name="Shape 11"/>
          <p:cNvSpPr/>
          <p:nvPr/>
        </p:nvSpPr>
        <p:spPr>
          <a:xfrm>
            <a:off x="548640" y="2569464"/>
            <a:ext cx="457200" cy="457200"/>
          </a:xfrm>
          <a:prstGeom prst="ellipse">
            <a:avLst/>
          </a:prstGeom>
          <a:solidFill>
            <a:srgbClr val="0B0B0D"/>
          </a:solidFill>
          <a:ln w="15875">
            <a:solidFill>
              <a:srgbClr val="0B0B0D"/>
            </a:solidFill>
            <a:prstDash val="solid"/>
          </a:ln>
        </p:spPr>
      </p:sp>
      <p:sp>
        <p:nvSpPr>
          <p:cNvPr id="15" name="Text 12"/>
          <p:cNvSpPr txBox="1"/>
          <p:nvPr/>
        </p:nvSpPr>
        <p:spPr>
          <a:xfrm>
            <a:off x="548640" y="25694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Shape 13"/>
          <p:cNvSpPr/>
          <p:nvPr/>
        </p:nvSpPr>
        <p:spPr>
          <a:xfrm>
            <a:off x="777240" y="3026664"/>
            <a:ext cx="0" cy="301752"/>
          </a:xfrm>
          <a:prstGeom prst="line">
            <a:avLst/>
          </a:prstGeom>
          <a:noFill/>
          <a:ln w="12700">
            <a:solidFill>
              <a:srgbClr val="9CA3AF"/>
            </a:solidFill>
            <a:prstDash val="solid"/>
          </a:ln>
        </p:spPr>
      </p:sp>
      <p:sp>
        <p:nvSpPr>
          <p:cNvPr id="17" name="Text 14"/>
          <p:cNvSpPr txBox="1"/>
          <p:nvPr/>
        </p:nvSpPr>
        <p:spPr>
          <a:xfrm>
            <a:off x="1188720" y="2551176"/>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Respaldo</a:t>
            </a:r>
            <a:endParaRPr lang="en-US" sz="1350" dirty="0"/>
          </a:p>
        </p:txBody>
      </p:sp>
      <p:sp>
        <p:nvSpPr>
          <p:cNvPr id="18" name="Text 15"/>
          <p:cNvSpPr txBox="1"/>
          <p:nvPr/>
        </p:nvSpPr>
        <p:spPr>
          <a:xfrm>
            <a:off x="1188720" y="2816352"/>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Copia completa del sitio actual: archivos y base de datos.</a:t>
            </a:r>
            <a:endParaRPr lang="en-US" sz="1100" dirty="0"/>
          </a:p>
        </p:txBody>
      </p:sp>
      <p:sp>
        <p:nvSpPr>
          <p:cNvPr id="19" name="Shape 16"/>
          <p:cNvSpPr/>
          <p:nvPr/>
        </p:nvSpPr>
        <p:spPr>
          <a:xfrm>
            <a:off x="548640" y="3328416"/>
            <a:ext cx="457200" cy="457200"/>
          </a:xfrm>
          <a:prstGeom prst="ellipse">
            <a:avLst/>
          </a:prstGeom>
          <a:solidFill>
            <a:srgbClr val="0B0B0D"/>
          </a:solidFill>
          <a:ln w="15875">
            <a:solidFill>
              <a:srgbClr val="0B0B0D"/>
            </a:solidFill>
            <a:prstDash val="solid"/>
          </a:ln>
        </p:spPr>
      </p:sp>
      <p:sp>
        <p:nvSpPr>
          <p:cNvPr id="20" name="Text 17"/>
          <p:cNvSpPr txBox="1"/>
          <p:nvPr/>
        </p:nvSpPr>
        <p:spPr>
          <a:xfrm>
            <a:off x="548640" y="33284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Shape 18"/>
          <p:cNvSpPr/>
          <p:nvPr/>
        </p:nvSpPr>
        <p:spPr>
          <a:xfrm>
            <a:off x="777240" y="3785616"/>
            <a:ext cx="0" cy="301752"/>
          </a:xfrm>
          <a:prstGeom prst="line">
            <a:avLst/>
          </a:prstGeom>
          <a:noFill/>
          <a:ln w="12700">
            <a:solidFill>
              <a:srgbClr val="9CA3AF"/>
            </a:solidFill>
            <a:prstDash val="solid"/>
          </a:ln>
        </p:spPr>
      </p:sp>
      <p:sp>
        <p:nvSpPr>
          <p:cNvPr id="22" name="Text 19"/>
          <p:cNvSpPr txBox="1"/>
          <p:nvPr/>
        </p:nvSpPr>
        <p:spPr>
          <a:xfrm>
            <a:off x="1188720" y="3310128"/>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Publicación</a:t>
            </a:r>
            <a:endParaRPr lang="en-US" sz="1350" dirty="0"/>
          </a:p>
        </p:txBody>
      </p:sp>
      <p:sp>
        <p:nvSpPr>
          <p:cNvPr id="23" name="Text 20"/>
          <p:cNvSpPr txBox="1"/>
          <p:nvPr/>
        </p:nvSpPr>
        <p:spPr>
          <a:xfrm>
            <a:off x="1188720" y="3575304"/>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El tema hijo, las páginas y los contenidos pasan a blackhawkcaraudio.com.</a:t>
            </a:r>
            <a:endParaRPr lang="en-US" sz="1100" dirty="0"/>
          </a:p>
        </p:txBody>
      </p:sp>
      <p:sp>
        <p:nvSpPr>
          <p:cNvPr id="24" name="Shape 21"/>
          <p:cNvSpPr/>
          <p:nvPr/>
        </p:nvSpPr>
        <p:spPr>
          <a:xfrm>
            <a:off x="548640" y="4087368"/>
            <a:ext cx="457200" cy="457200"/>
          </a:xfrm>
          <a:prstGeom prst="ellipse">
            <a:avLst/>
          </a:prstGeom>
          <a:solidFill>
            <a:srgbClr val="0B0B0D"/>
          </a:solidFill>
          <a:ln w="15875">
            <a:solidFill>
              <a:srgbClr val="0B0B0D"/>
            </a:solidFill>
            <a:prstDash val="solid"/>
          </a:ln>
        </p:spPr>
      </p:sp>
      <p:sp>
        <p:nvSpPr>
          <p:cNvPr id="25" name="Text 22"/>
          <p:cNvSpPr txBox="1"/>
          <p:nvPr/>
        </p:nvSpPr>
        <p:spPr>
          <a:xfrm>
            <a:off x="548640" y="4087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6" name="Shape 23"/>
          <p:cNvSpPr/>
          <p:nvPr/>
        </p:nvSpPr>
        <p:spPr>
          <a:xfrm>
            <a:off x="777240" y="4544568"/>
            <a:ext cx="0" cy="301752"/>
          </a:xfrm>
          <a:prstGeom prst="line">
            <a:avLst/>
          </a:prstGeom>
          <a:noFill/>
          <a:ln w="12700">
            <a:solidFill>
              <a:srgbClr val="9CA3AF"/>
            </a:solidFill>
            <a:prstDash val="dash"/>
          </a:ln>
        </p:spPr>
      </p:sp>
      <p:sp>
        <p:nvSpPr>
          <p:cNvPr id="27" name="Text 24"/>
          <p:cNvSpPr txBox="1"/>
          <p:nvPr/>
        </p:nvSpPr>
        <p:spPr>
          <a:xfrm>
            <a:off x="1188720" y="4069080"/>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Verificación</a:t>
            </a:r>
            <a:endParaRPr lang="en-US" sz="1350" dirty="0"/>
          </a:p>
        </p:txBody>
      </p:sp>
      <p:sp>
        <p:nvSpPr>
          <p:cNvPr id="28" name="Text 25"/>
          <p:cNvSpPr txBox="1"/>
          <p:nvPr/>
        </p:nvSpPr>
        <p:spPr>
          <a:xfrm>
            <a:off x="1188720" y="4334256"/>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Fichas, «Cotizar», celular y enlaces en el dominio oficial.</a:t>
            </a:r>
            <a:endParaRPr lang="en-US" sz="1100" dirty="0"/>
          </a:p>
        </p:txBody>
      </p:sp>
      <p:sp>
        <p:nvSpPr>
          <p:cNvPr id="29" name="Shape 26"/>
          <p:cNvSpPr/>
          <p:nvPr/>
        </p:nvSpPr>
        <p:spPr>
          <a:xfrm>
            <a:off x="548640" y="4846320"/>
            <a:ext cx="457200" cy="457200"/>
          </a:xfrm>
          <a:prstGeom prst="ellipse">
            <a:avLst/>
          </a:prstGeom>
          <a:solidFill>
            <a:srgbClr val="FFFFFF"/>
          </a:solidFill>
          <a:ln w="15875">
            <a:solidFill>
              <a:srgbClr val="0B0B0D"/>
            </a:solidFill>
            <a:prstDash val="solid"/>
          </a:ln>
        </p:spPr>
      </p:sp>
      <p:sp>
        <p:nvSpPr>
          <p:cNvPr id="30" name="Text 27"/>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400" b="1" dirty="0">
                <a:solidFill>
                  <a:srgbClr val="0B0B0D"/>
                </a:solidFill>
                <a:latin typeface="Arial" pitchFamily="34" charset="0"/>
                <a:ea typeface="Arial" pitchFamily="34" charset="-122"/>
                <a:cs typeface="Arial" pitchFamily="34" charset="-120"/>
              </a:rPr>
              <a:t>5</a:t>
            </a:r>
            <a:endParaRPr lang="en-US" sz="1400" dirty="0"/>
          </a:p>
        </p:txBody>
      </p:sp>
      <p:sp>
        <p:nvSpPr>
          <p:cNvPr id="31" name="Text 28"/>
          <p:cNvSpPr txBox="1"/>
          <p:nvPr/>
        </p:nvSpPr>
        <p:spPr>
          <a:xfrm>
            <a:off x="1188720" y="4828032"/>
            <a:ext cx="4206240" cy="274320"/>
          </a:xfrm>
          <a:prstGeom prst="rect">
            <a:avLst/>
          </a:prstGeom>
          <a:noFill/>
          <a:ln/>
        </p:spPr>
        <p:txBody>
          <a:bodyPr wrap="square" lIns="0" tIns="0" rIns="0" bIns="0" rtlCol="0" anchor="t"/>
          <a:lstStyle/>
          <a:p>
            <a:pPr indent="0" marL="0">
              <a:buNone/>
            </a:pPr>
            <a:r>
              <a:rPr lang="en-US" sz="1350" b="1" dirty="0">
                <a:solidFill>
                  <a:srgbClr val="0B0B0D"/>
                </a:solidFill>
                <a:latin typeface="Arial" pitchFamily="34" charset="0"/>
                <a:ea typeface="Arial" pitchFamily="34" charset="-122"/>
                <a:cs typeface="Arial" pitchFamily="34" charset="-120"/>
              </a:rPr>
              <a:t>Reversión</a:t>
            </a:r>
            <a:endParaRPr lang="en-US" sz="1350" dirty="0"/>
          </a:p>
        </p:txBody>
      </p:sp>
      <p:sp>
        <p:nvSpPr>
          <p:cNvPr id="32" name="Text 29"/>
          <p:cNvSpPr txBox="1"/>
          <p:nvPr/>
        </p:nvSpPr>
        <p:spPr>
          <a:xfrm>
            <a:off x="1188720" y="5093208"/>
            <a:ext cx="4480560" cy="41148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Si algo falla, se restaura el respaldo.</a:t>
            </a:r>
            <a:endParaRPr lang="en-US" sz="1100" dirty="0"/>
          </a:p>
        </p:txBody>
      </p:sp>
      <p:sp>
        <p:nvSpPr>
          <p:cNvPr id="33" name="Text 30"/>
          <p:cNvSpPr txBox="1"/>
          <p:nvPr/>
        </p:nvSpPr>
        <p:spPr>
          <a:xfrm>
            <a:off x="6080760" y="1463040"/>
            <a:ext cx="4572000" cy="228600"/>
          </a:xfrm>
          <a:prstGeom prst="rect">
            <a:avLst/>
          </a:prstGeom>
          <a:noFill/>
          <a:ln/>
        </p:spPr>
        <p:txBody>
          <a:bodyPr wrap="square" lIns="0" tIns="0" rIns="0" bIns="0" rtlCol="0" anchor="t"/>
          <a:lstStyle/>
          <a:p>
            <a:pPr indent="0" marL="0">
              <a:buNone/>
            </a:pPr>
            <a:r>
              <a:rPr lang="en-US" sz="950" b="1" spc="150" kern="0" dirty="0">
                <a:solidFill>
                  <a:srgbClr val="6D28D9"/>
                </a:solidFill>
                <a:latin typeface="Arial" pitchFamily="34" charset="0"/>
                <a:ea typeface="Arial" pitchFamily="34" charset="-122"/>
                <a:cs typeface="Arial" pitchFamily="34" charset="-120"/>
              </a:rPr>
              <a:t>CAPACITACIÓN POR ROL</a:t>
            </a:r>
            <a:endParaRPr lang="en-US" sz="950" dirty="0"/>
          </a:p>
        </p:txBody>
      </p:sp>
      <p:sp>
        <p:nvSpPr>
          <p:cNvPr id="34" name="Shape 31"/>
          <p:cNvSpPr/>
          <p:nvPr/>
        </p:nvSpPr>
        <p:spPr>
          <a:xfrm>
            <a:off x="6080760" y="1783080"/>
            <a:ext cx="5562295" cy="1078992"/>
          </a:xfrm>
          <a:prstGeom prst="roundRect">
            <a:avLst>
              <a:gd name="adj" fmla="val 6780"/>
            </a:avLst>
          </a:prstGeom>
          <a:solidFill>
            <a:srgbClr val="F5F5F7"/>
          </a:solidFill>
          <a:ln/>
        </p:spPr>
      </p:sp>
      <p:sp>
        <p:nvSpPr>
          <p:cNvPr id="35" name="Shape 32"/>
          <p:cNvSpPr/>
          <p:nvPr/>
        </p:nvSpPr>
        <p:spPr>
          <a:xfrm>
            <a:off x="6309360" y="2020824"/>
            <a:ext cx="603504" cy="603504"/>
          </a:xfrm>
          <a:prstGeom prst="ellipse">
            <a:avLst/>
          </a:prstGeom>
          <a:solidFill>
            <a:srgbClr val="EDE4FB"/>
          </a:solidFill>
          <a:ln/>
        </p:spPr>
      </p:sp>
      <p:pic>
        <p:nvPicPr>
          <p:cNvPr id="36" name="Image 0" descr="preencoded.png">    </p:cNvPr>
          <p:cNvPicPr>
            <a:picLocks noChangeAspect="1"/>
          </p:cNvPicPr>
          <p:nvPr/>
        </p:nvPicPr>
        <p:blipFill>
          <a:blip r:embed="rId1"/>
          <a:stretch>
            <a:fillRect/>
          </a:stretch>
        </p:blipFill>
        <p:spPr>
          <a:xfrm>
            <a:off x="6454201" y="2165665"/>
            <a:ext cx="313822" cy="313822"/>
          </a:xfrm>
          <a:prstGeom prst="rect">
            <a:avLst/>
          </a:prstGeom>
        </p:spPr>
      </p:pic>
      <p:sp>
        <p:nvSpPr>
          <p:cNvPr id="37" name="Text 33"/>
          <p:cNvSpPr txBox="1"/>
          <p:nvPr/>
        </p:nvSpPr>
        <p:spPr>
          <a:xfrm>
            <a:off x="7132320" y="1938528"/>
            <a:ext cx="4282135" cy="292608"/>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Gestor de contenidos</a:t>
            </a:r>
            <a:endParaRPr lang="en-US" sz="1400" dirty="0"/>
          </a:p>
        </p:txBody>
      </p:sp>
      <p:sp>
        <p:nvSpPr>
          <p:cNvPr id="38" name="Text 34"/>
          <p:cNvSpPr txBox="1"/>
          <p:nvPr/>
        </p:nvSpPr>
        <p:spPr>
          <a:xfrm>
            <a:off x="7132320" y="2240280"/>
            <a:ext cx="4282135" cy="54864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Productos, categorías, fichas e imágenes en WooCommerce; páginas en WordPress.</a:t>
            </a:r>
            <a:endParaRPr lang="en-US" sz="1150" dirty="0"/>
          </a:p>
        </p:txBody>
      </p:sp>
      <p:sp>
        <p:nvSpPr>
          <p:cNvPr id="39" name="Shape 35"/>
          <p:cNvSpPr/>
          <p:nvPr/>
        </p:nvSpPr>
        <p:spPr>
          <a:xfrm>
            <a:off x="6080760" y="2999232"/>
            <a:ext cx="5562295" cy="1078992"/>
          </a:xfrm>
          <a:prstGeom prst="roundRect">
            <a:avLst>
              <a:gd name="adj" fmla="val 6780"/>
            </a:avLst>
          </a:prstGeom>
          <a:solidFill>
            <a:srgbClr val="F5F5F7"/>
          </a:solidFill>
          <a:ln/>
        </p:spPr>
      </p:sp>
      <p:sp>
        <p:nvSpPr>
          <p:cNvPr id="40" name="Shape 36"/>
          <p:cNvSpPr/>
          <p:nvPr/>
        </p:nvSpPr>
        <p:spPr>
          <a:xfrm>
            <a:off x="6309360" y="3236976"/>
            <a:ext cx="603504" cy="603504"/>
          </a:xfrm>
          <a:prstGeom prst="ellipse">
            <a:avLst/>
          </a:prstGeom>
          <a:solidFill>
            <a:srgbClr val="EDE4FB"/>
          </a:solidFill>
          <a:ln/>
        </p:spPr>
      </p:sp>
      <p:pic>
        <p:nvPicPr>
          <p:cNvPr id="41" name="Image 1" descr="preencoded.png">    </p:cNvPr>
          <p:cNvPicPr>
            <a:picLocks noChangeAspect="1"/>
          </p:cNvPicPr>
          <p:nvPr/>
        </p:nvPicPr>
        <p:blipFill>
          <a:blip r:embed="rId2"/>
          <a:stretch>
            <a:fillRect/>
          </a:stretch>
        </p:blipFill>
        <p:spPr>
          <a:xfrm>
            <a:off x="6454201" y="3381817"/>
            <a:ext cx="313822" cy="313822"/>
          </a:xfrm>
          <a:prstGeom prst="rect">
            <a:avLst/>
          </a:prstGeom>
        </p:spPr>
      </p:pic>
      <p:sp>
        <p:nvSpPr>
          <p:cNvPr id="42" name="Text 37"/>
          <p:cNvSpPr txBox="1"/>
          <p:nvPr/>
        </p:nvSpPr>
        <p:spPr>
          <a:xfrm>
            <a:off x="7132320" y="3154680"/>
            <a:ext cx="4282135" cy="292608"/>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Área comercial</a:t>
            </a:r>
            <a:endParaRPr lang="en-US" sz="1400" dirty="0"/>
          </a:p>
        </p:txBody>
      </p:sp>
      <p:sp>
        <p:nvSpPr>
          <p:cNvPr id="43" name="Text 38"/>
          <p:cNvSpPr txBox="1"/>
          <p:nvPr/>
        </p:nvSpPr>
        <p:spPr>
          <a:xfrm>
            <a:off x="7132320" y="3456432"/>
            <a:ext cx="4282135" cy="54864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Cómo llega el mensaje con el modelo; atender la consulta y derivar al distribuidor.</a:t>
            </a:r>
            <a:endParaRPr lang="en-US" sz="1150" dirty="0"/>
          </a:p>
        </p:txBody>
      </p:sp>
      <p:sp>
        <p:nvSpPr>
          <p:cNvPr id="44" name="Shape 39"/>
          <p:cNvSpPr/>
          <p:nvPr/>
        </p:nvSpPr>
        <p:spPr>
          <a:xfrm>
            <a:off x="6080760" y="4215384"/>
            <a:ext cx="5562295" cy="1078992"/>
          </a:xfrm>
          <a:prstGeom prst="roundRect">
            <a:avLst>
              <a:gd name="adj" fmla="val 6780"/>
            </a:avLst>
          </a:prstGeom>
          <a:solidFill>
            <a:srgbClr val="F5F5F7"/>
          </a:solidFill>
          <a:ln/>
        </p:spPr>
      </p:sp>
      <p:sp>
        <p:nvSpPr>
          <p:cNvPr id="45" name="Shape 40"/>
          <p:cNvSpPr/>
          <p:nvPr/>
        </p:nvSpPr>
        <p:spPr>
          <a:xfrm>
            <a:off x="6309360" y="4453128"/>
            <a:ext cx="603504" cy="603504"/>
          </a:xfrm>
          <a:prstGeom prst="ellipse">
            <a:avLst/>
          </a:prstGeom>
          <a:solidFill>
            <a:srgbClr val="EDE4FB"/>
          </a:solidFill>
          <a:ln/>
        </p:spPr>
      </p:sp>
      <p:pic>
        <p:nvPicPr>
          <p:cNvPr id="46" name="Image 2" descr="preencoded.png">    </p:cNvPr>
          <p:cNvPicPr>
            <a:picLocks noChangeAspect="1"/>
          </p:cNvPicPr>
          <p:nvPr/>
        </p:nvPicPr>
        <p:blipFill>
          <a:blip r:embed="rId3"/>
          <a:stretch>
            <a:fillRect/>
          </a:stretch>
        </p:blipFill>
        <p:spPr>
          <a:xfrm>
            <a:off x="6454201" y="4597969"/>
            <a:ext cx="313822" cy="313822"/>
          </a:xfrm>
          <a:prstGeom prst="rect">
            <a:avLst/>
          </a:prstGeom>
        </p:spPr>
      </p:pic>
      <p:sp>
        <p:nvSpPr>
          <p:cNvPr id="47" name="Text 41"/>
          <p:cNvSpPr txBox="1"/>
          <p:nvPr/>
        </p:nvSpPr>
        <p:spPr>
          <a:xfrm>
            <a:off x="7132320" y="4370832"/>
            <a:ext cx="4282135" cy="292608"/>
          </a:xfrm>
          <a:prstGeom prst="rect">
            <a:avLst/>
          </a:prstGeom>
          <a:noFill/>
          <a:ln/>
        </p:spPr>
        <p:txBody>
          <a:bodyPr wrap="square" lIns="0" tIns="0" rIns="0" bIns="0" rtlCol="0" anchor="t"/>
          <a:lstStyle/>
          <a:p>
            <a:pPr indent="0" marL="0">
              <a:buNone/>
            </a:pPr>
            <a:r>
              <a:rPr lang="en-US" sz="1400" b="1" dirty="0">
                <a:solidFill>
                  <a:srgbClr val="0B0B0D"/>
                </a:solidFill>
                <a:latin typeface="Arial" pitchFamily="34" charset="0"/>
                <a:ea typeface="Arial" pitchFamily="34" charset="-122"/>
                <a:cs typeface="Arial" pitchFamily="34" charset="-120"/>
              </a:rPr>
              <a:t>Administrador del sitio</a:t>
            </a:r>
            <a:endParaRPr lang="en-US" sz="1400" dirty="0"/>
          </a:p>
        </p:txBody>
      </p:sp>
      <p:sp>
        <p:nvSpPr>
          <p:cNvPr id="48" name="Text 42"/>
          <p:cNvSpPr txBox="1"/>
          <p:nvPr/>
        </p:nvSpPr>
        <p:spPr>
          <a:xfrm>
            <a:off x="7132320" y="4672584"/>
            <a:ext cx="4282135" cy="548640"/>
          </a:xfrm>
          <a:prstGeom prst="rect">
            <a:avLst/>
          </a:prstGeom>
          <a:noFill/>
          <a:ln/>
        </p:spPr>
        <p:txBody>
          <a:bodyPr wrap="square" lIns="0" tIns="0" rIns="0" bIns="0" rtlCol="0" anchor="t"/>
          <a:lstStyle/>
          <a:p>
            <a:pPr indent="0" marL="0">
              <a:buNone/>
            </a:pPr>
            <a:r>
              <a:rPr lang="en-US" sz="1150" dirty="0">
                <a:solidFill>
                  <a:srgbClr val="6B7280"/>
                </a:solidFill>
                <a:latin typeface="Arial" pitchFamily="34" charset="0"/>
                <a:ea typeface="Arial" pitchFamily="34" charset="-122"/>
                <a:cs typeface="Arial" pitchFamily="34" charset="-120"/>
              </a:rPr>
              <a:t>Actualizar primero en el entorno de prueba; usuarios, roles y respaldos.</a:t>
            </a:r>
            <a:endParaRPr lang="en-US" sz="1150" dirty="0"/>
          </a:p>
        </p:txBody>
      </p:sp>
      <p:sp>
        <p:nvSpPr>
          <p:cNvPr id="49" name="Shape 43"/>
          <p:cNvSpPr/>
          <p:nvPr/>
        </p:nvSpPr>
        <p:spPr>
          <a:xfrm>
            <a:off x="548640" y="5669280"/>
            <a:ext cx="11094415" cy="566928"/>
          </a:xfrm>
          <a:prstGeom prst="roundRect">
            <a:avLst>
              <a:gd name="adj" fmla="val 12903"/>
            </a:avLst>
          </a:prstGeom>
          <a:solidFill>
            <a:srgbClr val="0B0B0D"/>
          </a:solidFill>
          <a:ln/>
        </p:spPr>
      </p:sp>
      <p:sp>
        <p:nvSpPr>
          <p:cNvPr id="50" name="Text 44"/>
          <p:cNvSpPr txBox="1"/>
          <p:nvPr/>
        </p:nvSpPr>
        <p:spPr>
          <a:xfrm>
            <a:off x="822960" y="5669280"/>
            <a:ext cx="10545775" cy="566928"/>
          </a:xfrm>
          <a:prstGeom prst="rect">
            <a:avLst/>
          </a:prstGeom>
          <a:noFill/>
          <a:ln/>
        </p:spPr>
        <p:txBody>
          <a:bodyPr wrap="square" lIns="0" tIns="0" rIns="0" bIns="0" rtlCol="0" anchor="ctr"/>
          <a:lstStyle/>
          <a:p>
            <a:pPr indent="0" marL="0">
              <a:buNone/>
            </a:pPr>
            <a:r>
              <a:rPr lang="en-US" sz="1300" b="1" dirty="0">
                <a:solidFill>
                  <a:srgbClr val="A78BFA"/>
                </a:solidFill>
                <a:latin typeface="Arial" pitchFamily="34" charset="0"/>
                <a:ea typeface="Arial" pitchFamily="34" charset="-122"/>
                <a:cs typeface="Arial" pitchFamily="34" charset="-120"/>
              </a:rPr>
              <a:t>Hito PR · </a:t>
            </a:r>
            <a:pPr indent="0" marL="0">
              <a:buNone/>
            </a:pPr>
            <a:r>
              <a:rPr lang="en-US" sz="1300" dirty="0">
                <a:solidFill>
                  <a:srgbClr val="FFFFFF"/>
                </a:solidFill>
                <a:latin typeface="Arial" pitchFamily="34" charset="0"/>
                <a:ea typeface="Arial" pitchFamily="34" charset="-122"/>
                <a:cs typeface="Arial" pitchFamily="34" charset="-120"/>
              </a:rPr>
              <a:t>web aceptada por Black Hawk, publicada en su dominio oficial y con cada rol capacitado.</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D"/>
        </a:solidFill>
      </p:bgPr>
    </p:bg>
    <p:spTree>
      <p:nvGrpSpPr>
        <p:cNvPr id="1" name=""/>
        <p:cNvGrpSpPr/>
        <p:nvPr/>
      </p:nvGrpSpPr>
      <p:grpSpPr>
        <a:xfrm>
          <a:off x="0" y="0"/>
          <a:ext cx="0" cy="0"/>
          <a:chOff x="0" y="0"/>
          <a:chExt cx="0" cy="0"/>
        </a:xfrm>
      </p:grpSpPr>
      <p:sp>
        <p:nvSpPr>
          <p:cNvPr id="3"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A78BFA"/>
                </a:solidFill>
                <a:latin typeface="Arial" pitchFamily="34" charset="0"/>
                <a:ea typeface="Arial" pitchFamily="34" charset="-122"/>
                <a:cs typeface="Arial" pitchFamily="34" charset="-120"/>
              </a:rPr>
              <a:t>05 · CIERRE</a:t>
            </a:r>
            <a:endParaRPr lang="en-US" sz="1100" dirty="0"/>
          </a:p>
        </p:txBody>
      </p:sp>
      <p:sp>
        <p:nvSpPr>
          <p:cNvPr id="4" name="Text 1"/>
          <p:cNvSpPr txBox="1"/>
          <p:nvPr/>
        </p:nvSpPr>
        <p:spPr>
          <a:xfrm>
            <a:off x="548640" y="621792"/>
            <a:ext cx="11094415" cy="6858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Conclusiones y próximos pasos</a:t>
            </a:r>
            <a:endParaRPr lang="en-US" sz="3000" dirty="0"/>
          </a:p>
        </p:txBody>
      </p:sp>
      <p:sp>
        <p:nvSpPr>
          <p:cNvPr id="5" name="Text 2"/>
          <p:cNvSpPr txBox="1"/>
          <p:nvPr/>
        </p:nvSpPr>
        <p:spPr>
          <a:xfrm>
            <a:off x="9265615" y="6473952"/>
            <a:ext cx="2377440" cy="228600"/>
          </a:xfrm>
          <a:prstGeom prst="rect">
            <a:avLst/>
          </a:prstGeom>
          <a:noFill/>
          <a:ln/>
        </p:spPr>
        <p:txBody>
          <a:bodyPr wrap="square" lIns="0" tIns="0" rIns="0" bIns="0" rtlCol="0" anchor="t"/>
          <a:lstStyle/>
          <a:p>
            <a:pPr algn="r" indent="0" marL="0">
              <a:buNone/>
            </a:pPr>
            <a:r>
              <a:rPr lang="en-US" sz="900" dirty="0">
                <a:solidFill>
                  <a:srgbClr val="6B7280"/>
                </a:solidFill>
                <a:latin typeface="Arial" pitchFamily="34" charset="0"/>
                <a:ea typeface="Arial" pitchFamily="34" charset="-122"/>
                <a:cs typeface="Arial" pitchFamily="34" charset="-120"/>
              </a:rPr>
              <a:t>Black Hawk · RUP   32</a:t>
            </a:r>
            <a:endParaRPr lang="en-US" sz="900" dirty="0"/>
          </a:p>
        </p:txBody>
      </p:sp>
      <p:sp>
        <p:nvSpPr>
          <p:cNvPr id="6" name="Text 3"/>
          <p:cNvSpPr txBox="1"/>
          <p:nvPr/>
        </p:nvSpPr>
        <p:spPr>
          <a:xfrm>
            <a:off x="54864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01</a:t>
            </a:r>
            <a:endParaRPr lang="en-US" sz="2800" dirty="0"/>
          </a:p>
        </p:txBody>
      </p:sp>
      <p:sp>
        <p:nvSpPr>
          <p:cNvPr id="7" name="Text 4"/>
          <p:cNvSpPr txBox="1"/>
          <p:nvPr/>
        </p:nvSpPr>
        <p:spPr>
          <a:xfrm>
            <a:off x="54864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El punto de partida</a:t>
            </a:r>
            <a:endParaRPr lang="en-US" sz="1700" dirty="0"/>
          </a:p>
        </p:txBody>
      </p:sp>
      <p:sp>
        <p:nvSpPr>
          <p:cNvPr id="8" name="Text 5"/>
          <p:cNvSpPr txBox="1"/>
          <p:nvPr/>
        </p:nvSpPr>
        <p:spPr>
          <a:xfrm>
            <a:off x="54864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Black Hawk ya tenía una plataforma con catálogo; su limitación era que no guiaba al usuario hacia una acción comercial.</a:t>
            </a:r>
            <a:endParaRPr lang="en-US" sz="1300" dirty="0"/>
          </a:p>
        </p:txBody>
      </p:sp>
      <p:sp>
        <p:nvSpPr>
          <p:cNvPr id="9" name="Text 6"/>
          <p:cNvSpPr txBox="1"/>
          <p:nvPr/>
        </p:nvSpPr>
        <p:spPr>
          <a:xfrm>
            <a:off x="429768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02</a:t>
            </a:r>
            <a:endParaRPr lang="en-US" sz="2800" dirty="0"/>
          </a:p>
        </p:txBody>
      </p:sp>
      <p:sp>
        <p:nvSpPr>
          <p:cNvPr id="10" name="Text 7"/>
          <p:cNvSpPr txBox="1"/>
          <p:nvPr/>
        </p:nvSpPr>
        <p:spPr>
          <a:xfrm>
            <a:off x="429768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La solución</a:t>
            </a:r>
            <a:endParaRPr lang="en-US" sz="1700" dirty="0"/>
          </a:p>
        </p:txBody>
      </p:sp>
      <p:sp>
        <p:nvSpPr>
          <p:cNvPr id="11" name="Text 8"/>
          <p:cNvSpPr txBox="1"/>
          <p:nvPr/>
        </p:nvSpPr>
        <p:spPr>
          <a:xfrm>
            <a:off x="429768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La web renovada rediseña la marca, ordena el catálogo y lleva cada producto a una consulta con el modelo identificado, sobre la misma base tecnológica.</a:t>
            </a:r>
            <a:endParaRPr lang="en-US" sz="1300" dirty="0"/>
          </a:p>
        </p:txBody>
      </p:sp>
      <p:sp>
        <p:nvSpPr>
          <p:cNvPr id="12" name="Text 9"/>
          <p:cNvSpPr txBox="1"/>
          <p:nvPr/>
        </p:nvSpPr>
        <p:spPr>
          <a:xfrm>
            <a:off x="8046720" y="1463040"/>
            <a:ext cx="914400" cy="548640"/>
          </a:xfrm>
          <a:prstGeom prst="rect">
            <a:avLst/>
          </a:prstGeom>
          <a:noFill/>
          <a:ln/>
        </p:spPr>
        <p:txBody>
          <a:bodyPr wrap="square" lIns="0" tIns="0" rIns="0" bIns="0" rtlCol="0" anchor="t"/>
          <a:lstStyle/>
          <a:p>
            <a:pPr indent="0" marL="0">
              <a:buNone/>
            </a:pPr>
            <a:r>
              <a:rPr lang="en-US" sz="2800" b="1" dirty="0">
                <a:solidFill>
                  <a:srgbClr val="A78BFA"/>
                </a:solidFill>
                <a:latin typeface="Arial" pitchFamily="34" charset="0"/>
                <a:ea typeface="Arial" pitchFamily="34" charset="-122"/>
                <a:cs typeface="Arial" pitchFamily="34" charset="-120"/>
              </a:rPr>
              <a:t>03</a:t>
            </a:r>
            <a:endParaRPr lang="en-US" sz="2800" dirty="0"/>
          </a:p>
        </p:txBody>
      </p:sp>
      <p:sp>
        <p:nvSpPr>
          <p:cNvPr id="13" name="Text 10"/>
          <p:cNvSpPr txBox="1"/>
          <p:nvPr/>
        </p:nvSpPr>
        <p:spPr>
          <a:xfrm>
            <a:off x="8046720" y="2057400"/>
            <a:ext cx="34747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La metodología</a:t>
            </a:r>
            <a:endParaRPr lang="en-US" sz="1700" dirty="0"/>
          </a:p>
        </p:txBody>
      </p:sp>
      <p:sp>
        <p:nvSpPr>
          <p:cNvPr id="14" name="Text 11"/>
          <p:cNvSpPr txBox="1"/>
          <p:nvPr/>
        </p:nvSpPr>
        <p:spPr>
          <a:xfrm>
            <a:off x="8046720" y="2468880"/>
            <a:ext cx="3474720" cy="1554480"/>
          </a:xfrm>
          <a:prstGeom prst="rect">
            <a:avLst/>
          </a:prstGeom>
          <a:noFill/>
          <a:ln/>
        </p:spPr>
        <p:txBody>
          <a:bodyPr wrap="square" lIns="0" tIns="0" rIns="0" bIns="0" rtlCol="0" anchor="t"/>
          <a:lstStyle/>
          <a:p>
            <a:pPr indent="0" marL="0">
              <a:buNone/>
            </a:pPr>
            <a:r>
              <a:rPr lang="en-US" sz="1300" dirty="0">
                <a:solidFill>
                  <a:srgbClr val="9CA3AF"/>
                </a:solidFill>
                <a:latin typeface="Arial" pitchFamily="34" charset="0"/>
                <a:ea typeface="Arial" pitchFamily="34" charset="-122"/>
                <a:cs typeface="Arial" pitchFamily="34" charset="-120"/>
              </a:rPr>
              <a:t>RUP organizó el trabajo: Inicio y Elaboración realizados, Construcción avanzada y Transición planificada, con modelos UML que sustentan cada decisión.</a:t>
            </a:r>
            <a:endParaRPr lang="en-US" sz="1300" dirty="0"/>
          </a:p>
        </p:txBody>
      </p:sp>
      <p:sp>
        <p:nvSpPr>
          <p:cNvPr id="15" name="Shape 12"/>
          <p:cNvSpPr/>
          <p:nvPr/>
        </p:nvSpPr>
        <p:spPr>
          <a:xfrm>
            <a:off x="548640" y="4206240"/>
            <a:ext cx="11094415" cy="1783080"/>
          </a:xfrm>
          <a:prstGeom prst="roundRect">
            <a:avLst>
              <a:gd name="adj" fmla="val 4103"/>
            </a:avLst>
          </a:prstGeom>
          <a:solidFill>
            <a:srgbClr val="1A1B1F"/>
          </a:solidFill>
          <a:ln/>
        </p:spPr>
      </p:sp>
      <p:sp>
        <p:nvSpPr>
          <p:cNvPr id="16" name="Text 13"/>
          <p:cNvSpPr txBox="1"/>
          <p:nvPr/>
        </p:nvSpPr>
        <p:spPr>
          <a:xfrm>
            <a:off x="822960" y="4343400"/>
            <a:ext cx="3657600" cy="274320"/>
          </a:xfrm>
          <a:prstGeom prst="rect">
            <a:avLst/>
          </a:prstGeom>
          <a:noFill/>
          <a:ln/>
        </p:spPr>
        <p:txBody>
          <a:bodyPr wrap="square" lIns="0" tIns="0" rIns="0" bIns="0" rtlCol="0" anchor="t"/>
          <a:lstStyle/>
          <a:p>
            <a:pPr indent="0" marL="0">
              <a:buNone/>
            </a:pPr>
            <a:r>
              <a:rPr lang="en-US" sz="1050" b="1" spc="200" kern="0" dirty="0">
                <a:solidFill>
                  <a:srgbClr val="A78BFA"/>
                </a:solidFill>
                <a:latin typeface="Arial" pitchFamily="34" charset="0"/>
                <a:ea typeface="Arial" pitchFamily="34" charset="-122"/>
                <a:cs typeface="Arial" pitchFamily="34" charset="-120"/>
              </a:rPr>
              <a:t>PRÓXIMOS PASOS</a:t>
            </a:r>
            <a:endParaRPr lang="en-US" sz="1050" dirty="0"/>
          </a:p>
        </p:txBody>
      </p:sp>
      <p:sp>
        <p:nvSpPr>
          <p:cNvPr id="17" name="Text 14"/>
          <p:cNvSpPr txBox="1"/>
          <p:nvPr/>
        </p:nvSpPr>
        <p:spPr>
          <a:xfrm>
            <a:off x="8229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1</a:t>
            </a:r>
            <a:endParaRPr lang="en-US" sz="2200" dirty="0"/>
          </a:p>
        </p:txBody>
      </p:sp>
      <p:sp>
        <p:nvSpPr>
          <p:cNvPr id="18" name="Text 15"/>
          <p:cNvSpPr txBox="1"/>
          <p:nvPr/>
        </p:nvSpPr>
        <p:spPr>
          <a:xfrm>
            <a:off x="12344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Validar la web renovada con Black Hawk</a:t>
            </a:r>
            <a:endParaRPr lang="en-US" sz="1250" dirty="0"/>
          </a:p>
        </p:txBody>
      </p:sp>
      <p:sp>
        <p:nvSpPr>
          <p:cNvPr id="19" name="Text 16"/>
          <p:cNvSpPr txBox="1"/>
          <p:nvPr/>
        </p:nvSpPr>
        <p:spPr>
          <a:xfrm>
            <a:off x="35661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2</a:t>
            </a:r>
            <a:endParaRPr lang="en-US" sz="2200" dirty="0"/>
          </a:p>
        </p:txBody>
      </p:sp>
      <p:sp>
        <p:nvSpPr>
          <p:cNvPr id="20" name="Text 17"/>
          <p:cNvSpPr txBox="1"/>
          <p:nvPr/>
        </p:nvSpPr>
        <p:spPr>
          <a:xfrm>
            <a:off x="39776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Publicarla en el dominio oficial y medir con datos reales</a:t>
            </a:r>
            <a:endParaRPr lang="en-US" sz="1250" dirty="0"/>
          </a:p>
        </p:txBody>
      </p:sp>
      <p:sp>
        <p:nvSpPr>
          <p:cNvPr id="21" name="Text 18"/>
          <p:cNvSpPr txBox="1"/>
          <p:nvPr/>
        </p:nvSpPr>
        <p:spPr>
          <a:xfrm>
            <a:off x="63093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3</a:t>
            </a:r>
            <a:endParaRPr lang="en-US" sz="2200" dirty="0"/>
          </a:p>
        </p:txBody>
      </p:sp>
      <p:sp>
        <p:nvSpPr>
          <p:cNvPr id="22" name="Text 19"/>
          <p:cNvSpPr txBox="1"/>
          <p:nvPr/>
        </p:nvSpPr>
        <p:spPr>
          <a:xfrm>
            <a:off x="67208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Implementar el registro de consultas y el directorio</a:t>
            </a:r>
            <a:endParaRPr lang="en-US" sz="1250" dirty="0"/>
          </a:p>
        </p:txBody>
      </p:sp>
      <p:sp>
        <p:nvSpPr>
          <p:cNvPr id="23" name="Text 20"/>
          <p:cNvSpPr txBox="1"/>
          <p:nvPr/>
        </p:nvSpPr>
        <p:spPr>
          <a:xfrm>
            <a:off x="9052560" y="4709160"/>
            <a:ext cx="457200" cy="457200"/>
          </a:xfrm>
          <a:prstGeom prst="rect">
            <a:avLst/>
          </a:prstGeom>
          <a:noFill/>
          <a:ln/>
        </p:spPr>
        <p:txBody>
          <a:bodyPr wrap="square" lIns="0" tIns="0" rIns="0" bIns="0" rtlCol="0" anchor="t"/>
          <a:lstStyle/>
          <a:p>
            <a:pPr indent="0" marL="0">
              <a:buNone/>
            </a:pPr>
            <a:r>
              <a:rPr lang="en-US" sz="2200" b="1" dirty="0">
                <a:solidFill>
                  <a:srgbClr val="6D28D9"/>
                </a:solidFill>
                <a:latin typeface="Arial" pitchFamily="34" charset="0"/>
                <a:ea typeface="Arial" pitchFamily="34" charset="-122"/>
                <a:cs typeface="Arial" pitchFamily="34" charset="-120"/>
              </a:rPr>
              <a:t>4</a:t>
            </a:r>
            <a:endParaRPr lang="en-US" sz="2200" dirty="0"/>
          </a:p>
        </p:txBody>
      </p:sp>
      <p:sp>
        <p:nvSpPr>
          <p:cNvPr id="24" name="Text 21"/>
          <p:cNvSpPr txBox="1"/>
          <p:nvPr/>
        </p:nvSpPr>
        <p:spPr>
          <a:xfrm>
            <a:off x="9464040" y="4736592"/>
            <a:ext cx="2194560" cy="109728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Capacitar al gestor de contenidos</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D"/>
        </a:solidFill>
      </p:bgPr>
    </p:bg>
    <p:spTree>
      <p:nvGrpSpPr>
        <p:cNvPr id="1" name=""/>
        <p:cNvGrpSpPr/>
        <p:nvPr/>
      </p:nvGrpSpPr>
      <p:grpSpPr>
        <a:xfrm>
          <a:off x="0" y="0"/>
          <a:ext cx="0" cy="0"/>
          <a:chOff x="0" y="0"/>
          <a:chExt cx="0" cy="0"/>
        </a:xfrm>
      </p:grpSpPr>
      <p:pic>
        <p:nvPicPr>
          <p:cNvPr id="3" name="Image 0" descr="research/logo-w-t.png">    </p:cNvPr>
          <p:cNvPicPr>
            <a:picLocks noChangeAspect="1"/>
          </p:cNvPicPr>
          <p:nvPr/>
        </p:nvPicPr>
        <p:blipFill>
          <a:blip r:embed="rId1"/>
          <a:stretch>
            <a:fillRect/>
          </a:stretch>
        </p:blipFill>
        <p:spPr>
          <a:xfrm>
            <a:off x="5090008" y="1554480"/>
            <a:ext cx="2011680" cy="1069848"/>
          </a:xfrm>
          <a:prstGeom prst="rect">
            <a:avLst/>
          </a:prstGeom>
        </p:spPr>
      </p:pic>
      <p:sp>
        <p:nvSpPr>
          <p:cNvPr id="4" name="Text 0"/>
          <p:cNvSpPr txBox="1"/>
          <p:nvPr/>
        </p:nvSpPr>
        <p:spPr>
          <a:xfrm>
            <a:off x="0" y="4206240"/>
            <a:ext cx="12191695" cy="457200"/>
          </a:xfrm>
          <a:prstGeom prst="rect">
            <a:avLst/>
          </a:prstGeom>
          <a:noFill/>
          <a:ln/>
        </p:spPr>
        <p:txBody>
          <a:bodyPr wrap="square" lIns="0" tIns="0" rIns="0" bIns="0" rtlCol="0" anchor="t"/>
          <a:lstStyle/>
          <a:p>
            <a:pPr algn="ctr" indent="0" marL="0">
              <a:buNone/>
            </a:pPr>
            <a:r>
              <a:rPr lang="en-US" sz="1600" dirty="0">
                <a:solidFill>
                  <a:srgbClr val="9CA3AF"/>
                </a:solidFill>
                <a:latin typeface="Arial" pitchFamily="34" charset="0"/>
                <a:ea typeface="Arial" pitchFamily="34" charset="-122"/>
                <a:cs typeface="Arial" pitchFamily="34" charset="-120"/>
              </a:rPr>
              <a:t>Web renovada de Black Hawk · Aplicación de RUP</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Aplicación de RUP — Web renovada de Black Hawk (V4)</dc:title>
  <dc:subject>PptxGenJS Presentation</dc:subject>
  <dc:creator>Nils Alexander Tovar Pinzón</dc:creator>
  <cp:lastModifiedBy>Nils Alexander Tovar Pinzón</cp:lastModifiedBy>
  <cp:revision>1</cp:revision>
  <dcterms:created xsi:type="dcterms:W3CDTF">2026-10-01T22:00:37Z</dcterms:created>
  <dcterms:modified xsi:type="dcterms:W3CDTF">2026-10-01T22:00:37Z</dcterms:modified>
</cp:coreProperties>
</file>